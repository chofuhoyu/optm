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710" r:id="rId4"/>
    <p:sldMasterId id="2147483686" r:id="rId5"/>
    <p:sldMasterId id="2147483698" r:id="rId6"/>
    <p:sldMasterId id="2147483722" r:id="rId7"/>
  </p:sldMasterIdLst>
  <p:notesMasterIdLst>
    <p:notesMasterId r:id="rId57"/>
  </p:notesMasterIdLst>
  <p:handoutMasterIdLst>
    <p:handoutMasterId r:id="rId58"/>
  </p:handoutMasterIdLst>
  <p:sldIdLst>
    <p:sldId id="377" r:id="rId8"/>
    <p:sldId id="260" r:id="rId9"/>
    <p:sldId id="256" r:id="rId10"/>
    <p:sldId id="257" r:id="rId11"/>
    <p:sldId id="258" r:id="rId12"/>
    <p:sldId id="259" r:id="rId13"/>
    <p:sldId id="261" r:id="rId14"/>
    <p:sldId id="262" r:id="rId15"/>
    <p:sldId id="263" r:id="rId16"/>
    <p:sldId id="264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5" r:id="rId45"/>
    <p:sldId id="296" r:id="rId46"/>
    <p:sldId id="297" r:id="rId47"/>
    <p:sldId id="378" r:id="rId48"/>
    <p:sldId id="379" r:id="rId49"/>
    <p:sldId id="380" r:id="rId50"/>
    <p:sldId id="298" r:id="rId51"/>
    <p:sldId id="299" r:id="rId52"/>
    <p:sldId id="300" r:id="rId53"/>
    <p:sldId id="305" r:id="rId54"/>
    <p:sldId id="306" r:id="rId55"/>
    <p:sldId id="307" r:id="rId56"/>
  </p:sldIdLst>
  <p:sldSz cx="9144000" cy="6858000" type="screen4x3"/>
  <p:notesSz cx="6797675" cy="99298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9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1" userDrawn="1">
          <p15:clr>
            <a:srgbClr val="A4A3A4"/>
          </p15:clr>
        </p15:guide>
        <p15:guide id="2" pos="216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00"/>
    <a:srgbClr val="CC6600"/>
    <a:srgbClr val="990000"/>
    <a:srgbClr val="336699"/>
    <a:srgbClr val="CC3300"/>
    <a:srgbClr val="008080"/>
    <a:srgbClr val="009999"/>
    <a:srgbClr val="FFFFFF"/>
    <a:srgbClr val="CBD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>
      <p:cViewPr varScale="1">
        <p:scale>
          <a:sx n="66" d="100"/>
          <a:sy n="66" d="100"/>
        </p:scale>
        <p:origin x="1196" y="52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091"/>
        <p:guide pos="216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4" Type="http://schemas.openxmlformats.org/officeDocument/2006/relationships/image" Target="../media/image8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4" Type="http://schemas.openxmlformats.org/officeDocument/2006/relationships/image" Target="../media/image10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4" Type="http://schemas.openxmlformats.org/officeDocument/2006/relationships/image" Target="../media/image12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7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wmf"/><Relationship Id="rId1" Type="http://schemas.openxmlformats.org/officeDocument/2006/relationships/image" Target="../media/image146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4" Type="http://schemas.openxmlformats.org/officeDocument/2006/relationships/image" Target="../media/image154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50294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algn="r"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2026/6/3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50294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algn="r"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50294" y="0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>
            <a:lvl1pPr algn="r"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2026/6/3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62525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40" tIns="44120" rIns="88240" bIns="441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79464" y="4716160"/>
            <a:ext cx="5438748" cy="4468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50294" y="9432321"/>
            <a:ext cx="2945862" cy="49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581" tIns="47791" rIns="95581" bIns="47791" numCol="1" anchor="b" anchorCtr="0" compatLnSpc="1"/>
          <a:lstStyle>
            <a:lvl1pPr algn="r" defTabSz="955929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6125"/>
            <a:ext cx="4962525" cy="3722688"/>
          </a:xfrm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16947" indent="-27574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02995" indent="-22059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544193" indent="-22059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985391" indent="-22059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426589" indent="-22059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867787" indent="-22059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308985" indent="-22059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750183" indent="-22059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CC4A94-F150-450E-8354-0454D04D47E4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D293E-9AB4-4967-8F5E-53CB3E9B7B37}" type="datetime1">
              <a:rPr lang="zh-CN" altLang="en-US"/>
              <a:pPr>
                <a:defRPr/>
              </a:pPr>
              <a:t>2026/6/3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658983-9DCE-4507-9800-3698A39E09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91888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599B3B-A77B-48B3-953D-1AF7983C24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3000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8436364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147829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9965225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209829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35807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036611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89745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5439786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5652015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3216887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597677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7447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87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8103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0255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193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868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2646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768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107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52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72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2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1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9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34" r:id="rId12"/>
    <p:sldLayoutId id="2147483735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43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2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3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7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7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8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7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9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9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9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9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8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10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9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0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0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29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28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2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34.wmf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36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33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3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13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139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14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46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48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50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33.bin"/><Relationship Id="rId5" Type="http://schemas.openxmlformats.org/officeDocument/2006/relationships/image" Target="../media/image149.wmf"/><Relationship Id="rId4" Type="http://schemas.openxmlformats.org/officeDocument/2006/relationships/oleObject" Target="../embeddings/oleObject13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37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5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547197" y="3493316"/>
            <a:ext cx="4322226" cy="20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数学科学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tabLst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52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13 </a:t>
            </a:r>
            <a:r>
              <a:rPr lang="zh-CN" altLang="en-US" sz="3600" dirty="0">
                <a:ea typeface="楷体_GB2312" pitchFamily="49" charset="-122"/>
              </a:rPr>
              <a:t>惩罚函数法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95288" y="1270442"/>
            <a:ext cx="8208962" cy="2590800"/>
            <a:chOff x="249" y="572"/>
            <a:chExt cx="5171" cy="1632"/>
          </a:xfrm>
        </p:grpSpPr>
        <p:sp>
          <p:nvSpPr>
            <p:cNvPr id="5134" name="Rectangle 15"/>
            <p:cNvSpPr>
              <a:spLocks noChangeArrowheads="1"/>
            </p:cNvSpPr>
            <p:nvPr/>
          </p:nvSpPr>
          <p:spPr bwMode="auto">
            <a:xfrm>
              <a:off x="249" y="572"/>
              <a:ext cx="5171" cy="163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5" name="Rectangle 5"/>
            <p:cNvSpPr>
              <a:spLocks noChangeArrowheads="1"/>
            </p:cNvSpPr>
            <p:nvPr/>
          </p:nvSpPr>
          <p:spPr bwMode="auto">
            <a:xfrm>
              <a:off x="431" y="573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考虑约束问题</a:t>
              </a:r>
            </a:p>
          </p:txBody>
        </p:sp>
        <p:graphicFrame>
          <p:nvGraphicFramePr>
            <p:cNvPr id="5136" name="Object 7"/>
            <p:cNvGraphicFramePr>
              <a:graphicFrameLocks noChangeAspect="1"/>
            </p:cNvGraphicFramePr>
            <p:nvPr/>
          </p:nvGraphicFramePr>
          <p:xfrm>
            <a:off x="431" y="1888"/>
            <a:ext cx="26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" name="Equation" r:id="rId3" imgW="3657600" imgH="431800" progId="Equation.DSMT4">
                    <p:embed/>
                  </p:oleObj>
                </mc:Choice>
                <mc:Fallback>
                  <p:oleObj name="Equation" r:id="rId3" imgW="3657600" imgH="431800" progId="Equation.DSMT4">
                    <p:embed/>
                    <p:pic>
                      <p:nvPicPr>
                        <p:cNvPr id="5136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1888"/>
                          <a:ext cx="26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37" name="Group 9"/>
            <p:cNvGrpSpPr>
              <a:grpSpLocks/>
            </p:cNvGrpSpPr>
            <p:nvPr/>
          </p:nvGrpSpPr>
          <p:grpSpPr bwMode="auto">
            <a:xfrm>
              <a:off x="1565" y="935"/>
              <a:ext cx="3284" cy="832"/>
              <a:chOff x="1440" y="1152"/>
              <a:chExt cx="3284" cy="832"/>
            </a:xfrm>
          </p:grpSpPr>
          <p:graphicFrame>
            <p:nvGraphicFramePr>
              <p:cNvPr id="5138" name="Object 6"/>
              <p:cNvGraphicFramePr>
                <a:graphicFrameLocks noChangeAspect="1"/>
              </p:cNvGraphicFramePr>
              <p:nvPr/>
            </p:nvGraphicFramePr>
            <p:xfrm>
              <a:off x="1440" y="1152"/>
              <a:ext cx="1880" cy="8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7" name="Equation" r:id="rId5" imgW="2984500" imgH="1320800" progId="Equation.DSMT4">
                      <p:embed/>
                    </p:oleObj>
                  </mc:Choice>
                  <mc:Fallback>
                    <p:oleObj name="Equation" r:id="rId5" imgW="2984500" imgH="1320800" progId="Equation.DSMT4">
                      <p:embed/>
                      <p:pic>
                        <p:nvPicPr>
                          <p:cNvPr id="5138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1152"/>
                            <a:ext cx="1880" cy="8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39" name="Rectangle 8"/>
              <p:cNvSpPr>
                <a:spLocks noChangeArrowheads="1"/>
              </p:cNvSpPr>
              <p:nvPr/>
            </p:nvSpPr>
            <p:spPr bwMode="auto">
              <a:xfrm>
                <a:off x="3600" y="1392"/>
                <a:ext cx="112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/>
                  <a:t>（</a:t>
                </a:r>
                <a:r>
                  <a:rPr lang="en-US" altLang="zh-CN" sz="2800"/>
                  <a:t>13.1.1</a:t>
                </a:r>
                <a:r>
                  <a:rPr lang="zh-CN" altLang="en-US" sz="2800"/>
                  <a:t>）</a:t>
                </a:r>
              </a:p>
            </p:txBody>
          </p:sp>
        </p:grp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04031" y="4210795"/>
            <a:ext cx="8135937" cy="1871662"/>
            <a:chOff x="295" y="2795"/>
            <a:chExt cx="5125" cy="1179"/>
          </a:xfrm>
        </p:grpSpPr>
        <p:sp>
          <p:nvSpPr>
            <p:cNvPr id="5131" name="Rectangle 17"/>
            <p:cNvSpPr>
              <a:spLocks noChangeArrowheads="1"/>
            </p:cNvSpPr>
            <p:nvPr/>
          </p:nvSpPr>
          <p:spPr bwMode="auto">
            <a:xfrm>
              <a:off x="295" y="2795"/>
              <a:ext cx="5125" cy="117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graphicFrame>
          <p:nvGraphicFramePr>
            <p:cNvPr id="5132" name="Object 12"/>
            <p:cNvGraphicFramePr>
              <a:graphicFrameLocks noChangeAspect="1"/>
            </p:cNvGraphicFramePr>
            <p:nvPr/>
          </p:nvGraphicFramePr>
          <p:xfrm>
            <a:off x="1247" y="2976"/>
            <a:ext cx="1088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" name="Equation" r:id="rId7" imgW="1727200" imgH="1257300" progId="Equation.DSMT4">
                    <p:embed/>
                  </p:oleObj>
                </mc:Choice>
                <mc:Fallback>
                  <p:oleObj name="Equation" r:id="rId7" imgW="1727200" imgH="1257300" progId="Equation.DSMT4">
                    <p:embed/>
                    <p:pic>
                      <p:nvPicPr>
                        <p:cNvPr id="513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976"/>
                          <a:ext cx="1088" cy="7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3" name="Rectangle 18"/>
            <p:cNvSpPr>
              <a:spLocks noChangeArrowheads="1"/>
            </p:cNvSpPr>
            <p:nvPr/>
          </p:nvSpPr>
          <p:spPr bwMode="auto">
            <a:xfrm>
              <a:off x="385" y="2795"/>
              <a:ext cx="10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向量形式</a:t>
              </a:r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571999" y="4406688"/>
            <a:ext cx="3662362" cy="1398588"/>
            <a:chOff x="2971" y="2989"/>
            <a:chExt cx="2307" cy="881"/>
          </a:xfrm>
        </p:grpSpPr>
        <p:graphicFrame>
          <p:nvGraphicFramePr>
            <p:cNvPr id="5129" name="Object 21"/>
            <p:cNvGraphicFramePr>
              <a:graphicFrameLocks noChangeAspect="1"/>
            </p:cNvGraphicFramePr>
            <p:nvPr/>
          </p:nvGraphicFramePr>
          <p:xfrm>
            <a:off x="3334" y="3294"/>
            <a:ext cx="194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" name="Equation" r:id="rId9" imgW="3086100" imgH="914400" progId="Equation.DSMT4">
                    <p:embed/>
                  </p:oleObj>
                </mc:Choice>
                <mc:Fallback>
                  <p:oleObj name="Equation" r:id="rId9" imgW="3086100" imgH="914400" progId="Equation.DSMT4">
                    <p:embed/>
                    <p:pic>
                      <p:nvPicPr>
                        <p:cNvPr id="512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3294"/>
                          <a:ext cx="194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0" name="Rectangle 23"/>
            <p:cNvSpPr>
              <a:spLocks noChangeArrowheads="1"/>
            </p:cNvSpPr>
            <p:nvPr/>
          </p:nvSpPr>
          <p:spPr bwMode="auto">
            <a:xfrm>
              <a:off x="2971" y="2989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其中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/>
              <a:t>13 </a:t>
            </a:r>
            <a:r>
              <a:rPr lang="zh-CN" altLang="en-US" sz="3600">
                <a:ea typeface="楷体_GB2312" pitchFamily="49" charset="-122"/>
              </a:rPr>
              <a:t>惩罚函数法</a:t>
            </a:r>
          </a:p>
        </p:txBody>
      </p:sp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539750" y="973138"/>
          <a:ext cx="80518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3" imgW="8051800" imgH="1447800" progId="Equation.DSMT4">
                  <p:embed/>
                </p:oleObj>
              </mc:Choice>
              <mc:Fallback>
                <p:oleObj name="Equation" r:id="rId3" imgW="8051800" imgH="1447800" progId="Equation.DSMT4">
                  <p:embed/>
                  <p:pic>
                    <p:nvPicPr>
                      <p:cNvPr id="20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73138"/>
                        <a:ext cx="8051800" cy="14478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539750" y="2565400"/>
            <a:ext cx="403225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如何求解约束问题？</a:t>
            </a: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900113" y="3213100"/>
            <a:ext cx="4756150" cy="45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可行方向法：沿下降可行方向搜索</a:t>
            </a: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900113" y="3789363"/>
            <a:ext cx="1779587" cy="45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其他方法？</a:t>
            </a: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1547813" y="4292600"/>
            <a:ext cx="6840537" cy="831850"/>
          </a:xfrm>
          <a:prstGeom prst="rect">
            <a:avLst/>
          </a:prstGeom>
          <a:solidFill>
            <a:srgbClr val="CCFFCC"/>
          </a:solidFill>
          <a:ln w="9525">
            <a:solidFill>
              <a:srgbClr val="CC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序列无约束优化算法：通过求解一系列无约束问题的解来近似约束问题的解。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547813" y="5300663"/>
            <a:ext cx="6840537" cy="45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罚函数法是序列无约束问题算法的典型代表。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1" grpId="0" animBg="1"/>
      <p:bldP spid="2062" grpId="0" animBg="1"/>
      <p:bldP spid="2063" grpId="0" animBg="1"/>
      <p:bldP spid="2064" grpId="0" animBg="1"/>
      <p:bldP spid="20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/>
              <a:t>13.1 </a:t>
            </a:r>
            <a:r>
              <a:rPr lang="zh-CN" altLang="en-US" sz="3600"/>
              <a:t>外点</a:t>
            </a:r>
            <a:r>
              <a:rPr lang="zh-CN" altLang="en-US" sz="3600">
                <a:ea typeface="楷体_GB2312" pitchFamily="49" charset="-122"/>
              </a:rPr>
              <a:t>惩罚函数法</a:t>
            </a: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395288" y="5343525"/>
            <a:ext cx="8280400" cy="8223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但由于</a:t>
            </a:r>
            <a:r>
              <a:rPr lang="en-US" altLang="zh-CN" sz="2400"/>
              <a:t>F</a:t>
            </a:r>
            <a:r>
              <a:rPr lang="zh-CN" altLang="en-US" sz="2400"/>
              <a:t>在可行域</a:t>
            </a:r>
            <a:r>
              <a:rPr lang="en-US" altLang="zh-CN" sz="2400"/>
              <a:t>D</a:t>
            </a:r>
            <a:r>
              <a:rPr lang="zh-CN" altLang="en-US" sz="2400"/>
              <a:t>的边界不连续</a:t>
            </a:r>
            <a:r>
              <a:rPr lang="en-US" altLang="zh-CN" sz="2400"/>
              <a:t>.</a:t>
            </a:r>
            <a:r>
              <a:rPr lang="zh-CN" altLang="en-US" sz="2400"/>
              <a:t>因此难以直接由求解</a:t>
            </a:r>
            <a:r>
              <a:rPr lang="en-US" altLang="zh-CN" sz="2400"/>
              <a:t>F</a:t>
            </a:r>
            <a:r>
              <a:rPr lang="zh-CN" altLang="en-US" sz="2400"/>
              <a:t>的极小值来求问题</a:t>
            </a:r>
            <a:r>
              <a:rPr lang="en-US" altLang="zh-CN" sz="2400"/>
              <a:t>(13.1.1)</a:t>
            </a:r>
            <a:r>
              <a:rPr lang="zh-CN" altLang="en-US" sz="2400"/>
              <a:t>的极小点</a:t>
            </a:r>
            <a:r>
              <a:rPr lang="en-US" altLang="zh-CN" sz="2400"/>
              <a:t>.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395288" y="1052513"/>
            <a:ext cx="8280400" cy="1008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dirty="0"/>
              <a:t>罚函数法的</a:t>
            </a:r>
            <a:r>
              <a:rPr lang="zh-CN" altLang="en-US" sz="2800" b="1" dirty="0"/>
              <a:t>基本思想</a:t>
            </a:r>
            <a:r>
              <a:rPr lang="zh-CN" altLang="en-US" sz="2400" dirty="0"/>
              <a:t>是构造辅助函数</a:t>
            </a:r>
            <a:r>
              <a:rPr lang="en-US" altLang="zh-CN" sz="2400" dirty="0"/>
              <a:t>F,</a:t>
            </a:r>
            <a:r>
              <a:rPr lang="zh-CN" altLang="en-US" sz="2400" dirty="0"/>
              <a:t>把原来的约束问题转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化为求极小化辅助函数的无约束问题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22263" y="3789363"/>
            <a:ext cx="8353425" cy="1439862"/>
            <a:chOff x="249" y="2387"/>
            <a:chExt cx="5262" cy="907"/>
          </a:xfrm>
        </p:grpSpPr>
        <p:sp>
          <p:nvSpPr>
            <p:cNvPr id="7182" name="Rectangle 16"/>
            <p:cNvSpPr>
              <a:spLocks noChangeArrowheads="1"/>
            </p:cNvSpPr>
            <p:nvPr/>
          </p:nvSpPr>
          <p:spPr bwMode="auto">
            <a:xfrm>
              <a:off x="249" y="2387"/>
              <a:ext cx="5262" cy="90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7183" name="Group 15"/>
            <p:cNvGrpSpPr>
              <a:grpSpLocks/>
            </p:cNvGrpSpPr>
            <p:nvPr/>
          </p:nvGrpSpPr>
          <p:grpSpPr bwMode="auto">
            <a:xfrm>
              <a:off x="295" y="2387"/>
              <a:ext cx="3588" cy="787"/>
              <a:chOff x="295" y="2387"/>
              <a:chExt cx="3588" cy="787"/>
            </a:xfrm>
          </p:grpSpPr>
          <p:sp>
            <p:nvSpPr>
              <p:cNvPr id="7184" name="Rectangle 6"/>
              <p:cNvSpPr>
                <a:spLocks noChangeArrowheads="1"/>
              </p:cNvSpPr>
              <p:nvPr/>
            </p:nvSpPr>
            <p:spPr bwMode="auto">
              <a:xfrm>
                <a:off x="295" y="2387"/>
                <a:ext cx="28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易见约束问题</a:t>
                </a:r>
                <a:r>
                  <a:rPr lang="en-US" altLang="zh-CN" sz="2400"/>
                  <a:t>(13.1.1)</a:t>
                </a:r>
                <a:r>
                  <a:rPr lang="zh-CN" altLang="en-US" sz="2400"/>
                  <a:t>的解等价于</a:t>
                </a:r>
              </a:p>
            </p:txBody>
          </p:sp>
          <p:graphicFrame>
            <p:nvGraphicFramePr>
              <p:cNvPr id="7185" name="Object 7"/>
              <p:cNvGraphicFramePr>
                <a:graphicFrameLocks noChangeAspect="1"/>
              </p:cNvGraphicFramePr>
              <p:nvPr/>
            </p:nvGraphicFramePr>
            <p:xfrm>
              <a:off x="1923" y="2704"/>
              <a:ext cx="196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4" name="Equation" r:id="rId3" imgW="2552700" imgH="406400" progId="Equation.DSMT4">
                      <p:embed/>
                    </p:oleObj>
                  </mc:Choice>
                  <mc:Fallback>
                    <p:oleObj name="Equation" r:id="rId3" imgW="2552700" imgH="406400" progId="Equation.DSMT4">
                      <p:embed/>
                      <p:pic>
                        <p:nvPicPr>
                          <p:cNvPr id="7185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3" y="2704"/>
                            <a:ext cx="196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6" name="Rectangle 10"/>
              <p:cNvSpPr>
                <a:spLocks noChangeArrowheads="1"/>
              </p:cNvSpPr>
              <p:nvPr/>
            </p:nvSpPr>
            <p:spPr bwMode="auto">
              <a:xfrm>
                <a:off x="295" y="2886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的解</a:t>
                </a:r>
              </a:p>
            </p:txBody>
          </p:sp>
        </p:grp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23850" y="2133600"/>
            <a:ext cx="8353425" cy="1511300"/>
            <a:chOff x="204" y="1389"/>
            <a:chExt cx="5262" cy="952"/>
          </a:xfrm>
        </p:grpSpPr>
        <p:sp>
          <p:nvSpPr>
            <p:cNvPr id="7178" name="Rectangle 13"/>
            <p:cNvSpPr>
              <a:spLocks noChangeArrowheads="1"/>
            </p:cNvSpPr>
            <p:nvPr/>
          </p:nvSpPr>
          <p:spPr bwMode="auto">
            <a:xfrm>
              <a:off x="204" y="1389"/>
              <a:ext cx="5262" cy="95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7179" name="Group 12"/>
            <p:cNvGrpSpPr>
              <a:grpSpLocks/>
            </p:cNvGrpSpPr>
            <p:nvPr/>
          </p:nvGrpSpPr>
          <p:grpSpPr bwMode="auto">
            <a:xfrm>
              <a:off x="295" y="1389"/>
              <a:ext cx="3592" cy="921"/>
              <a:chOff x="431" y="1434"/>
              <a:chExt cx="3592" cy="921"/>
            </a:xfrm>
          </p:grpSpPr>
          <p:graphicFrame>
            <p:nvGraphicFramePr>
              <p:cNvPr id="7180" name="Object 5"/>
              <p:cNvGraphicFramePr>
                <a:graphicFrameLocks noChangeAspect="1"/>
              </p:cNvGraphicFramePr>
              <p:nvPr/>
            </p:nvGraphicFramePr>
            <p:xfrm>
              <a:off x="2286" y="1752"/>
              <a:ext cx="1737" cy="6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5" name="Equation" r:id="rId5" imgW="2489200" imgH="863600" progId="Equation.DSMT4">
                      <p:embed/>
                    </p:oleObj>
                  </mc:Choice>
                  <mc:Fallback>
                    <p:oleObj name="Equation" r:id="rId5" imgW="2489200" imgH="863600" progId="Equation.DSMT4">
                      <p:embed/>
                      <p:pic>
                        <p:nvPicPr>
                          <p:cNvPr id="718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6" y="1752"/>
                            <a:ext cx="1737" cy="6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1" name="Rectangle 11"/>
              <p:cNvSpPr>
                <a:spLocks noChangeArrowheads="1"/>
              </p:cNvSpPr>
              <p:nvPr/>
            </p:nvSpPr>
            <p:spPr bwMode="auto">
              <a:xfrm>
                <a:off x="431" y="1434"/>
                <a:ext cx="255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例如可以定义函数</a:t>
                </a:r>
                <a:r>
                  <a:rPr lang="en-US" altLang="zh-CN" sz="2400" b="1" i="1" dirty="0"/>
                  <a:t>F</a:t>
                </a:r>
                <a:r>
                  <a:rPr lang="en-US" altLang="zh-CN" sz="2400" b="1" dirty="0"/>
                  <a:t>:</a:t>
                </a:r>
                <a:r>
                  <a:rPr lang="en-US" altLang="zh-CN" sz="2400" b="1" i="1" dirty="0"/>
                  <a:t>R</a:t>
                </a:r>
                <a:r>
                  <a:rPr lang="en-US" altLang="zh-CN" sz="2400" b="1" i="1" baseline="30000" dirty="0"/>
                  <a:t>n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</a:t>
                </a:r>
                <a:r>
                  <a:rPr lang="en-US" altLang="zh-CN" sz="2400" b="1" i="1" dirty="0"/>
                  <a:t>R</a:t>
                </a:r>
                <a:r>
                  <a:rPr lang="zh-CN" altLang="en-US" sz="2400" dirty="0"/>
                  <a:t>为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" grpId="0" animBg="1"/>
      <p:bldP spid="308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FFE0F98-20A1-44B2-A1C1-0A1E0091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0888" y="1058161"/>
            <a:ext cx="7920038" cy="503237"/>
          </a:xfrm>
          <a:prstGeom prst="rect">
            <a:avLst/>
          </a:prstGeom>
          <a:solidFill>
            <a:srgbClr val="CC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于是构造辅助函数极为重要！！！</a:t>
            </a:r>
          </a:p>
        </p:txBody>
      </p:sp>
      <p:graphicFrame>
        <p:nvGraphicFramePr>
          <p:cNvPr id="4110" name="Object 1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24070881"/>
              </p:ext>
            </p:extLst>
          </p:nvPr>
        </p:nvGraphicFramePr>
        <p:xfrm>
          <a:off x="567890" y="4288540"/>
          <a:ext cx="8135938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name="Equation" r:id="rId3" imgW="7340600" imgH="1422400" progId="Equation.DSMT4">
                  <p:embed/>
                </p:oleObj>
              </mc:Choice>
              <mc:Fallback>
                <p:oleObj name="Equation" r:id="rId3" imgW="7340600" imgH="1422400" progId="Equation.DSMT4">
                  <p:embed/>
                  <p:pic>
                    <p:nvPicPr>
                      <p:cNvPr id="41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90" y="4288540"/>
                        <a:ext cx="8135938" cy="157638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23850" y="1628775"/>
            <a:ext cx="8424863" cy="2447925"/>
            <a:chOff x="204" y="1026"/>
            <a:chExt cx="5307" cy="1542"/>
          </a:xfrm>
        </p:grpSpPr>
        <p:sp>
          <p:nvSpPr>
            <p:cNvPr id="8201" name="Rectangle 17"/>
            <p:cNvSpPr>
              <a:spLocks noChangeArrowheads="1"/>
            </p:cNvSpPr>
            <p:nvPr/>
          </p:nvSpPr>
          <p:spPr bwMode="auto">
            <a:xfrm>
              <a:off x="204" y="1071"/>
              <a:ext cx="5307" cy="149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8202" name="Group 16"/>
            <p:cNvGrpSpPr>
              <a:grpSpLocks/>
            </p:cNvGrpSpPr>
            <p:nvPr/>
          </p:nvGrpSpPr>
          <p:grpSpPr bwMode="auto">
            <a:xfrm>
              <a:off x="249" y="1026"/>
              <a:ext cx="5169" cy="1540"/>
              <a:chOff x="204" y="1071"/>
              <a:chExt cx="5169" cy="1540"/>
            </a:xfrm>
          </p:grpSpPr>
          <p:sp>
            <p:nvSpPr>
              <p:cNvPr id="8203" name="Rectangle 11"/>
              <p:cNvSpPr>
                <a:spLocks noChangeArrowheads="1"/>
              </p:cNvSpPr>
              <p:nvPr/>
            </p:nvSpPr>
            <p:spPr bwMode="auto">
              <a:xfrm>
                <a:off x="204" y="1071"/>
                <a:ext cx="31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/>
                  <a:t>外点法的</a:t>
                </a:r>
                <a:r>
                  <a:rPr lang="zh-CN" altLang="en-US" sz="2800" b="1" dirty="0"/>
                  <a:t>基本思想</a:t>
                </a:r>
                <a:r>
                  <a:rPr lang="zh-CN" altLang="en-US" sz="2400" dirty="0"/>
                  <a:t>是构造辅助函数</a:t>
                </a:r>
              </a:p>
            </p:txBody>
          </p:sp>
          <p:graphicFrame>
            <p:nvGraphicFramePr>
              <p:cNvPr id="8204" name="Object 12"/>
              <p:cNvGraphicFramePr>
                <a:graphicFrameLocks noChangeAspect="1"/>
              </p:cNvGraphicFramePr>
              <p:nvPr/>
            </p:nvGraphicFramePr>
            <p:xfrm>
              <a:off x="1927" y="1434"/>
              <a:ext cx="176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74" name="Equation" r:id="rId5" imgW="2794000" imgH="457200" progId="Equation.DSMT4">
                      <p:embed/>
                    </p:oleObj>
                  </mc:Choice>
                  <mc:Fallback>
                    <p:oleObj name="Equation" r:id="rId5" imgW="2794000" imgH="457200" progId="Equation.DSMT4">
                      <p:embed/>
                      <p:pic>
                        <p:nvPicPr>
                          <p:cNvPr id="8204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7" y="1434"/>
                            <a:ext cx="1760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05" name="Object 13"/>
              <p:cNvGraphicFramePr>
                <a:graphicFrameLocks noChangeAspect="1"/>
              </p:cNvGraphicFramePr>
              <p:nvPr/>
            </p:nvGraphicFramePr>
            <p:xfrm>
              <a:off x="295" y="1706"/>
              <a:ext cx="5078" cy="9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75" name="Equation" r:id="rId7" imgW="7480300" imgH="1333500" progId="Equation.DSMT4">
                      <p:embed/>
                    </p:oleObj>
                  </mc:Choice>
                  <mc:Fallback>
                    <p:oleObj name="Equation" r:id="rId7" imgW="7480300" imgH="1333500" progId="Equation.DSMT4">
                      <p:embed/>
                      <p:pic>
                        <p:nvPicPr>
                          <p:cNvPr id="8205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5" y="1706"/>
                            <a:ext cx="5078" cy="9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95288" y="1052513"/>
            <a:ext cx="8137525" cy="1296987"/>
            <a:chOff x="249" y="663"/>
            <a:chExt cx="5126" cy="817"/>
          </a:xfrm>
        </p:grpSpPr>
        <p:sp>
          <p:nvSpPr>
            <p:cNvPr id="9234" name="Rectangle 19"/>
            <p:cNvSpPr>
              <a:spLocks noChangeArrowheads="1"/>
            </p:cNvSpPr>
            <p:nvPr/>
          </p:nvSpPr>
          <p:spPr bwMode="auto">
            <a:xfrm>
              <a:off x="249" y="663"/>
              <a:ext cx="5126" cy="81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9235" name="Group 13"/>
            <p:cNvGrpSpPr>
              <a:grpSpLocks/>
            </p:cNvGrpSpPr>
            <p:nvPr/>
          </p:nvGrpSpPr>
          <p:grpSpPr bwMode="auto">
            <a:xfrm>
              <a:off x="295" y="663"/>
              <a:ext cx="4474" cy="726"/>
              <a:chOff x="295" y="663"/>
              <a:chExt cx="4474" cy="726"/>
            </a:xfrm>
          </p:grpSpPr>
          <p:grpSp>
            <p:nvGrpSpPr>
              <p:cNvPr id="9236" name="Group 5"/>
              <p:cNvGrpSpPr>
                <a:grpSpLocks/>
              </p:cNvGrpSpPr>
              <p:nvPr/>
            </p:nvGrpSpPr>
            <p:grpSpPr bwMode="auto">
              <a:xfrm>
                <a:off x="1429" y="845"/>
                <a:ext cx="3340" cy="544"/>
                <a:chOff x="1152" y="1584"/>
                <a:chExt cx="3340" cy="544"/>
              </a:xfrm>
            </p:grpSpPr>
            <p:graphicFrame>
              <p:nvGraphicFramePr>
                <p:cNvPr id="9238" name="Object 6"/>
                <p:cNvGraphicFramePr>
                  <a:graphicFrameLocks noChangeAspect="1"/>
                </p:cNvGraphicFramePr>
                <p:nvPr/>
              </p:nvGraphicFramePr>
              <p:xfrm>
                <a:off x="1152" y="1584"/>
                <a:ext cx="1992" cy="5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97" name="Equation" r:id="rId3" imgW="3162300" imgH="863600" progId="Equation.DSMT4">
                        <p:embed/>
                      </p:oleObj>
                    </mc:Choice>
                    <mc:Fallback>
                      <p:oleObj name="Equation" r:id="rId3" imgW="3162300" imgH="863600" progId="Equation.DSMT4">
                        <p:embed/>
                        <p:pic>
                          <p:nvPicPr>
                            <p:cNvPr id="9238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52" y="1584"/>
                              <a:ext cx="1992" cy="5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CC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39" name="Rectangle 7"/>
                <p:cNvSpPr>
                  <a:spLocks noChangeArrowheads="1"/>
                </p:cNvSpPr>
                <p:nvPr/>
              </p:nvSpPr>
              <p:spPr bwMode="auto">
                <a:xfrm>
                  <a:off x="3368" y="1680"/>
                  <a:ext cx="112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800"/>
                    <a:t>（</a:t>
                  </a:r>
                  <a:r>
                    <a:rPr lang="en-US" altLang="zh-CN" sz="2800"/>
                    <a:t>13.1.2</a:t>
                  </a:r>
                  <a:r>
                    <a:rPr lang="zh-CN" altLang="en-US" sz="2800"/>
                    <a:t>）</a:t>
                  </a:r>
                </a:p>
              </p:txBody>
            </p:sp>
          </p:grpSp>
          <p:sp>
            <p:nvSpPr>
              <p:cNvPr id="9237" name="Rectangle 12"/>
              <p:cNvSpPr>
                <a:spLocks noChangeArrowheads="1"/>
              </p:cNvSpPr>
              <p:nvPr/>
            </p:nvSpPr>
            <p:spPr bwMode="auto">
              <a:xfrm>
                <a:off x="295" y="663"/>
                <a:ext cx="12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对于约束问题</a:t>
                </a:r>
              </a:p>
            </p:txBody>
          </p:sp>
        </p:grp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395288" y="4076700"/>
            <a:ext cx="8137525" cy="1008063"/>
            <a:chOff x="249" y="2568"/>
            <a:chExt cx="5126" cy="635"/>
          </a:xfrm>
        </p:grpSpPr>
        <p:sp>
          <p:nvSpPr>
            <p:cNvPr id="9230" name="Rectangle 23"/>
            <p:cNvSpPr>
              <a:spLocks noChangeArrowheads="1"/>
            </p:cNvSpPr>
            <p:nvPr/>
          </p:nvSpPr>
          <p:spPr bwMode="auto">
            <a:xfrm>
              <a:off x="249" y="2568"/>
              <a:ext cx="5126" cy="63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9231" name="Group 18"/>
            <p:cNvGrpSpPr>
              <a:grpSpLocks/>
            </p:cNvGrpSpPr>
            <p:nvPr/>
          </p:nvGrpSpPr>
          <p:grpSpPr bwMode="auto">
            <a:xfrm>
              <a:off x="340" y="2614"/>
              <a:ext cx="3856" cy="566"/>
              <a:chOff x="340" y="2704"/>
              <a:chExt cx="3856" cy="566"/>
            </a:xfrm>
          </p:grpSpPr>
          <p:graphicFrame>
            <p:nvGraphicFramePr>
              <p:cNvPr id="9232" name="Object 11"/>
              <p:cNvGraphicFramePr>
                <a:graphicFrameLocks noChangeAspect="1"/>
              </p:cNvGraphicFramePr>
              <p:nvPr/>
            </p:nvGraphicFramePr>
            <p:xfrm>
              <a:off x="2109" y="2976"/>
              <a:ext cx="2087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98" name="Equation" r:id="rId5" imgW="2705100" imgH="381000" progId="Equation.DSMT4">
                      <p:embed/>
                    </p:oleObj>
                  </mc:Choice>
                  <mc:Fallback>
                    <p:oleObj name="Equation" r:id="rId5" imgW="2705100" imgH="381000" progId="Equation.DSMT4">
                      <p:embed/>
                      <p:pic>
                        <p:nvPicPr>
                          <p:cNvPr id="9232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09" y="2976"/>
                            <a:ext cx="2087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33" name="Rectangle 16"/>
              <p:cNvSpPr>
                <a:spLocks noChangeArrowheads="1"/>
              </p:cNvSpPr>
              <p:nvPr/>
            </p:nvSpPr>
            <p:spPr bwMode="auto">
              <a:xfrm>
                <a:off x="340" y="2704"/>
                <a:ext cx="1737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buFontTx/>
                  <a:buNone/>
                </a:pPr>
                <a:r>
                  <a:rPr lang="zh-CN" altLang="en-US" sz="2400">
                    <a:sym typeface="Symbol" panose="05050102010706020507" pitchFamily="18" charset="2"/>
                  </a:rPr>
                  <a:t>于是</a:t>
                </a:r>
                <a:r>
                  <a:rPr lang="en-US" altLang="zh-CN" sz="2400">
                    <a:sym typeface="Symbol" panose="05050102010706020507" pitchFamily="18" charset="2"/>
                  </a:rPr>
                  <a:t>(13.1.2)</a:t>
                </a:r>
                <a:r>
                  <a:rPr lang="zh-CN" altLang="en-US" sz="2400">
                    <a:sym typeface="Symbol" panose="05050102010706020507" pitchFamily="18" charset="2"/>
                  </a:rPr>
                  <a:t>转化为</a:t>
                </a:r>
                <a:r>
                  <a:rPr lang="en-US" altLang="zh-CN" sz="2400">
                    <a:sym typeface="Symbol" panose="05050102010706020507" pitchFamily="18" charset="2"/>
                  </a:rPr>
                  <a:t>:</a:t>
                </a:r>
              </a:p>
            </p:txBody>
          </p:sp>
        </p:grp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396875" y="2420938"/>
            <a:ext cx="8135938" cy="1536700"/>
            <a:chOff x="204" y="1525"/>
            <a:chExt cx="5125" cy="968"/>
          </a:xfrm>
        </p:grpSpPr>
        <p:sp>
          <p:nvSpPr>
            <p:cNvPr id="9225" name="Rectangle 21"/>
            <p:cNvSpPr>
              <a:spLocks noChangeArrowheads="1"/>
            </p:cNvSpPr>
            <p:nvPr/>
          </p:nvSpPr>
          <p:spPr bwMode="auto">
            <a:xfrm>
              <a:off x="204" y="1525"/>
              <a:ext cx="5125" cy="95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9226" name="Group 15"/>
            <p:cNvGrpSpPr>
              <a:grpSpLocks/>
            </p:cNvGrpSpPr>
            <p:nvPr/>
          </p:nvGrpSpPr>
          <p:grpSpPr bwMode="auto">
            <a:xfrm>
              <a:off x="249" y="1525"/>
              <a:ext cx="4497" cy="792"/>
              <a:chOff x="249" y="1525"/>
              <a:chExt cx="4497" cy="792"/>
            </a:xfrm>
          </p:grpSpPr>
          <p:graphicFrame>
            <p:nvGraphicFramePr>
              <p:cNvPr id="9228" name="Object 10"/>
              <p:cNvGraphicFramePr>
                <a:graphicFrameLocks noChangeAspect="1"/>
              </p:cNvGraphicFramePr>
              <p:nvPr/>
            </p:nvGraphicFramePr>
            <p:xfrm>
              <a:off x="1474" y="1797"/>
              <a:ext cx="3272" cy="5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99" name="Equation" r:id="rId7" imgW="5194300" imgH="825500" progId="Equation.DSMT4">
                      <p:embed/>
                    </p:oleObj>
                  </mc:Choice>
                  <mc:Fallback>
                    <p:oleObj name="Equation" r:id="rId7" imgW="5194300" imgH="825500" progId="Equation.DSMT4">
                      <p:embed/>
                      <p:pic>
                        <p:nvPicPr>
                          <p:cNvPr id="9228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74" y="1797"/>
                            <a:ext cx="3272" cy="5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9" name="Rectangle 14"/>
              <p:cNvSpPr>
                <a:spLocks noChangeArrowheads="1"/>
              </p:cNvSpPr>
              <p:nvPr/>
            </p:nvSpPr>
            <p:spPr bwMode="auto">
              <a:xfrm>
                <a:off x="249" y="1525"/>
                <a:ext cx="15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可定义辅助函数</a:t>
                </a:r>
                <a:r>
                  <a:rPr lang="en-US" altLang="zh-CN" sz="2400"/>
                  <a:t>:</a:t>
                </a:r>
              </a:p>
            </p:txBody>
          </p:sp>
        </p:grpSp>
        <p:sp>
          <p:nvSpPr>
            <p:cNvPr id="9227" name="Rectangle 17"/>
            <p:cNvSpPr>
              <a:spLocks noChangeArrowheads="1"/>
            </p:cNvSpPr>
            <p:nvPr/>
          </p:nvSpPr>
          <p:spPr bwMode="auto">
            <a:xfrm>
              <a:off x="295" y="2205"/>
              <a:ext cx="18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参数</a:t>
              </a:r>
              <a:r>
                <a:rPr lang="zh-CN" altLang="en-US" sz="2400">
                  <a:sym typeface="Symbol" panose="05050102010706020507" pitchFamily="18" charset="2"/>
                </a:rPr>
                <a:t>是很大的正数</a:t>
              </a:r>
              <a:r>
                <a:rPr lang="en-US" altLang="zh-CN" sz="2400">
                  <a:sym typeface="Symbol" panose="05050102010706020507" pitchFamily="18" charset="2"/>
                </a:rPr>
                <a:t>.</a:t>
              </a: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DF8F4984-6BFA-44AA-8D46-7AC4508E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95288" y="1125538"/>
            <a:ext cx="7993062" cy="1295400"/>
            <a:chOff x="249" y="709"/>
            <a:chExt cx="5035" cy="816"/>
          </a:xfrm>
        </p:grpSpPr>
        <p:sp>
          <p:nvSpPr>
            <p:cNvPr id="10256" name="Rectangle 16"/>
            <p:cNvSpPr>
              <a:spLocks noChangeArrowheads="1"/>
            </p:cNvSpPr>
            <p:nvPr/>
          </p:nvSpPr>
          <p:spPr bwMode="auto">
            <a:xfrm>
              <a:off x="249" y="709"/>
              <a:ext cx="5035" cy="81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0257" name="Object 6"/>
            <p:cNvGraphicFramePr>
              <a:graphicFrameLocks noChangeAspect="1"/>
            </p:cNvGraphicFramePr>
            <p:nvPr/>
          </p:nvGraphicFramePr>
          <p:xfrm>
            <a:off x="2064" y="935"/>
            <a:ext cx="2024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1" name="Equation" r:id="rId3" imgW="3213100" imgH="812800" progId="Equation.DSMT4">
                    <p:embed/>
                  </p:oleObj>
                </mc:Choice>
                <mc:Fallback>
                  <p:oleObj name="Equation" r:id="rId3" imgW="3213100" imgH="812800" progId="Equation.DSMT4">
                    <p:embed/>
                    <p:pic>
                      <p:nvPicPr>
                        <p:cNvPr id="1025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935"/>
                          <a:ext cx="2024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8" name="Rectangle 14"/>
            <p:cNvSpPr>
              <a:spLocks noChangeArrowheads="1"/>
            </p:cNvSpPr>
            <p:nvPr/>
          </p:nvSpPr>
          <p:spPr bwMode="auto">
            <a:xfrm>
              <a:off x="295" y="709"/>
              <a:ext cx="18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对于不等式约束问题</a:t>
              </a:r>
            </a:p>
          </p:txBody>
        </p:sp>
        <p:sp>
          <p:nvSpPr>
            <p:cNvPr id="10259" name="Rectangle 15"/>
            <p:cNvSpPr>
              <a:spLocks noChangeArrowheads="1"/>
            </p:cNvSpPr>
            <p:nvPr/>
          </p:nvSpPr>
          <p:spPr bwMode="auto">
            <a:xfrm>
              <a:off x="4332" y="1026"/>
              <a:ext cx="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/>
                <a:t>(1</a:t>
              </a:r>
              <a:r>
                <a:rPr lang="en-US" altLang="zh-CN" sz="2400"/>
                <a:t>3.1.5)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323850" y="2708275"/>
            <a:ext cx="8064500" cy="1728788"/>
            <a:chOff x="204" y="1706"/>
            <a:chExt cx="5080" cy="1089"/>
          </a:xfrm>
        </p:grpSpPr>
        <p:sp>
          <p:nvSpPr>
            <p:cNvPr id="10252" name="Rectangle 21"/>
            <p:cNvSpPr>
              <a:spLocks noChangeArrowheads="1"/>
            </p:cNvSpPr>
            <p:nvPr/>
          </p:nvSpPr>
          <p:spPr bwMode="auto">
            <a:xfrm>
              <a:off x="204" y="1706"/>
              <a:ext cx="5080" cy="108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0253" name="Object 10"/>
            <p:cNvGraphicFramePr>
              <a:graphicFrameLocks noChangeAspect="1"/>
            </p:cNvGraphicFramePr>
            <p:nvPr/>
          </p:nvGraphicFramePr>
          <p:xfrm>
            <a:off x="839" y="1979"/>
            <a:ext cx="424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2" name="Equation" r:id="rId5" imgW="6743700" imgH="787400" progId="Equation.DSMT4">
                    <p:embed/>
                  </p:oleObj>
                </mc:Choice>
                <mc:Fallback>
                  <p:oleObj name="Equation" r:id="rId5" imgW="6743700" imgH="787400" progId="Equation.DSMT4">
                    <p:embed/>
                    <p:pic>
                      <p:nvPicPr>
                        <p:cNvPr id="1025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979"/>
                          <a:ext cx="424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4" name="Rectangle 18"/>
            <p:cNvSpPr>
              <a:spLocks noChangeArrowheads="1"/>
            </p:cNvSpPr>
            <p:nvPr/>
          </p:nvSpPr>
          <p:spPr bwMode="auto">
            <a:xfrm>
              <a:off x="249" y="1706"/>
              <a:ext cx="15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可定义辅助函数</a:t>
              </a:r>
              <a:r>
                <a:rPr lang="en-US" altLang="zh-CN" sz="2400"/>
                <a:t>:</a:t>
              </a:r>
            </a:p>
          </p:txBody>
        </p:sp>
        <p:sp>
          <p:nvSpPr>
            <p:cNvPr id="10255" name="Rectangle 19"/>
            <p:cNvSpPr>
              <a:spLocks noChangeArrowheads="1"/>
            </p:cNvSpPr>
            <p:nvPr/>
          </p:nvSpPr>
          <p:spPr bwMode="auto">
            <a:xfrm>
              <a:off x="295" y="2478"/>
              <a:ext cx="18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参数</a:t>
              </a:r>
              <a:r>
                <a:rPr lang="zh-CN" altLang="en-US" sz="2400">
                  <a:sym typeface="Symbol" panose="05050102010706020507" pitchFamily="18" charset="2"/>
                </a:rPr>
                <a:t>是很大的正数</a:t>
              </a:r>
              <a:r>
                <a:rPr lang="en-US" altLang="zh-CN" sz="2400">
                  <a:sym typeface="Symbol" panose="05050102010706020507" pitchFamily="18" charset="2"/>
                </a:rPr>
                <a:t>.</a:t>
              </a:r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395288" y="4652963"/>
            <a:ext cx="7993062" cy="936625"/>
            <a:chOff x="431" y="2931"/>
            <a:chExt cx="5035" cy="590"/>
          </a:xfrm>
        </p:grpSpPr>
        <p:sp>
          <p:nvSpPr>
            <p:cNvPr id="10249" name="Rectangle 24"/>
            <p:cNvSpPr>
              <a:spLocks noChangeArrowheads="1"/>
            </p:cNvSpPr>
            <p:nvPr/>
          </p:nvSpPr>
          <p:spPr bwMode="auto">
            <a:xfrm>
              <a:off x="431" y="2931"/>
              <a:ext cx="5035" cy="59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0250" name="Object 12"/>
            <p:cNvGraphicFramePr>
              <a:graphicFrameLocks noChangeAspect="1"/>
            </p:cNvGraphicFramePr>
            <p:nvPr/>
          </p:nvGraphicFramePr>
          <p:xfrm>
            <a:off x="2381" y="3158"/>
            <a:ext cx="18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3" name="Equation" r:id="rId7" imgW="2971800" imgH="381000" progId="Equation.DSMT4">
                    <p:embed/>
                  </p:oleObj>
                </mc:Choice>
                <mc:Fallback>
                  <p:oleObj name="Equation" r:id="rId7" imgW="2971800" imgH="381000" progId="Equation.DSMT4">
                    <p:embed/>
                    <p:pic>
                      <p:nvPicPr>
                        <p:cNvPr id="1025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3158"/>
                          <a:ext cx="18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1" name="Rectangle 20"/>
            <p:cNvSpPr>
              <a:spLocks noChangeArrowheads="1"/>
            </p:cNvSpPr>
            <p:nvPr/>
          </p:nvSpPr>
          <p:spPr bwMode="auto">
            <a:xfrm>
              <a:off x="431" y="2976"/>
              <a:ext cx="1737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</a:pPr>
              <a:r>
                <a:rPr lang="zh-CN" altLang="en-US" sz="2400">
                  <a:sym typeface="Symbol" panose="05050102010706020507" pitchFamily="18" charset="2"/>
                </a:rPr>
                <a:t>于是</a:t>
              </a:r>
              <a:r>
                <a:rPr lang="en-US" altLang="zh-CN" sz="2400">
                  <a:sym typeface="Symbol" panose="05050102010706020507" pitchFamily="18" charset="2"/>
                </a:rPr>
                <a:t>(13.1.2)</a:t>
              </a:r>
              <a:r>
                <a:rPr lang="zh-CN" altLang="en-US" sz="2400">
                  <a:sym typeface="Symbol" panose="05050102010706020507" pitchFamily="18" charset="2"/>
                </a:rPr>
                <a:t>转化为</a:t>
              </a:r>
              <a:r>
                <a:rPr lang="en-US" altLang="zh-CN" sz="2400">
                  <a:sym typeface="Symbol" panose="05050102010706020507" pitchFamily="18" charset="2"/>
                </a:rPr>
                <a:t>:</a:t>
              </a:r>
            </a:p>
          </p:txBody>
        </p: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3725D954-B2A4-46D2-A81F-778E7BBD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95288" y="1052513"/>
            <a:ext cx="7848600" cy="1152525"/>
            <a:chOff x="249" y="663"/>
            <a:chExt cx="4944" cy="726"/>
          </a:xfrm>
        </p:grpSpPr>
        <p:sp>
          <p:nvSpPr>
            <p:cNvPr id="11279" name="Rectangle 22"/>
            <p:cNvSpPr>
              <a:spLocks noChangeArrowheads="1"/>
            </p:cNvSpPr>
            <p:nvPr/>
          </p:nvSpPr>
          <p:spPr bwMode="auto">
            <a:xfrm>
              <a:off x="249" y="663"/>
              <a:ext cx="4944" cy="72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11280" name="Group 19"/>
            <p:cNvGrpSpPr>
              <a:grpSpLocks/>
            </p:cNvGrpSpPr>
            <p:nvPr/>
          </p:nvGrpSpPr>
          <p:grpSpPr bwMode="auto">
            <a:xfrm>
              <a:off x="295" y="709"/>
              <a:ext cx="4043" cy="624"/>
              <a:chOff x="295" y="709"/>
              <a:chExt cx="4043" cy="624"/>
            </a:xfrm>
          </p:grpSpPr>
          <p:graphicFrame>
            <p:nvGraphicFramePr>
              <p:cNvPr id="11281" name="Object 12"/>
              <p:cNvGraphicFramePr>
                <a:graphicFrameLocks noChangeAspect="1"/>
              </p:cNvGraphicFramePr>
              <p:nvPr/>
            </p:nvGraphicFramePr>
            <p:xfrm>
              <a:off x="1474" y="1117"/>
              <a:ext cx="2864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45" name="Equation" r:id="rId3" imgW="4546600" imgH="342900" progId="Equation.DSMT4">
                      <p:embed/>
                    </p:oleObj>
                  </mc:Choice>
                  <mc:Fallback>
                    <p:oleObj name="Equation" r:id="rId3" imgW="4546600" imgH="342900" progId="Equation.DSMT4">
                      <p:embed/>
                      <p:pic>
                        <p:nvPicPr>
                          <p:cNvPr id="11281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74" y="1117"/>
                            <a:ext cx="2864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82" name="Rectangle 16"/>
              <p:cNvSpPr>
                <a:spLocks noChangeArrowheads="1"/>
              </p:cNvSpPr>
              <p:nvPr/>
            </p:nvSpPr>
            <p:spPr bwMode="auto">
              <a:xfrm>
                <a:off x="295" y="709"/>
                <a:ext cx="38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zh-CN" altLang="en-US" sz="2400"/>
                  <a:t>对于一般形式的问题</a:t>
                </a:r>
                <a:r>
                  <a:rPr lang="en-US" altLang="zh-CN" sz="2400"/>
                  <a:t>(13.1.1).</a:t>
                </a:r>
                <a:r>
                  <a:rPr lang="zh-CN" altLang="en-US" sz="2400"/>
                  <a:t>可定义辅助函数</a:t>
                </a:r>
              </a:p>
            </p:txBody>
          </p:sp>
        </p:grp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323850" y="2349500"/>
            <a:ext cx="7993063" cy="3311525"/>
            <a:chOff x="204" y="1480"/>
            <a:chExt cx="5035" cy="2086"/>
          </a:xfrm>
        </p:grpSpPr>
        <p:sp>
          <p:nvSpPr>
            <p:cNvPr id="11272" name="Rectangle 24"/>
            <p:cNvSpPr>
              <a:spLocks noChangeArrowheads="1"/>
            </p:cNvSpPr>
            <p:nvPr/>
          </p:nvSpPr>
          <p:spPr bwMode="auto">
            <a:xfrm>
              <a:off x="204" y="1480"/>
              <a:ext cx="5035" cy="2086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11273" name="Group 21"/>
            <p:cNvGrpSpPr>
              <a:grpSpLocks/>
            </p:cNvGrpSpPr>
            <p:nvPr/>
          </p:nvGrpSpPr>
          <p:grpSpPr bwMode="auto">
            <a:xfrm>
              <a:off x="295" y="1525"/>
              <a:ext cx="4635" cy="1859"/>
              <a:chOff x="295" y="1525"/>
              <a:chExt cx="4635" cy="1859"/>
            </a:xfrm>
          </p:grpSpPr>
          <p:graphicFrame>
            <p:nvGraphicFramePr>
              <p:cNvPr id="11274" name="Object 15"/>
              <p:cNvGraphicFramePr>
                <a:graphicFrameLocks noChangeAspect="1"/>
              </p:cNvGraphicFramePr>
              <p:nvPr/>
            </p:nvGraphicFramePr>
            <p:xfrm>
              <a:off x="1383" y="2840"/>
              <a:ext cx="2720" cy="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46" name="Equation" r:id="rId5" imgW="4318000" imgH="863600" progId="Equation.DSMT4">
                      <p:embed/>
                    </p:oleObj>
                  </mc:Choice>
                  <mc:Fallback>
                    <p:oleObj name="Equation" r:id="rId5" imgW="4318000" imgH="863600" progId="Equation.DSMT4">
                      <p:embed/>
                      <p:pic>
                        <p:nvPicPr>
                          <p:cNvPr id="11274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3" y="2840"/>
                            <a:ext cx="2720" cy="5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275" name="Group 20"/>
              <p:cNvGrpSpPr>
                <a:grpSpLocks/>
              </p:cNvGrpSpPr>
              <p:nvPr/>
            </p:nvGrpSpPr>
            <p:grpSpPr bwMode="auto">
              <a:xfrm>
                <a:off x="295" y="1525"/>
                <a:ext cx="4635" cy="837"/>
                <a:chOff x="295" y="1525"/>
                <a:chExt cx="4635" cy="837"/>
              </a:xfrm>
            </p:grpSpPr>
            <p:graphicFrame>
              <p:nvGraphicFramePr>
                <p:cNvPr id="11277" name="Object 13"/>
                <p:cNvGraphicFramePr>
                  <a:graphicFrameLocks noChangeAspect="1"/>
                </p:cNvGraphicFramePr>
                <p:nvPr/>
              </p:nvGraphicFramePr>
              <p:xfrm>
                <a:off x="1338" y="1842"/>
                <a:ext cx="3592" cy="5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47" name="Equation" r:id="rId7" imgW="5702300" imgH="825500" progId="Equation.DSMT4">
                        <p:embed/>
                      </p:oleObj>
                    </mc:Choice>
                    <mc:Fallback>
                      <p:oleObj name="Equation" r:id="rId7" imgW="5702300" imgH="825500" progId="Equation.DSMT4">
                        <p:embed/>
                        <p:pic>
                          <p:nvPicPr>
                            <p:cNvPr id="11277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38" y="1842"/>
                              <a:ext cx="3592" cy="5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278" name="Rectangle 17"/>
                <p:cNvSpPr>
                  <a:spLocks noChangeArrowheads="1"/>
                </p:cNvSpPr>
                <p:nvPr/>
              </p:nvSpPr>
              <p:spPr bwMode="auto">
                <a:xfrm>
                  <a:off x="295" y="1525"/>
                  <a:ext cx="2035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/>
                    <a:t>其中</a:t>
                  </a:r>
                  <a:r>
                    <a:rPr lang="en-US" altLang="zh-CN" sz="2400" i="1"/>
                    <a:t>P</a:t>
                  </a:r>
                  <a:r>
                    <a:rPr lang="en-US" altLang="zh-CN" sz="2400"/>
                    <a:t>(</a:t>
                  </a:r>
                  <a:r>
                    <a:rPr lang="en-US" altLang="zh-CN" sz="2400" i="1"/>
                    <a:t>x</a:t>
                  </a:r>
                  <a:r>
                    <a:rPr lang="en-US" altLang="zh-CN" sz="2400"/>
                    <a:t>)</a:t>
                  </a:r>
                  <a:r>
                    <a:rPr lang="zh-CN" altLang="en-US" sz="2400"/>
                    <a:t>具有如下形式</a:t>
                  </a:r>
                  <a:r>
                    <a:rPr lang="en-US" altLang="zh-CN" sz="2400"/>
                    <a:t>:</a:t>
                  </a:r>
                </a:p>
              </p:txBody>
            </p:sp>
          </p:grpSp>
          <p:sp>
            <p:nvSpPr>
              <p:cNvPr id="11276" name="Rectangle 18"/>
              <p:cNvSpPr>
                <a:spLocks noChangeArrowheads="1"/>
              </p:cNvSpPr>
              <p:nvPr/>
            </p:nvSpPr>
            <p:spPr bwMode="auto">
              <a:xfrm>
                <a:off x="385" y="2432"/>
                <a:ext cx="16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ym typeface="Symbol" panose="05050102010706020507" pitchFamily="18" charset="2"/>
                  </a:rPr>
                  <a:t>连续函数和满足</a:t>
                </a:r>
              </a:p>
            </p:txBody>
          </p:sp>
        </p:grp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8CD0B9C1-1072-4520-A264-42F0CDCB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50825" y="1052513"/>
            <a:ext cx="8281988" cy="1727200"/>
            <a:chOff x="158" y="618"/>
            <a:chExt cx="5217" cy="1088"/>
          </a:xfrm>
        </p:grpSpPr>
        <p:sp>
          <p:nvSpPr>
            <p:cNvPr id="12301" name="Rectangle 14"/>
            <p:cNvSpPr>
              <a:spLocks noChangeArrowheads="1"/>
            </p:cNvSpPr>
            <p:nvPr/>
          </p:nvSpPr>
          <p:spPr bwMode="auto">
            <a:xfrm>
              <a:off x="158" y="618"/>
              <a:ext cx="5217" cy="10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302" name="Rectangle 11"/>
            <p:cNvSpPr>
              <a:spLocks noChangeArrowheads="1"/>
            </p:cNvSpPr>
            <p:nvPr/>
          </p:nvSpPr>
          <p:spPr bwMode="auto">
            <a:xfrm>
              <a:off x="204" y="709"/>
              <a:ext cx="28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ym typeface="Symbol" panose="05050102010706020507" pitchFamily="18" charset="2"/>
                </a:rPr>
                <a:t>连续函数和的典型取法有</a:t>
              </a:r>
            </a:p>
          </p:txBody>
        </p:sp>
        <p:graphicFrame>
          <p:nvGraphicFramePr>
            <p:cNvPr id="12303" name="Object 12"/>
            <p:cNvGraphicFramePr>
              <a:graphicFrameLocks noChangeAspect="1"/>
            </p:cNvGraphicFramePr>
            <p:nvPr/>
          </p:nvGraphicFramePr>
          <p:xfrm>
            <a:off x="1565" y="1026"/>
            <a:ext cx="2240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4" name="Equation" r:id="rId3" imgW="3556000" imgH="1066800" progId="Equation.DSMT4">
                    <p:embed/>
                  </p:oleObj>
                </mc:Choice>
                <mc:Fallback>
                  <p:oleObj name="Equation" r:id="rId3" imgW="3556000" imgH="1066800" progId="Equation.DSMT4">
                    <p:embed/>
                    <p:pic>
                      <p:nvPicPr>
                        <p:cNvPr id="1230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1026"/>
                          <a:ext cx="2240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79388" y="3068638"/>
            <a:ext cx="8280400" cy="1871662"/>
            <a:chOff x="249" y="2024"/>
            <a:chExt cx="5216" cy="1179"/>
          </a:xfrm>
        </p:grpSpPr>
        <p:sp>
          <p:nvSpPr>
            <p:cNvPr id="12296" name="Rectangle 17"/>
            <p:cNvSpPr>
              <a:spLocks noChangeArrowheads="1"/>
            </p:cNvSpPr>
            <p:nvPr/>
          </p:nvSpPr>
          <p:spPr bwMode="auto">
            <a:xfrm>
              <a:off x="249" y="2024"/>
              <a:ext cx="5216" cy="117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12297" name="Group 16"/>
            <p:cNvGrpSpPr>
              <a:grpSpLocks/>
            </p:cNvGrpSpPr>
            <p:nvPr/>
          </p:nvGrpSpPr>
          <p:grpSpPr bwMode="auto">
            <a:xfrm>
              <a:off x="249" y="2024"/>
              <a:ext cx="4609" cy="1059"/>
              <a:chOff x="249" y="2024"/>
              <a:chExt cx="4609" cy="1059"/>
            </a:xfrm>
          </p:grpSpPr>
          <p:sp>
            <p:nvSpPr>
              <p:cNvPr id="12298" name="Rectangle 8"/>
              <p:cNvSpPr>
                <a:spLocks noChangeArrowheads="1"/>
              </p:cNvSpPr>
              <p:nvPr/>
            </p:nvSpPr>
            <p:spPr bwMode="auto">
              <a:xfrm>
                <a:off x="249" y="2024"/>
                <a:ext cx="43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于是把约束问题</a:t>
                </a:r>
                <a:r>
                  <a:rPr lang="en-US" altLang="zh-CN" sz="2400"/>
                  <a:t>(13.1.1)</a:t>
                </a:r>
                <a:r>
                  <a:rPr lang="zh-CN" altLang="en-US" sz="2400"/>
                  <a:t>转化为无约束问题</a:t>
                </a:r>
              </a:p>
            </p:txBody>
          </p:sp>
          <p:sp>
            <p:nvSpPr>
              <p:cNvPr id="12299" name="Rectangle 9"/>
              <p:cNvSpPr>
                <a:spLocks noChangeArrowheads="1"/>
              </p:cNvSpPr>
              <p:nvPr/>
            </p:nvSpPr>
            <p:spPr bwMode="auto">
              <a:xfrm>
                <a:off x="340" y="2795"/>
                <a:ext cx="31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其中</a:t>
                </a:r>
                <a:r>
                  <a:rPr lang="zh-CN" altLang="en-US" sz="2400">
                    <a:sym typeface="Symbol" panose="05050102010706020507" pitchFamily="18" charset="2"/>
                  </a:rPr>
                  <a:t>是很大的正数</a:t>
                </a:r>
                <a:r>
                  <a:rPr lang="en-US" altLang="zh-CN" sz="2400">
                    <a:sym typeface="Symbol" panose="05050102010706020507" pitchFamily="18" charset="2"/>
                  </a:rPr>
                  <a:t>,</a:t>
                </a:r>
                <a:r>
                  <a:rPr lang="en-US" altLang="zh-CN" sz="2400" i="1">
                    <a:sym typeface="Symbol" panose="05050102010706020507" pitchFamily="18" charset="2"/>
                  </a:rPr>
                  <a:t>P</a:t>
                </a:r>
                <a:r>
                  <a:rPr lang="en-US" altLang="zh-CN" sz="2400">
                    <a:sym typeface="Symbol" panose="05050102010706020507" pitchFamily="18" charset="2"/>
                  </a:rPr>
                  <a:t>(</a:t>
                </a:r>
                <a:r>
                  <a:rPr lang="en-US" altLang="zh-CN" sz="2400" i="1">
                    <a:sym typeface="Symbol" panose="05050102010706020507" pitchFamily="18" charset="2"/>
                  </a:rPr>
                  <a:t>x</a:t>
                </a:r>
                <a:r>
                  <a:rPr lang="en-US" altLang="zh-CN" sz="2400">
                    <a:sym typeface="Symbol" panose="05050102010706020507" pitchFamily="18" charset="2"/>
                  </a:rPr>
                  <a:t>)</a:t>
                </a:r>
                <a:r>
                  <a:rPr lang="zh-CN" altLang="en-US" sz="2400">
                    <a:sym typeface="Symbol" panose="05050102010706020507" pitchFamily="18" charset="2"/>
                  </a:rPr>
                  <a:t>是连续函数</a:t>
                </a:r>
                <a:endParaRPr lang="zh-CN" altLang="en-US" sz="2400"/>
              </a:p>
            </p:txBody>
          </p:sp>
          <p:graphicFrame>
            <p:nvGraphicFramePr>
              <p:cNvPr id="12300" name="Object 13"/>
              <p:cNvGraphicFramePr>
                <a:graphicFrameLocks noChangeAspect="1"/>
              </p:cNvGraphicFramePr>
              <p:nvPr/>
            </p:nvGraphicFramePr>
            <p:xfrm>
              <a:off x="1474" y="2432"/>
              <a:ext cx="3384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45" name="Equation" r:id="rId5" imgW="5372100" imgH="342900" progId="Equation.DSMT4">
                      <p:embed/>
                    </p:oleObj>
                  </mc:Choice>
                  <mc:Fallback>
                    <p:oleObj name="Equation" r:id="rId5" imgW="5372100" imgH="342900" progId="Equation.DSMT4">
                      <p:embed/>
                      <p:pic>
                        <p:nvPicPr>
                          <p:cNvPr id="1230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74" y="2432"/>
                            <a:ext cx="3384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A8F3A89B-194A-4EC5-BA66-22CD4027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539750" y="1052513"/>
          <a:ext cx="7529513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name="Equation" r:id="rId3" imgW="6870700" imgH="863600" progId="Equation.DSMT4">
                  <p:embed/>
                </p:oleObj>
              </mc:Choice>
              <mc:Fallback>
                <p:oleObj name="Equation" r:id="rId3" imgW="6870700" imgH="863600" progId="Equation.DSMT4">
                  <p:embed/>
                  <p:pic>
                    <p:nvPicPr>
                      <p:cNvPr id="102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052513"/>
                        <a:ext cx="7529513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95288" y="2133600"/>
            <a:ext cx="535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该问题的可行域</a:t>
            </a:r>
            <a:r>
              <a:rPr lang="en-US" altLang="zh-CN" sz="2400"/>
              <a:t>D=</a:t>
            </a:r>
            <a:r>
              <a:rPr lang="en-US" altLang="zh-CN" sz="2400">
                <a:sym typeface="Symbol" panose="05050102010706020507" pitchFamily="18" charset="2"/>
              </a:rPr>
              <a:t>-,-1],</a:t>
            </a:r>
            <a:r>
              <a:rPr lang="zh-CN" altLang="en-US" sz="2400">
                <a:sym typeface="Symbol" panose="05050102010706020507" pitchFamily="18" charset="2"/>
              </a:rPr>
              <a:t>最优解</a:t>
            </a:r>
            <a:r>
              <a:rPr lang="en-US" altLang="zh-CN" sz="2400" i="1">
                <a:sym typeface="Symbol" panose="05050102010706020507" pitchFamily="18" charset="2"/>
              </a:rPr>
              <a:t>x</a:t>
            </a:r>
            <a:r>
              <a:rPr lang="en-US" altLang="zh-CN" sz="2400">
                <a:sym typeface="Symbol" panose="05050102010706020507" pitchFamily="18" charset="2"/>
              </a:rPr>
              <a:t>*= </a:t>
            </a:r>
            <a:r>
              <a:rPr lang="en-US" altLang="zh-CN" sz="2800">
                <a:sym typeface="Symbol" panose="05050102010706020507" pitchFamily="18" charset="2"/>
              </a:rPr>
              <a:t>-</a:t>
            </a:r>
            <a:r>
              <a:rPr lang="en-US" altLang="zh-CN" sz="2400">
                <a:sym typeface="Symbol" panose="05050102010706020507" pitchFamily="18" charset="2"/>
              </a:rPr>
              <a:t>1</a:t>
            </a:r>
            <a:endParaRPr lang="en-US" altLang="zh-CN" sz="2400"/>
          </a:p>
        </p:txBody>
      </p:sp>
      <p:graphicFrame>
        <p:nvGraphicFramePr>
          <p:cNvPr id="10260" name="Object 20"/>
          <p:cNvGraphicFramePr>
            <a:graphicFrameLocks noChangeAspect="1"/>
          </p:cNvGraphicFramePr>
          <p:nvPr/>
        </p:nvGraphicFramePr>
        <p:xfrm>
          <a:off x="539750" y="2781300"/>
          <a:ext cx="72390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" name="Equation" r:id="rId5" imgW="7239000" imgH="1625600" progId="Equation.DSMT4">
                  <p:embed/>
                </p:oleObj>
              </mc:Choice>
              <mc:Fallback>
                <p:oleObj name="Equation" r:id="rId5" imgW="7239000" imgH="1625600" progId="Equation.DSMT4">
                  <p:embed/>
                  <p:pic>
                    <p:nvPicPr>
                      <p:cNvPr id="1026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81300"/>
                        <a:ext cx="72390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991645"/>
              </p:ext>
            </p:extLst>
          </p:nvPr>
        </p:nvGraphicFramePr>
        <p:xfrm>
          <a:off x="1088307" y="4456314"/>
          <a:ext cx="4483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" name="Equation" r:id="rId7" imgW="4483100" imgH="787400" progId="Equation.DSMT4">
                  <p:embed/>
                </p:oleObj>
              </mc:Choice>
              <mc:Fallback>
                <p:oleObj name="Equation" r:id="rId7" imgW="4483100" imgH="787400" progId="Equation.DSMT4">
                  <p:embed/>
                  <p:pic>
                    <p:nvPicPr>
                      <p:cNvPr id="1026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307" y="4456314"/>
                        <a:ext cx="44831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/>
          <p:cNvGraphicFramePr>
            <a:graphicFrameLocks noChangeAspect="1"/>
          </p:cNvGraphicFramePr>
          <p:nvPr/>
        </p:nvGraphicFramePr>
        <p:xfrm>
          <a:off x="1476375" y="5229225"/>
          <a:ext cx="462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" name="Equation" r:id="rId9" imgW="4622800" imgH="787400" progId="Equation.DSMT4">
                  <p:embed/>
                </p:oleObj>
              </mc:Choice>
              <mc:Fallback>
                <p:oleObj name="Equation" r:id="rId9" imgW="4622800" imgH="787400" progId="Equation.DSMT4">
                  <p:embed/>
                  <p:pic>
                    <p:nvPicPr>
                      <p:cNvPr id="102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229225"/>
                        <a:ext cx="4622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FAA583A-6A05-43FE-AF74-7A6952DB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468313" y="1125538"/>
            <a:ext cx="708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罚因子的选取非常重要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!!!</a:t>
            </a: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468313" y="1844675"/>
          <a:ext cx="7816850" cy="303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Equation" r:id="rId3" imgW="7200900" imgH="2794000" progId="Equation.DSMT4">
                  <p:embed/>
                </p:oleObj>
              </mc:Choice>
              <mc:Fallback>
                <p:oleObj name="Equation" r:id="rId3" imgW="7200900" imgH="2794000" progId="Equation.DSMT4">
                  <p:embed/>
                  <p:pic>
                    <p:nvPicPr>
                      <p:cNvPr id="122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844675"/>
                        <a:ext cx="7816850" cy="30337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6D5B394-68DA-4ED8-8FB0-07E93861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6" name="Object 10"/>
          <p:cNvGraphicFramePr>
            <a:graphicFrameLocks noChangeAspect="1"/>
          </p:cNvGraphicFramePr>
          <p:nvPr/>
        </p:nvGraphicFramePr>
        <p:xfrm>
          <a:off x="900113" y="1196975"/>
          <a:ext cx="7265987" cy="393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Equation" r:id="rId3" imgW="6946900" imgH="3759200" progId="Equation.DSMT4">
                  <p:embed/>
                </p:oleObj>
              </mc:Choice>
              <mc:Fallback>
                <p:oleObj name="Equation" r:id="rId3" imgW="6946900" imgH="3759200" progId="Equation.DSMT4">
                  <p:embed/>
                  <p:pic>
                    <p:nvPicPr>
                      <p:cNvPr id="153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196975"/>
                        <a:ext cx="7265987" cy="39306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674251A-A334-41D4-9E95-4E548BBF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9259E-982E-4ABF-BD6D-B0632A68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52513"/>
            <a:ext cx="5791200" cy="6096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/>
              <a:t>1.3 </a:t>
            </a:r>
            <a:r>
              <a:rPr lang="zh-CN" altLang="en-US" sz="2800"/>
              <a:t>收敛性</a:t>
            </a: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468313" y="47244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证明</a:t>
            </a:r>
            <a:r>
              <a:rPr lang="en-US" altLang="zh-CN" sz="2800"/>
              <a:t>:</a:t>
            </a:r>
            <a:r>
              <a:rPr lang="zh-CN" altLang="en-US" sz="2800"/>
              <a:t>先证</a:t>
            </a:r>
            <a:r>
              <a:rPr lang="en-US" altLang="zh-CN" sz="2800"/>
              <a:t>1</a:t>
            </a:r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539750" y="1700213"/>
          <a:ext cx="7708900" cy="279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3" imgW="7708900" imgH="2794000" progId="Equation.DSMT4">
                  <p:embed/>
                </p:oleObj>
              </mc:Choice>
              <mc:Fallback>
                <p:oleObj name="Equation" r:id="rId3" imgW="7708900" imgH="2794000" progId="Equation.DSMT4">
                  <p:embed/>
                  <p:pic>
                    <p:nvPicPr>
                      <p:cNvPr id="143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700213"/>
                        <a:ext cx="7708900" cy="27940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2"/>
          <p:cNvGraphicFramePr>
            <a:graphicFrameLocks noChangeAspect="1"/>
          </p:cNvGraphicFramePr>
          <p:nvPr/>
        </p:nvGraphicFramePr>
        <p:xfrm>
          <a:off x="755650" y="5373688"/>
          <a:ext cx="795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Equation" r:id="rId5" imgW="7950200" imgH="469900" progId="Equation.DSMT4">
                  <p:embed/>
                </p:oleObj>
              </mc:Choice>
              <mc:Fallback>
                <p:oleObj name="Equation" r:id="rId5" imgW="7950200" imgH="469900" progId="Equation.DSMT4">
                  <p:embed/>
                  <p:pic>
                    <p:nvPicPr>
                      <p:cNvPr id="143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373688"/>
                        <a:ext cx="7950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323850" y="2924175"/>
            <a:ext cx="717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证</a:t>
            </a:r>
            <a:r>
              <a:rPr lang="en-US" altLang="zh-CN" sz="2800"/>
              <a:t>2</a:t>
            </a: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16157"/>
              </p:ext>
            </p:extLst>
          </p:nvPr>
        </p:nvGraphicFramePr>
        <p:xfrm>
          <a:off x="1092200" y="981075"/>
          <a:ext cx="51816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" name="Equation" r:id="rId3" imgW="5181480" imgH="2234880" progId="Equation.DSMT4">
                  <p:embed/>
                </p:oleObj>
              </mc:Choice>
              <mc:Fallback>
                <p:oleObj name="Equation" r:id="rId3" imgW="5181480" imgH="2234880" progId="Equation.DSMT4">
                  <p:embed/>
                  <p:pic>
                    <p:nvPicPr>
                      <p:cNvPr id="153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981075"/>
                        <a:ext cx="5181600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900113" y="3573463"/>
          <a:ext cx="7607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" name="Equation" r:id="rId5" imgW="7607300" imgH="469900" progId="Equation.DSMT4">
                  <p:embed/>
                </p:oleObj>
              </mc:Choice>
              <mc:Fallback>
                <p:oleObj name="Equation" r:id="rId5" imgW="7607300" imgH="469900" progId="Equation.DSMT4">
                  <p:embed/>
                  <p:pic>
                    <p:nvPicPr>
                      <p:cNvPr id="153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73463"/>
                        <a:ext cx="7607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71550" y="4292600"/>
            <a:ext cx="7394575" cy="950913"/>
            <a:chOff x="612" y="2704"/>
            <a:chExt cx="4658" cy="599"/>
          </a:xfrm>
        </p:grpSpPr>
        <p:graphicFrame>
          <p:nvGraphicFramePr>
            <p:cNvPr id="17420" name="Object 14"/>
            <p:cNvGraphicFramePr>
              <a:graphicFrameLocks noChangeAspect="1"/>
            </p:cNvGraphicFramePr>
            <p:nvPr/>
          </p:nvGraphicFramePr>
          <p:xfrm>
            <a:off x="612" y="2704"/>
            <a:ext cx="386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6" name="Equation" r:id="rId7" imgW="6134100" imgH="469900" progId="Equation.DSMT4">
                    <p:embed/>
                  </p:oleObj>
                </mc:Choice>
                <mc:Fallback>
                  <p:oleObj name="Equation" r:id="rId7" imgW="6134100" imgH="469900" progId="Equation.DSMT4">
                    <p:embed/>
                    <p:pic>
                      <p:nvPicPr>
                        <p:cNvPr id="1742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704"/>
                          <a:ext cx="386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1" name="Rectangle 15"/>
            <p:cNvSpPr>
              <a:spLocks noChangeArrowheads="1"/>
            </p:cNvSpPr>
            <p:nvPr/>
          </p:nvSpPr>
          <p:spPr bwMode="auto">
            <a:xfrm>
              <a:off x="4332" y="2976"/>
              <a:ext cx="9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(13.1.14)</a:t>
              </a:r>
            </a:p>
          </p:txBody>
        </p:sp>
      </p:grpSp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827088" y="5373688"/>
          <a:ext cx="6515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7" name="Equation" r:id="rId9" imgW="6515100" imgH="469900" progId="Equation.DSMT4">
                  <p:embed/>
                </p:oleObj>
              </mc:Choice>
              <mc:Fallback>
                <p:oleObj name="Equation" r:id="rId9" imgW="6515100" imgH="469900" progId="Equation.DSMT4">
                  <p:embed/>
                  <p:pic>
                    <p:nvPicPr>
                      <p:cNvPr id="1537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73688"/>
                        <a:ext cx="6515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6659563" y="5876925"/>
            <a:ext cx="1962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13.1.15</a:t>
            </a:r>
            <a:r>
              <a:rPr lang="zh-CN" altLang="en-US" sz="2800"/>
              <a:t>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2CCA62-A113-4F1A-B73A-87BD4377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/>
      <p:bldP spid="1537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323850" y="1125538"/>
            <a:ext cx="563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将上两式的两端分别相加并整理得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116013" y="1773238"/>
            <a:ext cx="7321550" cy="735012"/>
            <a:chOff x="703" y="1117"/>
            <a:chExt cx="4612" cy="463"/>
          </a:xfrm>
        </p:grpSpPr>
        <p:sp>
          <p:nvSpPr>
            <p:cNvPr id="18447" name="Rectangle 9"/>
            <p:cNvSpPr>
              <a:spLocks noChangeArrowheads="1"/>
            </p:cNvSpPr>
            <p:nvPr/>
          </p:nvSpPr>
          <p:spPr bwMode="auto">
            <a:xfrm>
              <a:off x="4377" y="1253"/>
              <a:ext cx="9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(13.1.16)</a:t>
              </a:r>
            </a:p>
          </p:txBody>
        </p:sp>
        <p:graphicFrame>
          <p:nvGraphicFramePr>
            <p:cNvPr id="18448" name="Object 13"/>
            <p:cNvGraphicFramePr>
              <a:graphicFrameLocks noChangeAspect="1"/>
            </p:cNvGraphicFramePr>
            <p:nvPr/>
          </p:nvGraphicFramePr>
          <p:xfrm>
            <a:off x="703" y="1117"/>
            <a:ext cx="352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3" name="Equation" r:id="rId3" imgW="5588000" imgH="469900" progId="Equation.DSMT4">
                    <p:embed/>
                  </p:oleObj>
                </mc:Choice>
                <mc:Fallback>
                  <p:oleObj name="Equation" r:id="rId3" imgW="5588000" imgH="469900" progId="Equation.DSMT4">
                    <p:embed/>
                    <p:pic>
                      <p:nvPicPr>
                        <p:cNvPr id="1844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1117"/>
                          <a:ext cx="352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611188" y="2636838"/>
          <a:ext cx="2082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4" name="Equation" r:id="rId5" imgW="2082800" imgH="444500" progId="Equation.DSMT4">
                  <p:embed/>
                </p:oleObj>
              </mc:Choice>
              <mc:Fallback>
                <p:oleObj name="Equation" r:id="rId5" imgW="2082800" imgH="444500" progId="Equation.DSMT4">
                  <p:embed/>
                  <p:pic>
                    <p:nvPicPr>
                      <p:cNvPr id="163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636838"/>
                        <a:ext cx="2082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6899275" y="2924175"/>
            <a:ext cx="1489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(13.1.17)</a:t>
            </a:r>
          </a:p>
        </p:txBody>
      </p:sp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3132138" y="2997200"/>
          <a:ext cx="257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5" name="Equation" r:id="rId7" imgW="2578100" imgH="457200" progId="Equation.DSMT4">
                  <p:embed/>
                </p:oleObj>
              </mc:Choice>
              <mc:Fallback>
                <p:oleObj name="Equation" r:id="rId7" imgW="2578100" imgH="457200" progId="Equation.DSMT4">
                  <p:embed/>
                  <p:pic>
                    <p:nvPicPr>
                      <p:cNvPr id="164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997200"/>
                        <a:ext cx="2578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Rectangle 19"/>
          <p:cNvSpPr>
            <a:spLocks noChangeArrowheads="1"/>
          </p:cNvSpPr>
          <p:nvPr/>
        </p:nvSpPr>
        <p:spPr bwMode="auto">
          <a:xfrm>
            <a:off x="468313" y="34290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最后证</a:t>
            </a:r>
            <a:r>
              <a:rPr lang="en-US" altLang="zh-CN" sz="2800"/>
              <a:t>3.:</a:t>
            </a:r>
          </a:p>
        </p:txBody>
      </p:sp>
      <p:graphicFrame>
        <p:nvGraphicFramePr>
          <p:cNvPr id="16404" name="Object 20"/>
          <p:cNvGraphicFramePr>
            <a:graphicFrameLocks noChangeAspect="1"/>
          </p:cNvGraphicFramePr>
          <p:nvPr/>
        </p:nvGraphicFramePr>
        <p:xfrm>
          <a:off x="900113" y="4076700"/>
          <a:ext cx="415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6" name="Equation" r:id="rId9" imgW="4152900" imgH="469900" progId="Equation.DSMT4">
                  <p:embed/>
                </p:oleObj>
              </mc:Choice>
              <mc:Fallback>
                <p:oleObj name="Equation" r:id="rId9" imgW="4152900" imgH="469900" progId="Equation.DSMT4">
                  <p:embed/>
                  <p:pic>
                    <p:nvPicPr>
                      <p:cNvPr id="1640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76700"/>
                        <a:ext cx="4152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Object 21"/>
          <p:cNvGraphicFramePr>
            <a:graphicFrameLocks noChangeAspect="1"/>
          </p:cNvGraphicFramePr>
          <p:nvPr/>
        </p:nvGraphicFramePr>
        <p:xfrm>
          <a:off x="1258888" y="4724400"/>
          <a:ext cx="613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7" name="Equation" r:id="rId11" imgW="6134100" imgH="469900" progId="Equation.DSMT4">
                  <p:embed/>
                </p:oleObj>
              </mc:Choice>
              <mc:Fallback>
                <p:oleObj name="Equation" r:id="rId11" imgW="6134100" imgH="469900" progId="Equation.DSMT4">
                  <p:embed/>
                  <p:pic>
                    <p:nvPicPr>
                      <p:cNvPr id="164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724400"/>
                        <a:ext cx="6134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6877050" y="5156200"/>
            <a:ext cx="1489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(13.1.18)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C528DA-65B0-44F8-B2F0-894BCE7A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9" grpId="0"/>
      <p:bldP spid="16403" grpId="0"/>
      <p:bldP spid="1640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323850" y="1052513"/>
            <a:ext cx="3341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由</a:t>
            </a:r>
            <a:r>
              <a:rPr lang="en-US" altLang="zh-CN" sz="2400"/>
              <a:t>(13.1.17)</a:t>
            </a:r>
            <a:r>
              <a:rPr lang="zh-CN" altLang="en-US" sz="2400"/>
              <a:t>和</a:t>
            </a:r>
            <a:r>
              <a:rPr lang="en-US" altLang="zh-CN" sz="2400"/>
              <a:t>(1.18)</a:t>
            </a:r>
            <a:r>
              <a:rPr lang="zh-CN" altLang="en-US" sz="2400"/>
              <a:t>可得</a:t>
            </a:r>
            <a:r>
              <a:rPr lang="en-US" altLang="zh-CN" sz="2400"/>
              <a:t>:</a:t>
            </a:r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323850" y="1989138"/>
          <a:ext cx="7645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7" name="Equation" r:id="rId3" imgW="7645400" imgH="1041400" progId="Equation.DSMT4">
                  <p:embed/>
                </p:oleObj>
              </mc:Choice>
              <mc:Fallback>
                <p:oleObj name="Equation" r:id="rId3" imgW="7645400" imgH="1041400" progId="Equation.DSMT4">
                  <p:embed/>
                  <p:pic>
                    <p:nvPicPr>
                      <p:cNvPr id="174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989138"/>
                        <a:ext cx="7645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3924300" y="1412875"/>
          <a:ext cx="2603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8" name="Equation" r:id="rId5" imgW="2603500" imgH="457200" progId="Equation.DSMT4">
                  <p:embed/>
                </p:oleObj>
              </mc:Choice>
              <mc:Fallback>
                <p:oleObj name="Equation" r:id="rId5" imgW="2603500" imgH="457200" progId="Equation.DSMT4">
                  <p:embed/>
                  <p:pic>
                    <p:nvPicPr>
                      <p:cNvPr id="174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412875"/>
                        <a:ext cx="2603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B6B973D-9095-498D-9C93-DB50ACB55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7427" name="Object 19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48072059"/>
              </p:ext>
            </p:extLst>
          </p:nvPr>
        </p:nvGraphicFramePr>
        <p:xfrm>
          <a:off x="500514" y="3371165"/>
          <a:ext cx="7772400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9" name="Equation" r:id="rId7" imgW="7886700" imgH="2184400" progId="Equation.DSMT4">
                  <p:embed/>
                </p:oleObj>
              </mc:Choice>
              <mc:Fallback>
                <p:oleObj name="Equation" r:id="rId7" imgW="7886700" imgH="2184400" progId="Equation.DSMT4">
                  <p:embed/>
                  <p:pic>
                    <p:nvPicPr>
                      <p:cNvPr id="17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14" y="3371165"/>
                        <a:ext cx="7772400" cy="21526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323850" y="1052513"/>
          <a:ext cx="80645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1" name="Equation" r:id="rId3" imgW="8064500" imgH="1066800" progId="Equation.DSMT4">
                  <p:embed/>
                </p:oleObj>
              </mc:Choice>
              <mc:Fallback>
                <p:oleObj name="Equation" r:id="rId3" imgW="8064500" imgH="1066800" progId="Equation.DSMT4">
                  <p:embed/>
                  <p:pic>
                    <p:nvPicPr>
                      <p:cNvPr id="184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80645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14"/>
          <p:cNvGraphicFramePr>
            <a:graphicFrameLocks noChangeAspect="1"/>
          </p:cNvGraphicFramePr>
          <p:nvPr/>
        </p:nvGraphicFramePr>
        <p:xfrm>
          <a:off x="395288" y="2276475"/>
          <a:ext cx="6705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2" name="Equation" r:id="rId5" imgW="6705600" imgH="990600" progId="Equation.DSMT4">
                  <p:embed/>
                </p:oleObj>
              </mc:Choice>
              <mc:Fallback>
                <p:oleObj name="Equation" r:id="rId5" imgW="6705600" imgH="990600" progId="Equation.DSMT4">
                  <p:embed/>
                  <p:pic>
                    <p:nvPicPr>
                      <p:cNvPr id="1844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76475"/>
                        <a:ext cx="6705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468313" y="5661025"/>
            <a:ext cx="5729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由</a:t>
            </a:r>
            <a:r>
              <a:rPr lang="en-US" altLang="zh-CN" sz="2800"/>
              <a:t>(13.1.20)-(13.1.21)</a:t>
            </a:r>
            <a:r>
              <a:rPr lang="zh-CN" altLang="en-US" sz="2800"/>
              <a:t>知</a:t>
            </a:r>
            <a:r>
              <a:rPr lang="en-US" altLang="zh-CN" sz="2800"/>
              <a:t>(13.1.19)</a:t>
            </a:r>
            <a:r>
              <a:rPr lang="zh-CN" altLang="en-US" sz="2800"/>
              <a:t>成立</a:t>
            </a:r>
            <a:r>
              <a:rPr lang="en-US" altLang="zh-CN" sz="2800"/>
              <a:t>.</a:t>
            </a:r>
          </a:p>
        </p:txBody>
      </p:sp>
      <p:graphicFrame>
        <p:nvGraphicFramePr>
          <p:cNvPr id="18451" name="Object 19"/>
          <p:cNvGraphicFramePr>
            <a:graphicFrameLocks noChangeAspect="1"/>
          </p:cNvGraphicFramePr>
          <p:nvPr/>
        </p:nvGraphicFramePr>
        <p:xfrm>
          <a:off x="406400" y="3357563"/>
          <a:ext cx="67056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3" name="Equation" r:id="rId7" imgW="6705600" imgH="2184400" progId="Equation.DSMT4">
                  <p:embed/>
                </p:oleObj>
              </mc:Choice>
              <mc:Fallback>
                <p:oleObj name="Equation" r:id="rId7" imgW="6705600" imgH="2184400" progId="Equation.DSMT4">
                  <p:embed/>
                  <p:pic>
                    <p:nvPicPr>
                      <p:cNvPr id="184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357563"/>
                        <a:ext cx="67056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9999C7F-81A6-465B-8426-EDEFDAFC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66328" y="1062138"/>
            <a:ext cx="8281988" cy="3816350"/>
            <a:chOff x="158" y="663"/>
            <a:chExt cx="5217" cy="2404"/>
          </a:xfrm>
        </p:grpSpPr>
        <p:sp>
          <p:nvSpPr>
            <p:cNvPr id="21513" name="Rectangle 15"/>
            <p:cNvSpPr>
              <a:spLocks noChangeArrowheads="1"/>
            </p:cNvSpPr>
            <p:nvPr/>
          </p:nvSpPr>
          <p:spPr bwMode="auto">
            <a:xfrm>
              <a:off x="158" y="663"/>
              <a:ext cx="5171" cy="240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21514" name="Group 16"/>
            <p:cNvGrpSpPr>
              <a:grpSpLocks/>
            </p:cNvGrpSpPr>
            <p:nvPr/>
          </p:nvGrpSpPr>
          <p:grpSpPr bwMode="auto">
            <a:xfrm>
              <a:off x="204" y="663"/>
              <a:ext cx="5171" cy="2359"/>
              <a:chOff x="204" y="663"/>
              <a:chExt cx="5171" cy="2359"/>
            </a:xfrm>
          </p:grpSpPr>
          <p:graphicFrame>
            <p:nvGraphicFramePr>
              <p:cNvPr id="21515" name="Object 5"/>
              <p:cNvGraphicFramePr>
                <a:graphicFrameLocks noChangeAspect="1"/>
              </p:cNvGraphicFramePr>
              <p:nvPr/>
            </p:nvGraphicFramePr>
            <p:xfrm>
              <a:off x="228" y="1047"/>
              <a:ext cx="5070" cy="19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60" name="Equation" r:id="rId3" imgW="7658100" imgH="2984500" progId="Equation.DSMT4">
                      <p:embed/>
                    </p:oleObj>
                  </mc:Choice>
                  <mc:Fallback>
                    <p:oleObj name="Equation" r:id="rId3" imgW="7658100" imgH="2984500" progId="Equation.DSMT4">
                      <p:embed/>
                      <p:pic>
                        <p:nvPicPr>
                          <p:cNvPr id="21515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" y="1047"/>
                            <a:ext cx="5070" cy="19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16" name="Rectangle 7"/>
              <p:cNvSpPr>
                <a:spLocks noChangeArrowheads="1"/>
              </p:cNvSpPr>
              <p:nvPr/>
            </p:nvSpPr>
            <p:spPr bwMode="auto">
              <a:xfrm>
                <a:off x="204" y="663"/>
                <a:ext cx="5171" cy="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Th13.1.3 </a:t>
                </a:r>
                <a:r>
                  <a:rPr lang="zh-CN" altLang="en-US" sz="2800"/>
                  <a:t>设问题</a:t>
                </a:r>
                <a:r>
                  <a:rPr lang="en-US" altLang="zh-CN" sz="2800"/>
                  <a:t>(13.1.1)</a:t>
                </a:r>
                <a:r>
                  <a:rPr lang="zh-CN" altLang="en-US" sz="2800"/>
                  <a:t>的可行域</a:t>
                </a:r>
                <a:r>
                  <a:rPr lang="en-US" altLang="zh-CN" sz="2800" i="1"/>
                  <a:t>S</a:t>
                </a:r>
                <a:r>
                  <a:rPr lang="zh-CN" altLang="en-US" sz="2800"/>
                  <a:t>非空</a:t>
                </a:r>
                <a:r>
                  <a:rPr lang="en-US" altLang="zh-CN" sz="2800"/>
                  <a:t>,</a:t>
                </a:r>
                <a:r>
                  <a:rPr lang="zh-CN" altLang="en-US" sz="2800"/>
                  <a:t>且</a:t>
                </a:r>
                <a:r>
                  <a:rPr lang="zh-CN" altLang="en-US" sz="2800">
                    <a:sym typeface="Symbol" panose="05050102010706020507" pitchFamily="18" charset="2"/>
                  </a:rPr>
                  <a:t></a:t>
                </a:r>
                <a:r>
                  <a:rPr lang="en-US" altLang="zh-CN" sz="2800">
                    <a:sym typeface="Symbol" panose="05050102010706020507" pitchFamily="18" charset="2"/>
                  </a:rPr>
                  <a:t>,</a:t>
                </a:r>
                <a:r>
                  <a:rPr lang="zh-CN" altLang="en-US" sz="2800">
                    <a:sym typeface="Symbol" panose="05050102010706020507" pitchFamily="18" charset="2"/>
                  </a:rPr>
                  <a:t>使得集合</a:t>
                </a:r>
                <a:endParaRPr lang="zh-CN" altLang="en-US" sz="2800" i="1"/>
              </a:p>
            </p:txBody>
          </p:sp>
        </p:grpSp>
      </p:grp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395288" y="4941888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证明</a:t>
            </a:r>
            <a:r>
              <a:rPr lang="en-US" altLang="zh-CN" sz="2400"/>
              <a:t>:</a:t>
            </a:r>
            <a:r>
              <a:rPr lang="zh-CN" altLang="en-US" sz="2400"/>
              <a:t>根据假设</a:t>
            </a:r>
            <a:r>
              <a:rPr lang="en-US" altLang="zh-CN" sz="2400"/>
              <a:t>,</a:t>
            </a:r>
            <a:r>
              <a:rPr lang="en-US" altLang="zh-CN" sz="2400" i="1"/>
              <a:t>S</a:t>
            </a:r>
            <a:r>
              <a:rPr lang="zh-CN" altLang="en-US" sz="2400"/>
              <a:t>是紧集</a:t>
            </a:r>
            <a:r>
              <a:rPr lang="en-US" altLang="zh-CN" sz="2400"/>
              <a:t>,</a:t>
            </a:r>
            <a:r>
              <a:rPr lang="en-US" altLang="zh-CN" sz="2400" i="1"/>
              <a:t>f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是连续函数</a:t>
            </a:r>
            <a:r>
              <a:rPr lang="en-US" altLang="zh-CN" sz="2400"/>
              <a:t>,</a:t>
            </a:r>
            <a:r>
              <a:rPr lang="zh-CN" altLang="en-US" sz="2400"/>
              <a:t>因此问题</a:t>
            </a:r>
            <a:r>
              <a:rPr lang="en-US" altLang="zh-CN" sz="2400"/>
              <a:t>(13.1.1)</a:t>
            </a:r>
            <a:r>
              <a:rPr lang="zh-CN" altLang="en-US" sz="2400"/>
              <a:t>存在</a:t>
            </a:r>
          </a:p>
        </p:txBody>
      </p:sp>
      <p:graphicFrame>
        <p:nvGraphicFramePr>
          <p:cNvPr id="19470" name="Object 14"/>
          <p:cNvGraphicFramePr>
            <a:graphicFrameLocks noChangeAspect="1"/>
          </p:cNvGraphicFramePr>
          <p:nvPr/>
        </p:nvGraphicFramePr>
        <p:xfrm>
          <a:off x="468313" y="5445125"/>
          <a:ext cx="12239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1" name="Equation" r:id="rId5" imgW="1345616" imgH="393529" progId="Equation.DSMT4">
                  <p:embed/>
                </p:oleObj>
              </mc:Choice>
              <mc:Fallback>
                <p:oleObj name="Equation" r:id="rId5" imgW="1345616" imgH="393529" progId="Equation.DSMT4">
                  <p:embed/>
                  <p:pic>
                    <p:nvPicPr>
                      <p:cNvPr id="1947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45125"/>
                        <a:ext cx="122396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24F60A0A-0B10-4C7E-BECA-48FA095D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468313" y="34290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于是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395288" y="2133600"/>
            <a:ext cx="134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故可设</a:t>
            </a:r>
            <a:r>
              <a:rPr lang="en-US" altLang="zh-CN" sz="2800"/>
              <a:t>: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395288" y="5661025"/>
            <a:ext cx="733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根据</a:t>
            </a:r>
            <a:r>
              <a:rPr lang="en-US" altLang="zh-CN" sz="2800" i="1"/>
              <a:t>P</a:t>
            </a:r>
            <a:r>
              <a:rPr lang="en-US" altLang="zh-CN" sz="2800"/>
              <a:t>(</a:t>
            </a:r>
            <a:r>
              <a:rPr lang="en-US" altLang="zh-CN" sz="2800" i="1"/>
              <a:t>x</a:t>
            </a:r>
            <a:r>
              <a:rPr lang="en-US" altLang="zh-CN" sz="2800"/>
              <a:t>)</a:t>
            </a:r>
            <a:r>
              <a:rPr lang="zh-CN" altLang="en-US" sz="2800"/>
              <a:t>的定义</a:t>
            </a:r>
            <a:r>
              <a:rPr lang="en-US" altLang="zh-CN" sz="2800"/>
              <a:t>,</a:t>
            </a:r>
            <a:r>
              <a:rPr lang="zh-CN" altLang="en-US" sz="2800"/>
              <a:t>当</a:t>
            </a:r>
            <a:r>
              <a:rPr lang="en-US" altLang="zh-CN" sz="2800" i="1"/>
              <a:t>x</a:t>
            </a:r>
            <a:r>
              <a:rPr lang="en-US" altLang="zh-CN" sz="2800">
                <a:sym typeface="Symbol" panose="05050102010706020507" pitchFamily="18" charset="2"/>
              </a:rPr>
              <a:t></a:t>
            </a:r>
            <a:r>
              <a:rPr lang="en-US" altLang="zh-CN" sz="2800" i="1">
                <a:sym typeface="Symbol" panose="05050102010706020507" pitchFamily="18" charset="2"/>
              </a:rPr>
              <a:t>S,P</a:t>
            </a:r>
            <a:r>
              <a:rPr lang="en-US" altLang="zh-CN" sz="2800">
                <a:sym typeface="Symbol" panose="05050102010706020507" pitchFamily="18" charset="2"/>
              </a:rPr>
              <a:t>(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>
                <a:sym typeface="Symbol" panose="05050102010706020507" pitchFamily="18" charset="2"/>
              </a:rPr>
              <a:t>)=0,</a:t>
            </a:r>
            <a:r>
              <a:rPr lang="zh-CN" altLang="en-US" sz="2800">
                <a:sym typeface="Symbol" panose="05050102010706020507" pitchFamily="18" charset="2"/>
              </a:rPr>
              <a:t>当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>
                <a:sym typeface="Symbol" panose="05050102010706020507" pitchFamily="18" charset="2"/>
              </a:rPr>
              <a:t></a:t>
            </a:r>
            <a:r>
              <a:rPr lang="en-US" altLang="zh-CN" sz="2800" i="1">
                <a:sym typeface="Symbol" panose="05050102010706020507" pitchFamily="18" charset="2"/>
              </a:rPr>
              <a:t>S,</a:t>
            </a:r>
            <a:r>
              <a:rPr lang="zh-CN" altLang="en-US" sz="2800">
                <a:sym typeface="Symbol" panose="05050102010706020507" pitchFamily="18" charset="2"/>
              </a:rPr>
              <a:t>时</a:t>
            </a:r>
            <a:r>
              <a:rPr lang="en-US" altLang="zh-CN" sz="2800">
                <a:sym typeface="Symbol" panose="05050102010706020507" pitchFamily="18" charset="2"/>
              </a:rPr>
              <a:t>,</a:t>
            </a:r>
            <a:r>
              <a:rPr lang="en-US" altLang="zh-CN" sz="2800" i="1">
                <a:sym typeface="Symbol" panose="05050102010706020507" pitchFamily="18" charset="2"/>
              </a:rPr>
              <a:t>P</a:t>
            </a:r>
            <a:r>
              <a:rPr lang="en-US" altLang="zh-CN" sz="2800">
                <a:sym typeface="Symbol" panose="05050102010706020507" pitchFamily="18" charset="2"/>
              </a:rPr>
              <a:t>(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>
                <a:sym typeface="Symbol" panose="05050102010706020507" pitchFamily="18" charset="2"/>
              </a:rPr>
              <a:t>)&gt;0.</a:t>
            </a:r>
            <a:endParaRPr lang="en-US" altLang="zh-CN" sz="2800"/>
          </a:p>
        </p:txBody>
      </p: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395288" y="4508500"/>
          <a:ext cx="6908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4" name="Equation" r:id="rId3" imgW="6908800" imgH="1143000" progId="Equation.DSMT4">
                  <p:embed/>
                </p:oleObj>
              </mc:Choice>
              <mc:Fallback>
                <p:oleObj name="Equation" r:id="rId3" imgW="6908800" imgH="1143000" progId="Equation.DSMT4">
                  <p:embed/>
                  <p:pic>
                    <p:nvPicPr>
                      <p:cNvPr id="215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08500"/>
                        <a:ext cx="6908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1979613" y="2205038"/>
          <a:ext cx="46863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" name="Equation" r:id="rId5" imgW="4686300" imgH="1371600" progId="Equation.DSMT4">
                  <p:embed/>
                </p:oleObj>
              </mc:Choice>
              <mc:Fallback>
                <p:oleObj name="Equation" r:id="rId5" imgW="4686300" imgH="1371600" progId="Equation.DSMT4">
                  <p:embed/>
                  <p:pic>
                    <p:nvPicPr>
                      <p:cNvPr id="215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205038"/>
                        <a:ext cx="46863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14"/>
          <p:cNvGraphicFramePr>
            <a:graphicFrameLocks noChangeAspect="1"/>
          </p:cNvGraphicFramePr>
          <p:nvPr/>
        </p:nvGraphicFramePr>
        <p:xfrm>
          <a:off x="1763713" y="3860800"/>
          <a:ext cx="5105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6" name="Equation" r:id="rId7" imgW="5105400" imgH="622300" progId="Equation.DSMT4">
                  <p:embed/>
                </p:oleObj>
              </mc:Choice>
              <mc:Fallback>
                <p:oleObj name="Equation" r:id="rId7" imgW="5105400" imgH="622300" progId="Equation.DSMT4">
                  <p:embed/>
                  <p:pic>
                    <p:nvPicPr>
                      <p:cNvPr id="215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860800"/>
                        <a:ext cx="51054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179388" y="981075"/>
            <a:ext cx="374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由引理</a:t>
            </a:r>
            <a:r>
              <a:rPr lang="en-US" altLang="zh-CN" sz="2800"/>
              <a:t>13.1.1</a:t>
            </a:r>
            <a:r>
              <a:rPr lang="zh-CN" altLang="en-US" sz="2800"/>
              <a:t>和</a:t>
            </a:r>
            <a:r>
              <a:rPr lang="en-US" altLang="zh-CN" sz="2800"/>
              <a:t>1.2</a:t>
            </a:r>
            <a:r>
              <a:rPr lang="zh-CN" altLang="en-US" sz="2800"/>
              <a:t>可知</a:t>
            </a:r>
            <a:r>
              <a:rPr lang="en-US" altLang="zh-CN" sz="2800"/>
              <a:t>,</a:t>
            </a:r>
          </a:p>
        </p:txBody>
      </p:sp>
      <p:graphicFrame>
        <p:nvGraphicFramePr>
          <p:cNvPr id="21520" name="Object 16"/>
          <p:cNvGraphicFramePr>
            <a:graphicFrameLocks noChangeAspect="1"/>
          </p:cNvGraphicFramePr>
          <p:nvPr/>
        </p:nvGraphicFramePr>
        <p:xfrm>
          <a:off x="839788" y="1557338"/>
          <a:ext cx="695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7" name="Equation" r:id="rId9" imgW="6959600" imgH="469900" progId="Equation.DSMT4">
                  <p:embed/>
                </p:oleObj>
              </mc:Choice>
              <mc:Fallback>
                <p:oleObj name="Equation" r:id="rId9" imgW="6959600" imgH="469900" progId="Equation.DSMT4">
                  <p:embed/>
                  <p:pic>
                    <p:nvPicPr>
                      <p:cNvPr id="215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1557338"/>
                        <a:ext cx="695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85A3B8C-A92E-4835-987A-9D6E2D5B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  <p:bldP spid="21512" grpId="0"/>
      <p:bldP spid="21513" grpId="0"/>
      <p:bldP spid="215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8" name="Object 10"/>
          <p:cNvGraphicFramePr>
            <a:graphicFrameLocks noChangeAspect="1"/>
          </p:cNvGraphicFramePr>
          <p:nvPr/>
        </p:nvGraphicFramePr>
        <p:xfrm>
          <a:off x="539750" y="3213100"/>
          <a:ext cx="6324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3" name="Equation" r:id="rId3" imgW="6324600" imgH="698500" progId="Equation.DSMT4">
                  <p:embed/>
                </p:oleObj>
              </mc:Choice>
              <mc:Fallback>
                <p:oleObj name="Equation" r:id="rId3" imgW="6324600" imgH="698500" progId="Equation.DSMT4">
                  <p:embed/>
                  <p:pic>
                    <p:nvPicPr>
                      <p:cNvPr id="2253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213100"/>
                        <a:ext cx="6324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95288" y="908050"/>
            <a:ext cx="7639050" cy="1003300"/>
            <a:chOff x="384" y="768"/>
            <a:chExt cx="4812" cy="632"/>
          </a:xfrm>
        </p:grpSpPr>
        <p:sp>
          <p:nvSpPr>
            <p:cNvPr id="23565" name="Rectangle 8"/>
            <p:cNvSpPr>
              <a:spLocks noChangeArrowheads="1"/>
            </p:cNvSpPr>
            <p:nvPr/>
          </p:nvSpPr>
          <p:spPr bwMode="auto">
            <a:xfrm>
              <a:off x="384" y="768"/>
              <a:ext cx="481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注意到</a:t>
              </a:r>
              <a:r>
                <a:rPr lang="en-US" altLang="zh-CN" sz="2800"/>
                <a:t>(13.1.26),</a:t>
              </a:r>
              <a:r>
                <a:rPr lang="zh-CN" altLang="en-US" sz="2800"/>
                <a:t>可以断言</a:t>
              </a:r>
              <a:r>
                <a:rPr lang="en-US" altLang="zh-CN" sz="2800"/>
                <a:t>,</a:t>
              </a:r>
              <a:r>
                <a:rPr lang="zh-CN" altLang="en-US" sz="2800"/>
                <a:t>对每个</a:t>
              </a:r>
              <a:r>
                <a:rPr lang="zh-CN" altLang="en-US" sz="2800">
                  <a:sym typeface="Symbol" panose="05050102010706020507" pitchFamily="18" charset="2"/>
                </a:rPr>
                <a:t></a:t>
              </a:r>
              <a:r>
                <a:rPr lang="en-US" altLang="zh-CN" sz="2800">
                  <a:sym typeface="Symbol" panose="05050102010706020507" pitchFamily="18" charset="2"/>
                </a:rPr>
                <a:t>.</a:t>
              </a:r>
              <a:r>
                <a:rPr lang="zh-CN" altLang="en-US" sz="2800">
                  <a:sym typeface="Symbol" panose="05050102010706020507" pitchFamily="18" charset="2"/>
                </a:rPr>
                <a:t>存在正整数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ym typeface="Symbol" panose="05050102010706020507" pitchFamily="18" charset="2"/>
                </a:rPr>
                <a:t>K</a:t>
              </a:r>
              <a:r>
                <a:rPr lang="en-US" altLang="zh-CN" sz="2800">
                  <a:sym typeface="Symbol" panose="05050102010706020507" pitchFamily="18" charset="2"/>
                </a:rPr>
                <a:t>(),</a:t>
              </a:r>
              <a:r>
                <a:rPr lang="zh-CN" altLang="en-US" sz="2800">
                  <a:sym typeface="Symbol" panose="05050102010706020507" pitchFamily="18" charset="2"/>
                </a:rPr>
                <a:t>使得当</a:t>
              </a:r>
              <a:r>
                <a:rPr lang="en-US" altLang="zh-CN" sz="2800" i="1">
                  <a:sym typeface="Symbol" panose="05050102010706020507" pitchFamily="18" charset="2"/>
                </a:rPr>
                <a:t>k</a:t>
              </a:r>
              <a:r>
                <a:rPr lang="en-US" altLang="zh-CN" sz="2800">
                  <a:sym typeface="Symbol" panose="05050102010706020507" pitchFamily="18" charset="2"/>
                </a:rPr>
                <a:t>&gt;</a:t>
              </a:r>
              <a:r>
                <a:rPr lang="en-US" altLang="zh-CN" sz="2800" i="1">
                  <a:sym typeface="Symbol" panose="05050102010706020507" pitchFamily="18" charset="2"/>
                </a:rPr>
                <a:t>K</a:t>
              </a:r>
              <a:r>
                <a:rPr lang="en-US" altLang="zh-CN" sz="2800">
                  <a:sym typeface="Symbol" panose="05050102010706020507" pitchFamily="18" charset="2"/>
                </a:rPr>
                <a:t>()</a:t>
              </a:r>
              <a:r>
                <a:rPr lang="zh-CN" altLang="en-US" sz="2800">
                  <a:sym typeface="Symbol" panose="05050102010706020507" pitchFamily="18" charset="2"/>
                </a:rPr>
                <a:t>时有              </a:t>
              </a:r>
              <a:r>
                <a:rPr lang="en-US" altLang="zh-CN" sz="2800">
                  <a:sym typeface="Symbol" panose="05050102010706020507" pitchFamily="18" charset="2"/>
                </a:rPr>
                <a:t>. </a:t>
              </a:r>
              <a:endParaRPr lang="en-US" altLang="zh-CN" sz="2800"/>
            </a:p>
          </p:txBody>
        </p:sp>
        <p:graphicFrame>
          <p:nvGraphicFramePr>
            <p:cNvPr id="23566" name="Object 12"/>
            <p:cNvGraphicFramePr>
              <a:graphicFrameLocks noChangeAspect="1"/>
            </p:cNvGraphicFramePr>
            <p:nvPr/>
          </p:nvGraphicFramePr>
          <p:xfrm>
            <a:off x="2688" y="1104"/>
            <a:ext cx="7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4" name="Equation" r:id="rId5" imgW="1206500" imgH="469900" progId="Equation.DSMT4">
                    <p:embed/>
                  </p:oleObj>
                </mc:Choice>
                <mc:Fallback>
                  <p:oleObj name="Equation" r:id="rId5" imgW="1206500" imgH="469900" progId="Equation.DSMT4">
                    <p:embed/>
                    <p:pic>
                      <p:nvPicPr>
                        <p:cNvPr id="2356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1104"/>
                          <a:ext cx="7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539750" y="1989138"/>
          <a:ext cx="799306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" name="Equation" r:id="rId7" imgW="8343900" imgH="1117600" progId="Equation.DSMT4">
                  <p:embed/>
                </p:oleObj>
              </mc:Choice>
              <mc:Fallback>
                <p:oleObj name="Equation" r:id="rId7" imgW="8343900" imgH="1117600" progId="Equation.DSMT4">
                  <p:embed/>
                  <p:pic>
                    <p:nvPicPr>
                      <p:cNvPr id="2254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89138"/>
                        <a:ext cx="799306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95288" y="4005263"/>
            <a:ext cx="3981450" cy="693737"/>
            <a:chOff x="249" y="2523"/>
            <a:chExt cx="2508" cy="437"/>
          </a:xfrm>
        </p:grpSpPr>
        <p:sp>
          <p:nvSpPr>
            <p:cNvPr id="23563" name="Rectangle 9"/>
            <p:cNvSpPr>
              <a:spLocks noChangeArrowheads="1"/>
            </p:cNvSpPr>
            <p:nvPr/>
          </p:nvSpPr>
          <p:spPr bwMode="auto">
            <a:xfrm>
              <a:off x="249" y="2523"/>
              <a:ext cx="16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由</a:t>
              </a:r>
              <a:r>
                <a:rPr lang="en-US" altLang="zh-CN" sz="2800"/>
                <a:t>(13.1.16)</a:t>
              </a:r>
              <a:r>
                <a:rPr lang="zh-CN" altLang="en-US" sz="2800"/>
                <a:t>可知</a:t>
              </a:r>
            </a:p>
          </p:txBody>
        </p:sp>
        <p:graphicFrame>
          <p:nvGraphicFramePr>
            <p:cNvPr id="23564" name="Object 15"/>
            <p:cNvGraphicFramePr>
              <a:graphicFrameLocks noChangeAspect="1"/>
            </p:cNvGraphicFramePr>
            <p:nvPr/>
          </p:nvGraphicFramePr>
          <p:xfrm>
            <a:off x="1973" y="2704"/>
            <a:ext cx="78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6" name="Equation" r:id="rId9" imgW="1244060" imgH="406224" progId="Equation.DSMT4">
                    <p:embed/>
                  </p:oleObj>
                </mc:Choice>
                <mc:Fallback>
                  <p:oleObj name="Equation" r:id="rId9" imgW="1244060" imgH="406224" progId="Equation.DSMT4">
                    <p:embed/>
                    <p:pic>
                      <p:nvPicPr>
                        <p:cNvPr id="2356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704"/>
                          <a:ext cx="78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4" name="Object 16"/>
          <p:cNvGraphicFramePr>
            <a:graphicFrameLocks noChangeAspect="1"/>
          </p:cNvGraphicFramePr>
          <p:nvPr/>
        </p:nvGraphicFramePr>
        <p:xfrm>
          <a:off x="611188" y="4868863"/>
          <a:ext cx="1638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7" name="Equation" r:id="rId11" imgW="1637589" imgH="406224" progId="Equation.DSMT4">
                  <p:embed/>
                </p:oleObj>
              </mc:Choice>
              <mc:Fallback>
                <p:oleObj name="Equation" r:id="rId11" imgW="1637589" imgH="406224" progId="Equation.DSMT4">
                  <p:embed/>
                  <p:pic>
                    <p:nvPicPr>
                      <p:cNvPr id="2254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868863"/>
                        <a:ext cx="1638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76AA1A88-48D7-4FD4-93BD-1A5FB000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835150" y="1700213"/>
          <a:ext cx="441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2" name="Equation" r:id="rId3" imgW="3759200" imgH="355600" progId="Equation.DSMT4">
                  <p:embed/>
                </p:oleObj>
              </mc:Choice>
              <mc:Fallback>
                <p:oleObj name="Equation" r:id="rId3" imgW="3759200" imgH="3556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700213"/>
                        <a:ext cx="4419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762000" y="4876800"/>
            <a:ext cx="377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由</a:t>
            </a:r>
            <a:r>
              <a:rPr lang="en-US" altLang="zh-CN" sz="2800"/>
              <a:t>(13.1.28)</a:t>
            </a:r>
            <a:r>
              <a:rPr lang="zh-CN" altLang="en-US" sz="2800"/>
              <a:t>和</a:t>
            </a:r>
            <a:r>
              <a:rPr lang="en-US" altLang="zh-CN" sz="2800"/>
              <a:t>(1.29)</a:t>
            </a:r>
            <a:r>
              <a:rPr lang="zh-CN" altLang="en-US" sz="2800"/>
              <a:t>可知</a:t>
            </a:r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2484438" y="2997200"/>
          <a:ext cx="2197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3" name="Equation" r:id="rId5" imgW="2197100" imgH="495300" progId="Equation.DSMT4">
                  <p:embed/>
                </p:oleObj>
              </mc:Choice>
              <mc:Fallback>
                <p:oleObj name="Equation" r:id="rId5" imgW="2197100" imgH="495300" progId="Equation.DSMT4">
                  <p:embed/>
                  <p:pic>
                    <p:nvPicPr>
                      <p:cNvPr id="23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997200"/>
                        <a:ext cx="2197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827088" y="3716338"/>
          <a:ext cx="5168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4" name="Equation" r:id="rId7" imgW="5168900" imgH="1016000" progId="Equation.DSMT4">
                  <p:embed/>
                </p:oleObj>
              </mc:Choice>
              <mc:Fallback>
                <p:oleObj name="Equation" r:id="rId7" imgW="5168900" imgH="1016000" progId="Equation.DSMT4">
                  <p:embed/>
                  <p:pic>
                    <p:nvPicPr>
                      <p:cNvPr id="235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716338"/>
                        <a:ext cx="5168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2"/>
          <p:cNvGraphicFramePr>
            <a:graphicFrameLocks noChangeAspect="1"/>
          </p:cNvGraphicFramePr>
          <p:nvPr/>
        </p:nvGraphicFramePr>
        <p:xfrm>
          <a:off x="684213" y="1196975"/>
          <a:ext cx="483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5" name="Equation" r:id="rId9" imgW="4838700" imgH="431800" progId="Equation.DSMT4">
                  <p:embed/>
                </p:oleObj>
              </mc:Choice>
              <mc:Fallback>
                <p:oleObj name="Equation" r:id="rId9" imgW="4838700" imgH="431800" progId="Equation.DSMT4">
                  <p:embed/>
                  <p:pic>
                    <p:nvPicPr>
                      <p:cNvPr id="2458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96975"/>
                        <a:ext cx="483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3"/>
          <p:cNvGraphicFramePr>
            <a:graphicFrameLocks noChangeAspect="1"/>
          </p:cNvGraphicFramePr>
          <p:nvPr/>
        </p:nvGraphicFramePr>
        <p:xfrm>
          <a:off x="873125" y="2222500"/>
          <a:ext cx="4241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6" name="Equation" r:id="rId11" imgW="4241800" imgH="495300" progId="Equation.DSMT4">
                  <p:embed/>
                </p:oleObj>
              </mc:Choice>
              <mc:Fallback>
                <p:oleObj name="Equation" r:id="rId11" imgW="4241800" imgH="495300" progId="Equation.DSMT4">
                  <p:embed/>
                  <p:pic>
                    <p:nvPicPr>
                      <p:cNvPr id="235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2222500"/>
                        <a:ext cx="4241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2057400" y="5562600"/>
          <a:ext cx="416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7" name="Equation" r:id="rId13" imgW="4165600" imgH="406400" progId="Equation.DSMT4">
                  <p:embed/>
                </p:oleObj>
              </mc:Choice>
              <mc:Fallback>
                <p:oleObj name="Equation" r:id="rId13" imgW="4165600" imgH="406400" progId="Equation.DSMT4">
                  <p:embed/>
                  <p:pic>
                    <p:nvPicPr>
                      <p:cNvPr id="2356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562600"/>
                        <a:ext cx="416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F8DD6DCB-EEAA-41F0-BBB7-9324084E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4643438" y="4292600"/>
          <a:ext cx="25098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6" name="Equation" r:id="rId3" imgW="2082800" imgH="431800" progId="Equation.DSMT4">
                  <p:embed/>
                </p:oleObj>
              </mc:Choice>
              <mc:Fallback>
                <p:oleObj name="Equation" r:id="rId3" imgW="2082800" imgH="4318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92600"/>
                        <a:ext cx="250983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395288" y="2687638"/>
            <a:ext cx="350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另一方面</a:t>
            </a:r>
            <a:r>
              <a:rPr lang="en-US" altLang="zh-CN" sz="2400"/>
              <a:t>,</a:t>
            </a:r>
            <a:r>
              <a:rPr lang="zh-CN" altLang="en-US" sz="2400"/>
              <a:t>由于</a:t>
            </a:r>
            <a:r>
              <a:rPr lang="en-US" altLang="zh-CN" sz="2400" i="1"/>
              <a:t>f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连续</a:t>
            </a:r>
            <a:r>
              <a:rPr lang="en-US" altLang="zh-CN" sz="2400"/>
              <a:t>,</a:t>
            </a:r>
            <a:r>
              <a:rPr lang="zh-CN" altLang="en-US" sz="2400"/>
              <a:t>则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395288" y="3716338"/>
            <a:ext cx="432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又考虑到</a:t>
            </a:r>
            <a:r>
              <a:rPr lang="en-US" altLang="zh-CN" sz="2400"/>
              <a:t>(13.1.24)</a:t>
            </a:r>
            <a:r>
              <a:rPr lang="zh-CN" altLang="en-US" sz="2400"/>
              <a:t>和</a:t>
            </a:r>
            <a:r>
              <a:rPr lang="en-US" altLang="zh-CN" sz="2400"/>
              <a:t>(13.1.30),</a:t>
            </a:r>
            <a:r>
              <a:rPr lang="zh-CN" altLang="en-US" sz="2400"/>
              <a:t>则</a:t>
            </a:r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611188" y="1557338"/>
          <a:ext cx="5638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7" name="Equation" r:id="rId5" imgW="5638800" imgH="1092200" progId="Equation.DSMT4">
                  <p:embed/>
                </p:oleObj>
              </mc:Choice>
              <mc:Fallback>
                <p:oleObj name="Equation" r:id="rId5" imgW="5638800" imgH="1092200" progId="Equation.DSMT4">
                  <p:embed/>
                  <p:pic>
                    <p:nvPicPr>
                      <p:cNvPr id="245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557338"/>
                        <a:ext cx="56388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489767"/>
              </p:ext>
            </p:extLst>
          </p:nvPr>
        </p:nvGraphicFramePr>
        <p:xfrm>
          <a:off x="501166" y="4643338"/>
          <a:ext cx="3365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8" name="Equation" r:id="rId7" imgW="3365500" imgH="469900" progId="Equation.DSMT4">
                  <p:embed/>
                </p:oleObj>
              </mc:Choice>
              <mc:Fallback>
                <p:oleObj name="Equation" r:id="rId7" imgW="3365500" imgH="469900" progId="Equation.DSMT4">
                  <p:embed/>
                  <p:pic>
                    <p:nvPicPr>
                      <p:cNvPr id="245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66" y="4643338"/>
                        <a:ext cx="3365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468313" y="1052513"/>
          <a:ext cx="44640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9" name="Equation" r:id="rId9" imgW="4584700" imgH="431800" progId="Equation.DSMT4">
                  <p:embed/>
                </p:oleObj>
              </mc:Choice>
              <mc:Fallback>
                <p:oleObj name="Equation" r:id="rId9" imgW="4584700" imgH="431800" progId="Equation.DSMT4">
                  <p:embed/>
                  <p:pic>
                    <p:nvPicPr>
                      <p:cNvPr id="245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52513"/>
                        <a:ext cx="446405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3779838" y="2997200"/>
          <a:ext cx="2971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0" name="Equation" r:id="rId11" imgW="2971800" imgH="698500" progId="Equation.DSMT4">
                  <p:embed/>
                </p:oleObj>
              </mc:Choice>
              <mc:Fallback>
                <p:oleObj name="Equation" r:id="rId11" imgW="2971800" imgH="698500" progId="Equation.DSMT4">
                  <p:embed/>
                  <p:pic>
                    <p:nvPicPr>
                      <p:cNvPr id="24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997200"/>
                        <a:ext cx="2971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CB237DC0-66C4-41E8-A9B1-0FEAB909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4590" name="Object 1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59428621"/>
              </p:ext>
            </p:extLst>
          </p:nvPr>
        </p:nvGraphicFramePr>
        <p:xfrm>
          <a:off x="1453415" y="5431355"/>
          <a:ext cx="472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1" name="Equation" r:id="rId13" imgW="4724400" imgH="495300" progId="Equation.DSMT4">
                  <p:embed/>
                </p:oleObj>
              </mc:Choice>
              <mc:Fallback>
                <p:oleObj name="Equation" r:id="rId13" imgW="4724400" imgH="495300" progId="Equation.DSMT4">
                  <p:embed/>
                  <p:pic>
                    <p:nvPicPr>
                      <p:cNvPr id="245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415" y="5431355"/>
                        <a:ext cx="4724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/>
      <p:bldP spid="2458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684213" y="981075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于是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827088" y="2133600"/>
            <a:ext cx="2200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由</a:t>
            </a:r>
            <a:r>
              <a:rPr lang="en-US" altLang="zh-CN" sz="2800"/>
              <a:t>(13.1.25)</a:t>
            </a:r>
            <a:r>
              <a:rPr lang="zh-CN" altLang="en-US" sz="2800"/>
              <a:t>得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4787900" y="1341438"/>
            <a:ext cx="1489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(13.1.33)</a:t>
            </a:r>
          </a:p>
        </p:txBody>
      </p:sp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2700338" y="2781300"/>
          <a:ext cx="5080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5" name="Equation" r:id="rId3" imgW="5080000" imgH="584200" progId="Equation.DSMT4">
                  <p:embed/>
                </p:oleObj>
              </mc:Choice>
              <mc:Fallback>
                <p:oleObj name="Equation" r:id="rId3" imgW="5080000" imgH="584200" progId="Equation.DSMT4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781300"/>
                        <a:ext cx="5080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2627313" y="1341438"/>
          <a:ext cx="91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6" name="Equation" r:id="rId5" imgW="914400" imgH="495300" progId="Equation.DSMT4">
                  <p:embed/>
                </p:oleObj>
              </mc:Choice>
              <mc:Fallback>
                <p:oleObj name="Equation" r:id="rId5" imgW="914400" imgH="495300" progId="Equation.DSMT4">
                  <p:embed/>
                  <p:pic>
                    <p:nvPicPr>
                      <p:cNvPr id="256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341438"/>
                        <a:ext cx="914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1042988" y="3500438"/>
          <a:ext cx="582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7" name="Equation" r:id="rId7" imgW="5829300" imgH="469900" progId="Equation.DSMT4">
                  <p:embed/>
                </p:oleObj>
              </mc:Choice>
              <mc:Fallback>
                <p:oleObj name="Equation" r:id="rId7" imgW="5829300" imgH="469900" progId="Equation.DSMT4">
                  <p:embed/>
                  <p:pic>
                    <p:nvPicPr>
                      <p:cNvPr id="256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582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977B26B-94EC-4BA6-8FAB-2B470D68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/>
      <p:bldP spid="25608" grpId="0"/>
      <p:bldP spid="2560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/>
              <a:t>13.2 </a:t>
            </a:r>
            <a:r>
              <a:rPr lang="zh-CN" altLang="en-US" sz="3600">
                <a:ea typeface="楷体_GB2312" pitchFamily="49" charset="-122"/>
              </a:rPr>
              <a:t>内点罚函数法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23767" y="1033262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13.2.1 </a:t>
            </a:r>
            <a:r>
              <a:rPr lang="zh-CN" altLang="en-US" sz="2800" b="1" dirty="0"/>
              <a:t>基本思想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827088" y="2276475"/>
            <a:ext cx="7772400" cy="1970088"/>
            <a:chOff x="521" y="1434"/>
            <a:chExt cx="4896" cy="1241"/>
          </a:xfrm>
        </p:grpSpPr>
        <p:grpSp>
          <p:nvGrpSpPr>
            <p:cNvPr id="27660" name="Group 17"/>
            <p:cNvGrpSpPr>
              <a:grpSpLocks/>
            </p:cNvGrpSpPr>
            <p:nvPr/>
          </p:nvGrpSpPr>
          <p:grpSpPr bwMode="auto">
            <a:xfrm>
              <a:off x="521" y="1434"/>
              <a:ext cx="4896" cy="900"/>
              <a:chOff x="567" y="1434"/>
              <a:chExt cx="4896" cy="900"/>
            </a:xfrm>
          </p:grpSpPr>
          <p:graphicFrame>
            <p:nvGraphicFramePr>
              <p:cNvPr id="27662" name="Object 5"/>
              <p:cNvGraphicFramePr>
                <a:graphicFrameLocks noChangeAspect="1"/>
              </p:cNvGraphicFramePr>
              <p:nvPr/>
            </p:nvGraphicFramePr>
            <p:xfrm>
              <a:off x="1383" y="1706"/>
              <a:ext cx="2495" cy="6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54" name="Equation" r:id="rId3" imgW="3225800" imgH="812800" progId="Equation.DSMT4">
                      <p:embed/>
                    </p:oleObj>
                  </mc:Choice>
                  <mc:Fallback>
                    <p:oleObj name="Equation" r:id="rId3" imgW="3225800" imgH="812800" progId="Equation.DSMT4">
                      <p:embed/>
                      <p:pic>
                        <p:nvPicPr>
                          <p:cNvPr id="27662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3" y="1706"/>
                            <a:ext cx="2495" cy="6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63" name="Rectangle 6"/>
              <p:cNvSpPr>
                <a:spLocks noChangeArrowheads="1"/>
              </p:cNvSpPr>
              <p:nvPr/>
            </p:nvSpPr>
            <p:spPr bwMode="auto">
              <a:xfrm>
                <a:off x="4332" y="1888"/>
                <a:ext cx="82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/>
                  <a:t>(13.2.1)</a:t>
                </a:r>
              </a:p>
            </p:txBody>
          </p:sp>
          <p:sp>
            <p:nvSpPr>
              <p:cNvPr id="27664" name="Rectangle 7"/>
              <p:cNvSpPr>
                <a:spLocks noChangeArrowheads="1"/>
              </p:cNvSpPr>
              <p:nvPr/>
            </p:nvSpPr>
            <p:spPr bwMode="auto">
              <a:xfrm>
                <a:off x="567" y="1434"/>
                <a:ext cx="48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因此</a:t>
                </a:r>
                <a:r>
                  <a:rPr lang="en-US" altLang="zh-CN" sz="2400"/>
                  <a:t>,</a:t>
                </a:r>
                <a:r>
                  <a:rPr lang="zh-CN" altLang="en-US" sz="2400"/>
                  <a:t>此方法适用于下列不等式约束的问题</a:t>
                </a:r>
                <a:r>
                  <a:rPr lang="en-US" altLang="zh-CN" sz="2400"/>
                  <a:t>:</a:t>
                </a:r>
              </a:p>
            </p:txBody>
          </p:sp>
        </p:grpSp>
        <p:graphicFrame>
          <p:nvGraphicFramePr>
            <p:cNvPr id="27661" name="Object 12"/>
            <p:cNvGraphicFramePr>
              <a:graphicFrameLocks noChangeAspect="1"/>
            </p:cNvGraphicFramePr>
            <p:nvPr/>
          </p:nvGraphicFramePr>
          <p:xfrm>
            <a:off x="567" y="2387"/>
            <a:ext cx="35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55" name="Equation" r:id="rId5" imgW="5613400" imgH="457200" progId="Equation.DSMT4">
                    <p:embed/>
                  </p:oleObj>
                </mc:Choice>
                <mc:Fallback>
                  <p:oleObj name="Equation" r:id="rId5" imgW="5613400" imgH="457200" progId="Equation.DSMT4">
                    <p:embed/>
                    <p:pic>
                      <p:nvPicPr>
                        <p:cNvPr id="2766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387"/>
                          <a:ext cx="353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7" name="Rectangle 13"/>
          <p:cNvSpPr>
            <a:spLocks noChangeArrowheads="1"/>
          </p:cNvSpPr>
          <p:nvPr/>
        </p:nvSpPr>
        <p:spPr bwMode="auto">
          <a:xfrm>
            <a:off x="755650" y="4365625"/>
            <a:ext cx="1962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记可行域为</a:t>
            </a:r>
          </a:p>
        </p:txBody>
      </p:sp>
      <p:graphicFrame>
        <p:nvGraphicFramePr>
          <p:cNvPr id="26638" name="Object 14"/>
          <p:cNvGraphicFramePr>
            <a:graphicFrameLocks noChangeAspect="1"/>
          </p:cNvGraphicFramePr>
          <p:nvPr/>
        </p:nvGraphicFramePr>
        <p:xfrm>
          <a:off x="1331913" y="4941888"/>
          <a:ext cx="676592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6" name="Equation" r:id="rId7" imgW="5207000" imgH="431800" progId="Equation.DSMT4">
                  <p:embed/>
                </p:oleObj>
              </mc:Choice>
              <mc:Fallback>
                <p:oleObj name="Equation" r:id="rId7" imgW="5207000" imgH="431800" progId="Equation.DSMT4">
                  <p:embed/>
                  <p:pic>
                    <p:nvPicPr>
                      <p:cNvPr id="2663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941888"/>
                        <a:ext cx="6765925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15"/>
          <p:cNvGraphicFramePr>
            <a:graphicFrameLocks noChangeAspect="1"/>
          </p:cNvGraphicFramePr>
          <p:nvPr/>
        </p:nvGraphicFramePr>
        <p:xfrm>
          <a:off x="1331913" y="5661025"/>
          <a:ext cx="65103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" name="Equation" r:id="rId9" imgW="5613400" imgH="431800" progId="Equation.DSMT4">
                  <p:embed/>
                </p:oleObj>
              </mc:Choice>
              <mc:Fallback>
                <p:oleObj name="Equation" r:id="rId9" imgW="5613400" imgH="431800" progId="Equation.DSMT4">
                  <p:embed/>
                  <p:pic>
                    <p:nvPicPr>
                      <p:cNvPr id="2663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661025"/>
                        <a:ext cx="65103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827088" y="1628775"/>
            <a:ext cx="8059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内点法产生的点列从可行域的内部逼近问题的解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6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6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/>
      <p:bldP spid="26637" grpId="0"/>
      <p:bldP spid="2664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85800" y="1219200"/>
            <a:ext cx="7772400" cy="546100"/>
            <a:chOff x="432" y="768"/>
            <a:chExt cx="4896" cy="344"/>
          </a:xfrm>
        </p:grpSpPr>
        <p:sp>
          <p:nvSpPr>
            <p:cNvPr id="28681" name="Rectangle 7"/>
            <p:cNvSpPr>
              <a:spLocks noChangeArrowheads="1"/>
            </p:cNvSpPr>
            <p:nvPr/>
          </p:nvSpPr>
          <p:spPr bwMode="auto">
            <a:xfrm>
              <a:off x="432" y="768"/>
              <a:ext cx="48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内点罚函数法的基本思想</a:t>
              </a:r>
              <a:r>
                <a:rPr lang="en-US" altLang="zh-CN" sz="2800"/>
                <a:t>:</a:t>
              </a:r>
              <a:r>
                <a:rPr lang="zh-CN" altLang="en-US" sz="2800"/>
                <a:t>构造辅助</a:t>
              </a:r>
              <a:r>
                <a:rPr lang="en-US" altLang="zh-CN" sz="2800"/>
                <a:t>(</a:t>
              </a:r>
              <a:r>
                <a:rPr lang="zh-CN" altLang="en-US" sz="2800"/>
                <a:t>光滑</a:t>
              </a:r>
              <a:r>
                <a:rPr lang="en-US" altLang="zh-CN" sz="2800"/>
                <a:t>)</a:t>
              </a:r>
              <a:r>
                <a:rPr lang="zh-CN" altLang="en-US" sz="2800"/>
                <a:t>函数</a:t>
              </a:r>
            </a:p>
          </p:txBody>
        </p:sp>
        <p:graphicFrame>
          <p:nvGraphicFramePr>
            <p:cNvPr id="28682" name="Object 12"/>
            <p:cNvGraphicFramePr>
              <a:graphicFrameLocks noChangeAspect="1"/>
            </p:cNvGraphicFramePr>
            <p:nvPr/>
          </p:nvGraphicFramePr>
          <p:xfrm>
            <a:off x="4944" y="816"/>
            <a:ext cx="24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53" name="Equation" r:id="rId3" imgW="380835" imgH="469696" progId="Equation.DSMT4">
                    <p:embed/>
                  </p:oleObj>
                </mc:Choice>
                <mc:Fallback>
                  <p:oleObj name="Equation" r:id="rId3" imgW="380835" imgH="469696" progId="Equation.DSMT4">
                    <p:embed/>
                    <p:pic>
                      <p:nvPicPr>
                        <p:cNvPr id="2868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816"/>
                          <a:ext cx="24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762000" y="1905000"/>
          <a:ext cx="7759700" cy="384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4" name="Equation" r:id="rId5" imgW="7759700" imgH="3848100" progId="Equation.DSMT4">
                  <p:embed/>
                </p:oleObj>
              </mc:Choice>
              <mc:Fallback>
                <p:oleObj name="Equation" r:id="rId5" imgW="7759700" imgH="3848100" progId="Equation.DSMT4">
                  <p:embed/>
                  <p:pic>
                    <p:nvPicPr>
                      <p:cNvPr id="276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05000"/>
                        <a:ext cx="7759700" cy="384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0197A95C-A146-4055-B2B3-E8A0BDF9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7663" name="Object 1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21762829"/>
              </p:ext>
            </p:extLst>
          </p:nvPr>
        </p:nvGraphicFramePr>
        <p:xfrm>
          <a:off x="991402" y="5953927"/>
          <a:ext cx="4826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5" name="Equation" r:id="rId7" imgW="4826000" imgH="419100" progId="Equation.DSMT4">
                  <p:embed/>
                </p:oleObj>
              </mc:Choice>
              <mc:Fallback>
                <p:oleObj name="Equation" r:id="rId7" imgW="4826000" imgH="419100" progId="Equation.DSMT4">
                  <p:embed/>
                  <p:pic>
                    <p:nvPicPr>
                      <p:cNvPr id="276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402" y="5953927"/>
                        <a:ext cx="4826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23850" y="981075"/>
            <a:ext cx="8351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保持迭代点含于可行域内部的方法是定义</a:t>
            </a:r>
            <a:r>
              <a:rPr lang="zh-CN" altLang="en-US" sz="2800" b="1" dirty="0">
                <a:ea typeface="楷体_GB2312" pitchFamily="49" charset="-122"/>
              </a:rPr>
              <a:t>障碍函数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323850" y="2205038"/>
            <a:ext cx="8208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其中</a:t>
            </a:r>
            <a:r>
              <a:rPr lang="en-US" altLang="zh-CN" sz="2400" i="1"/>
              <a:t>B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zh-CN" altLang="en-US" sz="2400"/>
              <a:t>是连续函数</a:t>
            </a:r>
            <a:r>
              <a:rPr lang="en-US" altLang="zh-CN" sz="2400"/>
              <a:t>,</a:t>
            </a:r>
            <a:r>
              <a:rPr lang="zh-CN" altLang="en-US" sz="2400"/>
              <a:t>当点</a:t>
            </a:r>
            <a:r>
              <a:rPr lang="en-US" altLang="zh-CN" sz="2400" i="1"/>
              <a:t>x</a:t>
            </a:r>
            <a:r>
              <a:rPr lang="zh-CN" altLang="en-US" sz="2400"/>
              <a:t>趋向可行域边界时</a:t>
            </a:r>
            <a:r>
              <a:rPr lang="en-US" altLang="zh-CN" sz="2400"/>
              <a:t>,</a:t>
            </a:r>
            <a:r>
              <a:rPr lang="en-US" altLang="zh-CN" sz="2400" i="1"/>
              <a:t>B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)</a:t>
            </a:r>
            <a:r>
              <a:rPr lang="en-US" altLang="zh-CN" sz="2400">
                <a:sym typeface="Symbol" panose="05050102010706020507" pitchFamily="18" charset="2"/>
              </a:rPr>
              <a:t>. </a:t>
            </a:r>
            <a:r>
              <a:rPr lang="zh-CN" altLang="en-US" sz="2400"/>
              <a:t>是很小的正数</a:t>
            </a:r>
            <a:r>
              <a:rPr lang="en-US" altLang="zh-CN" sz="2400"/>
              <a:t>.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2051050" y="1628775"/>
          <a:ext cx="523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2" name="Equation" r:id="rId3" imgW="5232400" imgH="393700" progId="Equation.DSMT4">
                  <p:embed/>
                </p:oleObj>
              </mc:Choice>
              <mc:Fallback>
                <p:oleObj name="Equation" r:id="rId3" imgW="5232400" imgH="393700" progId="Equation.DSMT4">
                  <p:embed/>
                  <p:pic>
                    <p:nvPicPr>
                      <p:cNvPr id="286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628775"/>
                        <a:ext cx="523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176C8FA-70CB-4053-98DA-850F5B39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8687" name="Object 1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74454876"/>
              </p:ext>
            </p:extLst>
          </p:nvPr>
        </p:nvGraphicFramePr>
        <p:xfrm>
          <a:off x="1530417" y="4753276"/>
          <a:ext cx="3784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3" name="Equation" r:id="rId5" imgW="3784600" imgH="914400" progId="Equation.DSMT4">
                  <p:embed/>
                </p:oleObj>
              </mc:Choice>
              <mc:Fallback>
                <p:oleObj name="Equation" r:id="rId5" imgW="3784600" imgH="914400" progId="Equation.DSMT4">
                  <p:embed/>
                  <p:pic>
                    <p:nvPicPr>
                      <p:cNvPr id="2868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417" y="4753276"/>
                        <a:ext cx="3784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323850" y="3068638"/>
            <a:ext cx="8064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这样</a:t>
            </a:r>
            <a:r>
              <a:rPr lang="en-US" altLang="zh-CN" sz="2400"/>
              <a:t>,</a:t>
            </a:r>
            <a:r>
              <a:rPr lang="zh-CN" altLang="en-US" sz="2400"/>
              <a:t>当</a:t>
            </a:r>
            <a:r>
              <a:rPr lang="en-US" altLang="zh-CN" sz="2400" i="1"/>
              <a:t>x</a:t>
            </a:r>
            <a:r>
              <a:rPr lang="zh-CN" altLang="en-US" sz="2400"/>
              <a:t>趋向边界时</a:t>
            </a:r>
            <a:r>
              <a:rPr lang="en-US" altLang="zh-CN" sz="2400"/>
              <a:t>,</a:t>
            </a:r>
            <a:r>
              <a:rPr lang="zh-CN" altLang="en-US" sz="2400"/>
              <a:t>函数</a:t>
            </a:r>
            <a:r>
              <a:rPr lang="en-US" altLang="zh-CN" sz="2400" i="1"/>
              <a:t>F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,</a:t>
            </a:r>
            <a:r>
              <a:rPr lang="en-US" altLang="zh-CN" sz="2400">
                <a:sym typeface="Symbol" panose="05050102010706020507" pitchFamily="18" charset="2"/>
              </a:rPr>
              <a:t>)</a:t>
            </a:r>
            <a:r>
              <a:rPr lang="zh-CN" altLang="en-US" sz="2400"/>
              <a:t>趋于无穷大</a:t>
            </a:r>
            <a:r>
              <a:rPr lang="en-US" altLang="zh-CN" sz="2400"/>
              <a:t>;</a:t>
            </a:r>
            <a:r>
              <a:rPr lang="zh-CN" altLang="en-US" sz="2400"/>
              <a:t>否则</a:t>
            </a:r>
            <a:r>
              <a:rPr lang="en-US" altLang="zh-CN" sz="2400"/>
              <a:t>,</a:t>
            </a:r>
            <a:r>
              <a:rPr lang="zh-CN" altLang="en-US" sz="2400"/>
              <a:t>由于</a:t>
            </a:r>
            <a:r>
              <a:rPr lang="zh-CN" altLang="en-US" sz="2400">
                <a:sym typeface="Symbol" panose="05050102010706020507" pitchFamily="18" charset="2"/>
              </a:rPr>
              <a:t>很小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zh-CN" altLang="en-US" sz="2400">
                <a:sym typeface="Symbol" panose="05050102010706020507" pitchFamily="18" charset="2"/>
              </a:rPr>
              <a:t>则函数</a:t>
            </a:r>
            <a:r>
              <a:rPr lang="en-US" altLang="zh-CN" sz="2400" i="1"/>
              <a:t>F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,</a:t>
            </a:r>
            <a:r>
              <a:rPr lang="en-US" altLang="zh-CN" sz="2400">
                <a:sym typeface="Symbol" panose="05050102010706020507" pitchFamily="18" charset="2"/>
              </a:rPr>
              <a:t>)</a:t>
            </a:r>
            <a:r>
              <a:rPr lang="zh-CN" altLang="en-US" sz="2400">
                <a:sym typeface="Symbol" panose="05050102010706020507" pitchFamily="18" charset="2"/>
              </a:rPr>
              <a:t>的取值近似</a:t>
            </a:r>
            <a:r>
              <a:rPr lang="en-US" altLang="zh-CN" sz="2400" i="1">
                <a:sym typeface="Symbol" panose="05050102010706020507" pitchFamily="18" charset="2"/>
              </a:rPr>
              <a:t>f</a:t>
            </a:r>
            <a:r>
              <a:rPr lang="en-US" altLang="zh-CN" sz="2400">
                <a:sym typeface="Symbol" panose="05050102010706020507" pitchFamily="18" charset="2"/>
              </a:rPr>
              <a:t>(</a:t>
            </a:r>
            <a:r>
              <a:rPr lang="en-US" altLang="zh-CN" sz="2400" i="1">
                <a:sym typeface="Symbol" panose="05050102010706020507" pitchFamily="18" charset="2"/>
              </a:rPr>
              <a:t>x</a:t>
            </a:r>
            <a:r>
              <a:rPr lang="en-US" altLang="zh-CN" sz="2400">
                <a:sym typeface="Symbol" panose="05050102010706020507" pitchFamily="18" charset="2"/>
              </a:rPr>
              <a:t>).</a:t>
            </a:r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250825" y="4005263"/>
            <a:ext cx="7775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因此可通过求解下列问题得到原问题的近似解</a:t>
            </a:r>
            <a:r>
              <a:rPr lang="en-US" altLang="zh-CN" sz="2400" dirty="0">
                <a:sym typeface="Symbol" panose="05050102010706020507" pitchFamily="18" charset="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8680" grpId="0"/>
      <p:bldP spid="28690" grpId="0"/>
      <p:bldP spid="2869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2195513" y="3141663"/>
          <a:ext cx="4686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6" name="Equation" r:id="rId3" imgW="4686300" imgH="914400" progId="Equation.DSMT4">
                  <p:embed/>
                </p:oleObj>
              </mc:Choice>
              <mc:Fallback>
                <p:oleObj name="Equation" r:id="rId3" imgW="4686300" imgH="914400" progId="Equation.DSMT4">
                  <p:embed/>
                  <p:pic>
                    <p:nvPicPr>
                      <p:cNvPr id="297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141663"/>
                        <a:ext cx="4686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323850" y="1125538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两种最重要的形式</a:t>
            </a:r>
            <a:r>
              <a:rPr lang="en-US" altLang="zh-CN" sz="2800"/>
              <a:t>:</a:t>
            </a:r>
          </a:p>
        </p:txBody>
      </p:sp>
      <p:graphicFrame>
        <p:nvGraphicFramePr>
          <p:cNvPr id="29711" name="Object 15"/>
          <p:cNvGraphicFramePr>
            <a:graphicFrameLocks noChangeAspect="1"/>
          </p:cNvGraphicFramePr>
          <p:nvPr/>
        </p:nvGraphicFramePr>
        <p:xfrm>
          <a:off x="2051050" y="1773238"/>
          <a:ext cx="4648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7" name="Equation" r:id="rId5" imgW="4648200" imgH="952500" progId="Equation.DSMT4">
                  <p:embed/>
                </p:oleObj>
              </mc:Choice>
              <mc:Fallback>
                <p:oleObj name="Equation" r:id="rId5" imgW="4648200" imgH="952500" progId="Equation.DSMT4">
                  <p:embed/>
                  <p:pic>
                    <p:nvPicPr>
                      <p:cNvPr id="2971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73238"/>
                        <a:ext cx="4648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E4288A5-F7AB-4DF9-AD93-AC4C9C0D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468313" y="1052513"/>
            <a:ext cx="2139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2.2 </a:t>
            </a:r>
            <a:r>
              <a:rPr lang="zh-CN" altLang="en-US" sz="2800"/>
              <a:t>计算步骤</a:t>
            </a:r>
          </a:p>
        </p:txBody>
      </p:sp>
      <p:graphicFrame>
        <p:nvGraphicFramePr>
          <p:cNvPr id="30732" name="Object 12"/>
          <p:cNvGraphicFramePr>
            <a:graphicFrameLocks noChangeAspect="1"/>
          </p:cNvGraphicFramePr>
          <p:nvPr/>
        </p:nvGraphicFramePr>
        <p:xfrm>
          <a:off x="827088" y="1700213"/>
          <a:ext cx="7412037" cy="346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Equation" r:id="rId3" imgW="7086600" imgH="3314700" progId="Equation.DSMT4">
                  <p:embed/>
                </p:oleObj>
              </mc:Choice>
              <mc:Fallback>
                <p:oleObj name="Equation" r:id="rId3" imgW="7086600" imgH="3314700" progId="Equation.DSMT4">
                  <p:embed/>
                  <p:pic>
                    <p:nvPicPr>
                      <p:cNvPr id="307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700213"/>
                        <a:ext cx="7412037" cy="34655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9E1C5E9-E59A-418C-8C72-2025ACB33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771775" y="1557338"/>
          <a:ext cx="30861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Equation" r:id="rId3" imgW="3086100" imgH="1651000" progId="Equation.DSMT4">
                  <p:embed/>
                </p:oleObj>
              </mc:Choice>
              <mc:Fallback>
                <p:oleObj name="Equation" r:id="rId3" imgW="3086100" imgH="16510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557338"/>
                        <a:ext cx="30861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539750" y="29972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定义障碍函数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395288" y="981075"/>
            <a:ext cx="5073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例</a:t>
            </a:r>
            <a:r>
              <a:rPr lang="en-US" altLang="zh-CN" sz="2800"/>
              <a:t>13.2.1 </a:t>
            </a:r>
            <a:r>
              <a:rPr lang="zh-CN" altLang="en-US" sz="2800"/>
              <a:t>用内点法求解下列问题</a:t>
            </a: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468313" y="4508500"/>
            <a:ext cx="302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用解析法求解问题</a:t>
            </a:r>
          </a:p>
        </p:txBody>
      </p:sp>
      <p:graphicFrame>
        <p:nvGraphicFramePr>
          <p:cNvPr id="31754" name="Object 10"/>
          <p:cNvGraphicFramePr>
            <a:graphicFrameLocks noChangeAspect="1"/>
          </p:cNvGraphicFramePr>
          <p:nvPr/>
        </p:nvGraphicFramePr>
        <p:xfrm>
          <a:off x="1619250" y="3573463"/>
          <a:ext cx="614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Equation" r:id="rId5" imgW="6146800" imgH="914400" progId="Equation.DSMT4">
                  <p:embed/>
                </p:oleObj>
              </mc:Choice>
              <mc:Fallback>
                <p:oleObj name="Equation" r:id="rId5" imgW="6146800" imgH="914400" progId="Equation.DSMT4">
                  <p:embed/>
                  <p:pic>
                    <p:nvPicPr>
                      <p:cNvPr id="317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573463"/>
                        <a:ext cx="6146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12"/>
          <p:cNvGraphicFramePr>
            <a:graphicFrameLocks noChangeAspect="1"/>
          </p:cNvGraphicFramePr>
          <p:nvPr/>
        </p:nvGraphicFramePr>
        <p:xfrm>
          <a:off x="3635375" y="4724400"/>
          <a:ext cx="1905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Equation" r:id="rId7" imgW="1905000" imgH="889000" progId="Equation.DSMT4">
                  <p:embed/>
                </p:oleObj>
              </mc:Choice>
              <mc:Fallback>
                <p:oleObj name="Equation" r:id="rId7" imgW="1905000" imgH="889000" progId="Equation.DSMT4">
                  <p:embed/>
                  <p:pic>
                    <p:nvPicPr>
                      <p:cNvPr id="317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724400"/>
                        <a:ext cx="1905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CC163C6F-F87A-4B46-B037-FD957548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/>
      <p:bldP spid="31752" grpId="0"/>
      <p:bldP spid="3175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539750" y="29972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解得</a:t>
            </a: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468313" y="9810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令</a:t>
            </a:r>
          </a:p>
        </p:txBody>
      </p:sp>
      <p:graphicFrame>
        <p:nvGraphicFramePr>
          <p:cNvPr id="32779" name="Object 11"/>
          <p:cNvGraphicFramePr>
            <a:graphicFrameLocks noChangeAspect="1"/>
          </p:cNvGraphicFramePr>
          <p:nvPr/>
        </p:nvGraphicFramePr>
        <p:xfrm>
          <a:off x="1547813" y="3644900"/>
          <a:ext cx="4686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8" name="Equation" r:id="rId3" imgW="4686300" imgH="635000" progId="Equation.DSMT4">
                  <p:embed/>
                </p:oleObj>
              </mc:Choice>
              <mc:Fallback>
                <p:oleObj name="Equation" r:id="rId3" imgW="4686300" imgH="635000" progId="Equation.DSMT4">
                  <p:embed/>
                  <p:pic>
                    <p:nvPicPr>
                      <p:cNvPr id="3277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644900"/>
                        <a:ext cx="4686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2"/>
          <p:cNvGraphicFramePr>
            <a:graphicFrameLocks noChangeAspect="1"/>
          </p:cNvGraphicFramePr>
          <p:nvPr/>
        </p:nvGraphicFramePr>
        <p:xfrm>
          <a:off x="1979613" y="1196975"/>
          <a:ext cx="42799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9" name="Equation" r:id="rId5" imgW="4279900" imgH="1955800" progId="Equation.DSMT4">
                  <p:embed/>
                </p:oleObj>
              </mc:Choice>
              <mc:Fallback>
                <p:oleObj name="Equation" r:id="rId5" imgW="4279900" imgH="1955800" progId="Equation.DSMT4">
                  <p:embed/>
                  <p:pic>
                    <p:nvPicPr>
                      <p:cNvPr id="327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196975"/>
                        <a:ext cx="42799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/>
        </p:nvGraphicFramePr>
        <p:xfrm>
          <a:off x="684213" y="4508500"/>
          <a:ext cx="46482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0" name="Equation" r:id="rId7" imgW="2984500" imgH="469900" progId="Equation.DSMT4">
                  <p:embed/>
                </p:oleObj>
              </mc:Choice>
              <mc:Fallback>
                <p:oleObj name="Equation" r:id="rId7" imgW="2984500" imgH="469900" progId="Equation.DSMT4">
                  <p:embed/>
                  <p:pic>
                    <p:nvPicPr>
                      <p:cNvPr id="327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08500"/>
                        <a:ext cx="464820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/>
        </p:nvGraphicFramePr>
        <p:xfrm>
          <a:off x="755650" y="5300663"/>
          <a:ext cx="285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1" name="Equation" r:id="rId9" imgW="2857500" imgH="393700" progId="Equation.DSMT4">
                  <p:embed/>
                </p:oleObj>
              </mc:Choice>
              <mc:Fallback>
                <p:oleObj name="Equation" r:id="rId9" imgW="2857500" imgH="393700" progId="Equation.DSMT4">
                  <p:embed/>
                  <p:pic>
                    <p:nvPicPr>
                      <p:cNvPr id="327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300663"/>
                        <a:ext cx="2857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AF497D7-6769-45A3-8471-4BC3B477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323850" y="981075"/>
            <a:ext cx="1873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2.3. </a:t>
            </a:r>
            <a:r>
              <a:rPr lang="zh-CN" altLang="en-US" sz="2800"/>
              <a:t>收敛性</a:t>
            </a:r>
          </a:p>
        </p:txBody>
      </p:sp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611188" y="4076700"/>
          <a:ext cx="7010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7" name="Equation" r:id="rId3" imgW="7010400" imgH="469900" progId="Equation.DSMT4">
                  <p:embed/>
                </p:oleObj>
              </mc:Choice>
              <mc:Fallback>
                <p:oleObj name="Equation" r:id="rId3" imgW="7010400" imgH="469900" progId="Equation.DSMT4">
                  <p:embed/>
                  <p:pic>
                    <p:nvPicPr>
                      <p:cNvPr id="338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076700"/>
                        <a:ext cx="7010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611188" y="1773238"/>
          <a:ext cx="80264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8" name="Equation" r:id="rId5" imgW="8026400" imgH="2133600" progId="Equation.DSMT4">
                  <p:embed/>
                </p:oleObj>
              </mc:Choice>
              <mc:Fallback>
                <p:oleObj name="Equation" r:id="rId5" imgW="8026400" imgH="2133600" progId="Equation.DSMT4">
                  <p:embed/>
                  <p:pic>
                    <p:nvPicPr>
                      <p:cNvPr id="338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773238"/>
                        <a:ext cx="8026400" cy="21336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/>
        </p:nvGraphicFramePr>
        <p:xfrm>
          <a:off x="685800" y="4724400"/>
          <a:ext cx="77597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9" name="Equation" r:id="rId7" imgW="7759700" imgH="1041400" progId="Equation.DSMT4">
                  <p:embed/>
                </p:oleObj>
              </mc:Choice>
              <mc:Fallback>
                <p:oleObj name="Equation" r:id="rId7" imgW="7759700" imgH="1041400" progId="Equation.DSMT4">
                  <p:embed/>
                  <p:pic>
                    <p:nvPicPr>
                      <p:cNvPr id="338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724400"/>
                        <a:ext cx="77597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D6F04A-0831-4DA9-A9C5-73094BE7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539750" y="357346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设</a:t>
            </a:r>
            <a:r>
              <a:rPr lang="en-US" altLang="zh-CN" sz="2800" i="1"/>
              <a:t>x</a:t>
            </a:r>
            <a:r>
              <a:rPr lang="en-US" altLang="zh-CN" sz="2800"/>
              <a:t>*</a:t>
            </a:r>
            <a:r>
              <a:rPr lang="zh-CN" altLang="en-US" sz="2800"/>
              <a:t>是问题</a:t>
            </a:r>
            <a:r>
              <a:rPr lang="en-US" altLang="zh-CN" sz="2800"/>
              <a:t>(13.2.1)</a:t>
            </a:r>
            <a:r>
              <a:rPr lang="zh-CN" altLang="en-US" sz="2800"/>
              <a:t>的最优解</a:t>
            </a:r>
            <a:r>
              <a:rPr lang="en-US" altLang="zh-CN" sz="2800"/>
              <a:t>.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755650" y="4868863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又知</a:t>
            </a:r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684213" y="4292600"/>
          <a:ext cx="5676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Equation" r:id="rId3" imgW="5676900" imgH="457200" progId="Equation.DSMT4">
                  <p:embed/>
                </p:oleObj>
              </mc:Choice>
              <mc:Fallback>
                <p:oleObj name="Equation" r:id="rId3" imgW="5676900" imgH="457200" progId="Equation.DSMT4">
                  <p:embed/>
                  <p:pic>
                    <p:nvPicPr>
                      <p:cNvPr id="348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292600"/>
                        <a:ext cx="5676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827088" y="1196975"/>
            <a:ext cx="7143750" cy="2235200"/>
            <a:chOff x="521" y="754"/>
            <a:chExt cx="4500" cy="1408"/>
          </a:xfrm>
        </p:grpSpPr>
        <p:sp>
          <p:nvSpPr>
            <p:cNvPr id="35851" name="Rectangle 9"/>
            <p:cNvSpPr>
              <a:spLocks noChangeArrowheads="1"/>
            </p:cNvSpPr>
            <p:nvPr/>
          </p:nvSpPr>
          <p:spPr bwMode="auto">
            <a:xfrm>
              <a:off x="4195" y="1434"/>
              <a:ext cx="8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(13.2.8)</a:t>
              </a:r>
            </a:p>
          </p:txBody>
        </p:sp>
        <p:graphicFrame>
          <p:nvGraphicFramePr>
            <p:cNvPr id="35852" name="Object 12"/>
            <p:cNvGraphicFramePr>
              <a:graphicFrameLocks noChangeAspect="1"/>
            </p:cNvGraphicFramePr>
            <p:nvPr/>
          </p:nvGraphicFramePr>
          <p:xfrm>
            <a:off x="521" y="754"/>
            <a:ext cx="3496" cy="1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2" name="Equation" r:id="rId5" imgW="5549900" imgH="2235200" progId="Equation.DSMT4">
                    <p:embed/>
                  </p:oleObj>
                </mc:Choice>
                <mc:Fallback>
                  <p:oleObj name="Equation" r:id="rId5" imgW="5549900" imgH="2235200" progId="Equation.DSMT4">
                    <p:embed/>
                    <p:pic>
                      <p:nvPicPr>
                        <p:cNvPr id="3585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754"/>
                          <a:ext cx="3496" cy="1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30" name="Object 14"/>
          <p:cNvGraphicFramePr>
            <a:graphicFrameLocks noChangeAspect="1"/>
          </p:cNvGraphicFramePr>
          <p:nvPr/>
        </p:nvGraphicFramePr>
        <p:xfrm>
          <a:off x="2555875" y="5300663"/>
          <a:ext cx="2908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3" name="Equation" r:id="rId7" imgW="2908300" imgH="469900" progId="Equation.DSMT4">
                  <p:embed/>
                </p:oleObj>
              </mc:Choice>
              <mc:Fallback>
                <p:oleObj name="Equation" r:id="rId7" imgW="2908300" imgH="469900" progId="Equation.DSMT4">
                  <p:embed/>
                  <p:pic>
                    <p:nvPicPr>
                      <p:cNvPr id="3483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300663"/>
                        <a:ext cx="2908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2EC9A2C4-B8FD-40E8-9F3A-94AFC778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/>
      <p:bldP spid="348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838200" y="11430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故有</a:t>
            </a:r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827088" y="198913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从而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5791200" y="1600200"/>
            <a:ext cx="1311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(13.2.9)</a:t>
            </a:r>
          </a:p>
        </p:txBody>
      </p:sp>
      <p:graphicFrame>
        <p:nvGraphicFramePr>
          <p:cNvPr id="35852" name="Object 12"/>
          <p:cNvGraphicFramePr>
            <a:graphicFrameLocks noChangeAspect="1"/>
          </p:cNvGraphicFramePr>
          <p:nvPr/>
        </p:nvGraphicFramePr>
        <p:xfrm>
          <a:off x="2438400" y="1600200"/>
          <a:ext cx="2743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5" name="Equation" r:id="rId3" imgW="2743200" imgH="469900" progId="Equation.DSMT4">
                  <p:embed/>
                </p:oleObj>
              </mc:Choice>
              <mc:Fallback>
                <p:oleObj name="Equation" r:id="rId3" imgW="2743200" imgH="469900" progId="Equation.DSMT4">
                  <p:embed/>
                  <p:pic>
                    <p:nvPicPr>
                      <p:cNvPr id="358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00200"/>
                        <a:ext cx="2743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13"/>
          <p:cNvGraphicFramePr>
            <a:graphicFrameLocks noChangeAspect="1"/>
          </p:cNvGraphicFramePr>
          <p:nvPr/>
        </p:nvGraphicFramePr>
        <p:xfrm>
          <a:off x="1116013" y="2708275"/>
          <a:ext cx="730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6" name="Equation" r:id="rId5" imgW="7302500" imgH="469900" progId="Equation.DSMT4">
                  <p:embed/>
                </p:oleObj>
              </mc:Choice>
              <mc:Fallback>
                <p:oleObj name="Equation" r:id="rId5" imgW="7302500" imgH="469900" progId="Equation.DSMT4">
                  <p:embed/>
                  <p:pic>
                    <p:nvPicPr>
                      <p:cNvPr id="358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708275"/>
                        <a:ext cx="7302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4" name="Object 14"/>
          <p:cNvGraphicFramePr>
            <a:graphicFrameLocks noChangeAspect="1"/>
          </p:cNvGraphicFramePr>
          <p:nvPr/>
        </p:nvGraphicFramePr>
        <p:xfrm>
          <a:off x="3348038" y="3284538"/>
          <a:ext cx="1498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7" name="Equation" r:id="rId7" imgW="1497950" imgH="495085" progId="Equation.DSMT4">
                  <p:embed/>
                </p:oleObj>
              </mc:Choice>
              <mc:Fallback>
                <p:oleObj name="Equation" r:id="rId7" imgW="1497950" imgH="495085" progId="Equation.DSMT4">
                  <p:embed/>
                  <p:pic>
                    <p:nvPicPr>
                      <p:cNvPr id="358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284538"/>
                        <a:ext cx="1498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5" name="Object 15"/>
          <p:cNvGraphicFramePr>
            <a:graphicFrameLocks noChangeAspect="1"/>
          </p:cNvGraphicFramePr>
          <p:nvPr/>
        </p:nvGraphicFramePr>
        <p:xfrm>
          <a:off x="684213" y="3860800"/>
          <a:ext cx="2273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8" name="Equation" r:id="rId9" imgW="2273300" imgH="495300" progId="Equation.DSMT4">
                  <p:embed/>
                </p:oleObj>
              </mc:Choice>
              <mc:Fallback>
                <p:oleObj name="Equation" r:id="rId9" imgW="2273300" imgH="495300" progId="Equation.DSMT4">
                  <p:embed/>
                  <p:pic>
                    <p:nvPicPr>
                      <p:cNvPr id="358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860800"/>
                        <a:ext cx="2273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6" name="Object 16"/>
          <p:cNvGraphicFramePr>
            <a:graphicFrameLocks noChangeAspect="1"/>
          </p:cNvGraphicFramePr>
          <p:nvPr/>
        </p:nvGraphicFramePr>
        <p:xfrm>
          <a:off x="971550" y="4508500"/>
          <a:ext cx="7315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9" name="Equation" r:id="rId11" imgW="7315200" imgH="1092200" progId="Equation.DSMT4">
                  <p:embed/>
                </p:oleObj>
              </mc:Choice>
              <mc:Fallback>
                <p:oleObj name="Equation" r:id="rId11" imgW="7315200" imgH="1092200" progId="Equation.DSMT4">
                  <p:embed/>
                  <p:pic>
                    <p:nvPicPr>
                      <p:cNvPr id="358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08500"/>
                        <a:ext cx="73152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9487C26-233D-4100-967B-41A4E0A0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/>
      <p:bldP spid="35848" grpId="0"/>
      <p:bldP spid="3584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827088" y="170021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即</a:t>
            </a: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5867400" y="2362200"/>
            <a:ext cx="1489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(13.2.10)</a:t>
            </a:r>
          </a:p>
        </p:txBody>
      </p:sp>
      <p:graphicFrame>
        <p:nvGraphicFramePr>
          <p:cNvPr id="36874" name="Object 10"/>
          <p:cNvGraphicFramePr>
            <a:graphicFrameLocks noChangeAspect="1"/>
          </p:cNvGraphicFramePr>
          <p:nvPr/>
        </p:nvGraphicFramePr>
        <p:xfrm>
          <a:off x="2362200" y="4038600"/>
          <a:ext cx="3352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9" name="Equation" r:id="rId3" imgW="3352800" imgH="825500" progId="Equation.DSMT4">
                  <p:embed/>
                </p:oleObj>
              </mc:Choice>
              <mc:Fallback>
                <p:oleObj name="Equation" r:id="rId3" imgW="3352800" imgH="825500" progId="Equation.DSMT4">
                  <p:embed/>
                  <p:pic>
                    <p:nvPicPr>
                      <p:cNvPr id="368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038600"/>
                        <a:ext cx="3352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1"/>
          <p:cNvGraphicFramePr>
            <a:graphicFrameLocks noChangeAspect="1"/>
          </p:cNvGraphicFramePr>
          <p:nvPr/>
        </p:nvGraphicFramePr>
        <p:xfrm>
          <a:off x="838200" y="4876800"/>
          <a:ext cx="7848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0" name="Equation" r:id="rId5" imgW="7848600" imgH="965200" progId="Equation.DSMT4">
                  <p:embed/>
                </p:oleObj>
              </mc:Choice>
              <mc:Fallback>
                <p:oleObj name="Equation" r:id="rId5" imgW="7848600" imgH="965200" progId="Equation.DSMT4">
                  <p:embed/>
                  <p:pic>
                    <p:nvPicPr>
                      <p:cNvPr id="368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76800"/>
                        <a:ext cx="7848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2"/>
          <p:cNvGraphicFramePr>
            <a:graphicFrameLocks noChangeAspect="1"/>
          </p:cNvGraphicFramePr>
          <p:nvPr/>
        </p:nvGraphicFramePr>
        <p:xfrm>
          <a:off x="2051050" y="1125538"/>
          <a:ext cx="4178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1" name="Equation" r:id="rId7" imgW="4178300" imgH="825500" progId="Equation.DSMT4">
                  <p:embed/>
                </p:oleObj>
              </mc:Choice>
              <mc:Fallback>
                <p:oleObj name="Equation" r:id="rId7" imgW="4178300" imgH="825500" progId="Equation.DSMT4">
                  <p:embed/>
                  <p:pic>
                    <p:nvPicPr>
                      <p:cNvPr id="368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125538"/>
                        <a:ext cx="4178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7" name="Object 13"/>
          <p:cNvGraphicFramePr>
            <a:graphicFrameLocks noChangeAspect="1"/>
          </p:cNvGraphicFramePr>
          <p:nvPr/>
        </p:nvGraphicFramePr>
        <p:xfrm>
          <a:off x="1908175" y="2133600"/>
          <a:ext cx="3022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2" name="Equation" r:id="rId9" imgW="3022600" imgH="825500" progId="Equation.DSMT4">
                  <p:embed/>
                </p:oleObj>
              </mc:Choice>
              <mc:Fallback>
                <p:oleObj name="Equation" r:id="rId9" imgW="3022600" imgH="825500" progId="Equation.DSMT4">
                  <p:embed/>
                  <p:pic>
                    <p:nvPicPr>
                      <p:cNvPr id="368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133600"/>
                        <a:ext cx="3022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8" name="Object 14"/>
          <p:cNvGraphicFramePr>
            <a:graphicFrameLocks noChangeAspect="1"/>
          </p:cNvGraphicFramePr>
          <p:nvPr/>
        </p:nvGraphicFramePr>
        <p:xfrm>
          <a:off x="838200" y="3048000"/>
          <a:ext cx="6769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3" name="Equation" r:id="rId11" imgW="6769100" imgH="1016000" progId="Equation.DSMT4">
                  <p:embed/>
                </p:oleObj>
              </mc:Choice>
              <mc:Fallback>
                <p:oleObj name="Equation" r:id="rId11" imgW="6769100" imgH="1016000" progId="Equation.DSMT4">
                  <p:embed/>
                  <p:pic>
                    <p:nvPicPr>
                      <p:cNvPr id="368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48000"/>
                        <a:ext cx="6769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C7F681D-A1DA-4F00-99A1-D6D16C30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1" grpId="0"/>
      <p:bldP spid="368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838200" y="1066800"/>
          <a:ext cx="6134100" cy="29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8" name="Equation" r:id="rId3" imgW="6134100" imgH="2921000" progId="Equation.DSMT4">
                  <p:embed/>
                </p:oleObj>
              </mc:Choice>
              <mc:Fallback>
                <p:oleObj name="Equation" r:id="rId3" imgW="6134100" imgH="2921000" progId="Equation.DSMT4">
                  <p:embed/>
                  <p:pic>
                    <p:nvPicPr>
                      <p:cNvPr id="379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66800"/>
                        <a:ext cx="6134100" cy="292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914400" y="4038600"/>
          <a:ext cx="5486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9" name="Equation" r:id="rId5" imgW="5486400" imgH="508000" progId="Equation.DSMT4">
                  <p:embed/>
                </p:oleObj>
              </mc:Choice>
              <mc:Fallback>
                <p:oleObj name="Equation" r:id="rId5" imgW="5486400" imgH="508000" progId="Equation.DSMT4">
                  <p:embed/>
                  <p:pic>
                    <p:nvPicPr>
                      <p:cNvPr id="379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038600"/>
                        <a:ext cx="5486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2" name="Object 14"/>
          <p:cNvGraphicFramePr>
            <a:graphicFrameLocks noChangeAspect="1"/>
          </p:cNvGraphicFramePr>
          <p:nvPr/>
        </p:nvGraphicFramePr>
        <p:xfrm>
          <a:off x="2971800" y="4648200"/>
          <a:ext cx="1498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0" name="Equation" r:id="rId7" imgW="1497950" imgH="495085" progId="Equation.DSMT4">
                  <p:embed/>
                </p:oleObj>
              </mc:Choice>
              <mc:Fallback>
                <p:oleObj name="Equation" r:id="rId7" imgW="1497950" imgH="495085" progId="Equation.DSMT4">
                  <p:embed/>
                  <p:pic>
                    <p:nvPicPr>
                      <p:cNvPr id="3790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648200"/>
                        <a:ext cx="1498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3" name="Object 15"/>
          <p:cNvGraphicFramePr>
            <a:graphicFrameLocks noChangeAspect="1"/>
          </p:cNvGraphicFramePr>
          <p:nvPr/>
        </p:nvGraphicFramePr>
        <p:xfrm>
          <a:off x="971550" y="5300663"/>
          <a:ext cx="237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1" name="Equation" r:id="rId9" imgW="2374900" imgH="393700" progId="Equation.DSMT4">
                  <p:embed/>
                </p:oleObj>
              </mc:Choice>
              <mc:Fallback>
                <p:oleObj name="Equation" r:id="rId9" imgW="2374900" imgH="393700" progId="Equation.DSMT4">
                  <p:embed/>
                  <p:pic>
                    <p:nvPicPr>
                      <p:cNvPr id="379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300663"/>
                        <a:ext cx="237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0959C5F-247B-4DDE-996F-6409F400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685800" y="1219200"/>
          <a:ext cx="4521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2" name="Equation" r:id="rId3" imgW="4521200" imgH="495300" progId="Equation.DSMT4">
                  <p:embed/>
                </p:oleObj>
              </mc:Choice>
              <mc:Fallback>
                <p:oleObj name="Equation" r:id="rId3" imgW="4521200" imgH="495300" progId="Equation.DSMT4">
                  <p:embed/>
                  <p:pic>
                    <p:nvPicPr>
                      <p:cNvPr id="389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9200"/>
                        <a:ext cx="4521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990600" y="5029200"/>
          <a:ext cx="721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3" name="Equation" r:id="rId5" imgW="7213600" imgH="431800" progId="Equation.DSMT4">
                  <p:embed/>
                </p:oleObj>
              </mc:Choice>
              <mc:Fallback>
                <p:oleObj name="Equation" r:id="rId5" imgW="7213600" imgH="431800" progId="Equation.DSMT4">
                  <p:embed/>
                  <p:pic>
                    <p:nvPicPr>
                      <p:cNvPr id="389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029200"/>
                        <a:ext cx="7213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2819400" y="1828800"/>
          <a:ext cx="1790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4" name="Equation" r:id="rId7" imgW="1790700" imgH="698500" progId="Equation.DSMT4">
                  <p:embed/>
                </p:oleObj>
              </mc:Choice>
              <mc:Fallback>
                <p:oleObj name="Equation" r:id="rId7" imgW="1790700" imgH="698500" progId="Equation.DSMT4">
                  <p:embed/>
                  <p:pic>
                    <p:nvPicPr>
                      <p:cNvPr id="389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828800"/>
                        <a:ext cx="1790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990600" y="2514600"/>
          <a:ext cx="5016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5" name="Equation" r:id="rId9" imgW="5016500" imgH="469900" progId="Equation.DSMT4">
                  <p:embed/>
                </p:oleObj>
              </mc:Choice>
              <mc:Fallback>
                <p:oleObj name="Equation" r:id="rId9" imgW="5016500" imgH="469900" progId="Equation.DSMT4">
                  <p:embed/>
                  <p:pic>
                    <p:nvPicPr>
                      <p:cNvPr id="389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14600"/>
                        <a:ext cx="5016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6" name="Object 14"/>
          <p:cNvGraphicFramePr>
            <a:graphicFrameLocks noChangeAspect="1"/>
          </p:cNvGraphicFramePr>
          <p:nvPr/>
        </p:nvGraphicFramePr>
        <p:xfrm>
          <a:off x="2362200" y="3048000"/>
          <a:ext cx="316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6" name="Equation" r:id="rId11" imgW="3162300" imgH="508000" progId="Equation.DSMT4">
                  <p:embed/>
                </p:oleObj>
              </mc:Choice>
              <mc:Fallback>
                <p:oleObj name="Equation" r:id="rId11" imgW="3162300" imgH="508000" progId="Equation.DSMT4">
                  <p:embed/>
                  <p:pic>
                    <p:nvPicPr>
                      <p:cNvPr id="389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48000"/>
                        <a:ext cx="3162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7" name="Object 15"/>
          <p:cNvGraphicFramePr>
            <a:graphicFrameLocks noChangeAspect="1"/>
          </p:cNvGraphicFramePr>
          <p:nvPr/>
        </p:nvGraphicFramePr>
        <p:xfrm>
          <a:off x="827088" y="3573463"/>
          <a:ext cx="1930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7" name="Equation" r:id="rId13" imgW="1930400" imgH="457200" progId="Equation.DSMT4">
                  <p:embed/>
                </p:oleObj>
              </mc:Choice>
              <mc:Fallback>
                <p:oleObj name="Equation" r:id="rId13" imgW="1930400" imgH="457200" progId="Equation.DSMT4">
                  <p:embed/>
                  <p:pic>
                    <p:nvPicPr>
                      <p:cNvPr id="389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73463"/>
                        <a:ext cx="1930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673100" y="4267200"/>
          <a:ext cx="6197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8" name="Equation" r:id="rId15" imgW="6197600" imgH="698500" progId="Equation.DSMT4">
                  <p:embed/>
                </p:oleObj>
              </mc:Choice>
              <mc:Fallback>
                <p:oleObj name="Equation" r:id="rId15" imgW="6197600" imgH="698500" progId="Equation.DSMT4">
                  <p:embed/>
                  <p:pic>
                    <p:nvPicPr>
                      <p:cNvPr id="389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4267200"/>
                        <a:ext cx="6197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9" name="Object 17"/>
          <p:cNvGraphicFramePr>
            <a:graphicFrameLocks noChangeAspect="1"/>
          </p:cNvGraphicFramePr>
          <p:nvPr/>
        </p:nvGraphicFramePr>
        <p:xfrm>
          <a:off x="2133600" y="5638800"/>
          <a:ext cx="450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9" name="Equation" r:id="rId17" imgW="4508500" imgH="393700" progId="Equation.DSMT4">
                  <p:embed/>
                </p:oleObj>
              </mc:Choice>
              <mc:Fallback>
                <p:oleObj name="Equation" r:id="rId17" imgW="4508500" imgH="393700" progId="Equation.DSMT4">
                  <p:embed/>
                  <p:pic>
                    <p:nvPicPr>
                      <p:cNvPr id="389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638800"/>
                        <a:ext cx="4508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A03F008-FFB4-4B92-A4BE-E50CE79D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838200" y="16002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1692275" y="1773238"/>
          <a:ext cx="591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1" name="Equation" r:id="rId3" imgW="5918200" imgH="698500" progId="Equation.DSMT4">
                  <p:embed/>
                </p:oleObj>
              </mc:Choice>
              <mc:Fallback>
                <p:oleObj name="Equation" r:id="rId3" imgW="5918200" imgH="698500" progId="Equation.DSMT4">
                  <p:embed/>
                  <p:pic>
                    <p:nvPicPr>
                      <p:cNvPr id="399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773238"/>
                        <a:ext cx="591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762000" y="1066800"/>
            <a:ext cx="5829300" cy="519113"/>
            <a:chOff x="480" y="720"/>
            <a:chExt cx="3672" cy="327"/>
          </a:xfrm>
        </p:grpSpPr>
        <p:sp>
          <p:nvSpPr>
            <p:cNvPr id="40981" name="Rectangle 8"/>
            <p:cNvSpPr>
              <a:spLocks noChangeArrowheads="1"/>
            </p:cNvSpPr>
            <p:nvPr/>
          </p:nvSpPr>
          <p:spPr bwMode="auto">
            <a:xfrm>
              <a:off x="480" y="720"/>
              <a:ext cx="24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上式必为等式</a:t>
              </a:r>
              <a:r>
                <a:rPr lang="en-US" altLang="zh-CN" sz="2800"/>
                <a:t>.</a:t>
              </a:r>
              <a:r>
                <a:rPr lang="zh-CN" altLang="en-US" sz="2800"/>
                <a:t>如若不然</a:t>
              </a:r>
              <a:r>
                <a:rPr lang="en-US" altLang="zh-CN" sz="2800"/>
                <a:t>,</a:t>
              </a:r>
            </a:p>
          </p:txBody>
        </p:sp>
        <p:graphicFrame>
          <p:nvGraphicFramePr>
            <p:cNvPr id="40982" name="Object 12"/>
            <p:cNvGraphicFramePr>
              <a:graphicFrameLocks noChangeAspect="1"/>
            </p:cNvGraphicFramePr>
            <p:nvPr/>
          </p:nvGraphicFramePr>
          <p:xfrm>
            <a:off x="2928" y="768"/>
            <a:ext cx="122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42" name="Equation" r:id="rId5" imgW="1943100" imgH="393700" progId="Equation.DSMT4">
                    <p:embed/>
                  </p:oleObj>
                </mc:Choice>
                <mc:Fallback>
                  <p:oleObj name="Equation" r:id="rId5" imgW="1943100" imgH="393700" progId="Equation.DSMT4">
                    <p:embed/>
                    <p:pic>
                      <p:nvPicPr>
                        <p:cNvPr id="4098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768"/>
                          <a:ext cx="122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746024" y="2420938"/>
            <a:ext cx="7396163" cy="1985962"/>
            <a:chOff x="521" y="1661"/>
            <a:chExt cx="4659" cy="1251"/>
          </a:xfrm>
        </p:grpSpPr>
        <p:graphicFrame>
          <p:nvGraphicFramePr>
            <p:cNvPr id="40977" name="Object 17"/>
            <p:cNvGraphicFramePr>
              <a:graphicFrameLocks noChangeAspect="1"/>
            </p:cNvGraphicFramePr>
            <p:nvPr/>
          </p:nvGraphicFramePr>
          <p:xfrm>
            <a:off x="612" y="1933"/>
            <a:ext cx="4568" cy="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43" name="Equation" r:id="rId7" imgW="7251700" imgH="1193800" progId="Equation.DSMT4">
                    <p:embed/>
                  </p:oleObj>
                </mc:Choice>
                <mc:Fallback>
                  <p:oleObj name="Equation" r:id="rId7" imgW="7251700" imgH="1193800" progId="Equation.DSMT4">
                    <p:embed/>
                    <p:pic>
                      <p:nvPicPr>
                        <p:cNvPr id="4097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933"/>
                          <a:ext cx="4568" cy="7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0978" name="Group 24"/>
            <p:cNvGrpSpPr>
              <a:grpSpLocks/>
            </p:cNvGrpSpPr>
            <p:nvPr/>
          </p:nvGrpSpPr>
          <p:grpSpPr bwMode="auto">
            <a:xfrm>
              <a:off x="521" y="1661"/>
              <a:ext cx="1632" cy="1251"/>
              <a:chOff x="521" y="1661"/>
              <a:chExt cx="1632" cy="1251"/>
            </a:xfrm>
          </p:grpSpPr>
          <p:graphicFrame>
            <p:nvGraphicFramePr>
              <p:cNvPr id="40979" name="Object 16"/>
              <p:cNvGraphicFramePr>
                <a:graphicFrameLocks noChangeAspect="1"/>
              </p:cNvGraphicFramePr>
              <p:nvPr/>
            </p:nvGraphicFramePr>
            <p:xfrm>
              <a:off x="521" y="1661"/>
              <a:ext cx="1632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044" name="Equation" r:id="rId9" imgW="2590800" imgH="482600" progId="Equation.DSMT4">
                      <p:embed/>
                    </p:oleObj>
                  </mc:Choice>
                  <mc:Fallback>
                    <p:oleObj name="Equation" r:id="rId9" imgW="2590800" imgH="482600" progId="Equation.DSMT4">
                      <p:embed/>
                      <p:pic>
                        <p:nvPicPr>
                          <p:cNvPr id="40979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" y="1661"/>
                            <a:ext cx="1632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980" name="Rectangle 18"/>
              <p:cNvSpPr>
                <a:spLocks noChangeArrowheads="1"/>
              </p:cNvSpPr>
              <p:nvPr/>
            </p:nvSpPr>
            <p:spPr bwMode="auto">
              <a:xfrm>
                <a:off x="672" y="2624"/>
                <a:ext cx="8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/>
                  <a:t>不趋于</a:t>
                </a:r>
                <a:r>
                  <a:rPr lang="en-US" altLang="zh-CN" sz="2400"/>
                  <a:t>0,</a:t>
                </a:r>
              </a:p>
            </p:txBody>
          </p:sp>
        </p:grpSp>
      </p:grpSp>
      <p:graphicFrame>
        <p:nvGraphicFramePr>
          <p:cNvPr id="39957" name="Object 21"/>
          <p:cNvGraphicFramePr>
            <a:graphicFrameLocks noChangeAspect="1"/>
          </p:cNvGraphicFramePr>
          <p:nvPr/>
        </p:nvGraphicFramePr>
        <p:xfrm>
          <a:off x="3203575" y="5445125"/>
          <a:ext cx="195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5" name="Equation" r:id="rId11" imgW="1955800" imgH="393700" progId="Equation.DSMT4">
                  <p:embed/>
                </p:oleObj>
              </mc:Choice>
              <mc:Fallback>
                <p:oleObj name="Equation" r:id="rId11" imgW="1955800" imgH="393700" progId="Equation.DSMT4">
                  <p:embed/>
                  <p:pic>
                    <p:nvPicPr>
                      <p:cNvPr id="3995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445125"/>
                        <a:ext cx="1955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2"/>
          <p:cNvGraphicFramePr>
            <a:graphicFrameLocks noChangeAspect="1"/>
          </p:cNvGraphicFramePr>
          <p:nvPr/>
        </p:nvGraphicFramePr>
        <p:xfrm>
          <a:off x="1042988" y="5949950"/>
          <a:ext cx="378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6" name="Equation" r:id="rId13" imgW="3784600" imgH="431800" progId="Equation.DSMT4">
                  <p:embed/>
                </p:oleObj>
              </mc:Choice>
              <mc:Fallback>
                <p:oleObj name="Equation" r:id="rId13" imgW="3784600" imgH="431800" progId="Equation.DSMT4">
                  <p:embed/>
                  <p:pic>
                    <p:nvPicPr>
                      <p:cNvPr id="399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949950"/>
                        <a:ext cx="3784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900113" y="4365625"/>
            <a:ext cx="6786562" cy="942975"/>
            <a:chOff x="567" y="2750"/>
            <a:chExt cx="4275" cy="594"/>
          </a:xfrm>
        </p:grpSpPr>
        <p:graphicFrame>
          <p:nvGraphicFramePr>
            <p:cNvPr id="40974" name="Object 19"/>
            <p:cNvGraphicFramePr>
              <a:graphicFrameLocks noChangeAspect="1"/>
            </p:cNvGraphicFramePr>
            <p:nvPr/>
          </p:nvGraphicFramePr>
          <p:xfrm>
            <a:off x="1383" y="2976"/>
            <a:ext cx="249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47" name="Equation" r:id="rId15" imgW="3962400" imgH="584200" progId="Equation.DSMT4">
                    <p:embed/>
                  </p:oleObj>
                </mc:Choice>
                <mc:Fallback>
                  <p:oleObj name="Equation" r:id="rId15" imgW="3962400" imgH="584200" progId="Equation.DSMT4">
                    <p:embed/>
                    <p:pic>
                      <p:nvPicPr>
                        <p:cNvPr id="40974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976"/>
                          <a:ext cx="2496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5" name="Rectangle 20"/>
            <p:cNvSpPr>
              <a:spLocks noChangeArrowheads="1"/>
            </p:cNvSpPr>
            <p:nvPr/>
          </p:nvSpPr>
          <p:spPr bwMode="auto">
            <a:xfrm>
              <a:off x="4150" y="2976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矛盾。</a:t>
              </a:r>
            </a:p>
          </p:txBody>
        </p:sp>
        <p:sp>
          <p:nvSpPr>
            <p:cNvPr id="40976" name="Rectangle 23"/>
            <p:cNvSpPr>
              <a:spLocks noChangeArrowheads="1"/>
            </p:cNvSpPr>
            <p:nvPr/>
          </p:nvSpPr>
          <p:spPr bwMode="auto">
            <a:xfrm>
              <a:off x="567" y="2750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此与</a:t>
              </a:r>
            </a:p>
          </p:txBody>
        </p:sp>
      </p:grpSp>
      <p:sp>
        <p:nvSpPr>
          <p:cNvPr id="39962" name="Rectangle 26"/>
          <p:cNvSpPr>
            <a:spLocks noChangeArrowheads="1"/>
          </p:cNvSpPr>
          <p:nvPr/>
        </p:nvSpPr>
        <p:spPr bwMode="auto">
          <a:xfrm>
            <a:off x="1116013" y="51577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故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A54A8DC-9A25-486F-932C-CE22ACCE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9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9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9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  <p:bldP spid="3996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13.3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乘子法</a:t>
            </a:r>
          </a:p>
        </p:txBody>
      </p:sp>
      <p:graphicFrame>
        <p:nvGraphicFramePr>
          <p:cNvPr id="41987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274149431"/>
              </p:ext>
            </p:extLst>
          </p:nvPr>
        </p:nvGraphicFramePr>
        <p:xfrm>
          <a:off x="827773" y="3631131"/>
          <a:ext cx="69135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5" name="Equation" r:id="rId3" imgW="3073320" imgH="368280" progId="Equation.DSMT4">
                  <p:embed/>
                </p:oleObj>
              </mc:Choice>
              <mc:Fallback>
                <p:oleObj name="Equation" r:id="rId3" imgW="3073320" imgH="368280" progId="Equation.DSMT4">
                  <p:embed/>
                  <p:pic>
                    <p:nvPicPr>
                      <p:cNvPr id="419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773" y="3631131"/>
                        <a:ext cx="69135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9"/>
          <p:cNvSpPr>
            <a:spLocks noChangeArrowheads="1"/>
          </p:cNvSpPr>
          <p:nvPr/>
        </p:nvSpPr>
        <p:spPr bwMode="auto">
          <a:xfrm>
            <a:off x="330821" y="992188"/>
            <a:ext cx="834563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利用外罚函数或内罚函数（如障碍函数法）求解约束优化时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为获得较好的近似解，通常要求罚因子</a:t>
            </a:r>
            <a:r>
              <a:rPr lang="zh-CN" altLang="en-US" sz="2400" dirty="0">
                <a:sym typeface="Euclid Symbol" panose="05050102010706020507" pitchFamily="18" charset="2"/>
              </a:rPr>
              <a:t></a:t>
            </a:r>
            <a:r>
              <a:rPr lang="zh-CN" altLang="en-US" sz="2400" dirty="0"/>
              <a:t>逐渐的趋于</a:t>
            </a:r>
            <a:r>
              <a:rPr lang="en-US" altLang="zh-CN" sz="2400" dirty="0">
                <a:sym typeface="Euclid Symbol" panose="05050102010706020507" pitchFamily="18" charset="2"/>
              </a:rPr>
              <a:t>(</a:t>
            </a:r>
            <a:r>
              <a:rPr lang="zh-CN" altLang="en-US" sz="2400" dirty="0"/>
              <a:t>或障碍因子</a:t>
            </a:r>
            <a:r>
              <a:rPr lang="zh-CN" altLang="en-US" sz="2400" dirty="0">
                <a:sym typeface="Euclid Symbol" panose="05050102010706020507" pitchFamily="18" charset="2"/>
              </a:rPr>
              <a:t></a:t>
            </a:r>
            <a:r>
              <a:rPr lang="zh-CN" altLang="en-US" sz="2400" dirty="0"/>
              <a:t>逐渐的趋于</a:t>
            </a:r>
            <a:r>
              <a:rPr lang="en-US" altLang="zh-CN" sz="2400" dirty="0"/>
              <a:t>0)</a:t>
            </a:r>
            <a:r>
              <a:rPr lang="zh-CN" altLang="en-US" sz="2400" dirty="0"/>
              <a:t>，这会造成数值计算方面的困难。是否存在其他形式的罚函数，使得罚因子</a:t>
            </a:r>
            <a:r>
              <a:rPr lang="zh-CN" altLang="en-US" sz="2400" dirty="0">
                <a:sym typeface="Euclid Symbol" panose="05050102010706020507" pitchFamily="18" charset="2"/>
              </a:rPr>
              <a:t></a:t>
            </a:r>
            <a:r>
              <a:rPr lang="zh-CN" altLang="en-US" sz="2400" dirty="0"/>
              <a:t>大于某个正数</a:t>
            </a:r>
            <a:r>
              <a:rPr lang="zh-CN" altLang="en-US" sz="2400" dirty="0">
                <a:sym typeface="Euclid Symbol" panose="05050102010706020507" pitchFamily="18" charset="2"/>
              </a:rPr>
              <a:t></a:t>
            </a:r>
            <a:r>
              <a:rPr lang="en-US" altLang="zh-CN" sz="2400" dirty="0">
                <a:sym typeface="Euclid Symbol" panose="05050102010706020507" pitchFamily="18" charset="2"/>
              </a:rPr>
              <a:t>*(</a:t>
            </a:r>
            <a:r>
              <a:rPr lang="zh-CN" altLang="en-US" sz="2400" dirty="0"/>
              <a:t>或者障碍参数</a:t>
            </a:r>
            <a:r>
              <a:rPr lang="zh-CN" altLang="en-US" sz="2400" dirty="0">
                <a:sym typeface="Euclid Symbol" panose="05050102010706020507" pitchFamily="18" charset="2"/>
              </a:rPr>
              <a:t></a:t>
            </a:r>
            <a:r>
              <a:rPr lang="zh-CN" altLang="en-US" sz="2400" dirty="0"/>
              <a:t> 小于某个正数</a:t>
            </a:r>
            <a:r>
              <a:rPr lang="zh-CN" altLang="en-US" sz="2400" dirty="0">
                <a:sym typeface="Euclid Symbol" panose="05050102010706020507" pitchFamily="18" charset="2"/>
              </a:rPr>
              <a:t></a:t>
            </a:r>
            <a:r>
              <a:rPr lang="en-US" altLang="zh-CN" sz="2400" dirty="0">
                <a:sym typeface="Euclid Symbol" panose="05050102010706020507" pitchFamily="18" charset="2"/>
              </a:rPr>
              <a:t>*)</a:t>
            </a:r>
            <a:r>
              <a:rPr lang="zh-CN" altLang="en-US" sz="2400" dirty="0"/>
              <a:t>后，极小化该罚函数即可得到原来问题的最优解呢？形如</a:t>
            </a:r>
          </a:p>
        </p:txBody>
      </p:sp>
      <p:sp>
        <p:nvSpPr>
          <p:cNvPr id="41990" name="Rectangle 10"/>
          <p:cNvSpPr>
            <a:spLocks noChangeArrowheads="1"/>
          </p:cNvSpPr>
          <p:nvPr/>
        </p:nvSpPr>
        <p:spPr bwMode="auto">
          <a:xfrm>
            <a:off x="698576" y="4509120"/>
            <a:ext cx="74548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的函数就可以满足这种要求－－－－精确罚函数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困难：</a:t>
            </a:r>
            <a:r>
              <a:rPr lang="zh-CN" altLang="en-US" sz="2400" dirty="0">
                <a:sym typeface="Euclid Symbol" panose="05050102010706020507" pitchFamily="18" charset="2"/>
              </a:rPr>
              <a:t> </a:t>
            </a:r>
            <a:r>
              <a:rPr lang="en-US" altLang="zh-CN" sz="2400" dirty="0">
                <a:sym typeface="Euclid Symbol" panose="05050102010706020507" pitchFamily="18" charset="2"/>
              </a:rPr>
              <a:t>*</a:t>
            </a:r>
            <a:r>
              <a:rPr lang="zh-CN" altLang="en-US" sz="2400" dirty="0">
                <a:sym typeface="Euclid Symbol" panose="05050102010706020507" pitchFamily="18" charset="2"/>
              </a:rPr>
              <a:t>事先未知，且精确罚函数一般非光滑，会造成数学处理方面的其它问题</a:t>
            </a:r>
            <a:r>
              <a:rPr lang="zh-CN" altLang="en-US" sz="2400" dirty="0"/>
              <a:t> 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乘子法</a:t>
            </a:r>
          </a:p>
        </p:txBody>
      </p:sp>
      <p:graphicFrame>
        <p:nvGraphicFramePr>
          <p:cNvPr id="43012" name="Object 2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08406567"/>
              </p:ext>
            </p:extLst>
          </p:nvPr>
        </p:nvGraphicFramePr>
        <p:xfrm>
          <a:off x="874713" y="2967038"/>
          <a:ext cx="6765925" cy="306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9" name="Equation" r:id="rId3" imgW="3759120" imgH="1701720" progId="Equation.DSMT4">
                  <p:embed/>
                </p:oleObj>
              </mc:Choice>
              <mc:Fallback>
                <p:oleObj name="Equation" r:id="rId3" imgW="3759120" imgH="1701720" progId="Equation.DSMT4">
                  <p:embed/>
                  <p:pic>
                    <p:nvPicPr>
                      <p:cNvPr id="430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2967038"/>
                        <a:ext cx="6765925" cy="306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A01BA4E-1CC2-4C14-B6D7-4D27282FB9C8}"/>
                  </a:ext>
                </a:extLst>
              </p:cNvPr>
              <p:cNvSpPr/>
              <p:nvPr/>
            </p:nvSpPr>
            <p:spPr>
              <a:xfrm>
                <a:off x="295015" y="979967"/>
                <a:ext cx="7526244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latin typeface="Cambria Math" panose="02040503050406030204" pitchFamily="18" charset="0"/>
                        </a:rPr>
                        <m:t>对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于纯等式约束的优化问题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sz="2400" b="0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altLang="zh-CN" sz="2400" dirty="0"/>
                  <a:t>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.  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          （</a:t>
                </a:r>
                <a:r>
                  <a:rPr lang="en-US" altLang="zh-CN" dirty="0"/>
                  <a:t>13.3.1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A01BA4E-1CC2-4C14-B6D7-4D27282FB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15" y="979967"/>
                <a:ext cx="7526244" cy="1200329"/>
              </a:xfrm>
              <a:prstGeom prst="rect">
                <a:avLst/>
              </a:prstGeom>
              <a:blipFill>
                <a:blip r:embed="rId5"/>
                <a:stretch>
                  <a:fillRect l="-648" b="-6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CFDAE4E-FA80-4BDB-B7D9-3211A336021D}"/>
                  </a:ext>
                </a:extLst>
              </p:cNvPr>
              <p:cNvSpPr/>
              <p:nvPr/>
            </p:nvSpPr>
            <p:spPr>
              <a:xfrm>
                <a:off x="404799" y="2283518"/>
                <a:ext cx="662363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考虑如下形式的增广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𝐿𝑎𝑔𝑟𝑎𝑛𝑔𝑒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CFDAE4E-FA80-4BDB-B7D9-3211A33602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99" y="2283518"/>
                <a:ext cx="6623630" cy="461665"/>
              </a:xfrm>
              <a:prstGeom prst="rect">
                <a:avLst/>
              </a:prstGeom>
              <a:blipFill>
                <a:blip r:embed="rId6"/>
                <a:stretch>
                  <a:fillRect l="-73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4000" b="1"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4000" b="1">
                <a:latin typeface="楷体_GB2312" pitchFamily="49" charset="-122"/>
                <a:ea typeface="楷体_GB2312" pitchFamily="49" charset="-122"/>
              </a:rPr>
              <a:t>乘子法</a:t>
            </a:r>
          </a:p>
        </p:txBody>
      </p:sp>
      <p:graphicFrame>
        <p:nvGraphicFramePr>
          <p:cNvPr id="44036" name="Object 2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16200517"/>
              </p:ext>
            </p:extLst>
          </p:nvPr>
        </p:nvGraphicFramePr>
        <p:xfrm>
          <a:off x="404813" y="1038225"/>
          <a:ext cx="82804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3" name="Equation" r:id="rId3" imgW="3898800" imgH="2260440" progId="Equation.DSMT4">
                  <p:embed/>
                </p:oleObj>
              </mc:Choice>
              <mc:Fallback>
                <p:oleObj name="Equation" r:id="rId3" imgW="3898800" imgH="2260440" progId="Equation.DSMT4">
                  <p:embed/>
                  <p:pic>
                    <p:nvPicPr>
                      <p:cNvPr id="440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1038225"/>
                        <a:ext cx="82804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17CBB-E186-4870-B19C-A5A81E15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91686-2B9A-4EA2-B989-20D4169E92E4}"/>
                  </a:ext>
                </a:extLst>
              </p:cNvPr>
              <p:cNvSpPr txBox="1"/>
              <p:nvPr/>
            </p:nvSpPr>
            <p:spPr>
              <a:xfrm>
                <a:off x="591952" y="1391719"/>
                <a:ext cx="7974531" cy="2386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13.3.1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满足问题（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13.3.1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）的局部最优解的二阶充分条件，则存在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≥0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，使得对所有的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≥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/>
                    </m:sSup>
                    <m:r>
                      <m:rPr>
                        <m:nor/>
                      </m:rPr>
                      <a:rPr lang="en-US" altLang="zh-CN" sz="24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的严格局部极小点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反之，若存在点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，使得</a:t>
                </a:r>
              </a:p>
              <a:p>
                <a:r>
                  <a:rPr lang="en-US" altLang="zh-CN" sz="2400" dirty="0" err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aseline="-25000" dirty="0" err="1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(x⁰)=0,j=1……l,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且对于某个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/>
                    </m:sSup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的无约束极小点，又满足极小点的二阶充分条件，则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(0)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是问题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(13.3.1)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的严格局部最优解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91686-2B9A-4EA2-B989-20D4169E9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52" y="1391719"/>
                <a:ext cx="7974531" cy="2386872"/>
              </a:xfrm>
              <a:prstGeom prst="rect">
                <a:avLst/>
              </a:prstGeom>
              <a:blipFill>
                <a:blip r:embed="rId2"/>
                <a:stretch>
                  <a:fillRect l="-1147" t="-2806" r="-535" b="-5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499210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CA604-BC41-4F4B-B6DD-3D218067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8" y="361782"/>
            <a:ext cx="8229600" cy="757238"/>
          </a:xfrm>
        </p:spPr>
        <p:txBody>
          <a:bodyPr/>
          <a:lstStyle/>
          <a:p>
            <a:r>
              <a:rPr lang="zh-CN" altLang="en-US" dirty="0"/>
              <a:t>等式约束问题乘子法计算步骤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714758A-01A9-4CBB-B119-995C0A9C8984}"/>
                  </a:ext>
                </a:extLst>
              </p:cNvPr>
              <p:cNvSpPr txBox="1"/>
              <p:nvPr/>
            </p:nvSpPr>
            <p:spPr>
              <a:xfrm>
                <a:off x="409074" y="1054836"/>
                <a:ext cx="7993781" cy="3629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（陈宝林 最优化理论与算法）</a:t>
                </a:r>
                <a:endParaRPr lang="en-US" altLang="zh-CN" sz="2800" dirty="0"/>
              </a:p>
              <a:p>
                <a:r>
                  <a:rPr lang="zh-CN" altLang="en-US" sz="2800" dirty="0"/>
                  <a:t>乘子法的计算步骤如下：</a:t>
                </a:r>
                <a:endParaRPr lang="en-US" altLang="zh-CN" sz="2800" dirty="0"/>
              </a:p>
              <a:p>
                <a:endParaRPr lang="zh-CN" altLang="en-US" sz="2800" dirty="0"/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）给定初始点</a:t>
                </a:r>
                <a:r>
                  <a:rPr lang="en-US" altLang="zh-CN" sz="2800" dirty="0"/>
                  <a:t>x</a:t>
                </a:r>
                <a:r>
                  <a:rPr lang="en-US" altLang="zh-CN" sz="2800" baseline="30000" dirty="0"/>
                  <a:t>(0)</a:t>
                </a:r>
                <a:r>
                  <a:rPr lang="zh-CN" altLang="en-US" sz="2800" dirty="0"/>
                  <a:t>，乘子向量初始估计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sz="2800" dirty="0"/>
                  <a:t>，参数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/>
                  <a:t>，允许误差</a:t>
                </a:r>
                <a:r>
                  <a:rPr lang="en-US" altLang="zh-CN" sz="2800" dirty="0"/>
                  <a:t>ε&gt;0</a:t>
                </a:r>
                <a:r>
                  <a:rPr lang="zh-CN" altLang="en-US" sz="2800" dirty="0"/>
                  <a:t>，常数</a:t>
                </a:r>
                <a:r>
                  <a:rPr lang="en-US" altLang="zh-CN" sz="2800" dirty="0"/>
                  <a:t>α&gt;1</a:t>
                </a:r>
                <a:r>
                  <a:rPr lang="zh-CN" altLang="en-US" sz="2800" dirty="0"/>
                  <a:t>，</a:t>
                </a:r>
                <a:r>
                  <a:rPr lang="en-US" altLang="zh-CN" sz="2800" dirty="0"/>
                  <a:t>β∈(0</a:t>
                </a:r>
                <a:r>
                  <a:rPr lang="zh-CN" altLang="en-US" sz="2800" dirty="0"/>
                  <a:t>，</a:t>
                </a:r>
                <a:r>
                  <a:rPr lang="en-US" altLang="zh-CN" sz="2800" dirty="0"/>
                  <a:t>1)</a:t>
                </a:r>
                <a:r>
                  <a:rPr lang="zh-CN" altLang="en-US" sz="2800" dirty="0"/>
                  <a:t>，置</a:t>
                </a:r>
                <a:r>
                  <a:rPr lang="en-US" altLang="zh-CN" sz="2800" dirty="0"/>
                  <a:t>k=1.</a:t>
                </a:r>
              </a:p>
              <a:p>
                <a:r>
                  <a:rPr lang="zh-CN" altLang="en-US" sz="2800" dirty="0"/>
                  <a:t>（</a:t>
                </a:r>
                <a:r>
                  <a:rPr lang="en-US" altLang="zh-CN" sz="2800" dirty="0"/>
                  <a:t>2</a:t>
                </a:r>
                <a:r>
                  <a:rPr lang="zh-CN" altLang="en-US" sz="2800" dirty="0"/>
                  <a:t>）以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zh-CN" altLang="en-US" sz="2800" dirty="0"/>
                  <a:t>为初点，解无约束问题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/>
                      </m:sSup>
                      <m:r>
                        <m:rPr>
                          <m:nor/>
                        </m:rPr>
                        <a:rPr lang="en-US" altLang="zh-CN" sz="2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r>
                  <a:rPr lang="zh-CN" altLang="en-US" sz="2800" dirty="0"/>
                  <a:t>得解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714758A-01A9-4CBB-B119-995C0A9C8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74" y="1054836"/>
                <a:ext cx="7993781" cy="3629968"/>
              </a:xfrm>
              <a:prstGeom prst="rect">
                <a:avLst/>
              </a:prstGeom>
              <a:blipFill>
                <a:blip r:embed="rId2"/>
                <a:stretch>
                  <a:fillRect l="-1526" t="-2181" r="-2899" b="-3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241FF06-B4A6-47DF-8BC4-0BC337515F5A}"/>
                  </a:ext>
                </a:extLst>
              </p:cNvPr>
              <p:cNvSpPr txBox="1"/>
              <p:nvPr/>
            </p:nvSpPr>
            <p:spPr>
              <a:xfrm>
                <a:off x="543828" y="4898540"/>
                <a:ext cx="7194884" cy="971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(3)若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)||&lt;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ε,则停止计算，得到点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800" dirty="0"/>
                  <a:t>;否则，进行步骤(4).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241FF06-B4A6-47DF-8BC4-0BC337515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28" y="4898540"/>
                <a:ext cx="7194884" cy="971997"/>
              </a:xfrm>
              <a:prstGeom prst="rect">
                <a:avLst/>
              </a:prstGeom>
              <a:blipFill>
                <a:blip r:embed="rId3"/>
                <a:stretch>
                  <a:fillRect l="-1695" t="-6918" r="-424" b="-16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274171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BB912-B22B-4ED1-87C4-E840B754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B3E723-EBDB-480B-AFE7-D408C4451DF6}"/>
                  </a:ext>
                </a:extLst>
              </p:cNvPr>
              <p:cNvSpPr txBox="1"/>
              <p:nvPr/>
            </p:nvSpPr>
            <p:spPr>
              <a:xfrm>
                <a:off x="880712" y="1408837"/>
                <a:ext cx="6935002" cy="2915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（</a:t>
                </a:r>
                <a:r>
                  <a:rPr lang="en-US" altLang="zh-CN" sz="2400" dirty="0"/>
                  <a:t>4</a:t>
                </a:r>
                <a:r>
                  <a:rPr lang="zh-CN" altLang="en-US" sz="2400" dirty="0"/>
                  <a:t>）若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CN" sz="2400" dirty="0"/>
                            <m:t> </m:t>
                          </m:r>
                        </m:den>
                      </m:f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则置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𝛼𝜇</m:t>
                    </m:r>
                  </m:oMath>
                </a14:m>
                <a:r>
                  <a:rPr lang="zh-CN" altLang="en-US" sz="2400" dirty="0"/>
                  <a:t>转步骤（</a:t>
                </a:r>
                <a:r>
                  <a:rPr lang="en-US" altLang="zh-CN" sz="2400" dirty="0"/>
                  <a:t>5</a:t>
                </a:r>
                <a:r>
                  <a:rPr lang="zh-CN" altLang="en-US" sz="2400" dirty="0"/>
                  <a:t>）；否则，进行步骤（</a:t>
                </a:r>
                <a:r>
                  <a:rPr lang="en-US" altLang="zh-CN" sz="2400" dirty="0"/>
                  <a:t>5</a:t>
                </a:r>
                <a:r>
                  <a:rPr lang="zh-CN" altLang="en-US" sz="2400" dirty="0"/>
                  <a:t>）</a:t>
                </a:r>
                <a:r>
                  <a:rPr lang="en-US" altLang="zh-CN" sz="2400" dirty="0"/>
                  <a:t>.</a:t>
                </a:r>
              </a:p>
              <a:p>
                <a:r>
                  <a:rPr lang="zh-CN" altLang="en-US" sz="2400" dirty="0"/>
                  <a:t>（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）计算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+1)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j=1,2,….,l</a:t>
                </a:r>
              </a:p>
              <a:p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置</a:t>
                </a:r>
                <a:r>
                  <a:rPr lang="en-US" altLang="zh-CN" sz="2400" dirty="0"/>
                  <a:t>k:=k+1</a:t>
                </a:r>
                <a:r>
                  <a:rPr lang="zh-CN" altLang="en-US" sz="2400" dirty="0"/>
                  <a:t>，转步骤（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）</a:t>
                </a:r>
                <a:r>
                  <a:rPr lang="en-US" altLang="zh-CN" sz="2400" dirty="0"/>
                  <a:t>.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B3E723-EBDB-480B-AFE7-D408C4451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12" y="1408837"/>
                <a:ext cx="6935002" cy="2915350"/>
              </a:xfrm>
              <a:prstGeom prst="rect">
                <a:avLst/>
              </a:prstGeom>
              <a:blipFill>
                <a:blip r:embed="rId2"/>
                <a:stretch>
                  <a:fillRect l="-1318" t="-2301" b="-4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645750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00589-8D03-45C4-AD43-614C9453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69277"/>
            <a:ext cx="8229600" cy="757238"/>
          </a:xfrm>
        </p:spPr>
        <p:txBody>
          <a:bodyPr/>
          <a:lstStyle/>
          <a:p>
            <a:r>
              <a:rPr lang="zh-CN" altLang="en-US" dirty="0"/>
              <a:t>等式约束问题乘子法计算步骤</a:t>
            </a:r>
          </a:p>
        </p:txBody>
      </p:sp>
      <p:graphicFrame>
        <p:nvGraphicFramePr>
          <p:cNvPr id="45060" name="Object 2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62742528"/>
              </p:ext>
            </p:extLst>
          </p:nvPr>
        </p:nvGraphicFramePr>
        <p:xfrm>
          <a:off x="558783" y="1208791"/>
          <a:ext cx="8153400" cy="406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8" name="Equation" r:id="rId3" imgW="4584600" imgH="2286000" progId="Equation.DSMT4">
                  <p:embed/>
                </p:oleObj>
              </mc:Choice>
              <mc:Fallback>
                <p:oleObj name="Equation" r:id="rId3" imgW="4584600" imgH="2286000" progId="Equation.DSMT4">
                  <p:embed/>
                  <p:pic>
                    <p:nvPicPr>
                      <p:cNvPr id="4506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783" y="1208791"/>
                        <a:ext cx="8153400" cy="406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17E5F23-F92C-406B-A16B-E9696CF906EA}"/>
              </a:ext>
            </a:extLst>
          </p:cNvPr>
          <p:cNvSpPr txBox="1"/>
          <p:nvPr/>
        </p:nvSpPr>
        <p:spPr>
          <a:xfrm>
            <a:off x="3364030" y="577818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（黄红选 韩继业 数学规划）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5E3CB-D274-4ACB-A0A5-C581A143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6083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75979116"/>
              </p:ext>
            </p:extLst>
          </p:nvPr>
        </p:nvGraphicFramePr>
        <p:xfrm>
          <a:off x="577516" y="1056658"/>
          <a:ext cx="8277727" cy="1776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6" name="Equation" r:id="rId3" imgW="3670300" imgH="787400" progId="Equation.DSMT4">
                  <p:embed/>
                </p:oleObj>
              </mc:Choice>
              <mc:Fallback>
                <p:oleObj name="Equation" r:id="rId3" imgW="3670300" imgH="787400" progId="Equation.DSMT4">
                  <p:embed/>
                  <p:pic>
                    <p:nvPicPr>
                      <p:cNvPr id="4608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16" y="1056658"/>
                        <a:ext cx="8277727" cy="1776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96559280"/>
              </p:ext>
            </p:extLst>
          </p:nvPr>
        </p:nvGraphicFramePr>
        <p:xfrm>
          <a:off x="452388" y="3359836"/>
          <a:ext cx="7777163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7" name="Equation" r:id="rId5" imgW="3517560" imgH="1041120" progId="Equation.DSMT4">
                  <p:embed/>
                </p:oleObj>
              </mc:Choice>
              <mc:Fallback>
                <p:oleObj name="Equation" r:id="rId5" imgW="3517560" imgH="1041120" progId="Equation.DSMT4">
                  <p:embed/>
                  <p:pic>
                    <p:nvPicPr>
                      <p:cNvPr id="4608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388" y="3359836"/>
                        <a:ext cx="7777163" cy="230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4000" b="1"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4000" b="1">
                <a:latin typeface="楷体_GB2312" pitchFamily="49" charset="-122"/>
                <a:ea typeface="楷体_GB2312" pitchFamily="49" charset="-122"/>
              </a:rPr>
              <a:t>乘子法</a:t>
            </a:r>
          </a:p>
        </p:txBody>
      </p:sp>
      <p:graphicFrame>
        <p:nvGraphicFramePr>
          <p:cNvPr id="47108" name="Object 2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36462092"/>
              </p:ext>
            </p:extLst>
          </p:nvPr>
        </p:nvGraphicFramePr>
        <p:xfrm>
          <a:off x="652463" y="1203325"/>
          <a:ext cx="8299450" cy="423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5" name="Equation" r:id="rId3" imgW="4178160" imgH="2133360" progId="Equation.DSMT4">
                  <p:embed/>
                </p:oleObj>
              </mc:Choice>
              <mc:Fallback>
                <p:oleObj name="Equation" r:id="rId3" imgW="4178160" imgH="2133360" progId="Equation.DSMT4">
                  <p:embed/>
                  <p:pic>
                    <p:nvPicPr>
                      <p:cNvPr id="4710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1203325"/>
                        <a:ext cx="8299450" cy="423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乘子法</a:t>
            </a: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不等式情形</a:t>
            </a:r>
          </a:p>
        </p:txBody>
      </p:sp>
      <p:graphicFrame>
        <p:nvGraphicFramePr>
          <p:cNvPr id="52229" name="Object 2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39725953"/>
              </p:ext>
            </p:extLst>
          </p:nvPr>
        </p:nvGraphicFramePr>
        <p:xfrm>
          <a:off x="673768" y="1059448"/>
          <a:ext cx="56165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8" name="Equation" r:id="rId4" imgW="1993900" imgH="203200" progId="Equation.DSMT4">
                  <p:embed/>
                </p:oleObj>
              </mc:Choice>
              <mc:Fallback>
                <p:oleObj name="Equation" r:id="rId4" imgW="1993900" imgH="203200" progId="Equation.DSMT4">
                  <p:embed/>
                  <p:pic>
                    <p:nvPicPr>
                      <p:cNvPr id="5222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68" y="1059448"/>
                        <a:ext cx="56165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Rectangle 11"/>
          <p:cNvSpPr>
            <a:spLocks noChangeArrowheads="1"/>
          </p:cNvSpPr>
          <p:nvPr/>
        </p:nvSpPr>
        <p:spPr bwMode="auto">
          <a:xfrm>
            <a:off x="650965" y="1727994"/>
            <a:ext cx="23471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(2)</a:t>
            </a:r>
            <a:r>
              <a:rPr lang="zh-CN" altLang="en-US" sz="2800" b="1" dirty="0"/>
              <a:t>构造子问题</a:t>
            </a:r>
          </a:p>
        </p:txBody>
      </p:sp>
      <p:sp>
        <p:nvSpPr>
          <p:cNvPr id="52230" name="Rectangle 14"/>
          <p:cNvSpPr>
            <a:spLocks noChangeArrowheads="1"/>
          </p:cNvSpPr>
          <p:nvPr/>
        </p:nvSpPr>
        <p:spPr bwMode="auto">
          <a:xfrm>
            <a:off x="630085" y="4881723"/>
            <a:ext cx="772464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注意到</a:t>
            </a:r>
            <a:r>
              <a:rPr lang="en-US" altLang="zh-CN" sz="2800" dirty="0"/>
              <a:t>s</a:t>
            </a:r>
            <a:r>
              <a:rPr lang="zh-CN" altLang="en-US" sz="2800" dirty="0"/>
              <a:t>的分量独立</a:t>
            </a:r>
            <a:r>
              <a:rPr lang="en-US" altLang="zh-CN" sz="2800" dirty="0"/>
              <a:t>,</a:t>
            </a:r>
            <a:r>
              <a:rPr lang="zh-CN" altLang="en-US" sz="2800" dirty="0"/>
              <a:t>故可先对每个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进行极小化</a:t>
            </a:r>
            <a:r>
              <a:rPr lang="en-US" altLang="zh-CN" sz="2800" dirty="0"/>
              <a:t>,</a:t>
            </a:r>
            <a:r>
              <a:rPr lang="zh-CN" altLang="en-US" sz="2800" dirty="0"/>
              <a:t>再对</a:t>
            </a:r>
            <a:r>
              <a:rPr lang="en-US" altLang="zh-CN" sz="2800" i="1" dirty="0"/>
              <a:t>x</a:t>
            </a:r>
            <a:r>
              <a:rPr lang="zh-CN" altLang="en-US" sz="2800" dirty="0"/>
              <a:t>进行极小化</a:t>
            </a:r>
            <a:r>
              <a:rPr lang="en-US" altLang="zh-CN" sz="2800" dirty="0"/>
              <a:t>.</a:t>
            </a:r>
          </a:p>
        </p:txBody>
      </p:sp>
      <p:graphicFrame>
        <p:nvGraphicFramePr>
          <p:cNvPr id="522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756810"/>
              </p:ext>
            </p:extLst>
          </p:nvPr>
        </p:nvGraphicFramePr>
        <p:xfrm>
          <a:off x="959067" y="2383824"/>
          <a:ext cx="6421437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9" name="Equation" r:id="rId6" imgW="2857320" imgH="1002960" progId="Equation.DSMT4">
                  <p:embed/>
                </p:oleObj>
              </mc:Choice>
              <mc:Fallback>
                <p:oleObj name="Equation" r:id="rId6" imgW="2857320" imgH="1002960" progId="Equation.DSMT4">
                  <p:embed/>
                  <p:pic>
                    <p:nvPicPr>
                      <p:cNvPr id="522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067" y="2383824"/>
                        <a:ext cx="6421437" cy="225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乘子法</a:t>
            </a: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不等式</a:t>
            </a:r>
          </a:p>
        </p:txBody>
      </p:sp>
      <p:graphicFrame>
        <p:nvGraphicFramePr>
          <p:cNvPr id="54275" name="Object 2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93159560"/>
              </p:ext>
            </p:extLst>
          </p:nvPr>
        </p:nvGraphicFramePr>
        <p:xfrm>
          <a:off x="758825" y="908050"/>
          <a:ext cx="71866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4" name="Equation" r:id="rId3" imgW="3632040" imgH="482400" progId="Equation.DSMT4">
                  <p:embed/>
                </p:oleObj>
              </mc:Choice>
              <mc:Fallback>
                <p:oleObj name="Equation" r:id="rId3" imgW="3632040" imgH="482400" progId="Equation.DSMT4">
                  <p:embed/>
                  <p:pic>
                    <p:nvPicPr>
                      <p:cNvPr id="5427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908050"/>
                        <a:ext cx="718661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68075312"/>
              </p:ext>
            </p:extLst>
          </p:nvPr>
        </p:nvGraphicFramePr>
        <p:xfrm>
          <a:off x="432803" y="2176764"/>
          <a:ext cx="7704138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5" name="Equation" r:id="rId5" imgW="3047760" imgH="419040" progId="Equation.DSMT4">
                  <p:embed/>
                </p:oleObj>
              </mc:Choice>
              <mc:Fallback>
                <p:oleObj name="Equation" r:id="rId5" imgW="3047760" imgH="419040" progId="Equation.DSMT4">
                  <p:embed/>
                  <p:pic>
                    <p:nvPicPr>
                      <p:cNvPr id="5427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03" y="2176764"/>
                        <a:ext cx="7704138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861681410"/>
              </p:ext>
            </p:extLst>
          </p:nvPr>
        </p:nvGraphicFramePr>
        <p:xfrm>
          <a:off x="756836" y="3552591"/>
          <a:ext cx="7510725" cy="1847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6" name="Equation" r:id="rId7" imgW="3924000" imgH="965160" progId="Equation.DSMT4">
                  <p:embed/>
                </p:oleObj>
              </mc:Choice>
              <mc:Fallback>
                <p:oleObj name="Equation" r:id="rId7" imgW="3924000" imgH="965160" progId="Equation.DSMT4">
                  <p:embed/>
                  <p:pic>
                    <p:nvPicPr>
                      <p:cNvPr id="5427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836" y="3552591"/>
                        <a:ext cx="7510725" cy="1847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054906719"/>
              </p:ext>
            </p:extLst>
          </p:nvPr>
        </p:nvGraphicFramePr>
        <p:xfrm>
          <a:off x="625642" y="1676901"/>
          <a:ext cx="33115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7" name="Equation" r:id="rId9" imgW="1383699" imgH="215806" progId="Equation.DSMT4">
                  <p:embed/>
                </p:oleObj>
              </mc:Choice>
              <mc:Fallback>
                <p:oleObj name="Equation" r:id="rId9" imgW="1383699" imgH="215806" progId="Equation.DSMT4">
                  <p:embed/>
                  <p:pic>
                    <p:nvPicPr>
                      <p:cNvPr id="5427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42" y="1676901"/>
                        <a:ext cx="33115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Rectangle 14"/>
          <p:cNvSpPr>
            <a:spLocks noChangeArrowheads="1"/>
          </p:cNvSpPr>
          <p:nvPr/>
        </p:nvSpPr>
        <p:spPr bwMode="auto">
          <a:xfrm>
            <a:off x="668940" y="3284538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其中</a:t>
            </a: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乘子法</a:t>
            </a: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不等式</a:t>
            </a:r>
          </a:p>
        </p:txBody>
      </p:sp>
      <p:graphicFrame>
        <p:nvGraphicFramePr>
          <p:cNvPr id="55299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51062938"/>
              </p:ext>
            </p:extLst>
          </p:nvPr>
        </p:nvGraphicFramePr>
        <p:xfrm>
          <a:off x="797912" y="920048"/>
          <a:ext cx="6800850" cy="22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6" name="Equation" r:id="rId3" imgW="2882880" imgH="939600" progId="Equation.DSMT4">
                  <p:embed/>
                </p:oleObj>
              </mc:Choice>
              <mc:Fallback>
                <p:oleObj name="Equation" r:id="rId3" imgW="2882880" imgH="939600" progId="Equation.DSMT4">
                  <p:embed/>
                  <p:pic>
                    <p:nvPicPr>
                      <p:cNvPr id="552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912" y="920048"/>
                        <a:ext cx="6800850" cy="221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79497436"/>
              </p:ext>
            </p:extLst>
          </p:nvPr>
        </p:nvGraphicFramePr>
        <p:xfrm>
          <a:off x="910339" y="3589220"/>
          <a:ext cx="4633813" cy="136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7" name="Equation" r:id="rId5" imgW="1815840" imgH="533160" progId="Equation.DSMT4">
                  <p:embed/>
                </p:oleObj>
              </mc:Choice>
              <mc:Fallback>
                <p:oleObj name="Equation" r:id="rId5" imgW="1815840" imgH="533160" progId="Equation.DSMT4">
                  <p:embed/>
                  <p:pic>
                    <p:nvPicPr>
                      <p:cNvPr id="5530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339" y="3589220"/>
                        <a:ext cx="4633813" cy="136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</TotalTime>
  <Words>1240</Words>
  <Application>Microsoft Office PowerPoint</Application>
  <PresentationFormat>全屏显示(4:3)</PresentationFormat>
  <Paragraphs>140</Paragraphs>
  <Slides>49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72" baseType="lpstr">
      <vt:lpstr>黑体</vt:lpstr>
      <vt:lpstr>华文楷体</vt:lpstr>
      <vt:lpstr>楷体_GB2312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MathType 7.0 Equation</vt:lpstr>
      <vt:lpstr>PowerPoint 演示文稿</vt:lpstr>
      <vt:lpstr>13 惩罚函数法</vt:lpstr>
      <vt:lpstr>13 惩罚函数法</vt:lpstr>
      <vt:lpstr>13.1 外点惩罚函数法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13.2 内点罚函数法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13.3 乘子法</vt:lpstr>
      <vt:lpstr>3 乘子法</vt:lpstr>
      <vt:lpstr>3 乘子法</vt:lpstr>
      <vt:lpstr>PowerPoint 演示文稿</vt:lpstr>
      <vt:lpstr>等式约束问题乘子法计算步骤</vt:lpstr>
      <vt:lpstr>PowerPoint 演示文稿</vt:lpstr>
      <vt:lpstr>等式约束问题乘子法计算步骤</vt:lpstr>
      <vt:lpstr>PowerPoint 演示文稿</vt:lpstr>
      <vt:lpstr>3 乘子法</vt:lpstr>
      <vt:lpstr>3 乘子法-不等式情形</vt:lpstr>
      <vt:lpstr>3 乘子法-不等式</vt:lpstr>
      <vt:lpstr>3 乘子法-不等式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1708</cp:revision>
  <cp:lastPrinted>2026-06-03T00:53:50Z</cp:lastPrinted>
  <dcterms:created xsi:type="dcterms:W3CDTF">2012-04-20T06:02:00Z</dcterms:created>
  <dcterms:modified xsi:type="dcterms:W3CDTF">2026-06-03T01:17:36Z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9CF86C79608144ADBEF3A26E5FD9A904</vt:lpwstr>
  </property>
</Properties>
</file>