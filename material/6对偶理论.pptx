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  <p:sldMasterId id="2147483689" r:id="rId4"/>
    <p:sldMasterId id="2147483701" r:id="rId5"/>
    <p:sldMasterId id="2147483713" r:id="rId6"/>
    <p:sldMasterId id="2147483725" r:id="rId7"/>
  </p:sldMasterIdLst>
  <p:notesMasterIdLst>
    <p:notesMasterId r:id="rId89"/>
  </p:notesMasterIdLst>
  <p:handoutMasterIdLst>
    <p:handoutMasterId r:id="rId90"/>
  </p:handoutMasterIdLst>
  <p:sldIdLst>
    <p:sldId id="377" r:id="rId8"/>
    <p:sldId id="341" r:id="rId9"/>
    <p:sldId id="257" r:id="rId10"/>
    <p:sldId id="258" r:id="rId11"/>
    <p:sldId id="259" r:id="rId12"/>
    <p:sldId id="264" r:id="rId13"/>
    <p:sldId id="260" r:id="rId14"/>
    <p:sldId id="265" r:id="rId15"/>
    <p:sldId id="266" r:id="rId16"/>
    <p:sldId id="267" r:id="rId17"/>
    <p:sldId id="268" r:id="rId18"/>
    <p:sldId id="276" r:id="rId19"/>
    <p:sldId id="277" r:id="rId20"/>
    <p:sldId id="278" r:id="rId21"/>
    <p:sldId id="279" r:id="rId22"/>
    <p:sldId id="281" r:id="rId23"/>
    <p:sldId id="339" r:id="rId24"/>
    <p:sldId id="282" r:id="rId25"/>
    <p:sldId id="270" r:id="rId26"/>
    <p:sldId id="283" r:id="rId27"/>
    <p:sldId id="284" r:id="rId28"/>
    <p:sldId id="285" r:id="rId29"/>
    <p:sldId id="286" r:id="rId30"/>
    <p:sldId id="287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8" r:id="rId48"/>
    <p:sldId id="359" r:id="rId49"/>
    <p:sldId id="360" r:id="rId50"/>
    <p:sldId id="361" r:id="rId51"/>
    <p:sldId id="362" r:id="rId52"/>
    <p:sldId id="363" r:id="rId53"/>
    <p:sldId id="364" r:id="rId54"/>
    <p:sldId id="365" r:id="rId55"/>
    <p:sldId id="366" r:id="rId56"/>
    <p:sldId id="367" r:id="rId57"/>
    <p:sldId id="368" r:id="rId58"/>
    <p:sldId id="424" r:id="rId59"/>
    <p:sldId id="370" r:id="rId60"/>
    <p:sldId id="396" r:id="rId61"/>
    <p:sldId id="397" r:id="rId62"/>
    <p:sldId id="398" r:id="rId63"/>
    <p:sldId id="399" r:id="rId64"/>
    <p:sldId id="400" r:id="rId65"/>
    <p:sldId id="401" r:id="rId66"/>
    <p:sldId id="402" r:id="rId67"/>
    <p:sldId id="403" r:id="rId68"/>
    <p:sldId id="404" r:id="rId69"/>
    <p:sldId id="405" r:id="rId70"/>
    <p:sldId id="406" r:id="rId71"/>
    <p:sldId id="407" r:id="rId72"/>
    <p:sldId id="408" r:id="rId73"/>
    <p:sldId id="409" r:id="rId74"/>
    <p:sldId id="410" r:id="rId75"/>
    <p:sldId id="411" r:id="rId76"/>
    <p:sldId id="412" r:id="rId77"/>
    <p:sldId id="414" r:id="rId78"/>
    <p:sldId id="415" r:id="rId79"/>
    <p:sldId id="416" r:id="rId80"/>
    <p:sldId id="417" r:id="rId81"/>
    <p:sldId id="418" r:id="rId82"/>
    <p:sldId id="419" r:id="rId83"/>
    <p:sldId id="420" r:id="rId84"/>
    <p:sldId id="421" r:id="rId85"/>
    <p:sldId id="422" r:id="rId86"/>
    <p:sldId id="573" r:id="rId87"/>
    <p:sldId id="423" r:id="rId88"/>
  </p:sldIdLst>
  <p:sldSz cx="9144000" cy="6858000" type="screen4x3"/>
  <p:notesSz cx="7099300" cy="10234613"/>
  <p:custDataLst>
    <p:tags r:id="rId9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CC6600"/>
    <a:srgbClr val="990000"/>
    <a:srgbClr val="336699"/>
    <a:srgbClr val="CC3300"/>
    <a:srgbClr val="008080"/>
    <a:srgbClr val="009999"/>
    <a:srgbClr val="FFFFFF"/>
    <a:srgbClr val="CBD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7" autoAdjust="0"/>
    <p:restoredTop sz="93775" autoAdjust="0"/>
  </p:normalViewPr>
  <p:slideViewPr>
    <p:cSldViewPr snapToGrid="0" showGuides="1">
      <p:cViewPr varScale="1">
        <p:scale>
          <a:sx n="62" d="100"/>
          <a:sy n="62" d="100"/>
        </p:scale>
        <p:origin x="1316" y="52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43.wmf"/><Relationship Id="rId1" Type="http://schemas.openxmlformats.org/officeDocument/2006/relationships/image" Target="../media/image75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10" Type="http://schemas.openxmlformats.org/officeDocument/2006/relationships/image" Target="../media/image104.wmf"/><Relationship Id="rId4" Type="http://schemas.openxmlformats.org/officeDocument/2006/relationships/image" Target="../media/image98.wmf"/><Relationship Id="rId9" Type="http://schemas.openxmlformats.org/officeDocument/2006/relationships/image" Target="../media/image103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Relationship Id="rId6" Type="http://schemas.openxmlformats.org/officeDocument/2006/relationships/image" Target="../media/image112.wmf"/><Relationship Id="rId11" Type="http://schemas.openxmlformats.org/officeDocument/2006/relationships/image" Target="../media/image117.e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image" Target="../media/image128.wmf"/><Relationship Id="rId3" Type="http://schemas.openxmlformats.org/officeDocument/2006/relationships/image" Target="../media/image109.wmf"/><Relationship Id="rId7" Type="http://schemas.openxmlformats.org/officeDocument/2006/relationships/image" Target="../media/image122.wmf"/><Relationship Id="rId12" Type="http://schemas.openxmlformats.org/officeDocument/2006/relationships/image" Target="../media/image127.e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1.wmf"/><Relationship Id="rId11" Type="http://schemas.openxmlformats.org/officeDocument/2006/relationships/image" Target="../media/image126.wmf"/><Relationship Id="rId5" Type="http://schemas.openxmlformats.org/officeDocument/2006/relationships/image" Target="../media/image120.wmf"/><Relationship Id="rId10" Type="http://schemas.openxmlformats.org/officeDocument/2006/relationships/image" Target="../media/image125.emf"/><Relationship Id="rId4" Type="http://schemas.openxmlformats.org/officeDocument/2006/relationships/image" Target="../media/image111.wmf"/><Relationship Id="rId9" Type="http://schemas.openxmlformats.org/officeDocument/2006/relationships/image" Target="../media/image124.e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image" Target="../media/image133.emf"/><Relationship Id="rId7" Type="http://schemas.openxmlformats.org/officeDocument/2006/relationships/image" Target="../media/image137.wmf"/><Relationship Id="rId2" Type="http://schemas.openxmlformats.org/officeDocument/2006/relationships/image" Target="../media/image132.e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emf"/><Relationship Id="rId4" Type="http://schemas.openxmlformats.org/officeDocument/2006/relationships/image" Target="../media/image134.emf"/><Relationship Id="rId9" Type="http://schemas.openxmlformats.org/officeDocument/2006/relationships/image" Target="../media/image13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emf"/><Relationship Id="rId1" Type="http://schemas.openxmlformats.org/officeDocument/2006/relationships/image" Target="../media/image140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image" Target="../media/image147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12" Type="http://schemas.openxmlformats.org/officeDocument/2006/relationships/image" Target="../media/image146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11" Type="http://schemas.openxmlformats.org/officeDocument/2006/relationships/image" Target="../media/image145.wmf"/><Relationship Id="rId5" Type="http://schemas.openxmlformats.org/officeDocument/2006/relationships/image" Target="../media/image99.wmf"/><Relationship Id="rId10" Type="http://schemas.openxmlformats.org/officeDocument/2006/relationships/image" Target="../media/image144.wmf"/><Relationship Id="rId4" Type="http://schemas.openxmlformats.org/officeDocument/2006/relationships/image" Target="../media/image98.wmf"/><Relationship Id="rId9" Type="http://schemas.openxmlformats.org/officeDocument/2006/relationships/image" Target="../media/image143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image" Target="../media/image150.wmf"/><Relationship Id="rId7" Type="http://schemas.openxmlformats.org/officeDocument/2006/relationships/image" Target="../media/image153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45.wmf"/><Relationship Id="rId5" Type="http://schemas.openxmlformats.org/officeDocument/2006/relationships/image" Target="../media/image152.emf"/><Relationship Id="rId4" Type="http://schemas.openxmlformats.org/officeDocument/2006/relationships/image" Target="../media/image151.wmf"/><Relationship Id="rId9" Type="http://schemas.openxmlformats.org/officeDocument/2006/relationships/image" Target="../media/image154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7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wmf"/><Relationship Id="rId1" Type="http://schemas.openxmlformats.org/officeDocument/2006/relationships/image" Target="../media/image171.w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3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4" Type="http://schemas.openxmlformats.org/officeDocument/2006/relationships/image" Target="../media/image179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4" Type="http://schemas.openxmlformats.org/officeDocument/2006/relationships/image" Target="../media/image183.wmf"/></Relationships>
</file>

<file path=ppt/drawings/_rels/vmlDrawing6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2026/3/1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2026/3/1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0F46F3-D1E1-4E94-ABE0-1F205FAA8D8A}" type="slidenum">
              <a:rPr lang="zh-CN" altLang="en-US" smtClean="0"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BAB11-E35D-40C4-A568-3DB05E65FA8B}" type="datetime1">
              <a:rPr lang="zh-CN" altLang="en-US"/>
              <a:t>2026/3/1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1EBC0-01FD-4698-9791-7AC6251C907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A56F0-173A-4A43-81B3-9FCFB2A5BECD}" type="datetime1">
              <a:rPr lang="zh-CN" altLang="en-US"/>
              <a:t>2026/3/1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21EF4-095B-4BA1-95FD-60C134CCE7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06AE9-EDF1-41ED-9272-1A886A7470FA}" type="datetime1">
              <a:rPr lang="zh-CN" altLang="en-US"/>
              <a:t>2026/3/1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120FE-6C94-4C09-A297-0E68A4A86E3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 sz="1050" noProof="1">
              <a:solidFill>
                <a:srgbClr val="000000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 noProof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x-none" sz="1050" noProof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050" noProof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页</a:t>
            </a:r>
            <a:endParaRPr lang="en-US" altLang="x-none" sz="1050" noProof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2F2F839C-572F-449F-8B17-BDDD0ADDE74E}" type="slidenum">
              <a:rPr lang="en-US" altLang="x-none" sz="1050" noProof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US" altLang="x-none" sz="1050" noProof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483998" cy="711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311820"/>
            <a:ext cx="78867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4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3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81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t>‹#›</a:t>
            </a:fld>
            <a:endParaRPr lang="en-US" altLang="x-none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3.png"/><Relationship Id="rId4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4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1.png"/><Relationship Id="rId4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3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7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6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7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7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74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7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7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7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81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2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8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85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8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8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90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92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93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94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102.wmf"/><Relationship Id="rId3" Type="http://schemas.openxmlformats.org/officeDocument/2006/relationships/oleObject" Target="../embeddings/oleObject82.bin"/><Relationship Id="rId21" Type="http://schemas.openxmlformats.org/officeDocument/2006/relationships/image" Target="../media/image103.emf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01.wmf"/><Relationship Id="rId20" Type="http://schemas.openxmlformats.org/officeDocument/2006/relationships/oleObject" Target="../embeddings/oleObject91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image" Target="../media/image104.wmf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100.wmf"/><Relationship Id="rId22" Type="http://schemas.openxmlformats.org/officeDocument/2006/relationships/oleObject" Target="../embeddings/oleObject92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5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117.e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23.wmf"/><Relationship Id="rId26" Type="http://schemas.openxmlformats.org/officeDocument/2006/relationships/image" Target="../media/image127.e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22.wmf"/><Relationship Id="rId20" Type="http://schemas.openxmlformats.org/officeDocument/2006/relationships/image" Target="../media/image124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26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128.wmf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21.wmf"/><Relationship Id="rId22" Type="http://schemas.openxmlformats.org/officeDocument/2006/relationships/image" Target="../media/image125.emf"/><Relationship Id="rId27" Type="http://schemas.openxmlformats.org/officeDocument/2006/relationships/oleObject" Target="../embeddings/oleObject118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30.e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29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38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35.e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32.e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34.e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6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41.e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40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02.wmf"/><Relationship Id="rId26" Type="http://schemas.openxmlformats.org/officeDocument/2006/relationships/oleObject" Target="../embeddings/oleObject145.bin"/><Relationship Id="rId3" Type="http://schemas.openxmlformats.org/officeDocument/2006/relationships/oleObject" Target="../embeddings/oleObject133.bin"/><Relationship Id="rId21" Type="http://schemas.openxmlformats.org/officeDocument/2006/relationships/image" Target="../media/image143.wmf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140.bin"/><Relationship Id="rId25" Type="http://schemas.openxmlformats.org/officeDocument/2006/relationships/image" Target="../media/image145.wmf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01.wmf"/><Relationship Id="rId20" Type="http://schemas.openxmlformats.org/officeDocument/2006/relationships/oleObject" Target="../embeddings/oleObject142.bin"/><Relationship Id="rId29" Type="http://schemas.openxmlformats.org/officeDocument/2006/relationships/image" Target="../media/image147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37.bin"/><Relationship Id="rId24" Type="http://schemas.openxmlformats.org/officeDocument/2006/relationships/oleObject" Target="../embeddings/oleObject144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23" Type="http://schemas.openxmlformats.org/officeDocument/2006/relationships/image" Target="../media/image144.wmf"/><Relationship Id="rId28" Type="http://schemas.openxmlformats.org/officeDocument/2006/relationships/oleObject" Target="../embeddings/oleObject146.bin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00.wmf"/><Relationship Id="rId22" Type="http://schemas.openxmlformats.org/officeDocument/2006/relationships/oleObject" Target="../embeddings/oleObject143.bin"/><Relationship Id="rId27" Type="http://schemas.openxmlformats.org/officeDocument/2006/relationships/image" Target="../media/image146.wmf"/><Relationship Id="rId30" Type="http://schemas.openxmlformats.org/officeDocument/2006/relationships/oleObject" Target="../embeddings/oleObject147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44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2.e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53.wmf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51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5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9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56.e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0" Type="http://schemas.openxmlformats.org/officeDocument/2006/relationships/image" Target="../media/image158.wmf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60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2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164.bin"/><Relationship Id="rId5" Type="http://schemas.openxmlformats.org/officeDocument/2006/relationships/image" Target="../media/image161.e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63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64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6.vml"/><Relationship Id="rId4" Type="http://schemas.openxmlformats.org/officeDocument/2006/relationships/image" Target="../media/image167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68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72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71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9.vml"/><Relationship Id="rId4" Type="http://schemas.openxmlformats.org/officeDocument/2006/relationships/image" Target="../media/image173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74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1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183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85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84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186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5.vml"/><Relationship Id="rId4" Type="http://schemas.openxmlformats.org/officeDocument/2006/relationships/image" Target="../media/image187.w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071208" y="3242794"/>
            <a:ext cx="5218940" cy="231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第四章 对偶理论与灵敏度分析</a:t>
            </a:r>
          </a:p>
        </p:txBody>
      </p:sp>
      <p:sp>
        <p:nvSpPr>
          <p:cNvPr id="5125" name="内容占位符 2"/>
          <p:cNvSpPr>
            <a:spLocks noGrp="1"/>
          </p:cNvSpPr>
          <p:nvPr>
            <p:ph idx="4294967295"/>
          </p:nvPr>
        </p:nvSpPr>
        <p:spPr>
          <a:xfrm>
            <a:off x="764088" y="1194496"/>
            <a:ext cx="8229600" cy="45307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对偶理论</a:t>
            </a:r>
            <a:endParaRPr lang="en-US" altLang="zh-CN" dirty="0"/>
          </a:p>
          <a:p>
            <a:r>
              <a:rPr lang="zh-CN" altLang="en-US" dirty="0"/>
              <a:t>对偶单纯形法</a:t>
            </a:r>
            <a:endParaRPr lang="en-US" altLang="zh-CN" dirty="0"/>
          </a:p>
          <a:p>
            <a:r>
              <a:rPr lang="zh-CN" altLang="en-US" dirty="0"/>
              <a:t>灵敏度分析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dirty="0">
                <a:ea typeface="楷体_GB2312" panose="02010609030101010101" pitchFamily="49" charset="-122"/>
              </a:rPr>
              <a:t>对偶问题</a:t>
            </a:r>
            <a:endParaRPr lang="zh-CN" altLang="en-US" sz="3200" dirty="0"/>
          </a:p>
        </p:txBody>
      </p:sp>
      <p:graphicFrame>
        <p:nvGraphicFramePr>
          <p:cNvPr id="3078" name="Group 6"/>
          <p:cNvGraphicFramePr>
            <a:graphicFrameLocks noGrp="1"/>
          </p:cNvGraphicFramePr>
          <p:nvPr>
            <p:ph type="tbl" idx="4294967295"/>
          </p:nvPr>
        </p:nvGraphicFramePr>
        <p:xfrm>
          <a:off x="626301" y="3581574"/>
          <a:ext cx="7776836" cy="2072688"/>
        </p:xfrm>
        <a:graphic>
          <a:graphicData uri="http://schemas.openxmlformats.org/drawingml/2006/table">
            <a:tbl>
              <a:tblPr/>
              <a:tblGrid>
                <a:gridCol w="194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5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维生素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奶中含量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蛋中含量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每日需求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53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c(mg)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V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(mg)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53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单价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(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元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)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2.5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537449" y="1043574"/>
            <a:ext cx="806910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重新考虑食谱问题，</a:t>
            </a:r>
            <a:r>
              <a:rPr lang="zh-CN" altLang="en-US" sz="2400" dirty="0">
                <a:latin typeface="+mn-ea"/>
                <a:ea typeface="+mn-ea"/>
              </a:rPr>
              <a:t>假想有一家制药商，计划生产</a:t>
            </a:r>
            <a:r>
              <a:rPr lang="zh-CN" altLang="en-US" sz="2400" dirty="0">
                <a:cs typeface="Times New Roman" panose="02020603050405020304" pitchFamily="18" charset="0"/>
              </a:rPr>
              <a:t>维生素</a:t>
            </a:r>
            <a:r>
              <a:rPr lang="en-US" altLang="zh-CN" sz="2400" dirty="0" err="1">
                <a:cs typeface="Times New Roman" panose="02020603050405020304" pitchFamily="18" charset="0"/>
              </a:rPr>
              <a:t>V</a:t>
            </a:r>
            <a:r>
              <a:rPr lang="en-US" altLang="zh-CN" sz="2000" dirty="0" err="1"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cs typeface="Times New Roman" panose="02020603050405020304" pitchFamily="18" charset="0"/>
              </a:rPr>
              <a:t>和维生素</a:t>
            </a:r>
            <a:r>
              <a:rPr lang="en-US" altLang="zh-CN" sz="2400" dirty="0" err="1">
                <a:cs typeface="Times New Roman" panose="02020603050405020304" pitchFamily="18" charset="0"/>
              </a:rPr>
              <a:t>V</a:t>
            </a:r>
            <a:r>
              <a:rPr lang="en-US" altLang="zh-CN" sz="1800" dirty="0" err="1"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片并在市场上销售以获取利润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。以制药商的利益出发，他知道奶和蛋按其维生素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1800" dirty="0" err="1"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1800" dirty="0" err="1"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的含量而有一定的价值。他的问题是确定出售维生素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000" dirty="0" err="1"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的价格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和维生素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1800" dirty="0" err="1"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的价格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：他不能将价格订得高于奶和蛋的市场流行价，否则将失去他的顾客；他希望药店的总收入为最大。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5" name="Text Box 5"/>
          <p:cNvSpPr txBox="1">
            <a:spLocks noChangeArrowheads="1"/>
          </p:cNvSpPr>
          <p:nvPr/>
        </p:nvSpPr>
        <p:spPr bwMode="auto">
          <a:xfrm>
            <a:off x="755650" y="1268413"/>
            <a:ext cx="3384550" cy="2123658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Max  40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 + 50</a:t>
            </a:r>
            <a:r>
              <a:rPr lang="en-US" altLang="zh-CN" sz="2400" b="1" i="1" dirty="0"/>
              <a:t>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</a:t>
            </a:r>
            <a:r>
              <a:rPr lang="en-US" altLang="zh-CN" sz="2400" b="1" dirty="0" err="1"/>
              <a:t>s.t.</a:t>
            </a:r>
            <a:r>
              <a:rPr lang="en-US" altLang="zh-CN" sz="2400" b="1" dirty="0"/>
              <a:t>    2</a:t>
            </a:r>
            <a:r>
              <a:rPr lang="en-US" altLang="zh-CN" sz="2400" b="1" i="1" dirty="0"/>
              <a:t>x  </a:t>
            </a:r>
            <a:r>
              <a:rPr lang="en-US" altLang="zh-CN" sz="2400" b="1" dirty="0"/>
              <a:t>+  3</a:t>
            </a:r>
            <a:r>
              <a:rPr lang="en-US" altLang="zh-CN" sz="2400" b="1" i="1" dirty="0"/>
              <a:t>y </a:t>
            </a:r>
            <a:r>
              <a:rPr lang="en-US" altLang="zh-CN" sz="2400" b="1" dirty="0">
                <a:sym typeface="Symbol" panose="05050102010706020507" pitchFamily="18" charset="2"/>
              </a:rPr>
              <a:t></a:t>
            </a:r>
            <a:r>
              <a:rPr lang="en-US" altLang="zh-CN" sz="2400" b="1" dirty="0"/>
              <a:t> 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         4</a:t>
            </a:r>
            <a:r>
              <a:rPr lang="en-US" altLang="zh-CN" sz="2400" b="1" i="1" dirty="0"/>
              <a:t>x  </a:t>
            </a:r>
            <a:r>
              <a:rPr lang="en-US" altLang="zh-CN" sz="2400" b="1" dirty="0"/>
              <a:t>+  2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</a:t>
            </a:r>
            <a:r>
              <a:rPr lang="en-US" altLang="zh-CN" sz="2400" b="1" dirty="0"/>
              <a:t> 2.5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	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, 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ea typeface="楷体_GB2312" panose="0201060903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en-US" altLang="zh-CN" sz="2400" b="1" dirty="0"/>
              <a:t>0.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4144963" y="1268413"/>
            <a:ext cx="3384550" cy="2109787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anose="02010609030101010101" pitchFamily="49" charset="-122"/>
              </a:rPr>
              <a:t>极大化目标函数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kumimoji="0" lang="zh-CN" altLang="en-US" sz="2400" b="1">
              <a:ea typeface="楷体_GB2312" panose="0201060903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anose="02010609030101010101" pitchFamily="49" charset="-122"/>
              </a:rPr>
              <a:t>可行区域（单纯形）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anose="02010609030101010101" pitchFamily="49" charset="-122"/>
              </a:rPr>
              <a:t>可行解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755650" y="3911600"/>
            <a:ext cx="3384550" cy="2123658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Min  3</a:t>
            </a:r>
            <a:r>
              <a:rPr lang="en-US" altLang="zh-CN" sz="2400" b="1" i="1"/>
              <a:t>x</a:t>
            </a:r>
            <a:r>
              <a:rPr lang="en-US" altLang="zh-CN" sz="2400" b="1"/>
              <a:t> +2.5</a:t>
            </a:r>
            <a:r>
              <a:rPr lang="en-US" altLang="zh-CN" sz="2400" b="1" i="1"/>
              <a:t>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 s.t.  2</a:t>
            </a:r>
            <a:r>
              <a:rPr lang="en-US" altLang="zh-CN" sz="2400" b="1" i="1"/>
              <a:t>x  </a:t>
            </a:r>
            <a:r>
              <a:rPr lang="en-US" altLang="zh-CN" sz="2400" b="1"/>
              <a:t>+  4</a:t>
            </a:r>
            <a:r>
              <a:rPr lang="en-US" altLang="zh-CN" sz="2400" b="1" i="1"/>
              <a:t>y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 40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        3</a:t>
            </a:r>
            <a:r>
              <a:rPr lang="en-US" altLang="zh-CN" sz="2400" b="1" i="1"/>
              <a:t>x  </a:t>
            </a:r>
            <a:r>
              <a:rPr lang="en-US" altLang="zh-CN" sz="2400" b="1"/>
              <a:t>+  2</a:t>
            </a:r>
            <a:r>
              <a:rPr lang="en-US" altLang="zh-CN" sz="2400" b="1" i="1"/>
              <a:t>y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 50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 	</a:t>
            </a:r>
            <a:r>
              <a:rPr lang="en-US" altLang="zh-CN" sz="2400" b="1" i="1"/>
              <a:t>x</a:t>
            </a:r>
            <a:r>
              <a:rPr lang="en-US" altLang="zh-CN" sz="2400" b="1"/>
              <a:t>, </a:t>
            </a:r>
            <a:r>
              <a:rPr lang="en-US" altLang="zh-CN" sz="2400" b="1" i="1"/>
              <a:t>y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 0.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143375" y="3911600"/>
            <a:ext cx="338455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anose="02010609030101010101" pitchFamily="49" charset="-122"/>
              </a:rPr>
              <a:t>极小化目标函数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kumimoji="0" lang="zh-CN" altLang="en-US" sz="2400" b="1">
              <a:ea typeface="楷体_GB2312" panose="0201060903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anose="02010609030101010101" pitchFamily="49" charset="-122"/>
              </a:rPr>
              <a:t>可行区域（单纯形）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a typeface="楷体_GB2312" panose="02010609030101010101" pitchFamily="49" charset="-122"/>
              </a:rPr>
              <a:t>可行解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animBg="1" autoUpdateAnimBg="0"/>
      <p:bldP spid="4103" grpId="0" animBg="1" autoUpdateAnimBg="0"/>
      <p:bldP spid="410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468313" y="1052513"/>
            <a:ext cx="82073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对比一下从消费者和供应商各自的利益导出的两个问题，我们不难发现两个问题可以通过下述简单的变换，而相互转化：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684213" y="2492376"/>
            <a:ext cx="7632700" cy="1570038"/>
            <a:chOff x="431" y="1797"/>
            <a:chExt cx="4808" cy="989"/>
          </a:xfrm>
        </p:grpSpPr>
        <p:sp>
          <p:nvSpPr>
            <p:cNvPr id="8202" name="Text Box 7"/>
            <p:cNvSpPr txBox="1">
              <a:spLocks noChangeArrowheads="1"/>
            </p:cNvSpPr>
            <p:nvPr/>
          </p:nvSpPr>
          <p:spPr bwMode="auto">
            <a:xfrm>
              <a:off x="431" y="1797"/>
              <a:ext cx="1678" cy="989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ea typeface="楷体_GB2312" panose="02010609030101010101" pitchFamily="49" charset="-122"/>
                </a:rPr>
                <a:t>极小化费用 </a:t>
              </a:r>
              <a:r>
                <a:rPr lang="en-US" altLang="zh-CN" sz="2400">
                  <a:ea typeface="楷体_GB2312" panose="02010609030101010101" pitchFamily="49" charset="-122"/>
                </a:rPr>
                <a:t>Min</a:t>
              </a:r>
              <a:endParaRPr lang="en-US" altLang="zh-CN" sz="2400" i="1">
                <a:ea typeface="楷体_GB2312" panose="02010609030101010101" pitchFamily="49" charset="-122"/>
              </a:endParaRP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ea typeface="楷体_GB2312" panose="02010609030101010101" pitchFamily="49" charset="-122"/>
                  <a:sym typeface="Symbol" panose="05050102010706020507" pitchFamily="18" charset="2"/>
                </a:rPr>
                <a:t> </a:t>
              </a:r>
              <a:r>
                <a:rPr lang="zh-CN" altLang="en-US" sz="2400">
                  <a:ea typeface="楷体_GB2312" panose="02010609030101010101" pitchFamily="49" charset="-122"/>
                  <a:sym typeface="Symbol" panose="05050102010706020507" pitchFamily="18" charset="2"/>
                </a:rPr>
                <a:t>大于等于约束  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ea typeface="楷体_GB2312" panose="02010609030101010101" pitchFamily="49" charset="-122"/>
                </a:rPr>
                <a:t>食品费用</a:t>
              </a:r>
              <a:r>
                <a:rPr lang="zh-CN" altLang="en-US" sz="2400" b="1"/>
                <a:t> 	</a:t>
              </a:r>
            </a:p>
          </p:txBody>
        </p:sp>
        <p:sp>
          <p:nvSpPr>
            <p:cNvPr id="8203" name="Text Box 8"/>
            <p:cNvSpPr txBox="1">
              <a:spLocks noChangeArrowheads="1"/>
            </p:cNvSpPr>
            <p:nvPr/>
          </p:nvSpPr>
          <p:spPr bwMode="auto">
            <a:xfrm>
              <a:off x="3561" y="1797"/>
              <a:ext cx="1678" cy="989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ea typeface="楷体_GB2312" panose="02010609030101010101" pitchFamily="49" charset="-122"/>
                </a:rPr>
                <a:t>极大化利润</a:t>
              </a:r>
              <a:r>
                <a:rPr lang="en-US" altLang="zh-CN" sz="2400">
                  <a:ea typeface="楷体_GB2312" panose="02010609030101010101" pitchFamily="49" charset="-122"/>
                </a:rPr>
                <a:t>Max</a:t>
              </a:r>
              <a:endParaRPr lang="en-US" altLang="zh-CN" sz="2400" i="1">
                <a:ea typeface="楷体_GB2312" panose="02010609030101010101" pitchFamily="49" charset="-122"/>
              </a:endParaRP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ea typeface="楷体_GB2312" panose="02010609030101010101" pitchFamily="49" charset="-122"/>
                  <a:sym typeface="Symbol" panose="05050102010706020507" pitchFamily="18" charset="2"/>
                </a:rPr>
                <a:t>小于等于约束 </a:t>
              </a:r>
              <a:endParaRPr lang="zh-CN" altLang="en-US" sz="2400">
                <a:ea typeface="楷体_GB2312" panose="02010609030101010101" pitchFamily="49" charset="-122"/>
              </a:endParaRP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ea typeface="楷体_GB2312" panose="02010609030101010101" pitchFamily="49" charset="-122"/>
                </a:rPr>
                <a:t>价格约束</a:t>
              </a:r>
            </a:p>
          </p:txBody>
        </p:sp>
        <p:sp>
          <p:nvSpPr>
            <p:cNvPr id="8204" name="Line 9"/>
            <p:cNvSpPr>
              <a:spLocks noChangeShapeType="1"/>
            </p:cNvSpPr>
            <p:nvPr/>
          </p:nvSpPr>
          <p:spPr bwMode="auto">
            <a:xfrm>
              <a:off x="2426" y="1979"/>
              <a:ext cx="772" cy="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05" name="Line 10"/>
            <p:cNvSpPr>
              <a:spLocks noChangeShapeType="1"/>
            </p:cNvSpPr>
            <p:nvPr/>
          </p:nvSpPr>
          <p:spPr bwMode="auto">
            <a:xfrm>
              <a:off x="2426" y="2296"/>
              <a:ext cx="772" cy="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06" name="Line 11"/>
            <p:cNvSpPr>
              <a:spLocks noChangeShapeType="1"/>
            </p:cNvSpPr>
            <p:nvPr/>
          </p:nvSpPr>
          <p:spPr bwMode="auto">
            <a:xfrm>
              <a:off x="2426" y="2614"/>
              <a:ext cx="772" cy="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468313" y="4437063"/>
            <a:ext cx="83518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当你把食谱问题的对偶问题解出以后（</a:t>
            </a:r>
            <a:r>
              <a:rPr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练习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），你会发现一个（重要的）事实：这两个问题的最优值是相等的！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468313" y="5661025"/>
            <a:ext cx="8351837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思考题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：在数学上，是不是还有一些对偶的问题和概念？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" grpId="0" autoUpdateAnimBg="0"/>
      <p:bldP spid="5133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algn="l" eaLnBrk="1" hangingPunct="1"/>
            <a:endParaRPr lang="zh-CN" altLang="en-US" sz="4000" dirty="0"/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589872" y="939978"/>
            <a:ext cx="4967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ea typeface="楷体_GB2312" panose="02010609030101010101" pitchFamily="49" charset="-122"/>
              </a:rPr>
              <a:t>对偶问题的表达</a:t>
            </a:r>
          </a:p>
        </p:txBody>
      </p:sp>
      <p:sp>
        <p:nvSpPr>
          <p:cNvPr id="16399" name="Text Box 9"/>
          <p:cNvSpPr txBox="1">
            <a:spLocks noChangeArrowheads="1"/>
          </p:cNvSpPr>
          <p:nvPr/>
        </p:nvSpPr>
        <p:spPr bwMode="auto">
          <a:xfrm>
            <a:off x="755650" y="2565400"/>
            <a:ext cx="4114800" cy="120015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Primal    Min  </a:t>
            </a:r>
            <a:r>
              <a:rPr lang="en-US" altLang="zh-CN" sz="2400" b="1" i="1" dirty="0"/>
              <a:t>cx	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</a:t>
            </a:r>
            <a:r>
              <a:rPr lang="en-US" altLang="zh-CN" sz="2400" b="1" dirty="0" err="1"/>
              <a:t>s.t.</a:t>
            </a:r>
            <a:r>
              <a:rPr lang="en-US" altLang="zh-CN" sz="2400" b="1" dirty="0"/>
              <a:t>   </a:t>
            </a:r>
            <a:r>
              <a:rPr lang="en-US" altLang="zh-CN" sz="2400" b="1" i="1" dirty="0" err="1"/>
              <a:t>Ax</a:t>
            </a:r>
            <a:r>
              <a:rPr lang="en-US" altLang="zh-CN" sz="2400" dirty="0" err="1">
                <a:sym typeface="Symbol" panose="05050102010706020507" pitchFamily="18" charset="2"/>
              </a:rPr>
              <a:t></a:t>
            </a:r>
            <a:r>
              <a:rPr lang="en-US" altLang="zh-CN" sz="2400" b="1" i="1" dirty="0" err="1"/>
              <a:t>b</a:t>
            </a:r>
            <a:r>
              <a:rPr lang="en-US" altLang="zh-CN" sz="2400" dirty="0"/>
              <a:t>,</a:t>
            </a:r>
            <a:r>
              <a:rPr lang="en-US" altLang="zh-CN" sz="2400" b="1" i="1" dirty="0"/>
              <a:t>    </a:t>
            </a:r>
            <a:r>
              <a:rPr lang="en-US" altLang="zh-CN" sz="2400" b="1" dirty="0"/>
              <a:t>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             </a:t>
            </a:r>
            <a:r>
              <a:rPr lang="en-US" altLang="zh-CN" sz="2400" b="1" i="1" dirty="0"/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b="1" dirty="0"/>
              <a:t>0</a:t>
            </a:r>
          </a:p>
        </p:txBody>
      </p:sp>
      <p:sp>
        <p:nvSpPr>
          <p:cNvPr id="16400" name="Text Box 10"/>
          <p:cNvSpPr txBox="1">
            <a:spLocks noChangeArrowheads="1"/>
          </p:cNvSpPr>
          <p:nvPr/>
        </p:nvSpPr>
        <p:spPr bwMode="auto">
          <a:xfrm>
            <a:off x="4929188" y="2571750"/>
            <a:ext cx="3590925" cy="120015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Dual    Max  </a:t>
            </a:r>
            <a:r>
              <a:rPr lang="en-US" altLang="zh-CN" sz="2400" b="1" i="1" dirty="0" err="1"/>
              <a:t>wb</a:t>
            </a:r>
            <a:r>
              <a:rPr lang="en-US" altLang="zh-CN" sz="2400" b="1" i="1" dirty="0"/>
              <a:t>	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</a:t>
            </a:r>
            <a:r>
              <a:rPr lang="en-US" altLang="zh-CN" sz="2400" b="1" dirty="0" err="1"/>
              <a:t>s.t.</a:t>
            </a:r>
            <a:r>
              <a:rPr lang="en-US" altLang="zh-CN" sz="2400" b="1" dirty="0"/>
              <a:t>    </a:t>
            </a:r>
            <a:r>
              <a:rPr lang="en-US" altLang="zh-CN" sz="2400" b="1" i="1" dirty="0" err="1"/>
              <a:t>wA</a:t>
            </a:r>
            <a:r>
              <a:rPr lang="en-US" altLang="zh-CN" sz="2400" dirty="0" err="1">
                <a:sym typeface="Symbol" panose="05050102010706020507" pitchFamily="18" charset="2"/>
              </a:rPr>
              <a:t></a:t>
            </a:r>
            <a:r>
              <a:rPr lang="en-US" altLang="zh-CN" sz="2400" b="1" i="1" dirty="0" err="1"/>
              <a:t>c</a:t>
            </a:r>
            <a:r>
              <a:rPr lang="en-US" altLang="zh-CN" sz="2400" dirty="0"/>
              <a:t>,</a:t>
            </a:r>
            <a:r>
              <a:rPr lang="en-US" altLang="zh-CN" sz="2400" b="1" i="1" dirty="0"/>
              <a:t>   </a:t>
            </a:r>
            <a:r>
              <a:rPr lang="en-US" altLang="zh-CN" sz="2400" b="1" dirty="0"/>
              <a:t>(2)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         </a:t>
            </a:r>
            <a:r>
              <a:rPr lang="en-US" altLang="zh-CN" sz="2400" b="1" i="1" dirty="0"/>
              <a:t>w</a:t>
            </a:r>
            <a:r>
              <a:rPr lang="en-US" altLang="zh-CN" sz="2400" dirty="0">
                <a:ea typeface="楷体_GB2312" panose="0201060903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i="1" dirty="0">
                <a:ea typeface="楷体_GB2312" panose="02010609030101010101" pitchFamily="49" charset="-122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9226" name="Rectangle 12"/>
          <p:cNvSpPr>
            <a:spLocks noChangeArrowheads="1"/>
          </p:cNvSpPr>
          <p:nvPr/>
        </p:nvSpPr>
        <p:spPr bwMode="auto">
          <a:xfrm>
            <a:off x="1013272" y="1628437"/>
            <a:ext cx="29674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800" dirty="0">
                <a:ea typeface="楷体_GB2312" panose="02010609030101010101" pitchFamily="49" charset="-122"/>
              </a:rPr>
              <a:t>1,</a:t>
            </a:r>
            <a:r>
              <a:rPr lang="zh-CN" altLang="en-US" sz="2800" dirty="0">
                <a:ea typeface="楷体_GB2312" panose="02010609030101010101" pitchFamily="49" charset="-122"/>
              </a:rPr>
              <a:t>对称形式的对偶</a:t>
            </a:r>
          </a:p>
        </p:txBody>
      </p:sp>
      <p:sp>
        <p:nvSpPr>
          <p:cNvPr id="16392" name="Rectangle 13"/>
          <p:cNvSpPr>
            <a:spLocks noChangeArrowheads="1"/>
          </p:cNvSpPr>
          <p:nvPr/>
        </p:nvSpPr>
        <p:spPr bwMode="auto">
          <a:xfrm>
            <a:off x="1057319" y="3935956"/>
            <a:ext cx="51219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dirty="0">
                <a:ea typeface="楷体_GB2312" panose="02010609030101010101" pitchFamily="49" charset="-122"/>
              </a:rPr>
              <a:t>2,</a:t>
            </a:r>
            <a:r>
              <a:rPr lang="zh-CN" altLang="en-US" sz="2800" dirty="0">
                <a:ea typeface="楷体_GB2312" panose="02010609030101010101" pitchFamily="49" charset="-122"/>
              </a:rPr>
              <a:t>非对称形式（标准型）的对偶</a:t>
            </a:r>
          </a:p>
        </p:txBody>
      </p:sp>
      <p:grpSp>
        <p:nvGrpSpPr>
          <p:cNvPr id="2" name="组合 16"/>
          <p:cNvGrpSpPr/>
          <p:nvPr/>
        </p:nvGrpSpPr>
        <p:grpSpPr bwMode="auto">
          <a:xfrm>
            <a:off x="602323" y="4643439"/>
            <a:ext cx="8110488" cy="1304925"/>
            <a:chOff x="571472" y="4643445"/>
            <a:chExt cx="8110538" cy="1304926"/>
          </a:xfrm>
        </p:grpSpPr>
        <p:grpSp>
          <p:nvGrpSpPr>
            <p:cNvPr id="9229" name="Group 5"/>
            <p:cNvGrpSpPr/>
            <p:nvPr/>
          </p:nvGrpSpPr>
          <p:grpSpPr bwMode="auto">
            <a:xfrm>
              <a:off x="571472" y="4643445"/>
              <a:ext cx="8110538" cy="1304926"/>
              <a:chOff x="-181" y="2024"/>
              <a:chExt cx="5109" cy="822"/>
            </a:xfrm>
          </p:grpSpPr>
          <p:sp>
            <p:nvSpPr>
              <p:cNvPr id="9232" name="Text Box 6"/>
              <p:cNvSpPr txBox="1">
                <a:spLocks noChangeArrowheads="1"/>
              </p:cNvSpPr>
              <p:nvPr/>
            </p:nvSpPr>
            <p:spPr bwMode="auto">
              <a:xfrm>
                <a:off x="-181" y="2069"/>
                <a:ext cx="2242" cy="777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/>
                  <a:t>Primal    Min  </a:t>
                </a:r>
                <a:r>
                  <a:rPr lang="en-US" altLang="zh-CN" sz="2400" b="1" i="1" dirty="0"/>
                  <a:t>cx	</a:t>
                </a:r>
                <a:endParaRPr lang="en-US" altLang="zh-CN" sz="2400" dirty="0"/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/>
                  <a:t>                </a:t>
                </a:r>
                <a:r>
                  <a:rPr lang="en-US" altLang="zh-CN" sz="2400" b="1" dirty="0" err="1"/>
                  <a:t>s.t.</a:t>
                </a:r>
                <a:r>
                  <a:rPr lang="en-US" altLang="zh-CN" sz="2400" b="1" dirty="0"/>
                  <a:t>   </a:t>
                </a:r>
                <a:r>
                  <a:rPr lang="en-US" altLang="zh-CN" sz="2400" b="1" i="1" dirty="0"/>
                  <a:t>Ax</a:t>
                </a:r>
                <a:r>
                  <a:rPr lang="en-US" altLang="zh-CN" sz="2400" dirty="0"/>
                  <a:t>=</a:t>
                </a:r>
                <a:r>
                  <a:rPr lang="en-US" altLang="zh-CN" sz="2400" b="1" i="1" dirty="0"/>
                  <a:t>b</a:t>
                </a:r>
                <a:r>
                  <a:rPr lang="en-US" altLang="zh-CN" sz="2400" dirty="0"/>
                  <a:t>,</a:t>
                </a:r>
                <a:r>
                  <a:rPr lang="en-US" altLang="zh-CN" sz="2400" b="1" i="1" dirty="0"/>
                  <a:t> 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/>
                  <a:t>	              </a:t>
                </a:r>
                <a:r>
                  <a:rPr lang="en-US" altLang="zh-CN" sz="2400" b="1" i="1" dirty="0"/>
                  <a:t>x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</a:t>
                </a:r>
                <a:r>
                  <a:rPr lang="en-US" altLang="zh-CN" sz="2400" b="1" dirty="0"/>
                  <a:t>0</a:t>
                </a:r>
              </a:p>
            </p:txBody>
          </p:sp>
          <p:sp>
            <p:nvSpPr>
              <p:cNvPr id="9233" name="Text Box 7"/>
              <p:cNvSpPr txBox="1">
                <a:spLocks noChangeArrowheads="1"/>
              </p:cNvSpPr>
              <p:nvPr/>
            </p:nvSpPr>
            <p:spPr bwMode="auto">
              <a:xfrm>
                <a:off x="2519" y="2024"/>
                <a:ext cx="2409" cy="75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/>
                  <a:t>Dual    Max  </a:t>
                </a:r>
                <a:r>
                  <a:rPr lang="en-US" altLang="zh-CN" sz="2400" b="1" i="1" dirty="0" err="1"/>
                  <a:t>wb</a:t>
                </a:r>
                <a:r>
                  <a:rPr lang="en-US" altLang="zh-CN" sz="2400" b="1" i="1" dirty="0"/>
                  <a:t>	</a:t>
                </a:r>
                <a:endParaRPr lang="en-US" altLang="zh-CN" sz="2400" dirty="0"/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/>
                  <a:t>             </a:t>
                </a:r>
                <a:r>
                  <a:rPr lang="en-US" altLang="zh-CN" sz="2400" b="1" dirty="0" err="1"/>
                  <a:t>s.t.</a:t>
                </a:r>
                <a:r>
                  <a:rPr lang="en-US" altLang="zh-CN" sz="2400" b="1" dirty="0"/>
                  <a:t>    </a:t>
                </a:r>
                <a:r>
                  <a:rPr lang="en-US" altLang="zh-CN" sz="2400" b="1" i="1" dirty="0" err="1"/>
                  <a:t>wA</a:t>
                </a:r>
                <a:r>
                  <a:rPr lang="en-US" altLang="zh-CN" sz="2400" dirty="0" err="1">
                    <a:sym typeface="Symbol" panose="05050102010706020507" pitchFamily="18" charset="2"/>
                  </a:rPr>
                  <a:t></a:t>
                </a:r>
                <a:r>
                  <a:rPr lang="en-US" altLang="zh-CN" sz="2400" b="1" i="1" dirty="0" err="1"/>
                  <a:t>c</a:t>
                </a:r>
                <a:r>
                  <a:rPr lang="en-US" altLang="zh-CN" sz="2400" dirty="0"/>
                  <a:t>,</a:t>
                </a:r>
                <a:r>
                  <a:rPr lang="en-US" altLang="zh-CN" sz="2400" b="1" i="1" dirty="0"/>
                  <a:t>   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/>
                  <a:t>                  </a:t>
                </a:r>
                <a:r>
                  <a:rPr lang="en-US" altLang="zh-CN" sz="2400" b="1" i="1" dirty="0"/>
                  <a:t>w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>
                    <a:sym typeface="Symbol" panose="05050102010706020507" pitchFamily="18" charset="2"/>
                  </a:rPr>
                  <a:t>无约束</a:t>
                </a:r>
                <a:endParaRPr lang="zh-CN" altLang="en-US" sz="2400" b="1" dirty="0"/>
              </a:p>
            </p:txBody>
          </p:sp>
        </p:grpSp>
        <p:sp>
          <p:nvSpPr>
            <p:cNvPr id="9230" name="Rectangle 15"/>
            <p:cNvSpPr>
              <a:spLocks noChangeArrowheads="1"/>
            </p:cNvSpPr>
            <p:nvPr/>
          </p:nvSpPr>
          <p:spPr bwMode="auto">
            <a:xfrm>
              <a:off x="3450986" y="5021184"/>
              <a:ext cx="5437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/>
                <a:t>(3)</a:t>
              </a:r>
            </a:p>
          </p:txBody>
        </p:sp>
        <p:sp>
          <p:nvSpPr>
            <p:cNvPr id="9231" name="Rectangle 16"/>
            <p:cNvSpPr>
              <a:spLocks noChangeArrowheads="1"/>
            </p:cNvSpPr>
            <p:nvPr/>
          </p:nvSpPr>
          <p:spPr bwMode="auto">
            <a:xfrm>
              <a:off x="7788154" y="4929680"/>
              <a:ext cx="5437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/>
                <a:t>(4)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9" grpId="0" animBg="1"/>
      <p:bldP spid="16400" grpId="0" animBg="1"/>
      <p:bldP spid="1639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46" name="Rectangle 14"/>
          <p:cNvSpPr>
            <a:spLocks noChangeArrowheads="1"/>
          </p:cNvSpPr>
          <p:nvPr/>
        </p:nvSpPr>
        <p:spPr bwMode="auto">
          <a:xfrm>
            <a:off x="609600" y="990600"/>
            <a:ext cx="2940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anose="02010609030101010101" pitchFamily="49" charset="-122"/>
              </a:rPr>
              <a:t>3,</a:t>
            </a:r>
            <a:r>
              <a:rPr lang="zh-CN" altLang="en-US" sz="2800">
                <a:ea typeface="楷体_GB2312" panose="02010609030101010101" pitchFamily="49" charset="-122"/>
              </a:rPr>
              <a:t>一般形式的对偶</a:t>
            </a:r>
          </a:p>
        </p:txBody>
      </p:sp>
      <p:sp>
        <p:nvSpPr>
          <p:cNvPr id="17414" name="Rectangle 17"/>
          <p:cNvSpPr>
            <a:spLocks noChangeArrowheads="1"/>
          </p:cNvSpPr>
          <p:nvPr/>
        </p:nvSpPr>
        <p:spPr bwMode="auto">
          <a:xfrm>
            <a:off x="1071563" y="1571625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Primal</a:t>
            </a: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4071938" y="1571625"/>
            <a:ext cx="294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楷体_GB2312" panose="02010609030101010101" pitchFamily="49" charset="-122"/>
              </a:rPr>
              <a:t>化为等价的标准形式</a:t>
            </a:r>
          </a:p>
        </p:txBody>
      </p:sp>
      <p:graphicFrame>
        <p:nvGraphicFramePr>
          <p:cNvPr id="1024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0708"/>
              </p:ext>
            </p:extLst>
          </p:nvPr>
        </p:nvGraphicFramePr>
        <p:xfrm>
          <a:off x="602127" y="2235200"/>
          <a:ext cx="3249612" cy="311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" name="Equation" r:id="rId3" imgW="1180800" imgH="1130040" progId="Equation.DSMT4">
                  <p:embed/>
                </p:oleObj>
              </mc:Choice>
              <mc:Fallback>
                <p:oleObj name="Equation" r:id="rId3" imgW="1180800" imgH="1130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27" y="2235200"/>
                        <a:ext cx="3249612" cy="311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2"/>
          <p:cNvGraphicFramePr>
            <a:graphicFrameLocks noChangeAspect="1"/>
          </p:cNvGraphicFramePr>
          <p:nvPr/>
        </p:nvGraphicFramePr>
        <p:xfrm>
          <a:off x="4143376" y="2143125"/>
          <a:ext cx="2815726" cy="3255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" name="Equation" r:id="rId5" imgW="977900" imgH="1130300" progId="Equation.DSMT4">
                  <p:embed/>
                </p:oleObj>
              </mc:Choice>
              <mc:Fallback>
                <p:oleObj name="Equation" r:id="rId5" imgW="977900" imgH="1130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6" y="2143125"/>
                        <a:ext cx="2815726" cy="3255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70" name="Rectangle 16"/>
          <p:cNvSpPr>
            <a:spLocks noChangeArrowheads="1"/>
          </p:cNvSpPr>
          <p:nvPr/>
        </p:nvSpPr>
        <p:spPr bwMode="auto">
          <a:xfrm>
            <a:off x="609600" y="1120775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anose="02010609030101010101" pitchFamily="49" charset="-122"/>
              </a:rPr>
              <a:t>写成矩阵形式</a:t>
            </a:r>
          </a:p>
        </p:txBody>
      </p:sp>
      <p:sp>
        <p:nvSpPr>
          <p:cNvPr id="18438" name="Rectangle 17"/>
          <p:cNvSpPr>
            <a:spLocks noChangeArrowheads="1"/>
          </p:cNvSpPr>
          <p:nvPr/>
        </p:nvSpPr>
        <p:spPr bwMode="auto">
          <a:xfrm>
            <a:off x="285750" y="34290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anose="02010609030101010101" pitchFamily="49" charset="-122"/>
              </a:rPr>
              <a:t>按非对称 对偶的定义</a:t>
            </a:r>
            <a:r>
              <a:rPr lang="en-US" altLang="zh-CN" sz="2800">
                <a:ea typeface="楷体_GB2312" panose="02010609030101010101" pitchFamily="49" charset="-122"/>
              </a:rPr>
              <a:t>,</a:t>
            </a:r>
            <a:r>
              <a:rPr lang="zh-CN" altLang="en-US" sz="2800">
                <a:ea typeface="楷体_GB2312" panose="02010609030101010101" pitchFamily="49" charset="-122"/>
              </a:rPr>
              <a:t>得上述</a:t>
            </a:r>
            <a:r>
              <a:rPr lang="en-US" altLang="zh-CN" sz="2800">
                <a:ea typeface="楷体_GB2312" panose="02010609030101010101" pitchFamily="49" charset="-122"/>
              </a:rPr>
              <a:t>LP </a:t>
            </a:r>
            <a:r>
              <a:rPr lang="zh-CN" altLang="en-US" sz="2800">
                <a:ea typeface="楷体_GB2312" panose="02010609030101010101" pitchFamily="49" charset="-122"/>
              </a:rPr>
              <a:t>的对偶问题</a:t>
            </a:r>
          </a:p>
        </p:txBody>
      </p:sp>
      <p:graphicFrame>
        <p:nvGraphicFramePr>
          <p:cNvPr id="11272" name="Object 10"/>
          <p:cNvGraphicFramePr>
            <a:graphicFrameLocks noChangeAspect="1"/>
          </p:cNvGraphicFramePr>
          <p:nvPr/>
        </p:nvGraphicFramePr>
        <p:xfrm>
          <a:off x="3500438" y="1214438"/>
          <a:ext cx="3357562" cy="213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3" imgW="1841500" imgH="1168400" progId="Equation.DSMT4">
                  <p:embed/>
                </p:oleObj>
              </mc:Choice>
              <mc:Fallback>
                <p:oleObj name="Equation" r:id="rId3" imgW="1841500" imgH="1168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214438"/>
                        <a:ext cx="3357562" cy="213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11"/>
          <p:cNvGraphicFramePr>
            <a:graphicFrameLocks noChangeAspect="1"/>
          </p:cNvGraphicFramePr>
          <p:nvPr/>
        </p:nvGraphicFramePr>
        <p:xfrm>
          <a:off x="1285875" y="4143375"/>
          <a:ext cx="500062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5" imgW="2743200" imgH="939800" progId="Equation.DSMT4">
                  <p:embed/>
                </p:oleObj>
              </mc:Choice>
              <mc:Fallback>
                <p:oleObj name="Equation" r:id="rId5" imgW="2743200" imgH="939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143375"/>
                        <a:ext cx="5000625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anose="02010609030101010101" pitchFamily="49" charset="-122"/>
              </a:rPr>
              <a:t>于是原 </a:t>
            </a:r>
            <a:r>
              <a:rPr lang="en-US" altLang="zh-CN" sz="2800" dirty="0">
                <a:ea typeface="楷体_GB2312" panose="02010609030101010101" pitchFamily="49" charset="-122"/>
              </a:rPr>
              <a:t>LP</a:t>
            </a:r>
            <a:r>
              <a:rPr lang="zh-CN" altLang="en-US" sz="2800" dirty="0">
                <a:ea typeface="楷体_GB2312" panose="02010609030101010101" pitchFamily="49" charset="-122"/>
              </a:rPr>
              <a:t>的对偶为</a:t>
            </a:r>
          </a:p>
        </p:txBody>
      </p:sp>
      <p:sp>
        <p:nvSpPr>
          <p:cNvPr id="19461" name="Rectangle 14"/>
          <p:cNvSpPr>
            <a:spLocks noChangeArrowheads="1"/>
          </p:cNvSpPr>
          <p:nvPr/>
        </p:nvSpPr>
        <p:spPr bwMode="auto">
          <a:xfrm>
            <a:off x="6324600" y="2743200"/>
            <a:ext cx="5437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(6)</a:t>
            </a:r>
          </a:p>
        </p:txBody>
      </p:sp>
      <p:graphicFrame>
        <p:nvGraphicFramePr>
          <p:cNvPr id="12296" name="Object 9"/>
          <p:cNvGraphicFramePr>
            <a:graphicFrameLocks noChangeAspect="1"/>
          </p:cNvGraphicFramePr>
          <p:nvPr/>
        </p:nvGraphicFramePr>
        <p:xfrm>
          <a:off x="1223388" y="1900237"/>
          <a:ext cx="4784725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name="Equation" r:id="rId3" imgW="1562100" imgH="698500" progId="Equation.DSMT4">
                  <p:embed/>
                </p:oleObj>
              </mc:Choice>
              <mc:Fallback>
                <p:oleObj name="Equation" r:id="rId3" imgW="15621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388" y="1900237"/>
                        <a:ext cx="4784725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16"/>
          <p:cNvSpPr>
            <a:spLocks noChangeArrowheads="1"/>
          </p:cNvSpPr>
          <p:nvPr/>
        </p:nvSpPr>
        <p:spPr bwMode="auto">
          <a:xfrm>
            <a:off x="285750" y="1000125"/>
            <a:ext cx="44935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anose="02010609030101010101" pitchFamily="49" charset="-122"/>
              </a:rPr>
              <a:t>由以上分析可知有如下关系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42938" y="1601788"/>
          <a:ext cx="7643812" cy="4541838"/>
        </p:xfrm>
        <a:graphic>
          <a:graphicData uri="http://schemas.openxmlformats.org/drawingml/2006/table">
            <a:tbl>
              <a:tblPr/>
              <a:tblGrid>
                <a:gridCol w="371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9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946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原问题</a:t>
                      </a:r>
                      <a:r>
                        <a:rPr lang="en-US" altLang="zh-CN" sz="2800" dirty="0"/>
                        <a:t>(P)  min</a:t>
                      </a:r>
                      <a:endParaRPr lang="zh-CN" altLang="en-US" sz="2800" dirty="0"/>
                    </a:p>
                  </a:txBody>
                  <a:tcPr marL="91443" marR="91443" marT="45723" marB="45723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对偶问题</a:t>
                      </a:r>
                      <a:r>
                        <a:rPr lang="en-US" altLang="zh-CN" sz="2800" dirty="0"/>
                        <a:t>(D)  max</a:t>
                      </a:r>
                      <a:endParaRPr lang="zh-CN" altLang="en-US" sz="2800" dirty="0"/>
                    </a:p>
                    <a:p>
                      <a:endParaRPr lang="zh-CN" altLang="en-US" sz="2800" dirty="0"/>
                    </a:p>
                  </a:txBody>
                  <a:tcPr marL="91443" marR="91443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446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0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变 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0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量                无限制</a:t>
                      </a:r>
                    </a:p>
                  </a:txBody>
                  <a:tcPr marL="91443" marR="91443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行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</a:t>
                      </a:r>
                      <a:r>
                        <a:rPr lang="zh-CN" altLang="en-US" sz="2800" dirty="0"/>
                        <a:t>        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约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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束                 </a:t>
                      </a:r>
                      <a:r>
                        <a:rPr lang="en-US" altLang="zh-CN" sz="2800" dirty="0"/>
                        <a:t>=</a:t>
                      </a:r>
                      <a:endParaRPr lang="zh-CN" altLang="en-US" sz="2800" dirty="0"/>
                    </a:p>
                    <a:p>
                      <a:endParaRPr lang="zh-CN" altLang="en-US" sz="2800" dirty="0"/>
                    </a:p>
                  </a:txBody>
                  <a:tcPr marL="91443" marR="91443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8446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行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</a:t>
                      </a:r>
                      <a:r>
                        <a:rPr lang="zh-CN" altLang="en-US" sz="2800" dirty="0"/>
                        <a:t>        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约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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束                 </a:t>
                      </a:r>
                      <a:r>
                        <a:rPr lang="en-US" altLang="zh-CN" sz="2800" dirty="0"/>
                        <a:t>=</a:t>
                      </a:r>
                      <a:endParaRPr lang="zh-CN" altLang="en-US" sz="2800" dirty="0"/>
                    </a:p>
                  </a:txBody>
                  <a:tcPr marL="91443" marR="91443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     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0</a:t>
                      </a:r>
                      <a:endParaRPr lang="en-US" altLang="zh-CN" sz="2800" dirty="0"/>
                    </a:p>
                    <a:p>
                      <a:pPr algn="just"/>
                      <a:r>
                        <a:rPr lang="zh-CN" altLang="en-US" sz="2800" dirty="0"/>
                        <a:t>变                  </a:t>
                      </a:r>
                      <a:r>
                        <a:rPr lang="en-US" altLang="zh-CN" sz="2800" dirty="0">
                          <a:sym typeface="Euclid Symbol" panose="05050102010706020507"/>
                        </a:rPr>
                        <a:t>0</a:t>
                      </a:r>
                      <a:endParaRPr lang="en-US" altLang="zh-CN" sz="2800" dirty="0"/>
                    </a:p>
                    <a:p>
                      <a:r>
                        <a:rPr lang="zh-CN" altLang="en-US" sz="2800" dirty="0"/>
                        <a:t>量                  无限制</a:t>
                      </a:r>
                    </a:p>
                    <a:p>
                      <a:endParaRPr lang="zh-CN" altLang="en-US" sz="2800" dirty="0"/>
                    </a:p>
                  </a:txBody>
                  <a:tcPr marL="91443" marR="91443"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37" name="Object 8"/>
          <p:cNvGraphicFramePr>
            <a:graphicFrameLocks noChangeAspect="1"/>
          </p:cNvGraphicFramePr>
          <p:nvPr/>
        </p:nvGraphicFramePr>
        <p:xfrm>
          <a:off x="4514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Equation" r:id="rId3" imgW="114300" imgH="177800" progId="Equation.DSMT4">
                  <p:embed/>
                </p:oleObj>
              </mc:Choice>
              <mc:Fallback>
                <p:oleObj name="Equation" r:id="rId3" imgW="114300" imgH="177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14"/>
          <p:cNvSpPr>
            <a:spLocks noChangeArrowheads="1"/>
          </p:cNvSpPr>
          <p:nvPr/>
        </p:nvSpPr>
        <p:spPr bwMode="auto">
          <a:xfrm>
            <a:off x="428625" y="980199"/>
            <a:ext cx="746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</a:rPr>
              <a:t>引理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  </a:t>
            </a:r>
            <a:r>
              <a:rPr lang="zh-CN" altLang="en-US" sz="2800" dirty="0">
                <a:latin typeface="宋体" panose="02010600030101010101" pitchFamily="2" charset="-122"/>
              </a:rPr>
              <a:t>对偶问题的对偶是原始问题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 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ea typeface="楷体_GB2312" panose="02010609030101010101" pitchFamily="49" charset="-122"/>
              </a:rPr>
              <a:t>The dual of the dual is the primal.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4343" name="矩形 7"/>
          <p:cNvSpPr>
            <a:spLocks noChangeArrowheads="1"/>
          </p:cNvSpPr>
          <p:nvPr/>
        </p:nvSpPr>
        <p:spPr bwMode="auto">
          <a:xfrm>
            <a:off x="480100" y="2021584"/>
            <a:ext cx="6288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证明：仅就对称形式的对偶规划证明。</a:t>
            </a:r>
            <a:endParaRPr lang="zh-CN" altLang="en-US" sz="2400" dirty="0"/>
          </a:p>
        </p:txBody>
      </p:sp>
      <p:sp>
        <p:nvSpPr>
          <p:cNvPr id="14344" name="矩形 8"/>
          <p:cNvSpPr>
            <a:spLocks noChangeArrowheads="1"/>
          </p:cNvSpPr>
          <p:nvPr/>
        </p:nvSpPr>
        <p:spPr bwMode="auto">
          <a:xfrm>
            <a:off x="1143000" y="2571750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原始问题</a:t>
            </a:r>
            <a:endParaRPr lang="zh-CN" altLang="en-US" sz="2400"/>
          </a:p>
        </p:txBody>
      </p:sp>
      <p:sp>
        <p:nvSpPr>
          <p:cNvPr id="14345" name="矩形 9"/>
          <p:cNvSpPr>
            <a:spLocks noChangeArrowheads="1"/>
          </p:cNvSpPr>
          <p:nvPr/>
        </p:nvSpPr>
        <p:spPr bwMode="auto">
          <a:xfrm>
            <a:off x="5500688" y="271462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对偶规划</a:t>
            </a:r>
            <a:endParaRPr lang="zh-CN" altLang="en-US" sz="24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39714" y="3286125"/>
            <a:ext cx="4114800" cy="120015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Primal    Min  </a:t>
            </a:r>
            <a:r>
              <a:rPr lang="en-US" altLang="zh-CN" sz="2400" b="1" i="1" dirty="0"/>
              <a:t>cx	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</a:t>
            </a:r>
            <a:r>
              <a:rPr lang="en-US" altLang="zh-CN" sz="2400" b="1" dirty="0" err="1"/>
              <a:t>s.t.</a:t>
            </a:r>
            <a:r>
              <a:rPr lang="en-US" altLang="zh-CN" sz="2400" b="1" dirty="0"/>
              <a:t>   </a:t>
            </a:r>
            <a:r>
              <a:rPr lang="en-US" altLang="zh-CN" sz="2400" b="1" i="1" dirty="0" err="1"/>
              <a:t>Ax</a:t>
            </a:r>
            <a:r>
              <a:rPr lang="en-US" altLang="zh-CN" sz="2400" dirty="0" err="1">
                <a:sym typeface="Symbol" panose="05050102010706020507" pitchFamily="18" charset="2"/>
              </a:rPr>
              <a:t></a:t>
            </a:r>
            <a:r>
              <a:rPr lang="en-US" altLang="zh-CN" sz="2400" b="1" i="1" dirty="0" err="1"/>
              <a:t>b</a:t>
            </a:r>
            <a:r>
              <a:rPr lang="en-US" altLang="zh-CN" sz="2400" dirty="0"/>
              <a:t>,</a:t>
            </a:r>
            <a:r>
              <a:rPr lang="en-US" altLang="zh-CN" sz="2400" b="1" i="1" dirty="0"/>
              <a:t>   </a:t>
            </a:r>
            <a:r>
              <a:rPr lang="en-US" altLang="zh-CN" sz="2400" b="1" dirty="0"/>
              <a:t>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	              </a:t>
            </a:r>
            <a:r>
              <a:rPr lang="en-US" altLang="zh-CN" sz="2400" b="1" i="1" dirty="0"/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b="1" dirty="0"/>
              <a:t>0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000625" y="3286125"/>
            <a:ext cx="3590925" cy="120015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Dual    Max  </a:t>
            </a:r>
            <a:r>
              <a:rPr lang="en-US" altLang="zh-CN" sz="2400" b="1" i="1" dirty="0" err="1"/>
              <a:t>wb</a:t>
            </a:r>
            <a:r>
              <a:rPr lang="en-US" altLang="zh-CN" sz="2400" b="1" i="1" dirty="0"/>
              <a:t>	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</a:t>
            </a:r>
            <a:r>
              <a:rPr lang="en-US" altLang="zh-CN" sz="2400" b="1" dirty="0" err="1"/>
              <a:t>s.t.</a:t>
            </a:r>
            <a:r>
              <a:rPr lang="en-US" altLang="zh-CN" sz="2400" b="1" dirty="0"/>
              <a:t>    </a:t>
            </a:r>
            <a:r>
              <a:rPr lang="en-US" altLang="zh-CN" sz="2400" b="1" i="1" dirty="0" err="1"/>
              <a:t>wA</a:t>
            </a:r>
            <a:r>
              <a:rPr lang="en-US" altLang="zh-CN" sz="2400" dirty="0" err="1">
                <a:sym typeface="Symbol" panose="05050102010706020507" pitchFamily="18" charset="2"/>
              </a:rPr>
              <a:t></a:t>
            </a:r>
            <a:r>
              <a:rPr lang="en-US" altLang="zh-CN" sz="2400" b="1" i="1" dirty="0" err="1"/>
              <a:t>c</a:t>
            </a:r>
            <a:r>
              <a:rPr lang="en-US" altLang="zh-CN" sz="2400" dirty="0"/>
              <a:t>,</a:t>
            </a:r>
            <a:r>
              <a:rPr lang="en-US" altLang="zh-CN" sz="2400" b="1" i="1" dirty="0"/>
              <a:t>  </a:t>
            </a:r>
            <a:r>
              <a:rPr lang="en-US" altLang="zh-CN" sz="2400" b="1" dirty="0"/>
              <a:t>(2)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              </a:t>
            </a:r>
            <a:r>
              <a:rPr lang="en-US" altLang="zh-CN" sz="2400" b="1" i="1" dirty="0"/>
              <a:t>w</a:t>
            </a:r>
            <a:r>
              <a:rPr lang="en-US" altLang="zh-CN" sz="2400" dirty="0">
                <a:ea typeface="楷体_GB2312" panose="0201060903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i="1" dirty="0">
                <a:ea typeface="楷体_GB2312" panose="02010609030101010101" pitchFamily="49" charset="-122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28625" y="4786313"/>
            <a:ext cx="2714625" cy="120015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-Min  -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T</a:t>
            </a:r>
            <a:r>
              <a:rPr lang="en-US" altLang="zh-CN" sz="2400" b="1" i="1" dirty="0" err="1"/>
              <a:t>w</a:t>
            </a:r>
            <a:r>
              <a:rPr lang="en-US" altLang="zh-CN" sz="2400" b="1" i="1" baseline="30000" dirty="0" err="1"/>
              <a:t>T</a:t>
            </a:r>
            <a:r>
              <a:rPr lang="en-US" altLang="zh-CN" sz="2400" b="1" i="1" dirty="0"/>
              <a:t>	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err="1"/>
              <a:t>s.t.</a:t>
            </a:r>
            <a:r>
              <a:rPr lang="en-US" altLang="zh-CN" sz="2400" b="1" dirty="0"/>
              <a:t>    -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30000" dirty="0" err="1"/>
              <a:t>T</a:t>
            </a:r>
            <a:r>
              <a:rPr lang="en-US" altLang="zh-CN" sz="2400" b="1" i="1" dirty="0" err="1"/>
              <a:t>w</a:t>
            </a:r>
            <a:r>
              <a:rPr lang="en-US" altLang="zh-CN" sz="2400" b="1" i="1" baseline="30000" dirty="0" err="1"/>
              <a:t>T</a:t>
            </a:r>
            <a:r>
              <a:rPr lang="en-US" altLang="zh-CN" sz="2400" dirty="0">
                <a:sym typeface="Symbol" panose="05050102010706020507" pitchFamily="18" charset="2"/>
              </a:rPr>
              <a:t>  -</a:t>
            </a:r>
            <a:r>
              <a:rPr lang="en-US" altLang="zh-CN" sz="2400" b="1" i="1" dirty="0" err="1"/>
              <a:t>c</a:t>
            </a:r>
            <a:r>
              <a:rPr lang="en-US" altLang="zh-CN" sz="2400" b="1" i="1" baseline="30000" dirty="0" err="1"/>
              <a:t>T</a:t>
            </a:r>
            <a:endParaRPr lang="en-US" altLang="zh-CN" sz="2400" b="1" i="1" baseline="300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/>
              <a:t>w</a:t>
            </a:r>
            <a:r>
              <a:rPr lang="en-US" altLang="zh-CN" sz="2400" dirty="0">
                <a:ea typeface="楷体_GB2312" panose="0201060903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i="1" dirty="0">
                <a:ea typeface="楷体_GB2312" panose="02010609030101010101" pitchFamily="49" charset="-122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3429000" y="4786313"/>
            <a:ext cx="2286000" cy="120015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-Max  -</a:t>
            </a:r>
            <a:r>
              <a:rPr lang="en-US" altLang="zh-CN" sz="2400" b="1" dirty="0" err="1"/>
              <a:t>x</a:t>
            </a:r>
            <a:r>
              <a:rPr lang="en-US" altLang="zh-CN" sz="2400" b="1" i="1" dirty="0" err="1"/>
              <a:t>c</a:t>
            </a:r>
            <a:r>
              <a:rPr lang="en-US" altLang="zh-CN" sz="2400" b="1" i="1" baseline="30000" dirty="0" err="1"/>
              <a:t>T</a:t>
            </a:r>
            <a:r>
              <a:rPr lang="en-US" altLang="zh-CN" sz="2400" b="1" i="1" dirty="0"/>
              <a:t>	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 err="1"/>
              <a:t>s.t.</a:t>
            </a:r>
            <a:r>
              <a:rPr lang="en-US" altLang="zh-CN" sz="2400" b="1" dirty="0"/>
              <a:t>   -</a:t>
            </a:r>
            <a:r>
              <a:rPr lang="en-US" altLang="zh-CN" sz="2400" b="1" dirty="0" err="1"/>
              <a:t>x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30000" dirty="0" err="1"/>
              <a:t>T</a:t>
            </a:r>
            <a:r>
              <a:rPr lang="en-US" altLang="zh-CN" sz="2400" dirty="0">
                <a:sym typeface="Euclid Symbol" panose="05050102010706020507" pitchFamily="18" charset="2"/>
              </a:rPr>
              <a:t>-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T</a:t>
            </a:r>
            <a:r>
              <a:rPr lang="en-US" altLang="zh-CN" sz="2400" dirty="0"/>
              <a:t>,</a:t>
            </a:r>
            <a:r>
              <a:rPr lang="en-US" altLang="zh-CN" sz="2400" b="1" i="1" dirty="0"/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      x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b="1" dirty="0"/>
              <a:t>0</a:t>
            </a:r>
          </a:p>
        </p:txBody>
      </p:sp>
      <p:sp>
        <p:nvSpPr>
          <p:cNvPr id="14350" name="矩形 15"/>
          <p:cNvSpPr>
            <a:spLocks noChangeArrowheads="1"/>
          </p:cNvSpPr>
          <p:nvPr/>
        </p:nvSpPr>
        <p:spPr bwMode="auto">
          <a:xfrm>
            <a:off x="6072188" y="5072063"/>
            <a:ext cx="25003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Min  </a:t>
            </a:r>
            <a:r>
              <a:rPr lang="en-US" altLang="zh-CN" sz="2400" b="1" i="1"/>
              <a:t>cx	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s.t.   </a:t>
            </a:r>
            <a:r>
              <a:rPr lang="en-US" altLang="zh-CN" sz="2400" b="1" i="1"/>
              <a:t>Ax</a:t>
            </a:r>
            <a:r>
              <a:rPr lang="en-US" altLang="zh-CN" sz="2400">
                <a:sym typeface="Symbol" panose="05050102010706020507" pitchFamily="18" charset="2"/>
              </a:rPr>
              <a:t></a:t>
            </a:r>
            <a:r>
              <a:rPr lang="en-US" altLang="zh-CN" sz="2400" b="1" i="1"/>
              <a:t>b</a:t>
            </a:r>
            <a:r>
              <a:rPr lang="en-US" altLang="zh-CN" sz="2400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/>
              <a:t>x</a:t>
            </a:r>
            <a:r>
              <a:rPr lang="en-US" altLang="zh-CN" sz="2400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0</a:t>
            </a:r>
          </a:p>
        </p:txBody>
      </p:sp>
      <p:sp>
        <p:nvSpPr>
          <p:cNvPr id="14351" name="Rectangle 6"/>
          <p:cNvSpPr>
            <a:spLocks noChangeArrowheads="1"/>
          </p:cNvSpPr>
          <p:nvPr/>
        </p:nvSpPr>
        <p:spPr bwMode="auto">
          <a:xfrm>
            <a:off x="6072188" y="4643438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即得原问题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4350" grpId="0"/>
      <p:bldP spid="143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28600" y="1047251"/>
            <a:ext cx="37147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例</a:t>
            </a:r>
            <a:r>
              <a:rPr lang="en-US" altLang="zh-CN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1</a:t>
            </a: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 设原问题为</a:t>
            </a:r>
            <a:endParaRPr lang="zh-CN" altLang="en-US" sz="2800" dirty="0"/>
          </a:p>
        </p:txBody>
      </p:sp>
      <p:graphicFrame>
        <p:nvGraphicFramePr>
          <p:cNvPr id="15367" name="Object 9"/>
          <p:cNvGraphicFramePr>
            <a:graphicFrameLocks noChangeAspect="1"/>
          </p:cNvGraphicFramePr>
          <p:nvPr/>
        </p:nvGraphicFramePr>
        <p:xfrm>
          <a:off x="785019" y="1571126"/>
          <a:ext cx="2601912" cy="275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" name="Equation" r:id="rId3" imgW="863600" imgH="914400" progId="Equation.DSMT4">
                  <p:embed/>
                </p:oleObj>
              </mc:Choice>
              <mc:Fallback>
                <p:oleObj name="Equation" r:id="rId3" imgW="863600" imgH="914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019" y="1571126"/>
                        <a:ext cx="2601912" cy="275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0"/>
          <p:cNvGraphicFramePr>
            <a:graphicFrameLocks noChangeAspect="1"/>
          </p:cNvGraphicFramePr>
          <p:nvPr/>
        </p:nvGraphicFramePr>
        <p:xfrm>
          <a:off x="5940152" y="1828801"/>
          <a:ext cx="2895121" cy="2608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" name="Equation" r:id="rId5" imgW="1016000" imgH="914400" progId="Equation.DSMT4">
                  <p:embed/>
                </p:oleObj>
              </mc:Choice>
              <mc:Fallback>
                <p:oleObj name="Equation" r:id="rId5" imgW="1016000" imgH="914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828801"/>
                        <a:ext cx="2895121" cy="2608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930412" y="113486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则对偶问题为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063" y="1071563"/>
            <a:ext cx="37147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例</a:t>
            </a:r>
            <a:r>
              <a:rPr lang="en-US" altLang="zh-CN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2</a:t>
            </a: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 设原问题</a:t>
            </a:r>
            <a:endParaRPr lang="zh-CN" altLang="en-US" sz="2800" dirty="0"/>
          </a:p>
        </p:txBody>
      </p:sp>
      <p:graphicFrame>
        <p:nvGraphicFramePr>
          <p:cNvPr id="16391" name="Object 10"/>
          <p:cNvGraphicFramePr>
            <a:graphicFrameLocks noChangeAspect="1"/>
          </p:cNvGraphicFramePr>
          <p:nvPr/>
        </p:nvGraphicFramePr>
        <p:xfrm>
          <a:off x="541338" y="1659731"/>
          <a:ext cx="3673475" cy="275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Equation" r:id="rId3" imgW="1219200" imgH="914400" progId="Equation.DSMT4">
                  <p:embed/>
                </p:oleObj>
              </mc:Choice>
              <mc:Fallback>
                <p:oleObj name="Equation" r:id="rId3" imgW="1219200" imgH="914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1659731"/>
                        <a:ext cx="3673475" cy="275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Object 11"/>
              <p:cNvSpPr txBox="1"/>
              <p:nvPr/>
            </p:nvSpPr>
            <p:spPr bwMode="auto">
              <a:xfrm>
                <a:off x="5656262" y="1915949"/>
                <a:ext cx="2946400" cy="27574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≤5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≤4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≤3 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39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6262" y="1915949"/>
                <a:ext cx="2946400" cy="2757487"/>
              </a:xfrm>
              <a:prstGeom prst="rect">
                <a:avLst/>
              </a:prstGeom>
              <a:blipFill rotWithShape="1">
                <a:blip r:embed="rId5"/>
                <a:stretch>
                  <a:fillRect l="-11" t="-6" r="11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6372200" y="1062222"/>
            <a:ext cx="162083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对偶问题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063" y="1071563"/>
            <a:ext cx="37147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例</a:t>
            </a:r>
            <a:r>
              <a:rPr lang="en-US" altLang="zh-CN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3</a:t>
            </a: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 设原问题</a:t>
            </a:r>
            <a:endParaRPr lang="zh-CN" altLang="en-US" sz="2800" dirty="0"/>
          </a:p>
        </p:txBody>
      </p:sp>
      <p:graphicFrame>
        <p:nvGraphicFramePr>
          <p:cNvPr id="17415" name="Object 9"/>
          <p:cNvGraphicFramePr>
            <a:graphicFrameLocks noChangeAspect="1"/>
          </p:cNvGraphicFramePr>
          <p:nvPr/>
        </p:nvGraphicFramePr>
        <p:xfrm>
          <a:off x="642938" y="1928813"/>
          <a:ext cx="352425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3" imgW="1282700" imgH="1143000" progId="Equation.DSMT4">
                  <p:embed/>
                </p:oleObj>
              </mc:Choice>
              <mc:Fallback>
                <p:oleObj name="Equation" r:id="rId3" imgW="128270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928813"/>
                        <a:ext cx="3524250" cy="314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6000750" y="1071563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对偶问题</a:t>
            </a:r>
          </a:p>
        </p:txBody>
      </p:sp>
      <p:graphicFrame>
        <p:nvGraphicFramePr>
          <p:cNvPr id="17417" name="Object 10"/>
          <p:cNvGraphicFramePr>
            <a:graphicFrameLocks noChangeAspect="1"/>
          </p:cNvGraphicFramePr>
          <p:nvPr/>
        </p:nvGraphicFramePr>
        <p:xfrm>
          <a:off x="4716016" y="1858169"/>
          <a:ext cx="3863975" cy="344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5" imgW="1282700" imgH="1143000" progId="Equation.DSMT4">
                  <p:embed/>
                </p:oleObj>
              </mc:Choice>
              <mc:Fallback>
                <p:oleObj name="Equation" r:id="rId5" imgW="1282700" imgH="1143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858169"/>
                        <a:ext cx="3863975" cy="344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325347" y="990600"/>
            <a:ext cx="8479605" cy="230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ea"/>
                <a:ea typeface="+mn-ea"/>
              </a:rPr>
              <a:t>对偶定理</a:t>
            </a:r>
            <a:endParaRPr lang="en-US" altLang="zh-CN" sz="2800" dirty="0"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</a:rPr>
              <a:t> 注意到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zh-CN" altLang="en-US" sz="2800" dirty="0">
                <a:latin typeface="+mn-ea"/>
                <a:ea typeface="+mn-ea"/>
              </a:rPr>
              <a:t>原问题和对偶问题是由同一数据集</a:t>
            </a:r>
            <a:r>
              <a:rPr lang="en-US" altLang="zh-CN" sz="2800" dirty="0">
                <a:latin typeface="+mn-ea"/>
                <a:ea typeface="+mn-ea"/>
              </a:rPr>
              <a:t>(</a:t>
            </a:r>
            <a:r>
              <a:rPr lang="en-US" altLang="zh-CN" sz="2800" dirty="0" err="1">
                <a:latin typeface="+mn-ea"/>
                <a:ea typeface="+mn-ea"/>
              </a:rPr>
              <a:t>A,b,c</a:t>
            </a:r>
            <a:r>
              <a:rPr lang="en-US" altLang="zh-CN" sz="2800" dirty="0">
                <a:latin typeface="+mn-ea"/>
                <a:ea typeface="+mn-ea"/>
              </a:rPr>
              <a:t>)</a:t>
            </a:r>
            <a:r>
              <a:rPr lang="zh-CN" altLang="en-US" sz="2800" dirty="0">
                <a:latin typeface="+mn-ea"/>
                <a:ea typeface="+mn-ea"/>
              </a:rPr>
              <a:t>所定义，且对偶问题的对偶即是原问题，因此可以选原始</a:t>
            </a:r>
            <a:r>
              <a:rPr lang="en-US" altLang="zh-CN" sz="2800" dirty="0">
                <a:latin typeface="+mn-ea"/>
                <a:ea typeface="+mn-ea"/>
              </a:rPr>
              <a:t>-</a:t>
            </a:r>
            <a:r>
              <a:rPr lang="zh-CN" altLang="en-US" sz="2800" dirty="0">
                <a:latin typeface="+mn-ea"/>
                <a:ea typeface="+mn-ea"/>
              </a:rPr>
              <a:t>对偶对中任一为原问题，而另一个则自动为对偶。下面讨论两者间的关系。</a:t>
            </a:r>
          </a:p>
        </p:txBody>
      </p:sp>
      <p:graphicFrame>
        <p:nvGraphicFramePr>
          <p:cNvPr id="205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536420"/>
              </p:ext>
            </p:extLst>
          </p:nvPr>
        </p:nvGraphicFramePr>
        <p:xfrm>
          <a:off x="407041" y="3347771"/>
          <a:ext cx="8593119" cy="1027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4" name="Equation" r:id="rId3" imgW="3822480" imgH="457200" progId="Equation.DSMT4">
                  <p:embed/>
                </p:oleObj>
              </mc:Choice>
              <mc:Fallback>
                <p:oleObj name="Equation" r:id="rId3" imgW="382248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41" y="3347771"/>
                        <a:ext cx="8593119" cy="1027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131467"/>
              </p:ext>
            </p:extLst>
          </p:nvPr>
        </p:nvGraphicFramePr>
        <p:xfrm>
          <a:off x="467136" y="4522039"/>
          <a:ext cx="6831012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" name="Equation" r:id="rId5" imgW="3009600" imgH="723600" progId="Equation.DSMT4">
                  <p:embed/>
                </p:oleObj>
              </mc:Choice>
              <mc:Fallback>
                <p:oleObj name="Equation" r:id="rId5" imgW="300960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36" y="4522039"/>
                        <a:ext cx="6831012" cy="164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462" name="Object 8"/>
              <p:cNvSpPr txBox="1"/>
              <p:nvPr/>
            </p:nvSpPr>
            <p:spPr bwMode="auto">
              <a:xfrm>
                <a:off x="341630" y="904240"/>
                <a:ext cx="8332470" cy="18745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推论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分别是原问题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和对偶问题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的可行解，且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分别是原问题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和对偶问题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的最优解。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46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630" y="904240"/>
                <a:ext cx="8332470" cy="1874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337121" y="2500741"/>
            <a:ext cx="8358188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838200" indent="-838200" eaLnBrk="1" hangingPunct="1">
              <a:defRPr/>
            </a:pPr>
            <a:r>
              <a:rPr lang="zh-CN" altLang="en-US" sz="2800" kern="0" dirty="0">
                <a:latin typeface="+mn-ea"/>
                <a:ea typeface="+mn-ea"/>
                <a:cs typeface="+mj-cs"/>
              </a:rPr>
              <a:t>推论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2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 对偶规划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(1)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和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(2)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有最优解的充要条件是它们同时有可行解。</a:t>
            </a:r>
            <a:endParaRPr lang="en-US" altLang="zh-CN" sz="2800" kern="0" dirty="0">
              <a:latin typeface="+mn-ea"/>
              <a:ea typeface="+mn-ea"/>
              <a:cs typeface="+mj-cs"/>
            </a:endParaRPr>
          </a:p>
          <a:p>
            <a:pPr marL="838200" indent="-838200" eaLnBrk="1" hangingPunct="1">
              <a:defRPr/>
            </a:pPr>
            <a:endParaRPr lang="en-US" altLang="zh-CN" sz="2800" kern="0" dirty="0">
              <a:latin typeface="+mn-ea"/>
              <a:ea typeface="+mn-ea"/>
              <a:cs typeface="+mj-cs"/>
            </a:endParaRPr>
          </a:p>
          <a:p>
            <a:pPr marL="838200" indent="-838200" eaLnBrk="1" hangingPunct="1">
              <a:defRPr/>
            </a:pPr>
            <a:r>
              <a:rPr lang="zh-CN" altLang="en-US" sz="2800" kern="0" dirty="0">
                <a:latin typeface="+mn-ea"/>
                <a:ea typeface="+mn-ea"/>
                <a:cs typeface="+mj-cs"/>
              </a:rPr>
              <a:t>推论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3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 若原问题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(1)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的目标函数值在可行域上无下界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则其对偶问题无可行解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;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反之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若对偶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(2)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的目标函数值在可行域上无上界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则原问题无可行解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.</a:t>
            </a:r>
          </a:p>
          <a:p>
            <a:pPr marL="838200" indent="-838200" eaLnBrk="1" hangingPunct="1">
              <a:defRPr/>
            </a:pPr>
            <a:endParaRPr lang="en-US" altLang="zh-CN" sz="2800" kern="0" dirty="0">
              <a:latin typeface="+mn-ea"/>
              <a:ea typeface="+mn-ea"/>
              <a:cs typeface="+mj-cs"/>
            </a:endParaRPr>
          </a:p>
          <a:p>
            <a:pPr marL="838200" indent="-838200" eaLnBrk="1" hangingPunct="1">
              <a:defRPr/>
            </a:pPr>
            <a:r>
              <a:rPr lang="zh-CN" altLang="en-US" sz="2800" kern="0" dirty="0">
                <a:latin typeface="+mn-ea"/>
                <a:ea typeface="+mn-ea"/>
                <a:cs typeface="+mj-cs"/>
              </a:rPr>
              <a:t>注：定理对其它形式的原始对偶对也成立</a:t>
            </a:r>
            <a:endParaRPr lang="en-US" altLang="zh-CN" sz="2800" kern="0" dirty="0">
              <a:latin typeface="+mn-ea"/>
              <a:ea typeface="+mn-ea"/>
              <a:cs typeface="+mj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8" name="Group 7"/>
          <p:cNvGrpSpPr/>
          <p:nvPr/>
        </p:nvGrpSpPr>
        <p:grpSpPr bwMode="auto">
          <a:xfrm>
            <a:off x="609600" y="1285875"/>
            <a:ext cx="7772400" cy="1801813"/>
            <a:chOff x="385" y="2840"/>
            <a:chExt cx="4896" cy="1135"/>
          </a:xfrm>
        </p:grpSpPr>
        <p:sp>
          <p:nvSpPr>
            <p:cNvPr id="20491" name="Rectangle 8"/>
            <p:cNvSpPr>
              <a:spLocks noChangeArrowheads="1"/>
            </p:cNvSpPr>
            <p:nvPr/>
          </p:nvSpPr>
          <p:spPr bwMode="auto">
            <a:xfrm>
              <a:off x="4057" y="3688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</a:t>
              </a:r>
            </a:p>
          </p:txBody>
        </p:sp>
        <p:sp>
          <p:nvSpPr>
            <p:cNvPr id="20492" name="Rectangle 9"/>
            <p:cNvSpPr>
              <a:spLocks noChangeArrowheads="1"/>
            </p:cNvSpPr>
            <p:nvPr/>
          </p:nvSpPr>
          <p:spPr bwMode="auto">
            <a:xfrm>
              <a:off x="2833" y="3688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</a:t>
              </a:r>
            </a:p>
          </p:txBody>
        </p:sp>
        <p:sp>
          <p:nvSpPr>
            <p:cNvPr id="20493" name="Rectangle 10"/>
            <p:cNvSpPr>
              <a:spLocks noChangeArrowheads="1"/>
            </p:cNvSpPr>
            <p:nvPr/>
          </p:nvSpPr>
          <p:spPr bwMode="auto">
            <a:xfrm>
              <a:off x="1609" y="3688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</a:t>
              </a:r>
              <a:endParaRPr lang="en-US" altLang="zh-CN" sz="2000"/>
            </a:p>
          </p:txBody>
        </p:sp>
        <p:sp>
          <p:nvSpPr>
            <p:cNvPr id="20494" name="Rectangle 11"/>
            <p:cNvSpPr>
              <a:spLocks noChangeArrowheads="1"/>
            </p:cNvSpPr>
            <p:nvPr/>
          </p:nvSpPr>
          <p:spPr bwMode="auto">
            <a:xfrm>
              <a:off x="385" y="3688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/>
                <a:t>不可行</a:t>
              </a:r>
              <a:endParaRPr lang="en-US" altLang="zh-CN" sz="2000"/>
            </a:p>
          </p:txBody>
        </p:sp>
        <p:sp>
          <p:nvSpPr>
            <p:cNvPr id="20495" name="Rectangle 12"/>
            <p:cNvSpPr>
              <a:spLocks noChangeArrowheads="1"/>
            </p:cNvSpPr>
            <p:nvPr/>
          </p:nvSpPr>
          <p:spPr bwMode="auto">
            <a:xfrm>
              <a:off x="4057" y="3388"/>
              <a:ext cx="1224" cy="30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</a:t>
              </a:r>
            </a:p>
          </p:txBody>
        </p:sp>
        <p:sp>
          <p:nvSpPr>
            <p:cNvPr id="20496" name="Rectangle 13"/>
            <p:cNvSpPr>
              <a:spLocks noChangeArrowheads="1"/>
            </p:cNvSpPr>
            <p:nvPr/>
          </p:nvSpPr>
          <p:spPr bwMode="auto">
            <a:xfrm>
              <a:off x="2833" y="3388"/>
              <a:ext cx="1224" cy="30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</a:t>
              </a:r>
              <a:endParaRPr lang="en-US" altLang="zh-CN" sz="2000">
                <a:sym typeface="Symbol" panose="05050102010706020507" pitchFamily="18" charset="2"/>
              </a:endParaRPr>
            </a:p>
          </p:txBody>
        </p:sp>
        <p:sp>
          <p:nvSpPr>
            <p:cNvPr id="20497" name="Rectangle 14"/>
            <p:cNvSpPr>
              <a:spLocks noChangeArrowheads="1"/>
            </p:cNvSpPr>
            <p:nvPr/>
          </p:nvSpPr>
          <p:spPr bwMode="auto">
            <a:xfrm>
              <a:off x="1609" y="3388"/>
              <a:ext cx="1224" cy="30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</a:t>
              </a:r>
              <a:endParaRPr lang="en-US" altLang="zh-CN" sz="2000"/>
            </a:p>
          </p:txBody>
        </p:sp>
        <p:sp>
          <p:nvSpPr>
            <p:cNvPr id="20498" name="Rectangle 15"/>
            <p:cNvSpPr>
              <a:spLocks noChangeArrowheads="1"/>
            </p:cNvSpPr>
            <p:nvPr/>
          </p:nvSpPr>
          <p:spPr bwMode="auto">
            <a:xfrm>
              <a:off x="385" y="3388"/>
              <a:ext cx="1224" cy="30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/>
                <a:t>无界</a:t>
              </a:r>
              <a:endParaRPr lang="en-US" altLang="zh-CN" sz="2000"/>
            </a:p>
          </p:txBody>
        </p:sp>
        <p:sp>
          <p:nvSpPr>
            <p:cNvPr id="20499" name="Rectangle 16"/>
            <p:cNvSpPr>
              <a:spLocks noChangeArrowheads="1"/>
            </p:cNvSpPr>
            <p:nvPr/>
          </p:nvSpPr>
          <p:spPr bwMode="auto">
            <a:xfrm>
              <a:off x="4057" y="3101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</a:t>
              </a:r>
              <a:endParaRPr lang="en-US" altLang="zh-CN" sz="2000"/>
            </a:p>
          </p:txBody>
        </p:sp>
        <p:sp>
          <p:nvSpPr>
            <p:cNvPr id="20500" name="Rectangle 17"/>
            <p:cNvSpPr>
              <a:spLocks noChangeArrowheads="1"/>
            </p:cNvSpPr>
            <p:nvPr/>
          </p:nvSpPr>
          <p:spPr bwMode="auto">
            <a:xfrm>
              <a:off x="2833" y="3101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</a:t>
              </a:r>
              <a:endParaRPr lang="en-US" altLang="zh-CN" sz="2000"/>
            </a:p>
          </p:txBody>
        </p:sp>
        <p:sp>
          <p:nvSpPr>
            <p:cNvPr id="20501" name="Rectangle 18"/>
            <p:cNvSpPr>
              <a:spLocks noChangeArrowheads="1"/>
            </p:cNvSpPr>
            <p:nvPr/>
          </p:nvSpPr>
          <p:spPr bwMode="auto">
            <a:xfrm>
              <a:off x="1609" y="3101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</a:t>
              </a:r>
            </a:p>
          </p:txBody>
        </p:sp>
        <p:sp>
          <p:nvSpPr>
            <p:cNvPr id="20502" name="Rectangle 19"/>
            <p:cNvSpPr>
              <a:spLocks noChangeArrowheads="1"/>
            </p:cNvSpPr>
            <p:nvPr/>
          </p:nvSpPr>
          <p:spPr bwMode="auto">
            <a:xfrm>
              <a:off x="385" y="3101"/>
              <a:ext cx="122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/>
                <a:t>有限最优解</a:t>
              </a:r>
              <a:endParaRPr lang="en-US" altLang="zh-CN" sz="2000"/>
            </a:p>
          </p:txBody>
        </p:sp>
        <p:sp>
          <p:nvSpPr>
            <p:cNvPr id="20503" name="Rectangle 20"/>
            <p:cNvSpPr>
              <a:spLocks noChangeArrowheads="1"/>
            </p:cNvSpPr>
            <p:nvPr/>
          </p:nvSpPr>
          <p:spPr bwMode="auto">
            <a:xfrm>
              <a:off x="4057" y="2852"/>
              <a:ext cx="1224" cy="24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/>
                <a:t>不可行</a:t>
              </a:r>
              <a:endParaRPr lang="en-US" altLang="zh-CN" sz="2000"/>
            </a:p>
          </p:txBody>
        </p:sp>
        <p:sp>
          <p:nvSpPr>
            <p:cNvPr id="20504" name="Rectangle 21"/>
            <p:cNvSpPr>
              <a:spLocks noChangeArrowheads="1"/>
            </p:cNvSpPr>
            <p:nvPr/>
          </p:nvSpPr>
          <p:spPr bwMode="auto">
            <a:xfrm>
              <a:off x="2833" y="2852"/>
              <a:ext cx="1224" cy="24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/>
                <a:t>无界</a:t>
              </a:r>
              <a:endParaRPr lang="en-US" altLang="zh-CN" sz="2000"/>
            </a:p>
          </p:txBody>
        </p:sp>
        <p:sp>
          <p:nvSpPr>
            <p:cNvPr id="20505" name="Rectangle 22"/>
            <p:cNvSpPr>
              <a:spLocks noChangeArrowheads="1"/>
            </p:cNvSpPr>
            <p:nvPr/>
          </p:nvSpPr>
          <p:spPr bwMode="auto">
            <a:xfrm>
              <a:off x="1609" y="2852"/>
              <a:ext cx="1224" cy="24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zh-CN" altLang="en-US" sz="2000"/>
                <a:t>有限最优解</a:t>
              </a:r>
              <a:endParaRPr lang="en-US" altLang="zh-CN" sz="2000"/>
            </a:p>
          </p:txBody>
        </p:sp>
        <p:sp>
          <p:nvSpPr>
            <p:cNvPr id="20506" name="Rectangle 23"/>
            <p:cNvSpPr>
              <a:spLocks noChangeArrowheads="1"/>
            </p:cNvSpPr>
            <p:nvPr/>
          </p:nvSpPr>
          <p:spPr bwMode="auto">
            <a:xfrm>
              <a:off x="385" y="2852"/>
              <a:ext cx="1224" cy="24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zh-CN" sz="2000"/>
                <a:t>P                      D</a:t>
              </a:r>
            </a:p>
          </p:txBody>
        </p:sp>
        <p:sp>
          <p:nvSpPr>
            <p:cNvPr id="20507" name="Line 24"/>
            <p:cNvSpPr>
              <a:spLocks noChangeShapeType="1"/>
            </p:cNvSpPr>
            <p:nvPr/>
          </p:nvSpPr>
          <p:spPr bwMode="auto">
            <a:xfrm>
              <a:off x="385" y="2852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8" name="Line 25"/>
            <p:cNvSpPr>
              <a:spLocks noChangeShapeType="1"/>
            </p:cNvSpPr>
            <p:nvPr/>
          </p:nvSpPr>
          <p:spPr bwMode="auto">
            <a:xfrm>
              <a:off x="385" y="3101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9" name="Line 26"/>
            <p:cNvSpPr>
              <a:spLocks noChangeShapeType="1"/>
            </p:cNvSpPr>
            <p:nvPr/>
          </p:nvSpPr>
          <p:spPr bwMode="auto">
            <a:xfrm>
              <a:off x="385" y="3388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0" name="Line 27"/>
            <p:cNvSpPr>
              <a:spLocks noChangeShapeType="1"/>
            </p:cNvSpPr>
            <p:nvPr/>
          </p:nvSpPr>
          <p:spPr bwMode="auto">
            <a:xfrm>
              <a:off x="385" y="3688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1" name="Line 28"/>
            <p:cNvSpPr>
              <a:spLocks noChangeShapeType="1"/>
            </p:cNvSpPr>
            <p:nvPr/>
          </p:nvSpPr>
          <p:spPr bwMode="auto">
            <a:xfrm>
              <a:off x="385" y="3975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2" name="Line 29"/>
            <p:cNvSpPr>
              <a:spLocks noChangeShapeType="1"/>
            </p:cNvSpPr>
            <p:nvPr/>
          </p:nvSpPr>
          <p:spPr bwMode="auto">
            <a:xfrm>
              <a:off x="385" y="2852"/>
              <a:ext cx="0" cy="24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3" name="Line 30"/>
            <p:cNvSpPr>
              <a:spLocks noChangeShapeType="1"/>
            </p:cNvSpPr>
            <p:nvPr/>
          </p:nvSpPr>
          <p:spPr bwMode="auto">
            <a:xfrm>
              <a:off x="1609" y="2852"/>
              <a:ext cx="0" cy="1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4" name="Line 31"/>
            <p:cNvSpPr>
              <a:spLocks noChangeShapeType="1"/>
            </p:cNvSpPr>
            <p:nvPr/>
          </p:nvSpPr>
          <p:spPr bwMode="auto">
            <a:xfrm>
              <a:off x="2833" y="2852"/>
              <a:ext cx="0" cy="1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5" name="Line 32"/>
            <p:cNvSpPr>
              <a:spLocks noChangeShapeType="1"/>
            </p:cNvSpPr>
            <p:nvPr/>
          </p:nvSpPr>
          <p:spPr bwMode="auto">
            <a:xfrm>
              <a:off x="4057" y="2852"/>
              <a:ext cx="0" cy="1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6" name="Line 33"/>
            <p:cNvSpPr>
              <a:spLocks noChangeShapeType="1"/>
            </p:cNvSpPr>
            <p:nvPr/>
          </p:nvSpPr>
          <p:spPr bwMode="auto">
            <a:xfrm>
              <a:off x="5281" y="2852"/>
              <a:ext cx="0" cy="24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7" name="Line 34"/>
            <p:cNvSpPr>
              <a:spLocks noChangeShapeType="1"/>
            </p:cNvSpPr>
            <p:nvPr/>
          </p:nvSpPr>
          <p:spPr bwMode="auto">
            <a:xfrm>
              <a:off x="1609" y="2852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8" name="Line 35"/>
            <p:cNvSpPr>
              <a:spLocks noChangeShapeType="1"/>
            </p:cNvSpPr>
            <p:nvPr/>
          </p:nvSpPr>
          <p:spPr bwMode="auto">
            <a:xfrm>
              <a:off x="385" y="310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9" name="Line 36"/>
            <p:cNvSpPr>
              <a:spLocks noChangeShapeType="1"/>
            </p:cNvSpPr>
            <p:nvPr/>
          </p:nvSpPr>
          <p:spPr bwMode="auto">
            <a:xfrm>
              <a:off x="2833" y="2852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0" name="Line 37"/>
            <p:cNvSpPr>
              <a:spLocks noChangeShapeType="1"/>
            </p:cNvSpPr>
            <p:nvPr/>
          </p:nvSpPr>
          <p:spPr bwMode="auto">
            <a:xfrm>
              <a:off x="4057" y="2852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1" name="Line 38"/>
            <p:cNvSpPr>
              <a:spLocks noChangeShapeType="1"/>
            </p:cNvSpPr>
            <p:nvPr/>
          </p:nvSpPr>
          <p:spPr bwMode="auto">
            <a:xfrm>
              <a:off x="5281" y="310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2" name="Line 39"/>
            <p:cNvSpPr>
              <a:spLocks noChangeShapeType="1"/>
            </p:cNvSpPr>
            <p:nvPr/>
          </p:nvSpPr>
          <p:spPr bwMode="auto">
            <a:xfrm>
              <a:off x="385" y="3388"/>
              <a:ext cx="0" cy="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3" name="Line 40"/>
            <p:cNvSpPr>
              <a:spLocks noChangeShapeType="1"/>
            </p:cNvSpPr>
            <p:nvPr/>
          </p:nvSpPr>
          <p:spPr bwMode="auto">
            <a:xfrm>
              <a:off x="5281" y="3388"/>
              <a:ext cx="0" cy="3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4" name="Line 41"/>
            <p:cNvSpPr>
              <a:spLocks noChangeShapeType="1"/>
            </p:cNvSpPr>
            <p:nvPr/>
          </p:nvSpPr>
          <p:spPr bwMode="auto">
            <a:xfrm>
              <a:off x="385" y="368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5" name="Line 42"/>
            <p:cNvSpPr>
              <a:spLocks noChangeShapeType="1"/>
            </p:cNvSpPr>
            <p:nvPr/>
          </p:nvSpPr>
          <p:spPr bwMode="auto">
            <a:xfrm>
              <a:off x="5281" y="368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6" name="Line 43"/>
            <p:cNvSpPr>
              <a:spLocks noChangeShapeType="1"/>
            </p:cNvSpPr>
            <p:nvPr/>
          </p:nvSpPr>
          <p:spPr bwMode="auto">
            <a:xfrm>
              <a:off x="1609" y="3975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7" name="Line 44"/>
            <p:cNvSpPr>
              <a:spLocks noChangeShapeType="1"/>
            </p:cNvSpPr>
            <p:nvPr/>
          </p:nvSpPr>
          <p:spPr bwMode="auto">
            <a:xfrm>
              <a:off x="2833" y="3975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8" name="Line 45"/>
            <p:cNvSpPr>
              <a:spLocks noChangeShapeType="1"/>
            </p:cNvSpPr>
            <p:nvPr/>
          </p:nvSpPr>
          <p:spPr bwMode="auto">
            <a:xfrm>
              <a:off x="4057" y="3975"/>
              <a:ext cx="122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9" name="Line 46"/>
            <p:cNvSpPr>
              <a:spLocks noChangeShapeType="1"/>
            </p:cNvSpPr>
            <p:nvPr/>
          </p:nvSpPr>
          <p:spPr bwMode="auto">
            <a:xfrm rot="-123408">
              <a:off x="385" y="2840"/>
              <a:ext cx="1225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679" name="矩形 47"/>
          <p:cNvSpPr>
            <a:spLocks noChangeArrowheads="1"/>
          </p:cNvSpPr>
          <p:nvPr/>
        </p:nvSpPr>
        <p:spPr bwMode="auto">
          <a:xfrm>
            <a:off x="571500" y="3429000"/>
            <a:ext cx="79295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定理</a:t>
            </a:r>
            <a:r>
              <a:rPr lang="en-US" altLang="zh-CN" sz="2800" b="1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 设原问题</a:t>
            </a:r>
            <a:r>
              <a:rPr lang="en-US" altLang="zh-CN" sz="2800" b="1" dirty="0">
                <a:solidFill>
                  <a:srgbClr val="000000"/>
                </a:solidFill>
                <a:sym typeface="Symbol" panose="05050102010706020507" pitchFamily="18" charset="2"/>
              </a:rPr>
              <a:t>(1)</a:t>
            </a:r>
            <a:r>
              <a:rPr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和对偶问题</a:t>
            </a:r>
            <a:r>
              <a:rPr lang="en-US" altLang="zh-CN" sz="2800" b="1" dirty="0">
                <a:solidFill>
                  <a:srgbClr val="000000"/>
                </a:solidFill>
                <a:sym typeface="Symbol" panose="05050102010706020507" pitchFamily="18" charset="2"/>
              </a:rPr>
              <a:t>(2)</a:t>
            </a:r>
            <a:r>
              <a:rPr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中有一个问题存在最优解，则另一个问题也存在最优解，且这两个问题的最优目标函数值相等。</a:t>
            </a:r>
            <a:endParaRPr lang="en-US" altLang="zh-CN" sz="2800" b="1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28680" name="矩形 49"/>
          <p:cNvSpPr>
            <a:spLocks noChangeArrowheads="1"/>
          </p:cNvSpPr>
          <p:nvPr/>
        </p:nvSpPr>
        <p:spPr bwMode="auto">
          <a:xfrm>
            <a:off x="571500" y="4929188"/>
            <a:ext cx="77152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证明：设原问题</a:t>
            </a:r>
            <a:r>
              <a:rPr lang="en-US" altLang="zh-CN" sz="2800" b="1" dirty="0">
                <a:solidFill>
                  <a:srgbClr val="000000"/>
                </a:solidFill>
                <a:sym typeface="Symbol" panose="05050102010706020507" pitchFamily="18" charset="2"/>
              </a:rPr>
              <a:t>(1)</a:t>
            </a:r>
            <a:r>
              <a:rPr lang="zh-CN" altLang="en-US" sz="2800" b="1" dirty="0">
                <a:solidFill>
                  <a:srgbClr val="000000"/>
                </a:solidFill>
                <a:sym typeface="Symbol" panose="05050102010706020507" pitchFamily="18" charset="2"/>
              </a:rPr>
              <a:t>存在最优解。引进松弛变量，将其写成等价形式：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86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714930"/>
              </p:ext>
            </p:extLst>
          </p:nvPr>
        </p:nvGraphicFramePr>
        <p:xfrm>
          <a:off x="2451100" y="1143000"/>
          <a:ext cx="3506788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" name="Equation" r:id="rId3" imgW="1409400" imgH="660240" progId="Equation.DSMT4">
                  <p:embed/>
                </p:oleObj>
              </mc:Choice>
              <mc:Fallback>
                <p:oleObj name="Equation" r:id="rId3" imgW="1409400" imgH="660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143000"/>
                        <a:ext cx="3506788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285750" y="2928938"/>
            <a:ext cx="754565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latin typeface="+mn-ea"/>
                <a:ea typeface="+mn-ea"/>
                <a:cs typeface="+mj-cs"/>
              </a:rPr>
              <a:t>由于</a:t>
            </a:r>
            <a:r>
              <a:rPr lang="en-US" altLang="zh-CN" sz="2800" kern="0" dirty="0">
                <a:latin typeface="+mn-ea"/>
                <a:ea typeface="+mn-ea"/>
                <a:cs typeface="+mj-cs"/>
              </a:rPr>
              <a:t>(9)</a:t>
            </a:r>
            <a:r>
              <a:rPr lang="zh-CN" altLang="en-US" sz="2800" kern="0" dirty="0">
                <a:latin typeface="+mn-ea"/>
                <a:ea typeface="+mn-ea"/>
                <a:cs typeface="+mj-cs"/>
              </a:rPr>
              <a:t>存在最优解，因此能用单纯形方法求得</a:t>
            </a:r>
            <a:endParaRPr lang="en-US" altLang="zh-CN" sz="2800" kern="0" dirty="0">
              <a:latin typeface="+mn-ea"/>
              <a:ea typeface="+mn-ea"/>
              <a:cs typeface="+mj-cs"/>
            </a:endParaRPr>
          </a:p>
          <a:p>
            <a:pPr eaLnBrk="1" hangingPunct="1">
              <a:defRPr/>
            </a:pPr>
            <a:r>
              <a:rPr lang="zh-CN" altLang="en-US" sz="2800" kern="0" dirty="0">
                <a:latin typeface="+mn-ea"/>
                <a:ea typeface="+mn-ea"/>
                <a:cs typeface="+mj-cs"/>
              </a:rPr>
              <a:t>一个最优基本可行解。 不妨设此最优解为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4099" name="Object 10"/>
          <p:cNvGraphicFramePr>
            <a:graphicFrameLocks noChangeAspect="1"/>
          </p:cNvGraphicFramePr>
          <p:nvPr/>
        </p:nvGraphicFramePr>
        <p:xfrm>
          <a:off x="2143125" y="3857625"/>
          <a:ext cx="30718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9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857625"/>
                        <a:ext cx="3071813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571500" y="4429125"/>
            <a:ext cx="661670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+mn-ea"/>
                <a:ea typeface="+mn-ea"/>
              </a:rPr>
              <a:t>相应的最优基为</a:t>
            </a:r>
            <a:r>
              <a:rPr lang="en-US" altLang="zh-CN" sz="2800" kern="0" dirty="0">
                <a:solidFill>
                  <a:srgbClr val="000000"/>
                </a:solidFill>
                <a:latin typeface="+mn-ea"/>
                <a:ea typeface="+mn-ea"/>
              </a:rPr>
              <a:t>B.</a:t>
            </a:r>
            <a:r>
              <a:rPr lang="zh-CN" altLang="en-US" sz="2800" kern="0" dirty="0">
                <a:solidFill>
                  <a:srgbClr val="000000"/>
                </a:solidFill>
                <a:latin typeface="+mn-ea"/>
                <a:ea typeface="+mn-ea"/>
              </a:rPr>
              <a:t>此时所有判别数满足：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410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21067"/>
              </p:ext>
            </p:extLst>
          </p:nvPr>
        </p:nvGraphicFramePr>
        <p:xfrm>
          <a:off x="2376488" y="5143500"/>
          <a:ext cx="46291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0" name="Equation" r:id="rId7" imgW="1828800" imgH="253800" progId="Equation.DSMT4">
                  <p:embed/>
                </p:oleObj>
              </mc:Choice>
              <mc:Fallback>
                <p:oleObj name="Equation" r:id="rId7" imgW="1828800" imgH="253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5143500"/>
                        <a:ext cx="46291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127825"/>
              </p:ext>
            </p:extLst>
          </p:nvPr>
        </p:nvGraphicFramePr>
        <p:xfrm>
          <a:off x="622390" y="1050533"/>
          <a:ext cx="793115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8" name="Equation" r:id="rId3" imgW="4012920" imgH="939600" progId="Equation.DSMT4">
                  <p:embed/>
                </p:oleObj>
              </mc:Choice>
              <mc:Fallback>
                <p:oleObj name="Equation" r:id="rId3" imgW="4012920" imgH="939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90" y="1050533"/>
                        <a:ext cx="7931150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642938" y="30003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即</a:t>
            </a:r>
          </a:p>
        </p:txBody>
      </p:sp>
      <p:graphicFrame>
        <p:nvGraphicFramePr>
          <p:cNvPr id="51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759664"/>
              </p:ext>
            </p:extLst>
          </p:nvPr>
        </p:nvGraphicFramePr>
        <p:xfrm>
          <a:off x="3235325" y="3038475"/>
          <a:ext cx="3937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9" name="Equation" r:id="rId5" imgW="1574640" imgH="228600" progId="Equation.DSMT4">
                  <p:embed/>
                </p:oleObj>
              </mc:Choice>
              <mc:Fallback>
                <p:oleObj name="Equation" r:id="rId5" imgW="157464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3038475"/>
                        <a:ext cx="3937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24"/>
          <p:cNvGraphicFramePr>
            <a:graphicFrameLocks noChangeAspect="1"/>
          </p:cNvGraphicFramePr>
          <p:nvPr/>
        </p:nvGraphicFramePr>
        <p:xfrm>
          <a:off x="3929063" y="4500563"/>
          <a:ext cx="13573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0" name="Equation" r:id="rId7" imgW="774065" imgH="228600" progId="Equation.DSMT4">
                  <p:embed/>
                </p:oleObj>
              </mc:Choice>
              <mc:Fallback>
                <p:oleObj name="Equation" r:id="rId7" imgW="774065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4500563"/>
                        <a:ext cx="13573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17"/>
          <p:cNvSpPr>
            <a:spLocks noChangeArrowheads="1"/>
          </p:cNvSpPr>
          <p:nvPr/>
        </p:nvSpPr>
        <p:spPr bwMode="auto">
          <a:xfrm>
            <a:off x="500063" y="3857625"/>
            <a:ext cx="7858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把所有松弛变量在基Ｂ下对应的判别数所满足的条件</a:t>
            </a:r>
            <a:r>
              <a:rPr lang="en-US" altLang="zh-CN" sz="2400" dirty="0"/>
              <a:t>(10)</a:t>
            </a:r>
            <a:r>
              <a:rPr lang="zh-CN" altLang="en-US" sz="2400" dirty="0"/>
              <a:t>用矩阵表示</a:t>
            </a:r>
            <a:r>
              <a:rPr lang="en-US" altLang="zh-CN" sz="2400" dirty="0"/>
              <a:t>,</a:t>
            </a:r>
            <a:r>
              <a:rPr lang="zh-CN" altLang="en-US" sz="2400" dirty="0"/>
              <a:t>得 </a:t>
            </a:r>
          </a:p>
        </p:txBody>
      </p:sp>
      <p:graphicFrame>
        <p:nvGraphicFramePr>
          <p:cNvPr id="512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504681"/>
              </p:ext>
            </p:extLst>
          </p:nvPr>
        </p:nvGraphicFramePr>
        <p:xfrm>
          <a:off x="1019175" y="5143500"/>
          <a:ext cx="64912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1" name="Equation" r:id="rId9" imgW="2565360" imgH="228600" progId="Equation.DSMT4">
                  <p:embed/>
                </p:oleObj>
              </mc:Choice>
              <mc:Fallback>
                <p:oleObj name="Equation" r:id="rId9" imgW="256536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5143500"/>
                        <a:ext cx="64912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475676"/>
              </p:ext>
            </p:extLst>
          </p:nvPr>
        </p:nvGraphicFramePr>
        <p:xfrm>
          <a:off x="448870" y="4397910"/>
          <a:ext cx="7915275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0" name="Equation" r:id="rId4" imgW="3543120" imgH="698400" progId="Equation.DSMT4">
                  <p:embed/>
                </p:oleObj>
              </mc:Choice>
              <mc:Fallback>
                <p:oleObj name="Equation" r:id="rId4" imgW="3543120" imgH="698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870" y="4397910"/>
                        <a:ext cx="7915275" cy="155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023888"/>
              </p:ext>
            </p:extLst>
          </p:nvPr>
        </p:nvGraphicFramePr>
        <p:xfrm>
          <a:off x="525944" y="1078715"/>
          <a:ext cx="7858125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1" name="Equation" r:id="rId6" imgW="3530520" imgH="1422360" progId="Equation.DSMT4">
                  <p:embed/>
                </p:oleObj>
              </mc:Choice>
              <mc:Fallback>
                <p:oleObj name="Equation" r:id="rId6" imgW="3530520" imgH="1422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44" y="1078715"/>
                        <a:ext cx="7858125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304800" y="1066800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ea typeface="楷体_GB2312" panose="02010609030101010101" pitchFamily="49" charset="-122"/>
              </a:rPr>
              <a:t>互补松弛性质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1" name="Object 10"/>
              <p:cNvSpPr txBox="1"/>
              <p:nvPr/>
            </p:nvSpPr>
            <p:spPr bwMode="auto">
              <a:xfrm>
                <a:off x="518145" y="1648351"/>
                <a:ext cx="8114822" cy="43731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定理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互补松驰定理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分别是原始问题（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）和对偶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问题（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的可行解，则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都是相应问题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的最优解当且仅当下述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条件成立：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原始互补松驰条件：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对每一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：要么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，要么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对偶互补松驰条件：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对每一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：要么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，要么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717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45" y="1648351"/>
                <a:ext cx="8114822" cy="4373149"/>
              </a:xfrm>
              <a:prstGeom prst="rect">
                <a:avLst/>
              </a:prstGeom>
              <a:blipFill>
                <a:blip r:embed="rId3"/>
                <a:stretch>
                  <a:fillRect l="-676" r="-225" b="-62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229933"/>
              </p:ext>
            </p:extLst>
          </p:nvPr>
        </p:nvGraphicFramePr>
        <p:xfrm>
          <a:off x="584989" y="1254503"/>
          <a:ext cx="8135938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Equation" r:id="rId3" imgW="3644640" imgH="1600200" progId="Equation.DSMT4">
                  <p:embed/>
                </p:oleObj>
              </mc:Choice>
              <mc:Fallback>
                <p:oleObj name="Equation" r:id="rId3" imgW="3644640" imgH="1600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89" y="1254503"/>
                        <a:ext cx="8135938" cy="357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28625" y="1071563"/>
            <a:ext cx="33874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例</a:t>
            </a:r>
            <a:r>
              <a:rPr lang="en-US" altLang="zh-CN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3 </a:t>
            </a: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求解如下</a:t>
            </a:r>
            <a:r>
              <a:rPr lang="en-US" altLang="zh-CN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LP</a:t>
            </a: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问题</a:t>
            </a:r>
            <a:endParaRPr lang="zh-CN" altLang="en-US" sz="2800" dirty="0"/>
          </a:p>
        </p:txBody>
      </p:sp>
      <p:graphicFrame>
        <p:nvGraphicFramePr>
          <p:cNvPr id="26631" name="Object 10"/>
          <p:cNvGraphicFramePr>
            <a:graphicFrameLocks noChangeAspect="1"/>
          </p:cNvGraphicFramePr>
          <p:nvPr/>
        </p:nvGraphicFramePr>
        <p:xfrm>
          <a:off x="928688" y="1857375"/>
          <a:ext cx="3286125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tion" r:id="rId3" imgW="1219200" imgH="914400" progId="Equation.DSMT4">
                  <p:embed/>
                </p:oleObj>
              </mc:Choice>
              <mc:Fallback>
                <p:oleObj name="Equation" r:id="rId3" imgW="1219200" imgH="914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857375"/>
                        <a:ext cx="3286125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6266135" y="1054893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对偶问题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33" name="Object 11"/>
              <p:cNvSpPr txBox="1"/>
              <p:nvPr/>
            </p:nvSpPr>
            <p:spPr bwMode="auto">
              <a:xfrm>
                <a:off x="5508624" y="1719263"/>
                <a:ext cx="3169031" cy="2249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 3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63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8624" y="1719263"/>
                <a:ext cx="3169031" cy="2249233"/>
              </a:xfrm>
              <a:prstGeom prst="rect">
                <a:avLst/>
              </a:prstGeom>
              <a:blipFill rotWithShape="1">
                <a:blip r:embed="rId5"/>
                <a:stretch>
                  <a:fillRect l="-20" t="-14" r="12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/>
      <p:bldP spid="266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矩形 9"/>
          <p:cNvSpPr>
            <a:spLocks noChangeArrowheads="1"/>
          </p:cNvSpPr>
          <p:nvPr/>
        </p:nvSpPr>
        <p:spPr bwMode="auto">
          <a:xfrm>
            <a:off x="500063" y="1857375"/>
            <a:ext cx="80724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下用互补松弛条件求原问题的最优解。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注意到在最优解</a:t>
            </a:r>
            <a:r>
              <a:rPr lang="en-US" altLang="zh-CN" sz="2400" dirty="0"/>
              <a:t>w</a:t>
            </a:r>
            <a:r>
              <a:rPr lang="zh-CN" altLang="en-US" sz="2400" dirty="0"/>
              <a:t>*处对偶问题的第</a:t>
            </a:r>
            <a:r>
              <a:rPr lang="en-US" altLang="zh-CN" sz="2400" dirty="0"/>
              <a:t>3</a:t>
            </a:r>
            <a:r>
              <a:rPr lang="zh-CN" altLang="en-US" sz="2400" dirty="0"/>
              <a:t>个约束为严格不等号，故原问题的</a:t>
            </a:r>
            <a:r>
              <a:rPr lang="en-US" altLang="zh-CN" sz="2400" dirty="0"/>
              <a:t>x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=0</a:t>
            </a:r>
            <a:r>
              <a:rPr lang="zh-CN" altLang="en-US" sz="2400" dirty="0"/>
              <a:t>，又 对偶最优解的两个分量均为正数，故对应于原问题的两个约束均取等号。</a:t>
            </a:r>
          </a:p>
        </p:txBody>
      </p:sp>
      <p:graphicFrame>
        <p:nvGraphicFramePr>
          <p:cNvPr id="27655" name="Object 10"/>
          <p:cNvGraphicFramePr>
            <a:graphicFrameLocks noChangeAspect="1"/>
          </p:cNvGraphicFramePr>
          <p:nvPr/>
        </p:nvGraphicFramePr>
        <p:xfrm>
          <a:off x="2143125" y="3429000"/>
          <a:ext cx="3148013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name="Equation" r:id="rId3" imgW="1168400" imgH="457200" progId="Equation.DSMT4">
                  <p:embed/>
                </p:oleObj>
              </mc:Choice>
              <mc:Fallback>
                <p:oleObj name="Equation" r:id="rId3" imgW="11684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429000"/>
                        <a:ext cx="3148013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矩形 11"/>
          <p:cNvSpPr>
            <a:spLocks noChangeArrowheads="1"/>
          </p:cNvSpPr>
          <p:nvPr/>
        </p:nvSpPr>
        <p:spPr bwMode="auto">
          <a:xfrm>
            <a:off x="785813" y="4786313"/>
            <a:ext cx="5900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联立</a:t>
            </a:r>
            <a:r>
              <a:rPr lang="en-US" altLang="zh-CN" sz="2400" dirty="0">
                <a:solidFill>
                  <a:srgbClr val="000000"/>
                </a:solidFill>
              </a:rPr>
              <a:t>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3</a:t>
            </a:r>
            <a:r>
              <a:rPr lang="en-US" altLang="zh-CN" sz="2400" dirty="0">
                <a:solidFill>
                  <a:srgbClr val="000000"/>
                </a:solidFill>
              </a:rPr>
              <a:t>=0</a:t>
            </a:r>
            <a:r>
              <a:rPr lang="zh-CN" altLang="en-US" sz="2400" dirty="0">
                <a:solidFill>
                  <a:srgbClr val="000000"/>
                </a:solidFill>
              </a:rPr>
              <a:t>，解上述方程组得</a:t>
            </a:r>
            <a:r>
              <a:rPr lang="en-US" altLang="zh-CN" sz="2400" dirty="0">
                <a:solidFill>
                  <a:srgbClr val="000000"/>
                </a:solidFill>
              </a:rPr>
              <a:t>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=4/7</a:t>
            </a:r>
            <a:r>
              <a:rPr lang="zh-CN" altLang="en-US" sz="2400" dirty="0">
                <a:solidFill>
                  <a:srgbClr val="000000"/>
                </a:solidFill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</a:rPr>
              <a:t>x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=5/7</a:t>
            </a:r>
          </a:p>
        </p:txBody>
      </p:sp>
      <p:sp>
        <p:nvSpPr>
          <p:cNvPr id="27657" name="矩形 12"/>
          <p:cNvSpPr>
            <a:spLocks noChangeArrowheads="1"/>
          </p:cNvSpPr>
          <p:nvPr/>
        </p:nvSpPr>
        <p:spPr bwMode="auto">
          <a:xfrm>
            <a:off x="571500" y="1000125"/>
            <a:ext cx="72374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用图解法求得对偶问题的最优解</a:t>
            </a:r>
            <a:r>
              <a:rPr lang="en-US" altLang="zh-CN" sz="2400">
                <a:solidFill>
                  <a:srgbClr val="000000"/>
                </a:solidFill>
              </a:rPr>
              <a:t>w*=(w</a:t>
            </a:r>
            <a:r>
              <a:rPr lang="en-US" altLang="zh-CN" sz="2400" baseline="-25000">
                <a:solidFill>
                  <a:srgbClr val="000000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</a:rPr>
              <a:t>,w</a:t>
            </a:r>
            <a:r>
              <a:rPr lang="en-US" altLang="zh-CN" sz="2400" baseline="-25000">
                <a:solidFill>
                  <a:srgbClr val="000000"/>
                </a:solidFill>
              </a:rPr>
              <a:t>2</a:t>
            </a:r>
            <a:r>
              <a:rPr lang="en-US" altLang="zh-CN" sz="2400">
                <a:solidFill>
                  <a:srgbClr val="000000"/>
                </a:solidFill>
              </a:rPr>
              <a:t>)=(1/7,11/7),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65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矩形 8"/>
          <p:cNvSpPr>
            <a:spLocks noChangeArrowheads="1"/>
          </p:cNvSpPr>
          <p:nvPr/>
        </p:nvSpPr>
        <p:spPr bwMode="auto">
          <a:xfrm>
            <a:off x="357188" y="1000125"/>
            <a:ext cx="39709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a typeface="楷体_GB2312" panose="02010609030101010101" pitchFamily="49" charset="-122"/>
              </a:rPr>
              <a:t>1</a:t>
            </a:r>
            <a:r>
              <a:rPr lang="zh-CN" altLang="en-US" sz="2800" b="1" dirty="0">
                <a:ea typeface="楷体_GB2312" panose="02010609030101010101" pitchFamily="49" charset="-122"/>
              </a:rPr>
              <a:t>对偶单纯形法基本思想</a:t>
            </a:r>
            <a:endParaRPr lang="zh-CN" altLang="en-US" sz="2800" dirty="0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88481"/>
              </p:ext>
            </p:extLst>
          </p:nvPr>
        </p:nvGraphicFramePr>
        <p:xfrm>
          <a:off x="918823" y="1553502"/>
          <a:ext cx="4156610" cy="2006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" name="Equation" r:id="rId3" imgW="1841400" imgH="888840" progId="Equation.DSMT4">
                  <p:embed/>
                </p:oleObj>
              </mc:Choice>
              <mc:Fallback>
                <p:oleObj name="Equation" r:id="rId3" imgW="1841400" imgH="8888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823" y="1553502"/>
                        <a:ext cx="4156610" cy="2006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119706"/>
              </p:ext>
            </p:extLst>
          </p:nvPr>
        </p:nvGraphicFramePr>
        <p:xfrm>
          <a:off x="678825" y="4039331"/>
          <a:ext cx="7978775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" name="Equation" r:id="rId5" imgW="3593880" imgH="965160" progId="Equation.DSMT4">
                  <p:embed/>
                </p:oleObj>
              </mc:Choice>
              <mc:Fallback>
                <p:oleObj name="Equation" r:id="rId5" imgW="3593880" imgH="965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25" y="4039331"/>
                        <a:ext cx="7978775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楷体_GB2312" panose="02010609030101010101" pitchFamily="49" charset="-122"/>
              </a:rPr>
              <a:t>对偶单纯形法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矩形 6"/>
          <p:cNvSpPr>
            <a:spLocks noChangeArrowheads="1"/>
          </p:cNvSpPr>
          <p:nvPr/>
        </p:nvSpPr>
        <p:spPr bwMode="auto">
          <a:xfrm>
            <a:off x="500063" y="1071563"/>
            <a:ext cx="81438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注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zh-CN" altLang="en-US" sz="2400" dirty="0">
                <a:latin typeface="+mn-ea"/>
                <a:ea typeface="+mn-ea"/>
              </a:rPr>
              <a:t>对偶可行的基本解不一定是原问题的可行解</a:t>
            </a:r>
            <a:r>
              <a:rPr lang="en-US" altLang="zh-CN" sz="2400" dirty="0">
                <a:latin typeface="+mn-ea"/>
                <a:ea typeface="+mn-ea"/>
              </a:rPr>
              <a:t>.</a:t>
            </a:r>
            <a:r>
              <a:rPr lang="zh-CN" altLang="en-US" sz="2400" dirty="0">
                <a:latin typeface="+mn-ea"/>
                <a:ea typeface="+mn-ea"/>
              </a:rPr>
              <a:t>若还是原问题的可行解</a:t>
            </a:r>
            <a:r>
              <a:rPr lang="en-US" altLang="zh-CN" sz="2400" dirty="0">
                <a:latin typeface="+mn-ea"/>
                <a:ea typeface="+mn-ea"/>
              </a:rPr>
              <a:t>,</a:t>
            </a:r>
            <a:r>
              <a:rPr lang="zh-CN" altLang="en-US" sz="2400" dirty="0">
                <a:latin typeface="+mn-ea"/>
                <a:ea typeface="+mn-ea"/>
              </a:rPr>
              <a:t>则此解即为最优解</a:t>
            </a:r>
            <a:r>
              <a:rPr lang="en-US" altLang="zh-CN" sz="2400" dirty="0">
                <a:latin typeface="+mn-ea"/>
                <a:ea typeface="+mn-ea"/>
              </a:rPr>
              <a:t>.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</a:p>
        </p:txBody>
      </p:sp>
      <p:sp>
        <p:nvSpPr>
          <p:cNvPr id="2054" name="矩形 7"/>
          <p:cNvSpPr>
            <a:spLocks noChangeArrowheads="1"/>
          </p:cNvSpPr>
          <p:nvPr/>
        </p:nvSpPr>
        <p:spPr bwMode="auto">
          <a:xfrm>
            <a:off x="642938" y="1928813"/>
            <a:ext cx="79073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   回忆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修正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单纯形法的基本思路是保持原问题的可行性和互补松弛条件下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在它的最优解上寻求对偶问题的可行性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zh-CN" altLang="en-US" sz="24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055" name="矩形 8"/>
          <p:cNvSpPr>
            <a:spLocks noChangeArrowheads="1"/>
          </p:cNvSpPr>
          <p:nvPr/>
        </p:nvSpPr>
        <p:spPr bwMode="auto">
          <a:xfrm>
            <a:off x="692150" y="2955925"/>
            <a:ext cx="7858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类似的</a:t>
            </a:r>
            <a:r>
              <a:rPr lang="en-US" altLang="zh-CN" sz="2400">
                <a:latin typeface="+mn-ea"/>
                <a:ea typeface="+mn-ea"/>
              </a:rPr>
              <a:t>,</a:t>
            </a:r>
            <a:r>
              <a:rPr lang="zh-CN" altLang="en-US" sz="2400">
                <a:latin typeface="+mn-ea"/>
                <a:ea typeface="+mn-ea"/>
              </a:rPr>
              <a:t>对偶单纯形法的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基本思路</a:t>
            </a:r>
            <a:r>
              <a:rPr lang="zh-CN" altLang="en-US" sz="2400">
                <a:latin typeface="+mn-ea"/>
                <a:ea typeface="+mn-ea"/>
              </a:rPr>
              <a:t>是</a:t>
            </a:r>
            <a:r>
              <a:rPr lang="en-US" altLang="zh-CN" sz="2400">
                <a:latin typeface="+mn-ea"/>
                <a:ea typeface="+mn-ea"/>
              </a:rPr>
              <a:t>:</a:t>
            </a:r>
            <a:r>
              <a:rPr lang="zh-CN" altLang="en-US" sz="2400">
                <a:latin typeface="+mn-ea"/>
                <a:ea typeface="+mn-ea"/>
              </a:rPr>
              <a:t>在保持对偶可行性和互补松弛条件下</a:t>
            </a:r>
            <a:r>
              <a:rPr lang="en-US" altLang="zh-CN" sz="2400">
                <a:latin typeface="+mn-ea"/>
                <a:ea typeface="+mn-ea"/>
              </a:rPr>
              <a:t>,</a:t>
            </a:r>
            <a:r>
              <a:rPr lang="zh-CN" altLang="en-US" sz="2400">
                <a:latin typeface="+mn-ea"/>
                <a:ea typeface="+mn-ea"/>
              </a:rPr>
              <a:t>在它的最优解上寻求原问题的可行性</a:t>
            </a:r>
            <a:r>
              <a:rPr lang="en-US" altLang="zh-CN" sz="2400">
                <a:latin typeface="+mn-ea"/>
                <a:ea typeface="+mn-ea"/>
              </a:rPr>
              <a:t>.</a:t>
            </a:r>
            <a:r>
              <a:rPr lang="zh-CN" altLang="en-US" sz="240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857250" y="3786188"/>
          <a:ext cx="666750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Equation" r:id="rId3" imgW="3060700" imgH="977900" progId="Equation.DSMT4">
                  <p:embed/>
                </p:oleObj>
              </mc:Choice>
              <mc:Fallback>
                <p:oleObj name="Equation" r:id="rId3" imgW="3060700" imgH="977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786188"/>
                        <a:ext cx="6667500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2054" grpId="0"/>
      <p:bldP spid="20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4114800" y="3328988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8" name="Equation" r:id="rId3" imgW="434975" imgH="676910" progId="Equation.DSMT4">
                  <p:embed/>
                </p:oleObj>
              </mc:Choice>
              <mc:Fallback>
                <p:oleObj name="Equation" r:id="rId3" imgW="434975" imgH="67691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8988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213537"/>
              </p:ext>
            </p:extLst>
          </p:nvPr>
        </p:nvGraphicFramePr>
        <p:xfrm>
          <a:off x="930275" y="714375"/>
          <a:ext cx="679767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9" name="Equation" r:id="rId5" imgW="2908080" imgH="977760" progId="Equation.DSMT4">
                  <p:embed/>
                </p:oleObj>
              </mc:Choice>
              <mc:Fallback>
                <p:oleObj name="Equation" r:id="rId5" imgW="2908080" imgH="9777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714375"/>
                        <a:ext cx="6797675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621692"/>
              </p:ext>
            </p:extLst>
          </p:nvPr>
        </p:nvGraphicFramePr>
        <p:xfrm>
          <a:off x="642938" y="3025775"/>
          <a:ext cx="7834312" cy="304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0" name="Equation" r:id="rId7" imgW="3797280" imgH="1473120" progId="Equation.DSMT4">
                  <p:embed/>
                </p:oleObj>
              </mc:Choice>
              <mc:Fallback>
                <p:oleObj name="Equation" r:id="rId7" imgW="3797280" imgH="14731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025775"/>
                        <a:ext cx="7834312" cy="304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矩形 7"/>
          <p:cNvSpPr>
            <a:spLocks noChangeArrowheads="1"/>
          </p:cNvSpPr>
          <p:nvPr/>
        </p:nvSpPr>
        <p:spPr bwMode="auto">
          <a:xfrm>
            <a:off x="571500" y="1000125"/>
            <a:ext cx="7858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下面分析如何选取离基变量和进基变量</a:t>
            </a:r>
            <a:r>
              <a:rPr lang="en-US" altLang="zh-CN" sz="2400"/>
              <a:t>.</a:t>
            </a:r>
            <a:r>
              <a:rPr lang="zh-CN" altLang="en-US" sz="2400"/>
              <a:t>设在某次迭代中得到如下表</a:t>
            </a:r>
            <a:r>
              <a:rPr lang="en-US" altLang="zh-CN" sz="2400"/>
              <a:t>:</a:t>
            </a:r>
            <a:endParaRPr lang="zh-CN" altLang="en-US" sz="2400"/>
          </a:p>
        </p:txBody>
      </p:sp>
      <p:grpSp>
        <p:nvGrpSpPr>
          <p:cNvPr id="2" name="组合 24"/>
          <p:cNvGrpSpPr/>
          <p:nvPr/>
        </p:nvGrpSpPr>
        <p:grpSpPr bwMode="auto">
          <a:xfrm>
            <a:off x="357188" y="1928813"/>
            <a:ext cx="8572500" cy="4073525"/>
            <a:chOff x="357158" y="2000240"/>
            <a:chExt cx="8572560" cy="4072760"/>
          </a:xfrm>
        </p:grpSpPr>
        <p:graphicFrame>
          <p:nvGraphicFramePr>
            <p:cNvPr id="31752" name="Object 8"/>
            <p:cNvGraphicFramePr>
              <a:graphicFrameLocks noChangeAspect="1"/>
            </p:cNvGraphicFramePr>
            <p:nvPr/>
          </p:nvGraphicFramePr>
          <p:xfrm>
            <a:off x="412780" y="2000250"/>
            <a:ext cx="8374062" cy="393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4" name="Equation" r:id="rId3" imgW="3619500" imgH="1701800" progId="Equation.DSMT4">
                    <p:embed/>
                  </p:oleObj>
                </mc:Choice>
                <mc:Fallback>
                  <p:oleObj name="Equation" r:id="rId3" imgW="3619500" imgH="1701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780" y="2000250"/>
                          <a:ext cx="8374062" cy="393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1753" name="直接连接符 12"/>
            <p:cNvCxnSpPr>
              <a:cxnSpLocks noChangeShapeType="1"/>
            </p:cNvCxnSpPr>
            <p:nvPr/>
          </p:nvCxnSpPr>
          <p:spPr bwMode="auto">
            <a:xfrm>
              <a:off x="357158" y="2500306"/>
              <a:ext cx="857256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4" name="直接连接符 15"/>
            <p:cNvCxnSpPr>
              <a:cxnSpLocks noChangeShapeType="1"/>
            </p:cNvCxnSpPr>
            <p:nvPr/>
          </p:nvCxnSpPr>
          <p:spPr bwMode="auto">
            <a:xfrm rot="5400000">
              <a:off x="-893007" y="4036223"/>
              <a:ext cx="4071966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5" name="直接连接符 17"/>
            <p:cNvCxnSpPr>
              <a:cxnSpLocks noChangeShapeType="1"/>
            </p:cNvCxnSpPr>
            <p:nvPr/>
          </p:nvCxnSpPr>
          <p:spPr bwMode="auto">
            <a:xfrm rot="5400000">
              <a:off x="5679289" y="4036223"/>
              <a:ext cx="4071966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6" name="直接连接符 19"/>
            <p:cNvCxnSpPr>
              <a:cxnSpLocks noChangeShapeType="1"/>
            </p:cNvCxnSpPr>
            <p:nvPr/>
          </p:nvCxnSpPr>
          <p:spPr bwMode="auto">
            <a:xfrm>
              <a:off x="357158" y="5357826"/>
              <a:ext cx="857256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57" name="矩形 21"/>
            <p:cNvSpPr>
              <a:spLocks noChangeArrowheads="1"/>
            </p:cNvSpPr>
            <p:nvPr/>
          </p:nvSpPr>
          <p:spPr bwMode="auto">
            <a:xfrm>
              <a:off x="357158" y="2000240"/>
              <a:ext cx="8572560" cy="407196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4" name="Object 8"/>
          <p:cNvGraphicFramePr>
            <a:graphicFrameLocks noChangeAspect="1"/>
          </p:cNvGraphicFramePr>
          <p:nvPr/>
        </p:nvGraphicFramePr>
        <p:xfrm>
          <a:off x="428625" y="1071563"/>
          <a:ext cx="50006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0" name="Equation" r:id="rId3" imgW="2247900" imgH="241300" progId="Equation.DSMT4">
                  <p:embed/>
                </p:oleObj>
              </mc:Choice>
              <mc:Fallback>
                <p:oleObj name="Equation" r:id="rId3" imgW="22479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071563"/>
                        <a:ext cx="50006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矩形 8"/>
          <p:cNvSpPr>
            <a:spLocks noChangeArrowheads="1"/>
          </p:cNvSpPr>
          <p:nvPr/>
        </p:nvSpPr>
        <p:spPr bwMode="auto">
          <a:xfrm>
            <a:off x="857250" y="185737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若右端列</a:t>
            </a:r>
          </a:p>
        </p:txBody>
      </p:sp>
      <p:graphicFrame>
        <p:nvGraphicFramePr>
          <p:cNvPr id="32776" name="Object 9"/>
          <p:cNvGraphicFramePr>
            <a:graphicFrameLocks noChangeAspect="1"/>
          </p:cNvGraphicFramePr>
          <p:nvPr/>
        </p:nvGraphicFramePr>
        <p:xfrm>
          <a:off x="2439988" y="1796257"/>
          <a:ext cx="3251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1" name="Equation" r:id="rId5" imgW="1206500" imgH="241300" progId="Equation.DSMT4">
                  <p:embed/>
                </p:oleObj>
              </mc:Choice>
              <mc:Fallback>
                <p:oleObj name="Equation" r:id="rId5" imgW="1206500" imgH="241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1796257"/>
                        <a:ext cx="32512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矩形 10"/>
          <p:cNvSpPr>
            <a:spLocks noChangeArrowheads="1"/>
          </p:cNvSpPr>
          <p:nvPr/>
        </p:nvSpPr>
        <p:spPr bwMode="auto">
          <a:xfrm>
            <a:off x="642938" y="2500313"/>
            <a:ext cx="7786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，则得到最优解，否则现行的基本解是对偶可行的基本解，但不是原问题的可行解。下面考虑如何选取进基和离基变量。</a:t>
            </a:r>
            <a:endParaRPr lang="zh-CN" altLang="en-US" sz="2400" dirty="0"/>
          </a:p>
        </p:txBody>
      </p:sp>
      <p:sp>
        <p:nvSpPr>
          <p:cNvPr id="32778" name="矩形 11"/>
          <p:cNvSpPr>
            <a:spLocks noChangeArrowheads="1"/>
          </p:cNvSpPr>
          <p:nvPr/>
        </p:nvSpPr>
        <p:spPr bwMode="auto">
          <a:xfrm>
            <a:off x="714375" y="3643313"/>
            <a:ext cx="6956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在对偶单纯形法中我们先确定离基变量，显然，让</a:t>
            </a:r>
            <a:endParaRPr lang="zh-CN" altLang="en-US" sz="2400" dirty="0"/>
          </a:p>
        </p:txBody>
      </p:sp>
      <p:graphicFrame>
        <p:nvGraphicFramePr>
          <p:cNvPr id="32779" name="Object 10"/>
          <p:cNvGraphicFramePr>
            <a:graphicFrameLocks noChangeAspect="1"/>
          </p:cNvGraphicFramePr>
          <p:nvPr/>
        </p:nvGraphicFramePr>
        <p:xfrm>
          <a:off x="857250" y="4214813"/>
          <a:ext cx="9239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" name="Equation" r:id="rId7" imgW="342900" imgH="241300" progId="Equation.DSMT4">
                  <p:embed/>
                </p:oleObj>
              </mc:Choice>
              <mc:Fallback>
                <p:oleObj name="Equation" r:id="rId7" imgW="342900" imgH="24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214813"/>
                        <a:ext cx="9239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矩形 13"/>
          <p:cNvSpPr>
            <a:spLocks noChangeArrowheads="1"/>
          </p:cNvSpPr>
          <p:nvPr/>
        </p:nvSpPr>
        <p:spPr bwMode="auto">
          <a:xfrm>
            <a:off x="1928813" y="4286250"/>
            <a:ext cx="52974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对应的基变量</a:t>
            </a:r>
            <a:r>
              <a:rPr lang="en-US" altLang="zh-CN" sz="2400" dirty="0" err="1">
                <a:solidFill>
                  <a:srgbClr val="000000"/>
                </a:solidFill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</a:rPr>
              <a:t>B</a:t>
            </a:r>
            <a:r>
              <a:rPr lang="en-US" altLang="zh-CN" sz="2400" baseline="-25000" dirty="0">
                <a:solidFill>
                  <a:srgbClr val="000000"/>
                </a:solidFill>
              </a:rPr>
              <a:t>(r)</a:t>
            </a:r>
            <a:r>
              <a:rPr lang="zh-CN" altLang="en-US" sz="2400" dirty="0">
                <a:solidFill>
                  <a:srgbClr val="000000"/>
                </a:solidFill>
              </a:rPr>
              <a:t>离基有利，故不妨取</a:t>
            </a:r>
          </a:p>
        </p:txBody>
      </p:sp>
      <p:graphicFrame>
        <p:nvGraphicFramePr>
          <p:cNvPr id="32781" name="Object 11"/>
          <p:cNvGraphicFramePr>
            <a:graphicFrameLocks noChangeAspect="1"/>
          </p:cNvGraphicFramePr>
          <p:nvPr/>
        </p:nvGraphicFramePr>
        <p:xfrm>
          <a:off x="1714500" y="4929188"/>
          <a:ext cx="34290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3" name="Equation" r:id="rId9" imgW="1473200" imgH="241300" progId="Equation.DSMT4">
                  <p:embed/>
                </p:oleObj>
              </mc:Choice>
              <mc:Fallback>
                <p:oleObj name="Equation" r:id="rId9" imgW="14732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929188"/>
                        <a:ext cx="34290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7" grpId="0"/>
      <p:bldP spid="32778" grpId="0"/>
      <p:bldP spid="3278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894754"/>
              </p:ext>
            </p:extLst>
          </p:nvPr>
        </p:nvGraphicFramePr>
        <p:xfrm>
          <a:off x="1960563" y="1643063"/>
          <a:ext cx="55753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2" name="Equation" r:id="rId3" imgW="2831760" imgH="507960" progId="Equation.DSMT4">
                  <p:embed/>
                </p:oleObj>
              </mc:Choice>
              <mc:Fallback>
                <p:oleObj name="Equation" r:id="rId3" imgW="2831760" imgH="507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1643063"/>
                        <a:ext cx="55753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矩形 9"/>
          <p:cNvSpPr>
            <a:spLocks noChangeArrowheads="1"/>
          </p:cNvSpPr>
          <p:nvPr/>
        </p:nvSpPr>
        <p:spPr bwMode="auto">
          <a:xfrm>
            <a:off x="357188" y="1000125"/>
            <a:ext cx="6648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进基变量选取：为了使得对偶可行性保持，必有</a:t>
            </a:r>
          </a:p>
        </p:txBody>
      </p:sp>
      <p:sp>
        <p:nvSpPr>
          <p:cNvPr id="33800" name="矩形 10"/>
          <p:cNvSpPr>
            <a:spLocks noChangeArrowheads="1"/>
          </p:cNvSpPr>
          <p:nvPr/>
        </p:nvSpPr>
        <p:spPr bwMode="auto">
          <a:xfrm>
            <a:off x="539552" y="2824163"/>
            <a:ext cx="7358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则以</a:t>
            </a:r>
            <a:r>
              <a:rPr lang="en-US" altLang="zh-CN" sz="2400" dirty="0" err="1">
                <a:solidFill>
                  <a:srgbClr val="000000"/>
                </a:solidFill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</a:rPr>
              <a:t>k</a:t>
            </a:r>
            <a:r>
              <a:rPr lang="zh-CN" altLang="en-US" sz="2400" dirty="0">
                <a:solidFill>
                  <a:srgbClr val="000000"/>
                </a:solidFill>
              </a:rPr>
              <a:t>为进基变量，以</a:t>
            </a:r>
            <a:r>
              <a:rPr lang="en-US" altLang="zh-CN" sz="2400" dirty="0" err="1">
                <a:solidFill>
                  <a:srgbClr val="000000"/>
                </a:solidFill>
              </a:rPr>
              <a:t>y</a:t>
            </a:r>
            <a:r>
              <a:rPr lang="en-US" altLang="zh-CN" sz="2400" baseline="-25000" dirty="0" err="1">
                <a:solidFill>
                  <a:srgbClr val="000000"/>
                </a:solidFill>
              </a:rPr>
              <a:t>rk</a:t>
            </a:r>
            <a:r>
              <a:rPr lang="zh-CN" altLang="en-US" sz="2400" dirty="0">
                <a:solidFill>
                  <a:srgbClr val="000000"/>
                </a:solidFill>
              </a:rPr>
              <a:t>为主元进行主元消去，实现基的转换，得到新的对偶可行的基本解</a:t>
            </a:r>
            <a:endParaRPr lang="zh-CN" altLang="en-US" sz="24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285750" y="1000125"/>
            <a:ext cx="610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ea typeface="楷体_GB2312" panose="02010609030101010101" pitchFamily="49" charset="-122"/>
              </a:rPr>
              <a:t>下面说明上述转换能改进对偶可行的基本解</a:t>
            </a:r>
            <a:r>
              <a:rPr lang="en-US" altLang="zh-CN" sz="2400">
                <a:ea typeface="楷体_GB2312" panose="02010609030101010101" pitchFamily="49" charset="-122"/>
              </a:rPr>
              <a:t>.</a:t>
            </a:r>
          </a:p>
        </p:txBody>
      </p:sp>
      <p:graphicFrame>
        <p:nvGraphicFramePr>
          <p:cNvPr id="614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501434"/>
              </p:ext>
            </p:extLst>
          </p:nvPr>
        </p:nvGraphicFramePr>
        <p:xfrm>
          <a:off x="1155861" y="3867899"/>
          <a:ext cx="6215062" cy="243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" name="Equation" r:id="rId3" imgW="2844720" imgH="1117440" progId="Equation.DSMT4">
                  <p:embed/>
                </p:oleObj>
              </mc:Choice>
              <mc:Fallback>
                <p:oleObj name="Equation" r:id="rId3" imgW="2844720" imgH="11174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861" y="3867899"/>
                        <a:ext cx="6215062" cy="243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5241"/>
              </p:ext>
            </p:extLst>
          </p:nvPr>
        </p:nvGraphicFramePr>
        <p:xfrm>
          <a:off x="714375" y="1558925"/>
          <a:ext cx="7429500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1" name="Equation" r:id="rId5" imgW="3479760" imgH="698400" progId="Equation.DSMT4">
                  <p:embed/>
                </p:oleObj>
              </mc:Choice>
              <mc:Fallback>
                <p:oleObj name="Equation" r:id="rId5" imgW="3479760" imgH="698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558925"/>
                        <a:ext cx="7429500" cy="149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矩形 8"/>
          <p:cNvSpPr>
            <a:spLocks noChangeArrowheads="1"/>
          </p:cNvSpPr>
          <p:nvPr/>
        </p:nvSpPr>
        <p:spPr bwMode="auto">
          <a:xfrm>
            <a:off x="642938" y="3000375"/>
            <a:ext cx="735806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2)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主元消去后仍然保持对偶可行性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即所有检验数都小于或等于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0(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对极小化问题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315790"/>
              </p:ext>
            </p:extLst>
          </p:nvPr>
        </p:nvGraphicFramePr>
        <p:xfrm>
          <a:off x="1211263" y="1066800"/>
          <a:ext cx="525145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8" name="Equation" r:id="rId3" imgW="2082600" imgH="507960" progId="Equation.DSMT4">
                  <p:embed/>
                </p:oleObj>
              </mc:Choice>
              <mc:Fallback>
                <p:oleObj name="Equation" r:id="rId3" imgW="2082600" imgH="507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066800"/>
                        <a:ext cx="525145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165649"/>
              </p:ext>
            </p:extLst>
          </p:nvPr>
        </p:nvGraphicFramePr>
        <p:xfrm>
          <a:off x="571500" y="2428875"/>
          <a:ext cx="3929063" cy="179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9" name="Equation" r:id="rId5" imgW="1612800" imgH="736560" progId="Equation.DSMT4">
                  <p:embed/>
                </p:oleObj>
              </mc:Choice>
              <mc:Fallback>
                <p:oleObj name="Equation" r:id="rId5" imgW="1612800" imgH="736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2428875"/>
                        <a:ext cx="3929063" cy="179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029083"/>
              </p:ext>
            </p:extLst>
          </p:nvPr>
        </p:nvGraphicFramePr>
        <p:xfrm>
          <a:off x="1146175" y="4214813"/>
          <a:ext cx="658812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0" name="Equation" r:id="rId7" imgW="2654280" imgH="431640" progId="Equation.DSMT4">
                  <p:embed/>
                </p:oleObj>
              </mc:Choice>
              <mc:Fallback>
                <p:oleObj name="Equation" r:id="rId7" imgW="265428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4214813"/>
                        <a:ext cx="6588125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498687"/>
              </p:ext>
            </p:extLst>
          </p:nvPr>
        </p:nvGraphicFramePr>
        <p:xfrm>
          <a:off x="357188" y="929170"/>
          <a:ext cx="7858125" cy="327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8" name="Equation" r:id="rId3" imgW="3962160" imgH="1650960" progId="Equation.DSMT4">
                  <p:embed/>
                </p:oleObj>
              </mc:Choice>
              <mc:Fallback>
                <p:oleObj name="Equation" r:id="rId3" imgW="3962160" imgH="1650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929170"/>
                        <a:ext cx="7858125" cy="327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766008"/>
              </p:ext>
            </p:extLst>
          </p:nvPr>
        </p:nvGraphicFramePr>
        <p:xfrm>
          <a:off x="1093788" y="4000500"/>
          <a:ext cx="36703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9" name="Equation" r:id="rId5" imgW="1739880" imgH="685800" progId="Equation.DSMT4">
                  <p:embed/>
                </p:oleObj>
              </mc:Choice>
              <mc:Fallback>
                <p:oleObj name="Equation" r:id="rId5" imgW="1739880" imgH="685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4000500"/>
                        <a:ext cx="36703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矩形 7"/>
          <p:cNvSpPr>
            <a:spLocks noChangeArrowheads="1"/>
          </p:cNvSpPr>
          <p:nvPr/>
        </p:nvSpPr>
        <p:spPr bwMode="auto">
          <a:xfrm>
            <a:off x="5572125" y="4000500"/>
            <a:ext cx="27146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即对偶问题的目标函数值在迭代过程中单调增</a:t>
            </a:r>
            <a:r>
              <a:rPr lang="en-US" altLang="zh-CN" sz="2400" dirty="0"/>
              <a:t>(</a:t>
            </a:r>
            <a:r>
              <a:rPr lang="zh-CN" altLang="en-US" sz="2400" dirty="0"/>
              <a:t>非减</a:t>
            </a:r>
            <a:r>
              <a:rPr lang="en-US" altLang="zh-CN" sz="2400" dirty="0"/>
              <a:t>).</a:t>
            </a:r>
            <a:endParaRPr lang="zh-CN" altLang="en-US" sz="2400" dirty="0"/>
          </a:p>
        </p:txBody>
      </p:sp>
      <p:sp>
        <p:nvSpPr>
          <p:cNvPr id="8199" name="矩形 9"/>
          <p:cNvSpPr>
            <a:spLocks noChangeArrowheads="1"/>
          </p:cNvSpPr>
          <p:nvPr/>
        </p:nvSpPr>
        <p:spPr bwMode="auto">
          <a:xfrm>
            <a:off x="428625" y="5500688"/>
            <a:ext cx="8178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对偶问题的可行解</a:t>
            </a:r>
            <a:r>
              <a:rPr lang="en-US" altLang="zh-CN" sz="2400" dirty="0"/>
              <a:t>w</a:t>
            </a:r>
            <a:r>
              <a:rPr lang="zh-CN" altLang="en-US" sz="2400" dirty="0"/>
              <a:t>越来越接近最优解</a:t>
            </a:r>
            <a:r>
              <a:rPr lang="en-US" altLang="zh-CN" sz="2400" dirty="0"/>
              <a:t>.</a:t>
            </a:r>
            <a:r>
              <a:rPr lang="zh-CN" altLang="en-US" sz="2400" dirty="0"/>
              <a:t>原问题的对偶可行的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基本解将向着满足可行性方向转化而接近原问题最优解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  <p:bldP spid="819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29503"/>
              </p:ext>
            </p:extLst>
          </p:nvPr>
        </p:nvGraphicFramePr>
        <p:xfrm>
          <a:off x="385958" y="939645"/>
          <a:ext cx="85026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2" name="Equation" r:id="rId3" imgW="4305300" imgH="685800" progId="Equation.DSMT4">
                  <p:embed/>
                </p:oleObj>
              </mc:Choice>
              <mc:Fallback>
                <p:oleObj name="Equation" r:id="rId3" imgW="4305300" imgH="685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58" y="939645"/>
                        <a:ext cx="850265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062457"/>
              </p:ext>
            </p:extLst>
          </p:nvPr>
        </p:nvGraphicFramePr>
        <p:xfrm>
          <a:off x="500063" y="2320238"/>
          <a:ext cx="8345487" cy="407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3" name="Equation" r:id="rId5" imgW="4191000" imgH="2044700" progId="Equation.DSMT4">
                  <p:embed/>
                </p:oleObj>
              </mc:Choice>
              <mc:Fallback>
                <p:oleObj name="Equation" r:id="rId5" imgW="4191000" imgH="2044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320238"/>
                        <a:ext cx="8345487" cy="4071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85750" y="928688"/>
            <a:ext cx="509428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例</a:t>
            </a:r>
            <a:r>
              <a:rPr lang="en-US" altLang="zh-CN" sz="2800" b="1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4</a:t>
            </a:r>
            <a:r>
              <a:rPr lang="zh-CN" altLang="en-US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用对偶单纯形法求解下述</a:t>
            </a:r>
            <a:r>
              <a:rPr lang="en-US" altLang="zh-CN" sz="2800" kern="0" dirty="0">
                <a:latin typeface="Times New Roman" panose="02020603050405020304"/>
                <a:ea typeface="楷体_GB2312" panose="02010609030101010101" pitchFamily="49" charset="-122"/>
                <a:cs typeface="+mj-cs"/>
              </a:rPr>
              <a:t>LP</a:t>
            </a:r>
            <a:endParaRPr lang="zh-CN" altLang="en-US" sz="2800" dirty="0"/>
          </a:p>
        </p:txBody>
      </p:sp>
      <p:graphicFrame>
        <p:nvGraphicFramePr>
          <p:cNvPr id="38919" name="Object 9"/>
          <p:cNvGraphicFramePr>
            <a:graphicFrameLocks noChangeAspect="1"/>
          </p:cNvGraphicFramePr>
          <p:nvPr/>
        </p:nvGraphicFramePr>
        <p:xfrm>
          <a:off x="1714500" y="1357313"/>
          <a:ext cx="3786188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6" name="Equation" r:id="rId3" imgW="1612900" imgH="914400" progId="Equation.DSMT4">
                  <p:embed/>
                </p:oleObj>
              </mc:Choice>
              <mc:Fallback>
                <p:oleObj name="Equation" r:id="rId3" imgW="1612900" imgH="914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357313"/>
                        <a:ext cx="3786188" cy="214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85750" y="3571875"/>
            <a:ext cx="45720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解：先化为标准型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graphicFrame>
        <p:nvGraphicFramePr>
          <p:cNvPr id="38921" name="Object 10"/>
          <p:cNvGraphicFramePr>
            <a:graphicFrameLocks noChangeAspect="1"/>
          </p:cNvGraphicFramePr>
          <p:nvPr/>
        </p:nvGraphicFramePr>
        <p:xfrm>
          <a:off x="3500438" y="3714750"/>
          <a:ext cx="4286250" cy="243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7" name="Equation" r:id="rId5" imgW="1612900" imgH="914400" progId="Equation.DSMT4">
                  <p:embed/>
                </p:oleObj>
              </mc:Choice>
              <mc:Fallback>
                <p:oleObj name="Equation" r:id="rId5" imgW="1612900" imgH="914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3714750"/>
                        <a:ext cx="4286250" cy="243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 bwMode="auto">
          <a:xfrm>
            <a:off x="142875" y="3929063"/>
            <a:ext cx="8001000" cy="500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4071938" y="2714625"/>
            <a:ext cx="714375" cy="2643188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0242" name="Object 6"/>
          <p:cNvGraphicFramePr>
            <a:graphicFrameLocks noChangeAspect="1"/>
          </p:cNvGraphicFramePr>
          <p:nvPr/>
        </p:nvGraphicFramePr>
        <p:xfrm>
          <a:off x="428625" y="857250"/>
          <a:ext cx="7786688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" name="Equation" r:id="rId3" imgW="3289300" imgH="711200" progId="Equation.DSMT4">
                  <p:embed/>
                </p:oleObj>
              </mc:Choice>
              <mc:Fallback>
                <p:oleObj name="Equation" r:id="rId3" imgW="32893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857250"/>
                        <a:ext cx="7786688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2"/>
          <p:cNvGrpSpPr/>
          <p:nvPr/>
        </p:nvGrpSpPr>
        <p:grpSpPr bwMode="auto">
          <a:xfrm>
            <a:off x="428625" y="2643188"/>
            <a:ext cx="6929438" cy="2573337"/>
            <a:chOff x="928662" y="2714620"/>
            <a:chExt cx="6929486" cy="2572562"/>
          </a:xfrm>
        </p:grpSpPr>
        <p:graphicFrame>
          <p:nvGraphicFramePr>
            <p:cNvPr id="39952" name="Object 6"/>
            <p:cNvGraphicFramePr>
              <a:graphicFrameLocks noChangeAspect="1"/>
            </p:cNvGraphicFramePr>
            <p:nvPr/>
          </p:nvGraphicFramePr>
          <p:xfrm>
            <a:off x="928662" y="2714620"/>
            <a:ext cx="6715172" cy="2410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0" name="Equation" r:id="rId5" imgW="2476500" imgH="889000" progId="Equation.DSMT4">
                    <p:embed/>
                  </p:oleObj>
                </mc:Choice>
                <mc:Fallback>
                  <p:oleObj name="Equation" r:id="rId5" imgW="2476500" imgH="8890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62" y="2714620"/>
                          <a:ext cx="6715172" cy="2410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矩形 6"/>
            <p:cNvSpPr>
              <a:spLocks noChangeArrowheads="1"/>
            </p:cNvSpPr>
            <p:nvPr/>
          </p:nvSpPr>
          <p:spPr bwMode="auto">
            <a:xfrm>
              <a:off x="1428728" y="3286124"/>
              <a:ext cx="6429420" cy="200026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cxnSp>
          <p:nvCxnSpPr>
            <p:cNvPr id="39954" name="直接连接符 8"/>
            <p:cNvCxnSpPr>
              <a:cxnSpLocks noChangeShapeType="1"/>
            </p:cNvCxnSpPr>
            <p:nvPr/>
          </p:nvCxnSpPr>
          <p:spPr bwMode="auto">
            <a:xfrm>
              <a:off x="1428728" y="4572008"/>
              <a:ext cx="642942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55" name="直接连接符 11"/>
            <p:cNvCxnSpPr>
              <a:cxnSpLocks noChangeShapeType="1"/>
            </p:cNvCxnSpPr>
            <p:nvPr/>
          </p:nvCxnSpPr>
          <p:spPr bwMode="auto">
            <a:xfrm rot="5400000">
              <a:off x="6000760" y="4286256"/>
              <a:ext cx="2000264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18"/>
          <p:cNvGrpSpPr/>
          <p:nvPr/>
        </p:nvGrpSpPr>
        <p:grpSpPr bwMode="auto">
          <a:xfrm>
            <a:off x="7286625" y="2357438"/>
            <a:ext cx="1647825" cy="857250"/>
            <a:chOff x="7286644" y="2357430"/>
            <a:chExt cx="1647825" cy="857256"/>
          </a:xfrm>
        </p:grpSpPr>
        <p:graphicFrame>
          <p:nvGraphicFramePr>
            <p:cNvPr id="39950" name="Object 7"/>
            <p:cNvGraphicFramePr>
              <a:graphicFrameLocks noChangeAspect="1"/>
            </p:cNvGraphicFramePr>
            <p:nvPr/>
          </p:nvGraphicFramePr>
          <p:xfrm>
            <a:off x="7286644" y="2357430"/>
            <a:ext cx="164782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1" name="Equation" r:id="rId7" imgW="1054100" imgH="241300" progId="Equation.DSMT4">
                    <p:embed/>
                  </p:oleObj>
                </mc:Choice>
                <mc:Fallback>
                  <p:oleObj name="Equation" r:id="rId7" imgW="1054100" imgH="2413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6644" y="2357430"/>
                          <a:ext cx="1647825" cy="37623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9951" name="直接箭头连接符 15"/>
            <p:cNvCxnSpPr>
              <a:cxnSpLocks noChangeShapeType="1"/>
            </p:cNvCxnSpPr>
            <p:nvPr/>
          </p:nvCxnSpPr>
          <p:spPr bwMode="auto">
            <a:xfrm rot="5400000">
              <a:off x="7538644" y="2748372"/>
              <a:ext cx="500066" cy="432562"/>
            </a:xfrm>
            <a:prstGeom prst="straightConnector1">
              <a:avLst/>
            </a:prstGeom>
            <a:noFill/>
            <a:ln w="38100" cap="sq" algn="ctr">
              <a:solidFill>
                <a:schemeClr val="tx1"/>
              </a:solidFill>
              <a:bevel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428625" y="5429250"/>
          <a:ext cx="47148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2" name="Equation" r:id="rId9" imgW="2286000" imgH="444500" progId="Equation.DSMT4">
                  <p:embed/>
                </p:oleObj>
              </mc:Choice>
              <mc:Fallback>
                <p:oleObj name="Equation" r:id="rId9" imgW="22860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5429250"/>
                        <a:ext cx="4714875" cy="9175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椭圆 23"/>
          <p:cNvSpPr>
            <a:spLocks noChangeArrowheads="1"/>
          </p:cNvSpPr>
          <p:nvPr/>
        </p:nvSpPr>
        <p:spPr bwMode="auto">
          <a:xfrm>
            <a:off x="4214813" y="3929063"/>
            <a:ext cx="571500" cy="500062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 bwMode="auto">
          <a:xfrm>
            <a:off x="214313" y="2071688"/>
            <a:ext cx="7429500" cy="500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928813" y="1500188"/>
            <a:ext cx="714375" cy="2643187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2" name="组合 24"/>
          <p:cNvGrpSpPr/>
          <p:nvPr/>
        </p:nvGrpSpPr>
        <p:grpSpPr bwMode="auto">
          <a:xfrm>
            <a:off x="484188" y="1376363"/>
            <a:ext cx="6659562" cy="2552700"/>
            <a:chOff x="484159" y="1376365"/>
            <a:chExt cx="6659609" cy="2552701"/>
          </a:xfrm>
        </p:grpSpPr>
        <p:graphicFrame>
          <p:nvGraphicFramePr>
            <p:cNvPr id="40975" name="Object 4"/>
            <p:cNvGraphicFramePr>
              <a:graphicFrameLocks noChangeAspect="1"/>
            </p:cNvGraphicFramePr>
            <p:nvPr/>
          </p:nvGraphicFramePr>
          <p:xfrm>
            <a:off x="484159" y="1376365"/>
            <a:ext cx="6369095" cy="24098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9" name="Equation" r:id="rId3" imgW="2349500" imgH="889000" progId="Equation.DSMT4">
                    <p:embed/>
                  </p:oleObj>
                </mc:Choice>
                <mc:Fallback>
                  <p:oleObj name="Equation" r:id="rId3" imgW="2349500" imgH="889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59" y="1376365"/>
                          <a:ext cx="6369095" cy="24098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6" name="矩形 6"/>
            <p:cNvSpPr>
              <a:spLocks noChangeArrowheads="1"/>
            </p:cNvSpPr>
            <p:nvPr/>
          </p:nvSpPr>
          <p:spPr bwMode="auto">
            <a:xfrm>
              <a:off x="954034" y="1928788"/>
              <a:ext cx="6189734" cy="200027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cxnSp>
          <p:nvCxnSpPr>
            <p:cNvPr id="40977" name="直接连接符 8"/>
            <p:cNvCxnSpPr>
              <a:cxnSpLocks noChangeShapeType="1"/>
            </p:cNvCxnSpPr>
            <p:nvPr/>
          </p:nvCxnSpPr>
          <p:spPr bwMode="auto">
            <a:xfrm>
              <a:off x="954034" y="3214672"/>
              <a:ext cx="6189734" cy="1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78" name="直接连接符 11"/>
            <p:cNvCxnSpPr>
              <a:cxnSpLocks noChangeShapeType="1"/>
            </p:cNvCxnSpPr>
            <p:nvPr/>
          </p:nvCxnSpPr>
          <p:spPr bwMode="auto">
            <a:xfrm rot="5400000">
              <a:off x="5215736" y="2928140"/>
              <a:ext cx="2000264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18"/>
          <p:cNvGrpSpPr/>
          <p:nvPr/>
        </p:nvGrpSpPr>
        <p:grpSpPr bwMode="auto">
          <a:xfrm>
            <a:off x="7500938" y="1285875"/>
            <a:ext cx="1289050" cy="857250"/>
            <a:chOff x="7466013" y="2357446"/>
            <a:chExt cx="1289050" cy="857240"/>
          </a:xfrm>
        </p:grpSpPr>
        <p:graphicFrame>
          <p:nvGraphicFramePr>
            <p:cNvPr id="40973" name="Object 5"/>
            <p:cNvGraphicFramePr>
              <a:graphicFrameLocks noChangeAspect="1"/>
            </p:cNvGraphicFramePr>
            <p:nvPr/>
          </p:nvGraphicFramePr>
          <p:xfrm>
            <a:off x="7466013" y="2357446"/>
            <a:ext cx="1289050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0" name="Equation" r:id="rId5" imgW="825500" imgH="241300" progId="Equation.DSMT4">
                    <p:embed/>
                  </p:oleObj>
                </mc:Choice>
                <mc:Fallback>
                  <p:oleObj name="Equation" r:id="rId5" imgW="825500" imgH="2413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6013" y="2357446"/>
                          <a:ext cx="1289050" cy="37623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974" name="直接箭头连接符 15"/>
            <p:cNvCxnSpPr>
              <a:cxnSpLocks noChangeShapeType="1"/>
            </p:cNvCxnSpPr>
            <p:nvPr/>
          </p:nvCxnSpPr>
          <p:spPr bwMode="auto">
            <a:xfrm rot="5400000">
              <a:off x="7538644" y="2748372"/>
              <a:ext cx="500066" cy="432562"/>
            </a:xfrm>
            <a:prstGeom prst="straightConnector1">
              <a:avLst/>
            </a:prstGeom>
            <a:noFill/>
            <a:ln w="38100" cap="sq" algn="ctr">
              <a:solidFill>
                <a:schemeClr val="tx1"/>
              </a:solidFill>
              <a:bevel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571500" y="4857750"/>
          <a:ext cx="44005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1" name="Equation" r:id="rId7" imgW="2133600" imgH="444500" progId="Equation.DSMT4">
                  <p:embed/>
                </p:oleObj>
              </mc:Choice>
              <mc:Fallback>
                <p:oleObj name="Equation" r:id="rId7" imgW="21336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857750"/>
                        <a:ext cx="4400550" cy="9175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椭圆 23"/>
          <p:cNvSpPr>
            <a:spLocks noChangeArrowheads="1"/>
          </p:cNvSpPr>
          <p:nvPr/>
        </p:nvSpPr>
        <p:spPr bwMode="auto">
          <a:xfrm>
            <a:off x="2071688" y="2000250"/>
            <a:ext cx="571500" cy="500063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 bwMode="auto">
          <a:xfrm>
            <a:off x="357188" y="2643188"/>
            <a:ext cx="8001000" cy="500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357313" y="1571625"/>
            <a:ext cx="571500" cy="2714625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2" name="组合 24"/>
          <p:cNvGrpSpPr/>
          <p:nvPr/>
        </p:nvGrpSpPr>
        <p:grpSpPr bwMode="auto">
          <a:xfrm>
            <a:off x="571500" y="1428750"/>
            <a:ext cx="6357938" cy="2428875"/>
            <a:chOff x="571472" y="1428736"/>
            <a:chExt cx="6357982" cy="2428905"/>
          </a:xfrm>
        </p:grpSpPr>
        <p:graphicFrame>
          <p:nvGraphicFramePr>
            <p:cNvPr id="41999" name="Object 4"/>
            <p:cNvGraphicFramePr>
              <a:graphicFrameLocks noChangeAspect="1"/>
            </p:cNvGraphicFramePr>
            <p:nvPr/>
          </p:nvGraphicFramePr>
          <p:xfrm>
            <a:off x="571472" y="1428736"/>
            <a:ext cx="6061075" cy="2409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3" name="Equation" r:id="rId3" imgW="2235200" imgH="889000" progId="Equation.DSMT4">
                    <p:embed/>
                  </p:oleObj>
                </mc:Choice>
                <mc:Fallback>
                  <p:oleObj name="Equation" r:id="rId3" imgW="2235200" imgH="889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472" y="1428736"/>
                          <a:ext cx="6061075" cy="2409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0" name="矩形 6"/>
            <p:cNvSpPr>
              <a:spLocks noChangeArrowheads="1"/>
            </p:cNvSpPr>
            <p:nvPr/>
          </p:nvSpPr>
          <p:spPr bwMode="auto">
            <a:xfrm>
              <a:off x="1142976" y="2000240"/>
              <a:ext cx="5756343" cy="185740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cxnSp>
          <p:nvCxnSpPr>
            <p:cNvPr id="42001" name="直接连接符 8"/>
            <p:cNvCxnSpPr>
              <a:cxnSpLocks noChangeShapeType="1"/>
            </p:cNvCxnSpPr>
            <p:nvPr/>
          </p:nvCxnSpPr>
          <p:spPr bwMode="auto">
            <a:xfrm>
              <a:off x="1142976" y="3286124"/>
              <a:ext cx="5786478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2" name="直接连接符 11"/>
            <p:cNvCxnSpPr>
              <a:cxnSpLocks noChangeShapeType="1"/>
            </p:cNvCxnSpPr>
            <p:nvPr/>
          </p:nvCxnSpPr>
          <p:spPr bwMode="auto">
            <a:xfrm rot="5400000">
              <a:off x="5144298" y="2928140"/>
              <a:ext cx="1857388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18"/>
          <p:cNvGrpSpPr/>
          <p:nvPr/>
        </p:nvGrpSpPr>
        <p:grpSpPr bwMode="auto">
          <a:xfrm>
            <a:off x="7143750" y="1857375"/>
            <a:ext cx="1751013" cy="928688"/>
            <a:chOff x="7572396" y="2286003"/>
            <a:chExt cx="1750995" cy="928683"/>
          </a:xfrm>
        </p:grpSpPr>
        <p:graphicFrame>
          <p:nvGraphicFramePr>
            <p:cNvPr id="41997" name="Object 5"/>
            <p:cNvGraphicFramePr>
              <a:graphicFrameLocks noChangeAspect="1"/>
            </p:cNvGraphicFramePr>
            <p:nvPr/>
          </p:nvGraphicFramePr>
          <p:xfrm>
            <a:off x="7754941" y="2286003"/>
            <a:ext cx="1568450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4" name="Equation" r:id="rId5" imgW="1002665" imgH="241300" progId="Equation.DSMT4">
                    <p:embed/>
                  </p:oleObj>
                </mc:Choice>
                <mc:Fallback>
                  <p:oleObj name="Equation" r:id="rId5" imgW="1002665" imgH="2413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4941" y="2286003"/>
                          <a:ext cx="1568450" cy="500063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1998" name="直接箭头连接符 15"/>
            <p:cNvCxnSpPr>
              <a:cxnSpLocks noChangeShapeType="1"/>
            </p:cNvCxnSpPr>
            <p:nvPr/>
          </p:nvCxnSpPr>
          <p:spPr bwMode="auto">
            <a:xfrm rot="5400000">
              <a:off x="7538644" y="2748372"/>
              <a:ext cx="500066" cy="432562"/>
            </a:xfrm>
            <a:prstGeom prst="straightConnector1">
              <a:avLst/>
            </a:prstGeom>
            <a:noFill/>
            <a:ln w="38100" cap="sq" algn="ctr">
              <a:solidFill>
                <a:schemeClr val="tx1"/>
              </a:solidFill>
              <a:bevel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714375" y="4786313"/>
          <a:ext cx="48450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" name="Equation" r:id="rId7" imgW="2349500" imgH="457200" progId="Equation.DSMT4">
                  <p:embed/>
                </p:oleObj>
              </mc:Choice>
              <mc:Fallback>
                <p:oleObj name="Equation" r:id="rId7" imgW="23495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4786313"/>
                        <a:ext cx="4845050" cy="942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椭圆 23"/>
          <p:cNvSpPr>
            <a:spLocks noChangeArrowheads="1"/>
          </p:cNvSpPr>
          <p:nvPr/>
        </p:nvSpPr>
        <p:spPr bwMode="auto">
          <a:xfrm>
            <a:off x="1285875" y="2714625"/>
            <a:ext cx="571500" cy="500063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4"/>
          <p:cNvGrpSpPr/>
          <p:nvPr/>
        </p:nvGrpSpPr>
        <p:grpSpPr bwMode="auto">
          <a:xfrm>
            <a:off x="604838" y="1428750"/>
            <a:ext cx="6294437" cy="2428875"/>
            <a:chOff x="604838" y="1428750"/>
            <a:chExt cx="6294481" cy="2428891"/>
          </a:xfrm>
        </p:grpSpPr>
        <p:graphicFrame>
          <p:nvGraphicFramePr>
            <p:cNvPr id="43016" name="Object 3"/>
            <p:cNvGraphicFramePr>
              <a:graphicFrameLocks noChangeAspect="1"/>
            </p:cNvGraphicFramePr>
            <p:nvPr/>
          </p:nvGraphicFramePr>
          <p:xfrm>
            <a:off x="604838" y="1428750"/>
            <a:ext cx="5992812" cy="2409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9" name="Equation" r:id="rId3" imgW="2209800" imgH="889000" progId="Equation.DSMT4">
                    <p:embed/>
                  </p:oleObj>
                </mc:Choice>
                <mc:Fallback>
                  <p:oleObj name="Equation" r:id="rId3" imgW="2209800" imgH="889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838" y="1428750"/>
                          <a:ext cx="5992812" cy="2409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7" name="矩形 6"/>
            <p:cNvSpPr>
              <a:spLocks noChangeArrowheads="1"/>
            </p:cNvSpPr>
            <p:nvPr/>
          </p:nvSpPr>
          <p:spPr bwMode="auto">
            <a:xfrm>
              <a:off x="1142976" y="2000240"/>
              <a:ext cx="5756343" cy="185740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cxnSp>
          <p:nvCxnSpPr>
            <p:cNvPr id="43018" name="直接连接符 8"/>
            <p:cNvCxnSpPr>
              <a:cxnSpLocks noChangeShapeType="1"/>
            </p:cNvCxnSpPr>
            <p:nvPr/>
          </p:nvCxnSpPr>
          <p:spPr bwMode="auto">
            <a:xfrm>
              <a:off x="1142976" y="3286124"/>
              <a:ext cx="571504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19" name="直接连接符 11"/>
            <p:cNvCxnSpPr>
              <a:cxnSpLocks noChangeShapeType="1"/>
            </p:cNvCxnSpPr>
            <p:nvPr/>
          </p:nvCxnSpPr>
          <p:spPr bwMode="auto">
            <a:xfrm rot="5400000">
              <a:off x="5144298" y="2928140"/>
              <a:ext cx="1857388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矩形 5"/>
          <p:cNvSpPr>
            <a:spLocks noChangeArrowheads="1"/>
          </p:cNvSpPr>
          <p:nvPr/>
        </p:nvSpPr>
        <p:spPr bwMode="auto">
          <a:xfrm>
            <a:off x="682589" y="1120525"/>
            <a:ext cx="77247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对偶单纯形法中要求先给出一个初始的对偶可行的 基本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解</a:t>
            </a:r>
            <a:r>
              <a:rPr lang="en-US" altLang="zh-CN" sz="2400" dirty="0"/>
              <a:t>.</a:t>
            </a:r>
            <a:r>
              <a:rPr lang="zh-CN" altLang="en-US" sz="2400" dirty="0"/>
              <a:t>这个解未必直接能求出</a:t>
            </a:r>
            <a:r>
              <a:rPr lang="en-US" altLang="zh-CN" sz="2400" dirty="0"/>
              <a:t>,</a:t>
            </a:r>
            <a:r>
              <a:rPr lang="zh-CN" altLang="en-US" sz="2400" dirty="0"/>
              <a:t>因此需要引进一个方法</a:t>
            </a:r>
            <a:r>
              <a:rPr lang="en-US" altLang="zh-CN" sz="2400" dirty="0"/>
              <a:t>—</a:t>
            </a:r>
            <a:r>
              <a:rPr lang="zh-CN" altLang="en-US" sz="2400" dirty="0"/>
              <a:t>与单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纯形法中类似</a:t>
            </a:r>
            <a:r>
              <a:rPr lang="en-US" altLang="zh-CN" sz="2400" dirty="0"/>
              <a:t>,</a:t>
            </a:r>
            <a:r>
              <a:rPr lang="zh-CN" altLang="en-US" sz="2400" dirty="0"/>
              <a:t>我们也是通过解一个辅助问题</a:t>
            </a:r>
            <a:r>
              <a:rPr lang="en-US" altLang="zh-CN" sz="2400" dirty="0"/>
              <a:t>---</a:t>
            </a:r>
            <a:r>
              <a:rPr lang="zh-CN" altLang="en-US" sz="2400" dirty="0"/>
              <a:t>扩充问题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来求解</a:t>
            </a:r>
            <a:r>
              <a:rPr lang="en-US" altLang="zh-CN" sz="2400" dirty="0"/>
              <a:t>.</a:t>
            </a:r>
            <a:r>
              <a:rPr lang="zh-CN" altLang="en-US" sz="2400" dirty="0"/>
              <a:t>扩充问题的构造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>
            <a:off x="662041" y="2784618"/>
            <a:ext cx="8001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扩充问题的构造</a:t>
            </a:r>
            <a:r>
              <a:rPr lang="en-US" altLang="zh-CN" sz="2400" dirty="0">
                <a:solidFill>
                  <a:srgbClr val="000000"/>
                </a:solidFill>
              </a:rPr>
              <a:t>:</a:t>
            </a:r>
            <a:r>
              <a:rPr lang="zh-CN" altLang="en-US" sz="2400" dirty="0">
                <a:solidFill>
                  <a:srgbClr val="000000"/>
                </a:solidFill>
              </a:rPr>
              <a:t>先给出标准型</a:t>
            </a:r>
            <a:r>
              <a:rPr lang="en-US" altLang="zh-CN" sz="2400" dirty="0">
                <a:solidFill>
                  <a:srgbClr val="000000"/>
                </a:solidFill>
              </a:rPr>
              <a:t>(3)</a:t>
            </a:r>
            <a:r>
              <a:rPr lang="zh-CN" altLang="en-US" sz="2400" dirty="0">
                <a:solidFill>
                  <a:srgbClr val="000000"/>
                </a:solidFill>
              </a:rPr>
              <a:t>的一个基本解</a:t>
            </a:r>
            <a:r>
              <a:rPr lang="en-US" altLang="zh-CN" sz="2400" dirty="0">
                <a:solidFill>
                  <a:srgbClr val="000000"/>
                </a:solidFill>
              </a:rPr>
              <a:t>(</a:t>
            </a:r>
            <a:r>
              <a:rPr lang="zh-CN" altLang="en-US" sz="2400" dirty="0">
                <a:solidFill>
                  <a:srgbClr val="000000"/>
                </a:solidFill>
              </a:rPr>
              <a:t>这很容易</a:t>
            </a:r>
            <a:r>
              <a:rPr lang="en-US" altLang="zh-CN" sz="2400" dirty="0">
                <a:solidFill>
                  <a:srgbClr val="000000"/>
                </a:solidFill>
              </a:rPr>
              <a:t>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不妨设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zh-CN" altLang="en-US" sz="2400" dirty="0">
                <a:solidFill>
                  <a:srgbClr val="000000"/>
                </a:solidFill>
              </a:rPr>
              <a:t>的前</a:t>
            </a:r>
            <a:r>
              <a:rPr lang="en-US" altLang="zh-CN" sz="2400" dirty="0">
                <a:solidFill>
                  <a:srgbClr val="000000"/>
                </a:solidFill>
              </a:rPr>
              <a:t>m</a:t>
            </a:r>
            <a:r>
              <a:rPr lang="zh-CN" altLang="en-US" sz="2400" dirty="0">
                <a:solidFill>
                  <a:srgbClr val="000000"/>
                </a:solidFill>
              </a:rPr>
              <a:t>列线性无关</a:t>
            </a:r>
            <a:r>
              <a:rPr lang="en-US" altLang="zh-CN" sz="2400" dirty="0">
                <a:solidFill>
                  <a:srgbClr val="000000"/>
                </a:solidFill>
              </a:rPr>
              <a:t>,</a:t>
            </a:r>
            <a:r>
              <a:rPr lang="zh-CN" altLang="en-US" sz="2400" dirty="0">
                <a:solidFill>
                  <a:srgbClr val="000000"/>
                </a:solidFill>
              </a:rPr>
              <a:t>由这</a:t>
            </a:r>
            <a:r>
              <a:rPr lang="en-US" altLang="zh-CN" sz="2400" dirty="0">
                <a:solidFill>
                  <a:srgbClr val="000000"/>
                </a:solidFill>
              </a:rPr>
              <a:t>m</a:t>
            </a:r>
            <a:r>
              <a:rPr lang="zh-CN" altLang="en-US" sz="2400" dirty="0">
                <a:solidFill>
                  <a:srgbClr val="000000"/>
                </a:solidFill>
              </a:rPr>
              <a:t>列构成基矩阵</a:t>
            </a:r>
            <a:r>
              <a:rPr lang="en-US" altLang="zh-CN" sz="2400" dirty="0">
                <a:solidFill>
                  <a:srgbClr val="000000"/>
                </a:solidFill>
              </a:rPr>
              <a:t>B.</a:t>
            </a:r>
            <a:r>
              <a:rPr lang="zh-CN" altLang="en-US" sz="2400" dirty="0">
                <a:solidFill>
                  <a:srgbClr val="000000"/>
                </a:solidFill>
              </a:rPr>
              <a:t>于是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(3)</a:t>
            </a:r>
            <a:r>
              <a:rPr lang="zh-CN" altLang="en-US" sz="2400" dirty="0">
                <a:solidFill>
                  <a:srgbClr val="000000"/>
                </a:solidFill>
              </a:rPr>
              <a:t>可改写成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endParaRPr lang="zh-CN" altLang="en-US" sz="2400" dirty="0"/>
          </a:p>
        </p:txBody>
      </p:sp>
      <p:graphicFrame>
        <p:nvGraphicFramePr>
          <p:cNvPr id="143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642041"/>
              </p:ext>
            </p:extLst>
          </p:nvPr>
        </p:nvGraphicFramePr>
        <p:xfrm>
          <a:off x="1328399" y="3836596"/>
          <a:ext cx="6249988" cy="231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2" name="Equation" r:id="rId3" imgW="2946240" imgH="1091880" progId="Equation.DSMT4">
                  <p:embed/>
                </p:oleObj>
              </mc:Choice>
              <mc:Fallback>
                <p:oleObj name="Equation" r:id="rId3" imgW="2946240" imgH="10918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399" y="3836596"/>
                        <a:ext cx="6249988" cy="231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4500" y="174500"/>
            <a:ext cx="8229600" cy="757238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ea typeface="楷体_GB2312" panose="02010609030101010101" pitchFamily="49" charset="-122"/>
              </a:rPr>
              <a:t>初始对偶可行的基本解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  <p:bldP spid="1434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231636"/>
              </p:ext>
            </p:extLst>
          </p:nvPr>
        </p:nvGraphicFramePr>
        <p:xfrm>
          <a:off x="858838" y="949325"/>
          <a:ext cx="5343525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4" name="Equation" r:id="rId3" imgW="2374560" imgH="825480" progId="Equation.DSMT4">
                  <p:embed/>
                </p:oleObj>
              </mc:Choice>
              <mc:Fallback>
                <p:oleObj name="Equation" r:id="rId3" imgW="2374560" imgH="825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949325"/>
                        <a:ext cx="5343525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4114800" y="3328988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5" name="Equation" r:id="rId5" imgW="434975" imgH="676910" progId="Equation.DSMT4">
                  <p:embed/>
                </p:oleObj>
              </mc:Choice>
              <mc:Fallback>
                <p:oleObj name="Equation" r:id="rId5" imgW="434975" imgH="67691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8988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815945"/>
              </p:ext>
            </p:extLst>
          </p:nvPr>
        </p:nvGraphicFramePr>
        <p:xfrm>
          <a:off x="741363" y="2827338"/>
          <a:ext cx="5692775" cy="336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6" name="Equation" r:id="rId7" imgW="2920680" imgH="1726920" progId="Equation.DSMT4">
                  <p:embed/>
                </p:oleObj>
              </mc:Choice>
              <mc:Fallback>
                <p:oleObj name="Equation" r:id="rId7" imgW="2920680" imgH="17269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2827338"/>
                        <a:ext cx="5692775" cy="336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矩形 6"/>
          <p:cNvSpPr>
            <a:spLocks noChangeArrowheads="1"/>
          </p:cNvSpPr>
          <p:nvPr/>
        </p:nvSpPr>
        <p:spPr bwMode="auto">
          <a:xfrm>
            <a:off x="551915" y="968340"/>
            <a:ext cx="78215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在扩充问题中以系数矩阵的前</a:t>
            </a:r>
            <a:r>
              <a:rPr lang="en-US" altLang="zh-CN" sz="2400" dirty="0">
                <a:solidFill>
                  <a:srgbClr val="000000"/>
                </a:solidFill>
              </a:rPr>
              <a:t>m</a:t>
            </a:r>
            <a:r>
              <a:rPr lang="zh-CN" altLang="en-US" sz="2400" dirty="0">
                <a:solidFill>
                  <a:srgbClr val="000000"/>
                </a:solidFill>
              </a:rPr>
              <a:t>列和第</a:t>
            </a:r>
            <a:r>
              <a:rPr lang="en-US" altLang="zh-CN" sz="2400" dirty="0">
                <a:solidFill>
                  <a:srgbClr val="000000"/>
                </a:solidFill>
              </a:rPr>
              <a:t>n+1</a:t>
            </a:r>
            <a:r>
              <a:rPr lang="zh-CN" altLang="en-US" sz="2400" dirty="0">
                <a:solidFill>
                  <a:srgbClr val="000000"/>
                </a:solidFill>
              </a:rPr>
              <a:t>列组成的</a:t>
            </a:r>
            <a:r>
              <a:rPr lang="en-US" altLang="zh-CN" sz="2400" dirty="0">
                <a:solidFill>
                  <a:srgbClr val="000000"/>
                </a:solidFill>
              </a:rPr>
              <a:t>m+1</a:t>
            </a:r>
            <a:r>
              <a:rPr lang="zh-CN" altLang="en-US" sz="2400" dirty="0">
                <a:solidFill>
                  <a:srgbClr val="000000"/>
                </a:solidFill>
              </a:rPr>
              <a:t>阶单位矩阵为基</a:t>
            </a:r>
            <a:r>
              <a:rPr lang="en-US" altLang="zh-CN" sz="2400" dirty="0">
                <a:solidFill>
                  <a:srgbClr val="000000"/>
                </a:solidFill>
              </a:rPr>
              <a:t>,</a:t>
            </a:r>
            <a:r>
              <a:rPr lang="zh-CN" altLang="en-US" sz="2400" dirty="0">
                <a:solidFill>
                  <a:srgbClr val="000000"/>
                </a:solidFill>
              </a:rPr>
              <a:t>则得一个基本解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graphicFrame>
        <p:nvGraphicFramePr>
          <p:cNvPr id="1638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489066"/>
              </p:ext>
            </p:extLst>
          </p:nvPr>
        </p:nvGraphicFramePr>
        <p:xfrm>
          <a:off x="2587625" y="1908175"/>
          <a:ext cx="40528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4" name="Equation" r:id="rId3" imgW="1993680" imgH="482400" progId="Equation.DSMT4">
                  <p:embed/>
                </p:oleObj>
              </mc:Choice>
              <mc:Fallback>
                <p:oleObj name="Equation" r:id="rId3" imgW="199368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1908175"/>
                        <a:ext cx="4052888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620220"/>
              </p:ext>
            </p:extLst>
          </p:nvPr>
        </p:nvGraphicFramePr>
        <p:xfrm>
          <a:off x="664450" y="3000375"/>
          <a:ext cx="8072437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5" name="Equation" r:id="rId5" imgW="3543120" imgH="1218960" progId="Equation.DSMT4">
                  <p:embed/>
                </p:oleObj>
              </mc:Choice>
              <mc:Fallback>
                <p:oleObj name="Equation" r:id="rId5" imgW="3543120" imgH="1218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450" y="3000375"/>
                        <a:ext cx="8072437" cy="277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00063" y="1071563"/>
            <a:ext cx="7929562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latin typeface="+mn-ea"/>
                <a:ea typeface="+mn-ea"/>
                <a:cs typeface="+mj-cs"/>
              </a:rPr>
              <a:t>上述做法是正确的</a:t>
            </a:r>
            <a:r>
              <a:rPr lang="en-US" altLang="zh-CN" sz="2400" kern="0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400" kern="0" dirty="0">
                <a:latin typeface="+mn-ea"/>
                <a:ea typeface="+mn-ea"/>
                <a:cs typeface="+mj-cs"/>
              </a:rPr>
              <a:t>因为主元消去运算前后判别数之间有如下关系</a:t>
            </a:r>
            <a:r>
              <a:rPr lang="en-US" altLang="zh-CN" sz="2400" kern="0" dirty="0">
                <a:latin typeface="+mn-ea"/>
                <a:ea typeface="+mn-ea"/>
                <a:cs typeface="+mj-cs"/>
              </a:rPr>
              <a:t>: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04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241434"/>
              </p:ext>
            </p:extLst>
          </p:nvPr>
        </p:nvGraphicFramePr>
        <p:xfrm>
          <a:off x="1196975" y="1731963"/>
          <a:ext cx="6186488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name="Equation" r:id="rId3" imgW="2831760" imgH="685800" progId="Equation.DSMT4">
                  <p:embed/>
                </p:oleObj>
              </mc:Choice>
              <mc:Fallback>
                <p:oleObj name="Equation" r:id="rId3" imgW="2831760" imgH="685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1731963"/>
                        <a:ext cx="6186488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590040"/>
              </p:ext>
            </p:extLst>
          </p:nvPr>
        </p:nvGraphicFramePr>
        <p:xfrm>
          <a:off x="1368425" y="3251200"/>
          <a:ext cx="614362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3" name="Equation" r:id="rId5" imgW="2730240" imgH="1015920" progId="Equation.DSMT4">
                  <p:embed/>
                </p:oleObj>
              </mc:Choice>
              <mc:Fallback>
                <p:oleObj name="Equation" r:id="rId5" imgW="2730240" imgH="1015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251200"/>
                        <a:ext cx="6143625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42938" y="5555456"/>
            <a:ext cx="1408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综上立明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8625" y="1143000"/>
            <a:ext cx="803296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latin typeface="+mn-ea"/>
                <a:ea typeface="+mn-ea"/>
                <a:cs typeface="+mj-cs"/>
              </a:rPr>
              <a:t>注意到扩充问题的对偶问题有可行解</a:t>
            </a:r>
            <a:r>
              <a:rPr lang="en-US" altLang="zh-CN" sz="2400" kern="0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400" kern="0" dirty="0">
                <a:latin typeface="+mn-ea"/>
                <a:ea typeface="+mn-ea"/>
                <a:cs typeface="+mj-cs"/>
              </a:rPr>
              <a:t>故用对偶单纯形方法</a:t>
            </a:r>
            <a:endParaRPr lang="en-US" altLang="zh-CN" sz="2400" kern="0" dirty="0">
              <a:latin typeface="+mn-ea"/>
              <a:ea typeface="+mn-ea"/>
              <a:cs typeface="+mj-cs"/>
            </a:endParaRPr>
          </a:p>
          <a:p>
            <a:pPr eaLnBrk="1" hangingPunct="1">
              <a:defRPr/>
            </a:pPr>
            <a:r>
              <a:rPr lang="zh-CN" altLang="en-US" sz="2400" kern="0" dirty="0">
                <a:latin typeface="+mn-ea"/>
                <a:ea typeface="+mn-ea"/>
                <a:cs typeface="+mj-cs"/>
              </a:rPr>
              <a:t>求解时</a:t>
            </a:r>
            <a:r>
              <a:rPr lang="en-US" altLang="zh-CN" sz="2400" kern="0" dirty="0">
                <a:latin typeface="+mn-ea"/>
                <a:ea typeface="+mn-ea"/>
                <a:cs typeface="+mj-cs"/>
              </a:rPr>
              <a:t>,</a:t>
            </a:r>
            <a:r>
              <a:rPr lang="zh-CN" altLang="en-US" sz="2400" kern="0" dirty="0">
                <a:latin typeface="+mn-ea"/>
                <a:ea typeface="+mn-ea"/>
                <a:cs typeface="+mj-cs"/>
              </a:rPr>
              <a:t>仅有如下两种情况发生</a:t>
            </a:r>
            <a:r>
              <a:rPr lang="en-US" altLang="zh-CN" sz="2400" kern="0" dirty="0">
                <a:latin typeface="+mn-ea"/>
                <a:ea typeface="+mn-ea"/>
                <a:cs typeface="+mj-cs"/>
              </a:rPr>
              <a:t>: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8625" y="2055167"/>
            <a:ext cx="750093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ea typeface="+mn-ea"/>
              </a:rPr>
              <a:t>(1)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扩充问题无可行解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则原问题亦无可行解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ea typeface="+mn-ea"/>
              </a:rPr>
              <a:t>.(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反证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16906"/>
              </p:ext>
            </p:extLst>
          </p:nvPr>
        </p:nvGraphicFramePr>
        <p:xfrm>
          <a:off x="642938" y="2643188"/>
          <a:ext cx="7742237" cy="335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9" name="Equation" r:id="rId3" imgW="3924000" imgH="1701720" progId="Equation.DSMT4">
                  <p:embed/>
                </p:oleObj>
              </mc:Choice>
              <mc:Fallback>
                <p:oleObj name="Equation" r:id="rId3" imgW="3924000" imgH="17017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643188"/>
                        <a:ext cx="7742237" cy="335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28625" y="1071563"/>
            <a:ext cx="100012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latin typeface="+mn-ea"/>
                <a:ea typeface="+mn-ea"/>
                <a:cs typeface="+mj-cs"/>
              </a:rPr>
              <a:t>例</a:t>
            </a:r>
            <a:r>
              <a:rPr lang="en-US" altLang="zh-CN" sz="2400" kern="0" dirty="0">
                <a:latin typeface="+mn-ea"/>
                <a:ea typeface="+mn-ea"/>
                <a:cs typeface="+mj-cs"/>
              </a:rPr>
              <a:t>5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9160" name="Object 11"/>
          <p:cNvGraphicFramePr>
            <a:graphicFrameLocks noChangeAspect="1"/>
          </p:cNvGraphicFramePr>
          <p:nvPr/>
        </p:nvGraphicFramePr>
        <p:xfrm>
          <a:off x="3286125" y="1357313"/>
          <a:ext cx="2890838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8" name="Equation" r:id="rId3" imgW="29565600" imgH="21945600" progId="Equation.DSMT4">
                  <p:embed/>
                </p:oleObj>
              </mc:Choice>
              <mc:Fallback>
                <p:oleObj name="Equation" r:id="rId3" imgW="29565600" imgH="21945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1357313"/>
                        <a:ext cx="2890838" cy="214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28625" y="3574707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解：先化为标准型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49162" name="Object 12"/>
          <p:cNvGraphicFramePr>
            <a:graphicFrameLocks noChangeAspect="1"/>
          </p:cNvGraphicFramePr>
          <p:nvPr/>
        </p:nvGraphicFramePr>
        <p:xfrm>
          <a:off x="3442902" y="3917942"/>
          <a:ext cx="3612806" cy="228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9" name="Equation" r:id="rId5" imgW="1447800" imgH="914400" progId="Equation.DSMT4">
                  <p:embed/>
                </p:oleObj>
              </mc:Choice>
              <mc:Fallback>
                <p:oleObj name="Equation" r:id="rId5" imgW="1447800" imgH="914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902" y="3917942"/>
                        <a:ext cx="3612806" cy="2281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45827" y="1071563"/>
            <a:ext cx="2500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于是得扩充问题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96673" y="4828781"/>
            <a:ext cx="203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构作单纯形表</a:t>
            </a:r>
            <a:endParaRPr lang="zh-CN" altLang="en-US" sz="2400" dirty="0"/>
          </a:p>
        </p:txBody>
      </p:sp>
      <p:graphicFrame>
        <p:nvGraphicFramePr>
          <p:cNvPr id="5018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942315"/>
              </p:ext>
            </p:extLst>
          </p:nvPr>
        </p:nvGraphicFramePr>
        <p:xfrm>
          <a:off x="2406883" y="1695397"/>
          <a:ext cx="4009050" cy="288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6" name="Equation" r:id="rId3" imgW="1587500" imgH="1143000" progId="Equation.DSMT4">
                  <p:embed/>
                </p:oleObj>
              </mc:Choice>
              <mc:Fallback>
                <p:oleObj name="Equation" r:id="rId3" imgW="1587500" imgH="1143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883" y="1695397"/>
                        <a:ext cx="4009050" cy="2886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/>
          <p:nvPr/>
        </p:nvGrpSpPr>
        <p:grpSpPr bwMode="auto">
          <a:xfrm>
            <a:off x="2484438" y="3357563"/>
            <a:ext cx="6121400" cy="2709862"/>
            <a:chOff x="1655" y="1344"/>
            <a:chExt cx="3856" cy="1707"/>
          </a:xfrm>
        </p:grpSpPr>
        <p:grpSp>
          <p:nvGrpSpPr>
            <p:cNvPr id="51216" name="Group 23"/>
            <p:cNvGrpSpPr/>
            <p:nvPr/>
          </p:nvGrpSpPr>
          <p:grpSpPr bwMode="auto">
            <a:xfrm>
              <a:off x="1655" y="1344"/>
              <a:ext cx="3855" cy="1707"/>
              <a:chOff x="1610" y="2115"/>
              <a:chExt cx="3855" cy="1707"/>
            </a:xfrm>
          </p:grpSpPr>
          <p:sp>
            <p:nvSpPr>
              <p:cNvPr id="51218" name="Rectangle 16"/>
              <p:cNvSpPr>
                <a:spLocks noChangeArrowheads="1"/>
              </p:cNvSpPr>
              <p:nvPr/>
            </p:nvSpPr>
            <p:spPr bwMode="auto">
              <a:xfrm>
                <a:off x="2063" y="2432"/>
                <a:ext cx="3402" cy="1361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grpSp>
            <p:nvGrpSpPr>
              <p:cNvPr id="51219" name="Group 22"/>
              <p:cNvGrpSpPr/>
              <p:nvPr/>
            </p:nvGrpSpPr>
            <p:grpSpPr bwMode="auto">
              <a:xfrm>
                <a:off x="1610" y="2115"/>
                <a:ext cx="3841" cy="1707"/>
                <a:chOff x="1617" y="2115"/>
                <a:chExt cx="3841" cy="1707"/>
              </a:xfrm>
            </p:grpSpPr>
            <p:graphicFrame>
              <p:nvGraphicFramePr>
                <p:cNvPr id="51220" name="Object 3"/>
                <p:cNvGraphicFramePr>
                  <a:graphicFrameLocks noChangeAspect="1"/>
                </p:cNvGraphicFramePr>
                <p:nvPr/>
              </p:nvGraphicFramePr>
              <p:xfrm>
                <a:off x="1617" y="2115"/>
                <a:ext cx="3841" cy="17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074" name="Equation" r:id="rId3" imgW="2514600" imgH="1117600" progId="Equation.DSMT4">
                        <p:embed/>
                      </p:oleObj>
                    </mc:Choice>
                    <mc:Fallback>
                      <p:oleObj name="Equation" r:id="rId3" imgW="2514600" imgH="111760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17" y="2115"/>
                              <a:ext cx="3841" cy="17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1221" name="Line 19"/>
                <p:cNvSpPr>
                  <a:spLocks noChangeShapeType="1"/>
                </p:cNvSpPr>
                <p:nvPr/>
              </p:nvSpPr>
              <p:spPr bwMode="auto">
                <a:xfrm>
                  <a:off x="4740" y="2432"/>
                  <a:ext cx="0" cy="13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1217" name="Line 18"/>
            <p:cNvSpPr>
              <a:spLocks noChangeShapeType="1"/>
            </p:cNvSpPr>
            <p:nvPr/>
          </p:nvSpPr>
          <p:spPr bwMode="auto">
            <a:xfrm>
              <a:off x="2109" y="2704"/>
              <a:ext cx="34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2"/>
          <p:cNvGrpSpPr/>
          <p:nvPr/>
        </p:nvGrpSpPr>
        <p:grpSpPr bwMode="auto">
          <a:xfrm>
            <a:off x="539750" y="549275"/>
            <a:ext cx="5832475" cy="2709863"/>
            <a:chOff x="748" y="754"/>
            <a:chExt cx="3674" cy="1707"/>
          </a:xfrm>
        </p:grpSpPr>
        <p:sp>
          <p:nvSpPr>
            <p:cNvPr id="51212" name="Rectangle 9"/>
            <p:cNvSpPr>
              <a:spLocks noChangeArrowheads="1"/>
            </p:cNvSpPr>
            <p:nvPr/>
          </p:nvSpPr>
          <p:spPr bwMode="auto">
            <a:xfrm>
              <a:off x="1020" y="1071"/>
              <a:ext cx="3402" cy="136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51213" name="Object 2"/>
            <p:cNvGraphicFramePr>
              <a:graphicFrameLocks noChangeAspect="1"/>
            </p:cNvGraphicFramePr>
            <p:nvPr/>
          </p:nvGraphicFramePr>
          <p:xfrm>
            <a:off x="748" y="754"/>
            <a:ext cx="3492" cy="1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5" name="Equation" r:id="rId5" imgW="2286000" imgH="1117600" progId="Equation.DSMT4">
                    <p:embed/>
                  </p:oleObj>
                </mc:Choice>
                <mc:Fallback>
                  <p:oleObj name="Equation" r:id="rId5" imgW="2286000" imgH="11176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754"/>
                          <a:ext cx="3492" cy="1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4" name="Line 10"/>
            <p:cNvSpPr>
              <a:spLocks noChangeShapeType="1"/>
            </p:cNvSpPr>
            <p:nvPr/>
          </p:nvSpPr>
          <p:spPr bwMode="auto">
            <a:xfrm>
              <a:off x="1020" y="2160"/>
              <a:ext cx="34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5" name="Line 11"/>
            <p:cNvSpPr>
              <a:spLocks noChangeShapeType="1"/>
            </p:cNvSpPr>
            <p:nvPr/>
          </p:nvSpPr>
          <p:spPr bwMode="auto">
            <a:xfrm>
              <a:off x="3878" y="1071"/>
              <a:ext cx="0" cy="1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9" name="AutoShape 13"/>
          <p:cNvSpPr>
            <a:spLocks noChangeArrowheads="1"/>
          </p:cNvSpPr>
          <p:nvPr/>
        </p:nvSpPr>
        <p:spPr bwMode="auto">
          <a:xfrm>
            <a:off x="1331913" y="3141663"/>
            <a:ext cx="360362" cy="36036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590" name="Oval 14"/>
          <p:cNvSpPr>
            <a:spLocks noChangeArrowheads="1"/>
          </p:cNvSpPr>
          <p:nvPr/>
        </p:nvSpPr>
        <p:spPr bwMode="auto">
          <a:xfrm>
            <a:off x="1260475" y="2349500"/>
            <a:ext cx="504825" cy="2889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597" name="Oval 21"/>
          <p:cNvSpPr>
            <a:spLocks noChangeArrowheads="1"/>
          </p:cNvSpPr>
          <p:nvPr/>
        </p:nvSpPr>
        <p:spPr bwMode="auto">
          <a:xfrm>
            <a:off x="6877050" y="4581525"/>
            <a:ext cx="504825" cy="2889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600" name="AutoShape 24"/>
          <p:cNvSpPr>
            <a:spLocks noChangeArrowheads="1"/>
          </p:cNvSpPr>
          <p:nvPr/>
        </p:nvSpPr>
        <p:spPr bwMode="auto">
          <a:xfrm>
            <a:off x="8604250" y="4508500"/>
            <a:ext cx="360363" cy="50482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9" grpId="0" animBg="1"/>
      <p:bldP spid="24590" grpId="0" animBg="1"/>
      <p:bldP spid="24597" grpId="0" animBg="1"/>
      <p:bldP spid="2460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/>
          <p:nvPr/>
        </p:nvGrpSpPr>
        <p:grpSpPr bwMode="auto">
          <a:xfrm>
            <a:off x="1357313" y="1285875"/>
            <a:ext cx="6119812" cy="2709863"/>
            <a:chOff x="1610" y="2115"/>
            <a:chExt cx="3855" cy="1707"/>
          </a:xfrm>
        </p:grpSpPr>
        <p:sp>
          <p:nvSpPr>
            <p:cNvPr id="52233" name="Rectangle 17"/>
            <p:cNvSpPr>
              <a:spLocks noChangeArrowheads="1"/>
            </p:cNvSpPr>
            <p:nvPr/>
          </p:nvSpPr>
          <p:spPr bwMode="auto">
            <a:xfrm>
              <a:off x="2063" y="2432"/>
              <a:ext cx="3402" cy="136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pSp>
          <p:nvGrpSpPr>
            <p:cNvPr id="52234" name="Group 18"/>
            <p:cNvGrpSpPr/>
            <p:nvPr/>
          </p:nvGrpSpPr>
          <p:grpSpPr bwMode="auto">
            <a:xfrm>
              <a:off x="1610" y="2115"/>
              <a:ext cx="3841" cy="1707"/>
              <a:chOff x="1617" y="2115"/>
              <a:chExt cx="3841" cy="1707"/>
            </a:xfrm>
          </p:grpSpPr>
          <p:graphicFrame>
            <p:nvGraphicFramePr>
              <p:cNvPr id="52235" name="Object 2"/>
              <p:cNvGraphicFramePr>
                <a:graphicFrameLocks noChangeAspect="1"/>
              </p:cNvGraphicFramePr>
              <p:nvPr/>
            </p:nvGraphicFramePr>
            <p:xfrm>
              <a:off x="1617" y="2115"/>
              <a:ext cx="3841" cy="17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4" name="Equation" r:id="rId3" imgW="60350400" imgH="26822400" progId="Equation.DSMT4">
                      <p:embed/>
                    </p:oleObj>
                  </mc:Choice>
                  <mc:Fallback>
                    <p:oleObj name="Equation" r:id="rId3" imgW="60350400" imgH="26822400" progId="Equation.DSMT4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7" y="2115"/>
                            <a:ext cx="3841" cy="17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236" name="Line 20"/>
              <p:cNvSpPr>
                <a:spLocks noChangeShapeType="1"/>
              </p:cNvSpPr>
              <p:nvPr/>
            </p:nvSpPr>
            <p:spPr bwMode="auto">
              <a:xfrm>
                <a:off x="4740" y="2432"/>
                <a:ext cx="0" cy="13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" name="矩形 12"/>
          <p:cNvSpPr/>
          <p:nvPr/>
        </p:nvSpPr>
        <p:spPr>
          <a:xfrm>
            <a:off x="857250" y="4214813"/>
            <a:ext cx="4494213" cy="9540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38200" indent="-838200"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因右端均非负，故得最优解</a:t>
            </a:r>
            <a:endParaRPr lang="en-US" altLang="zh-CN" sz="2800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+mj-cs"/>
            </a:endParaRPr>
          </a:p>
          <a:p>
            <a:pPr marL="838200" indent="-838200" eaLnBrk="1" hangingPunct="1">
              <a:defRPr/>
            </a:pP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    x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1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=6,x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2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=x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3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+mj-cs"/>
              </a:rPr>
              <a:t>=0,</a:t>
            </a:r>
            <a:endParaRPr lang="zh-CN" altLang="en-US" sz="2800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4" name="矩形 7"/>
          <p:cNvSpPr>
            <a:spLocks noChangeArrowheads="1"/>
          </p:cNvSpPr>
          <p:nvPr/>
        </p:nvSpPr>
        <p:spPr bwMode="auto">
          <a:xfrm>
            <a:off x="323850" y="692150"/>
            <a:ext cx="724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838200" indent="-838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>
                <a:ea typeface="楷体_GB2312" panose="02010609030101010101" pitchFamily="49" charset="-122"/>
              </a:rPr>
              <a:t>6</a:t>
            </a:r>
            <a:r>
              <a:rPr lang="zh-CN" altLang="en-US" sz="2400" dirty="0">
                <a:ea typeface="楷体_GB2312" panose="02010609030101010101" pitchFamily="49" charset="-122"/>
              </a:rPr>
              <a:t> </a:t>
            </a:r>
            <a:endParaRPr lang="zh-CN" altLang="en-US" sz="2400" dirty="0"/>
          </a:p>
        </p:txBody>
      </p:sp>
      <p:graphicFrame>
        <p:nvGraphicFramePr>
          <p:cNvPr id="53255" name="Object 11"/>
          <p:cNvGraphicFramePr>
            <a:graphicFrameLocks noChangeAspect="1"/>
          </p:cNvGraphicFramePr>
          <p:nvPr/>
        </p:nvGraphicFramePr>
        <p:xfrm>
          <a:off x="1857375" y="928688"/>
          <a:ext cx="3606800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2" name="Equation" r:id="rId3" imgW="1536700" imgH="914400" progId="Equation.DSMT4">
                  <p:embed/>
                </p:oleObj>
              </mc:Choice>
              <mc:Fallback>
                <p:oleObj name="Equation" r:id="rId3" imgW="1536700" imgH="914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928688"/>
                        <a:ext cx="3606800" cy="214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714375" y="3143250"/>
            <a:ext cx="45720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/>
                <a:ea typeface="楷体_GB2312" panose="02010609030101010101" pitchFamily="49" charset="-122"/>
              </a:rPr>
              <a:t>解：先化为扩充问题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graphicFrame>
        <p:nvGraphicFramePr>
          <p:cNvPr id="53257" name="Object 12"/>
          <p:cNvGraphicFramePr>
            <a:graphicFrameLocks noChangeAspect="1"/>
          </p:cNvGraphicFramePr>
          <p:nvPr/>
        </p:nvGraphicFramePr>
        <p:xfrm>
          <a:off x="3143250" y="3643313"/>
          <a:ext cx="4643438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3" name="Equation" r:id="rId5" imgW="2006600" imgH="1143000" progId="Equation.DSMT4">
                  <p:embed/>
                </p:oleObj>
              </mc:Choice>
              <mc:Fallback>
                <p:oleObj name="Equation" r:id="rId5" imgW="2006600" imgH="1143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3643313"/>
                        <a:ext cx="4643438" cy="264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8" name="Rectangle 8"/>
          <p:cNvSpPr>
            <a:spLocks noChangeArrowheads="1"/>
          </p:cNvSpPr>
          <p:nvPr/>
        </p:nvSpPr>
        <p:spPr bwMode="auto">
          <a:xfrm>
            <a:off x="0" y="549275"/>
            <a:ext cx="384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把约束矩阵置于单纯形表中</a:t>
            </a:r>
            <a:endParaRPr lang="en-US" altLang="zh-CN" sz="2400"/>
          </a:p>
        </p:txBody>
      </p:sp>
      <p:grpSp>
        <p:nvGrpSpPr>
          <p:cNvPr id="2" name="Group 14"/>
          <p:cNvGrpSpPr/>
          <p:nvPr/>
        </p:nvGrpSpPr>
        <p:grpSpPr bwMode="auto">
          <a:xfrm>
            <a:off x="2700338" y="836613"/>
            <a:ext cx="5976937" cy="2592387"/>
            <a:chOff x="816" y="935"/>
            <a:chExt cx="3834" cy="1770"/>
          </a:xfrm>
        </p:grpSpPr>
        <p:graphicFrame>
          <p:nvGraphicFramePr>
            <p:cNvPr id="54289" name="Object 3"/>
            <p:cNvGraphicFramePr>
              <a:graphicFrameLocks noChangeAspect="1"/>
            </p:cNvGraphicFramePr>
            <p:nvPr/>
          </p:nvGraphicFramePr>
          <p:xfrm>
            <a:off x="816" y="935"/>
            <a:ext cx="3629" cy="1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6" name="Equation" r:id="rId3" imgW="5080000" imgH="2374900" progId="Equation.DSMT4">
                    <p:embed/>
                  </p:oleObj>
                </mc:Choice>
                <mc:Fallback>
                  <p:oleObj name="Equation" r:id="rId3" imgW="5080000" imgH="23749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935"/>
                          <a:ext cx="3629" cy="16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0" name="Rectangle 11"/>
            <p:cNvSpPr>
              <a:spLocks noChangeArrowheads="1"/>
            </p:cNvSpPr>
            <p:nvPr/>
          </p:nvSpPr>
          <p:spPr bwMode="auto">
            <a:xfrm>
              <a:off x="1066" y="1252"/>
              <a:ext cx="3583" cy="1451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4291" name="Line 12"/>
            <p:cNvSpPr>
              <a:spLocks noChangeShapeType="1"/>
            </p:cNvSpPr>
            <p:nvPr/>
          </p:nvSpPr>
          <p:spPr bwMode="auto">
            <a:xfrm>
              <a:off x="1066" y="2296"/>
              <a:ext cx="3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4292" name="Line 13"/>
            <p:cNvSpPr>
              <a:spLocks noChangeShapeType="1"/>
            </p:cNvSpPr>
            <p:nvPr/>
          </p:nvSpPr>
          <p:spPr bwMode="auto">
            <a:xfrm>
              <a:off x="4150" y="1253"/>
              <a:ext cx="0" cy="1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8687" name="AutoShape 15"/>
          <p:cNvSpPr>
            <a:spLocks noChangeArrowheads="1"/>
          </p:cNvSpPr>
          <p:nvPr/>
        </p:nvSpPr>
        <p:spPr bwMode="auto">
          <a:xfrm>
            <a:off x="4716463" y="3213100"/>
            <a:ext cx="433387" cy="36036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8688" name="Oval 16"/>
          <p:cNvSpPr>
            <a:spLocks noChangeArrowheads="1"/>
          </p:cNvSpPr>
          <p:nvPr/>
        </p:nvSpPr>
        <p:spPr bwMode="auto">
          <a:xfrm>
            <a:off x="4500563" y="2492375"/>
            <a:ext cx="647700" cy="287338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" name="Group 22"/>
          <p:cNvGrpSpPr/>
          <p:nvPr/>
        </p:nvGrpSpPr>
        <p:grpSpPr bwMode="auto">
          <a:xfrm>
            <a:off x="166688" y="3429000"/>
            <a:ext cx="6710362" cy="2879725"/>
            <a:chOff x="105" y="2160"/>
            <a:chExt cx="4227" cy="1814"/>
          </a:xfrm>
        </p:grpSpPr>
        <p:graphicFrame>
          <p:nvGraphicFramePr>
            <p:cNvPr id="54285" name="Object 2"/>
            <p:cNvGraphicFramePr>
              <a:graphicFrameLocks noChangeAspect="1"/>
            </p:cNvGraphicFramePr>
            <p:nvPr/>
          </p:nvGraphicFramePr>
          <p:xfrm>
            <a:off x="105" y="2160"/>
            <a:ext cx="4010" cy="1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47" name="Equation" r:id="rId5" imgW="5613400" imgH="2374900" progId="Equation.DSMT4">
                    <p:embed/>
                  </p:oleObj>
                </mc:Choice>
                <mc:Fallback>
                  <p:oleObj name="Equation" r:id="rId5" imgW="5613400" imgH="23749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" y="2160"/>
                          <a:ext cx="4010" cy="16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6" name="Rectangle 19"/>
            <p:cNvSpPr>
              <a:spLocks noChangeArrowheads="1"/>
            </p:cNvSpPr>
            <p:nvPr/>
          </p:nvSpPr>
          <p:spPr bwMode="auto">
            <a:xfrm>
              <a:off x="431" y="2478"/>
              <a:ext cx="3901" cy="149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4287" name="Line 20"/>
            <p:cNvSpPr>
              <a:spLocks noChangeShapeType="1"/>
            </p:cNvSpPr>
            <p:nvPr/>
          </p:nvSpPr>
          <p:spPr bwMode="auto">
            <a:xfrm>
              <a:off x="431" y="3521"/>
              <a:ext cx="39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4288" name="Line 21"/>
            <p:cNvSpPr>
              <a:spLocks noChangeShapeType="1"/>
            </p:cNvSpPr>
            <p:nvPr/>
          </p:nvSpPr>
          <p:spPr bwMode="auto">
            <a:xfrm>
              <a:off x="3470" y="2478"/>
              <a:ext cx="0" cy="1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8695" name="AutoShape 23"/>
          <p:cNvSpPr>
            <a:spLocks noChangeArrowheads="1"/>
          </p:cNvSpPr>
          <p:nvPr/>
        </p:nvSpPr>
        <p:spPr bwMode="auto">
          <a:xfrm>
            <a:off x="6588125" y="3933825"/>
            <a:ext cx="647700" cy="431800"/>
          </a:xfrm>
          <a:prstGeom prst="lef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8696" name="Oval 24"/>
          <p:cNvSpPr>
            <a:spLocks noChangeArrowheads="1"/>
          </p:cNvSpPr>
          <p:nvPr/>
        </p:nvSpPr>
        <p:spPr bwMode="auto">
          <a:xfrm>
            <a:off x="1403350" y="4076700"/>
            <a:ext cx="647700" cy="288925"/>
          </a:xfrm>
          <a:prstGeom prst="ellipse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7" grpId="0" animBg="1"/>
      <p:bldP spid="28688" grpId="0" animBg="1"/>
      <p:bldP spid="28695" grpId="0" animBg="1"/>
      <p:bldP spid="2869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 bwMode="auto">
          <a:xfrm>
            <a:off x="468313" y="1052513"/>
            <a:ext cx="7343775" cy="4608512"/>
            <a:chOff x="295" y="572"/>
            <a:chExt cx="4626" cy="2903"/>
          </a:xfrm>
        </p:grpSpPr>
        <p:graphicFrame>
          <p:nvGraphicFramePr>
            <p:cNvPr id="55306" name="Object 2"/>
            <p:cNvGraphicFramePr>
              <a:graphicFrameLocks noChangeAspect="1"/>
            </p:cNvGraphicFramePr>
            <p:nvPr/>
          </p:nvGraphicFramePr>
          <p:xfrm>
            <a:off x="295" y="572"/>
            <a:ext cx="4464" cy="2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16" name="Equation" r:id="rId3" imgW="6248400" imgH="3949700" progId="Equation.DSMT4">
                    <p:embed/>
                  </p:oleObj>
                </mc:Choice>
                <mc:Fallback>
                  <p:oleObj name="Equation" r:id="rId3" imgW="6248400" imgH="39497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572"/>
                          <a:ext cx="4464" cy="28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7" name="Rectangle 10"/>
            <p:cNvSpPr>
              <a:spLocks noChangeArrowheads="1"/>
            </p:cNvSpPr>
            <p:nvPr/>
          </p:nvSpPr>
          <p:spPr bwMode="auto">
            <a:xfrm>
              <a:off x="657" y="890"/>
              <a:ext cx="4264" cy="2585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5308" name="Line 11"/>
            <p:cNvSpPr>
              <a:spLocks noChangeShapeType="1"/>
            </p:cNvSpPr>
            <p:nvPr/>
          </p:nvSpPr>
          <p:spPr bwMode="auto">
            <a:xfrm>
              <a:off x="657" y="2795"/>
              <a:ext cx="4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5309" name="Line 12"/>
            <p:cNvSpPr>
              <a:spLocks noChangeShapeType="1"/>
            </p:cNvSpPr>
            <p:nvPr/>
          </p:nvSpPr>
          <p:spPr bwMode="auto">
            <a:xfrm flipH="1">
              <a:off x="3833" y="890"/>
              <a:ext cx="0" cy="25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9710" name="AutoShape 14"/>
          <p:cNvSpPr>
            <a:spLocks noChangeArrowheads="1"/>
          </p:cNvSpPr>
          <p:nvPr/>
        </p:nvSpPr>
        <p:spPr bwMode="auto">
          <a:xfrm>
            <a:off x="7667625" y="2781300"/>
            <a:ext cx="649288" cy="503238"/>
          </a:xfrm>
          <a:prstGeom prst="leftArrow">
            <a:avLst>
              <a:gd name="adj1" fmla="val 50000"/>
              <a:gd name="adj2" fmla="val 322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9711" name="Oval 15"/>
          <p:cNvSpPr>
            <a:spLocks noChangeArrowheads="1"/>
          </p:cNvSpPr>
          <p:nvPr/>
        </p:nvSpPr>
        <p:spPr bwMode="auto">
          <a:xfrm>
            <a:off x="971550" y="2781300"/>
            <a:ext cx="647700" cy="647700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 animBg="1"/>
      <p:bldP spid="297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/>
          <p:nvPr/>
        </p:nvGrpSpPr>
        <p:grpSpPr bwMode="auto">
          <a:xfrm>
            <a:off x="785813" y="1071563"/>
            <a:ext cx="7358062" cy="4175125"/>
            <a:chOff x="657" y="845"/>
            <a:chExt cx="4635" cy="2630"/>
          </a:xfrm>
        </p:grpSpPr>
        <p:graphicFrame>
          <p:nvGraphicFramePr>
            <p:cNvPr id="56328" name="Object 2"/>
            <p:cNvGraphicFramePr>
              <a:graphicFrameLocks noChangeAspect="1"/>
            </p:cNvGraphicFramePr>
            <p:nvPr/>
          </p:nvGraphicFramePr>
          <p:xfrm>
            <a:off x="702" y="845"/>
            <a:ext cx="4528" cy="2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40" name="Equation" r:id="rId3" imgW="6337300" imgH="3543300" progId="Equation.DSMT4">
                    <p:embed/>
                  </p:oleObj>
                </mc:Choice>
                <mc:Fallback>
                  <p:oleObj name="Equation" r:id="rId3" imgW="6337300" imgH="35433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" y="845"/>
                          <a:ext cx="4528" cy="2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9" name="Rectangle 10"/>
            <p:cNvSpPr>
              <a:spLocks noChangeArrowheads="1"/>
            </p:cNvSpPr>
            <p:nvPr/>
          </p:nvSpPr>
          <p:spPr bwMode="auto">
            <a:xfrm>
              <a:off x="657" y="890"/>
              <a:ext cx="4635" cy="2565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330" name="Line 11"/>
            <p:cNvSpPr>
              <a:spLocks noChangeShapeType="1"/>
            </p:cNvSpPr>
            <p:nvPr/>
          </p:nvSpPr>
          <p:spPr bwMode="auto">
            <a:xfrm>
              <a:off x="657" y="3095"/>
              <a:ext cx="4590" cy="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6331" name="Line 12"/>
            <p:cNvSpPr>
              <a:spLocks noChangeShapeType="1"/>
            </p:cNvSpPr>
            <p:nvPr/>
          </p:nvSpPr>
          <p:spPr bwMode="auto">
            <a:xfrm flipH="1">
              <a:off x="4257" y="890"/>
              <a:ext cx="0" cy="25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71500" y="1214438"/>
                <a:ext cx="7500938" cy="252412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</a:rPr>
                  <a:t>已得到最优解</a:t>
                </a:r>
                <a:endParaRPr lang="en-US" altLang="zh-CN" sz="2800" kern="0" dirty="0">
                  <a:latin typeface="Times New Roman" panose="02020603050405020304"/>
                  <a:ea typeface="楷体_GB2312" panose="02010609030101010101" pitchFamily="49" charset="-122"/>
                  <a:cs typeface="+mj-cs"/>
                </a:endParaRPr>
              </a:p>
              <a:p>
                <a:pPr eaLnBrk="1" hangingPunct="1">
                  <a:defRPr/>
                </a:pPr>
                <a:r>
                  <a:rPr lang="en-US" altLang="zh-CN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</a:rPr>
                  <a:t>  x=1/9(22+M,-7+5M,-15+3M,0,0,0)</a:t>
                </a:r>
              </a:p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</a:rPr>
                  <a:t>目标值</a:t>
                </a:r>
                <a:r>
                  <a:rPr lang="en-US" altLang="zh-CN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</a:rPr>
                  <a:t>f=9-2M</a:t>
                </a:r>
              </a:p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</a:rPr>
                  <a:t>当</a:t>
                </a:r>
                <a:r>
                  <a:rPr lang="en-US" altLang="zh-CN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zh-CN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→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+∞</m:t>
                    </m:r>
                  </m:oMath>
                </a14:m>
                <a:r>
                  <a:rPr lang="zh-CN" altLang="en-US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  <a:sym typeface="Euclid Symbol" panose="05050102010706020507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sz="2800" kern="0" dirty="0">
                  <a:latin typeface="Times New Roman" panose="02020603050405020304"/>
                  <a:ea typeface="楷体_GB2312" panose="02010609030101010101" pitchFamily="49" charset="-122"/>
                  <a:cs typeface="+mj-cs"/>
                  <a:sym typeface="Euclid Symbol" panose="05050102010706020507"/>
                </a:endParaRPr>
              </a:p>
              <a:p>
                <a:pPr eaLnBrk="1" hangingPunct="1">
                  <a:defRPr/>
                </a:pPr>
                <a:r>
                  <a:rPr lang="zh-CN" altLang="en-US" sz="2800" kern="0" dirty="0">
                    <a:latin typeface="Times New Roman" panose="02020603050405020304"/>
                    <a:ea typeface="楷体_GB2312" panose="02010609030101010101" pitchFamily="49" charset="-122"/>
                    <a:cs typeface="+mj-cs"/>
                    <a:sym typeface="Euclid Symbol" panose="05050102010706020507"/>
                  </a:rPr>
                  <a:t>故问题无界</a:t>
                </a:r>
                <a:endParaRPr lang="en-US" altLang="zh-CN" sz="2800" kern="0" dirty="0">
                  <a:latin typeface="Times New Roman" panose="02020603050405020304"/>
                  <a:ea typeface="楷体_GB2312" panose="02010609030101010101" pitchFamily="49" charset="-122"/>
                  <a:cs typeface="+mj-cs"/>
                </a:endParaRPr>
              </a:p>
              <a:p>
                <a:pPr eaLnBrk="1" hangingPunct="1">
                  <a:defRPr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214438"/>
                <a:ext cx="7500938" cy="2524125"/>
              </a:xfrm>
              <a:prstGeom prst="rect">
                <a:avLst/>
              </a:prstGeom>
              <a:blipFill rotWithShape="1">
                <a:blip r:embed="rId2"/>
                <a:stretch>
                  <a:fillRect t="-13" r="4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3" name="Rectangle 4"/>
          <p:cNvSpPr>
            <a:spLocks noGrp="1" noChangeArrowheads="1"/>
          </p:cNvSpPr>
          <p:nvPr>
            <p:ph type="title"/>
          </p:nvPr>
        </p:nvSpPr>
        <p:spPr>
          <a:xfrm>
            <a:off x="444500" y="155218"/>
            <a:ext cx="8229600" cy="757238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 </a:t>
            </a:r>
            <a:r>
              <a:rPr lang="zh-CN" altLang="en-US" sz="36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灵敏度分析</a:t>
            </a:r>
          </a:p>
        </p:txBody>
      </p:sp>
      <p:sp>
        <p:nvSpPr>
          <p:cNvPr id="83974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43000" y="1052513"/>
            <a:ext cx="8001000" cy="42672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，引入</a:t>
            </a: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，改变系数向量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，改变右端向量</a:t>
            </a:r>
          </a:p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，改变约束矩阵</a:t>
            </a:r>
          </a:p>
          <a:p>
            <a:pPr eaLnBrk="1" hangingPunct="1"/>
            <a:r>
              <a:rPr lang="en-US" altLang="zh-CN" dirty="0"/>
              <a:t>5</a:t>
            </a:r>
            <a:r>
              <a:rPr lang="zh-CN" altLang="en-US" dirty="0"/>
              <a:t>，增加新的约束</a:t>
            </a:r>
            <a:endParaRPr lang="en-US" altLang="zh-CN" dirty="0"/>
          </a:p>
          <a:p>
            <a:pPr eaLnBrk="1" hangingPunct="1"/>
            <a:r>
              <a:rPr lang="en-US" altLang="zh-CN" dirty="0"/>
              <a:t>6</a:t>
            </a:r>
            <a:r>
              <a:rPr lang="zh-CN" altLang="en-US" dirty="0"/>
              <a:t>，增加新的决策变量</a:t>
            </a: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6" name="Group 17"/>
          <p:cNvGrpSpPr/>
          <p:nvPr/>
        </p:nvGrpSpPr>
        <p:grpSpPr bwMode="auto">
          <a:xfrm>
            <a:off x="468313" y="3340100"/>
            <a:ext cx="8274050" cy="822325"/>
            <a:chOff x="295" y="1979"/>
            <a:chExt cx="5212" cy="518"/>
          </a:xfrm>
        </p:grpSpPr>
        <p:sp>
          <p:nvSpPr>
            <p:cNvPr id="85003" name="Rectangle 3"/>
            <p:cNvSpPr>
              <a:spLocks noChangeArrowheads="1"/>
            </p:cNvSpPr>
            <p:nvPr/>
          </p:nvSpPr>
          <p:spPr bwMode="auto">
            <a:xfrm>
              <a:off x="295" y="1979"/>
              <a:ext cx="52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/>
                <a:t>前面讲的线性规划问题中，都假定问题中              是已知常数。但实际上这些数往往是一些估计和预测的数字</a:t>
              </a:r>
            </a:p>
          </p:txBody>
        </p:sp>
        <p:graphicFrame>
          <p:nvGraphicFramePr>
            <p:cNvPr id="85004" name="Object 4"/>
            <p:cNvGraphicFramePr>
              <a:graphicFrameLocks noChangeAspect="1"/>
            </p:cNvGraphicFramePr>
            <p:nvPr/>
          </p:nvGraphicFramePr>
          <p:xfrm>
            <a:off x="3787" y="1979"/>
            <a:ext cx="72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64" name="Equation" r:id="rId3" imgW="438150" imgH="180340" progId="Equation.DSMT4">
                    <p:embed/>
                  </p:oleObj>
                </mc:Choice>
                <mc:Fallback>
                  <p:oleObj name="Equation" r:id="rId3" imgW="438150" imgH="18034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979"/>
                          <a:ext cx="726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997" name="Rectangle 6"/>
          <p:cNvSpPr>
            <a:spLocks noChangeArrowheads="1"/>
          </p:cNvSpPr>
          <p:nvPr/>
        </p:nvSpPr>
        <p:spPr bwMode="auto">
          <a:xfrm>
            <a:off x="684213" y="4205288"/>
            <a:ext cx="51355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市场条件变化，价值变量 </a:t>
            </a:r>
            <a:r>
              <a:rPr lang="en-US" altLang="zh-CN" i="1"/>
              <a:t>c</a:t>
            </a:r>
            <a:r>
              <a:rPr lang="en-US" altLang="zh-CN" i="1" baseline="-25000"/>
              <a:t>j</a:t>
            </a:r>
            <a:r>
              <a:rPr lang="zh-CN" altLang="en-US" sz="2400"/>
              <a:t>就会变化</a:t>
            </a:r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714375" y="4629150"/>
            <a:ext cx="4849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i="1"/>
              <a:t>a</a:t>
            </a:r>
            <a:r>
              <a:rPr lang="en-US" altLang="zh-CN" i="1" baseline="-25000"/>
              <a:t>ij</a:t>
            </a:r>
            <a:r>
              <a:rPr lang="zh-CN" altLang="en-US" sz="2400"/>
              <a:t>是随工艺技术条件的改变而改变</a:t>
            </a:r>
          </a:p>
        </p:txBody>
      </p:sp>
      <p:sp>
        <p:nvSpPr>
          <p:cNvPr id="84999" name="Rectangle 12"/>
          <p:cNvSpPr>
            <a:spLocks noChangeArrowheads="1"/>
          </p:cNvSpPr>
          <p:nvPr/>
        </p:nvSpPr>
        <p:spPr bwMode="auto">
          <a:xfrm>
            <a:off x="611188" y="5211763"/>
            <a:ext cx="83518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而值</a:t>
            </a:r>
            <a:r>
              <a:rPr lang="en-US" altLang="zh-CN" i="1"/>
              <a:t>b</a:t>
            </a:r>
            <a:r>
              <a:rPr lang="en-US" altLang="zh-CN" i="1" baseline="-25000"/>
              <a:t>i</a:t>
            </a:r>
            <a:r>
              <a:rPr lang="zh-CN" altLang="en-US" sz="2400"/>
              <a:t>则是根据资源投入后能产生多大经济效益来决定的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一种决策选择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85000" name="Rectangle 15"/>
          <p:cNvSpPr>
            <a:spLocks noChangeArrowheads="1"/>
          </p:cNvSpPr>
          <p:nvPr/>
        </p:nvSpPr>
        <p:spPr bwMode="auto">
          <a:xfrm>
            <a:off x="395288" y="1052513"/>
            <a:ext cx="84248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在大多数实际问题中。不仅要求求出问题的最优解，而且还希望知道当问题中的某些参数改变时最优解怎样变动。参数的变化可分为</a:t>
            </a:r>
            <a:r>
              <a:rPr lang="zh-CN" altLang="en-US" sz="2400" b="1">
                <a:solidFill>
                  <a:schemeClr val="bg2"/>
                </a:solidFill>
              </a:rPr>
              <a:t>离</a:t>
            </a:r>
            <a:r>
              <a:rPr lang="zh-CN" altLang="en-US" sz="2400" b="1">
                <a:solidFill>
                  <a:srgbClr val="3333CC"/>
                </a:solidFill>
              </a:rPr>
              <a:t>散的</a:t>
            </a:r>
            <a:r>
              <a:rPr lang="zh-CN" altLang="en-US" sz="2400"/>
              <a:t>和</a:t>
            </a:r>
            <a:r>
              <a:rPr lang="zh-CN" altLang="en-US" sz="2400" b="1">
                <a:solidFill>
                  <a:srgbClr val="3333CC"/>
                </a:solidFill>
              </a:rPr>
              <a:t>连续的</a:t>
            </a:r>
            <a:r>
              <a:rPr lang="zh-CN" altLang="en-US" sz="2400"/>
              <a:t>两种。</a:t>
            </a:r>
            <a:r>
              <a:rPr lang="zh-CN" altLang="en-US" sz="2400" b="1">
                <a:solidFill>
                  <a:srgbClr val="0000FF"/>
                </a:solidFill>
              </a:rPr>
              <a:t> 灵敏度分析</a:t>
            </a:r>
            <a:r>
              <a:rPr lang="zh-CN" altLang="en-US" sz="2400"/>
              <a:t>是指对系统或事物因周围条件离散变化显示出来的敏感程度的分析，即对最优解的影响进行分析研究。而参数规划则是研究参数连续的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变化时对最优解的影响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96875" y="2684463"/>
            <a:ext cx="6408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这就是灵敏度分析所要研究解决的问题。</a:t>
            </a:r>
          </a:p>
        </p:txBody>
      </p:sp>
      <p:sp>
        <p:nvSpPr>
          <p:cNvPr id="86021" name="Rectangle 3"/>
          <p:cNvSpPr>
            <a:spLocks noChangeArrowheads="1"/>
          </p:cNvSpPr>
          <p:nvPr/>
        </p:nvSpPr>
        <p:spPr bwMode="auto">
          <a:xfrm>
            <a:off x="323850" y="884238"/>
            <a:ext cx="353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因此就会提出以下问题：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396875" y="1316038"/>
            <a:ext cx="72564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当这些参数中的一个或几个发生变化时，问题的最优解会有什么变化</a:t>
            </a:r>
            <a:r>
              <a:rPr lang="en-US" altLang="zh-CN" sz="2400"/>
              <a:t>?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96875" y="2179638"/>
            <a:ext cx="7875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这些参数在一个多大范围内变化时，问题的最优解变不变</a:t>
            </a:r>
            <a:r>
              <a:rPr lang="en-US" altLang="zh-CN" sz="2400"/>
              <a:t>?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519059" y="3387761"/>
            <a:ext cx="4460875" cy="2111375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影响最优解的参数有如下几类：</a:t>
            </a:r>
          </a:p>
          <a:p>
            <a:pPr eaLnBrk="1" hangingPunct="1">
              <a:spcBef>
                <a:spcPct val="0"/>
              </a:spcBef>
              <a:buClr>
                <a:srgbClr val="3333CC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400" dirty="0"/>
              <a:t>改变费用系数</a:t>
            </a:r>
            <a:r>
              <a:rPr lang="en-US" altLang="zh-CN" b="1" i="1" dirty="0" err="1">
                <a:solidFill>
                  <a:srgbClr val="3333CC"/>
                </a:solidFill>
              </a:rPr>
              <a:t>c</a:t>
            </a:r>
            <a:r>
              <a:rPr lang="en-US" altLang="zh-CN" b="1" i="1" baseline="-25000" dirty="0" err="1">
                <a:solidFill>
                  <a:srgbClr val="3333CC"/>
                </a:solidFill>
              </a:rPr>
              <a:t>j</a:t>
            </a:r>
            <a:endParaRPr lang="en-US" altLang="zh-CN" sz="2400" b="1" i="1" baseline="-250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>
                <a:srgbClr val="3333CC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400" dirty="0"/>
              <a:t>改变右端费用</a:t>
            </a:r>
            <a:r>
              <a:rPr lang="en-US" altLang="zh-CN" sz="2800" b="1" i="1" dirty="0">
                <a:solidFill>
                  <a:srgbClr val="3333CC"/>
                </a:solidFill>
              </a:rPr>
              <a:t>b</a:t>
            </a:r>
            <a:r>
              <a:rPr lang="en-US" altLang="zh-CN" b="1" i="1" baseline="-25000" dirty="0">
                <a:solidFill>
                  <a:srgbClr val="3333CC"/>
                </a:solidFill>
              </a:rPr>
              <a:t>i</a:t>
            </a:r>
            <a:endParaRPr lang="en-US" altLang="zh-CN" sz="2400" b="1" i="1" baseline="-25000" dirty="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>
                <a:srgbClr val="3333CC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400" dirty="0"/>
              <a:t>改变约束方程的系数矩阵</a:t>
            </a:r>
            <a:r>
              <a:rPr lang="en-US" altLang="zh-CN" sz="2400" b="1" i="1" dirty="0">
                <a:solidFill>
                  <a:srgbClr val="3333CC"/>
                </a:solidFill>
              </a:rPr>
              <a:t>A</a:t>
            </a:r>
          </a:p>
          <a:p>
            <a:pPr eaLnBrk="1" hangingPunct="1">
              <a:spcBef>
                <a:spcPct val="0"/>
              </a:spcBef>
              <a:buClr>
                <a:srgbClr val="3333CC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400" dirty="0"/>
              <a:t>加入新的约束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5292725" y="3357563"/>
            <a:ext cx="3024188" cy="265747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参数变化后的结果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/>
              <a:t>最优解不变：最优 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   基及其取值不变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/>
              <a:t>基变量不变但取值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   改变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/>
              <a:t>基变量改变，取值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   亦改变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4" grpId="0"/>
      <p:bldP spid="5125" grpId="0"/>
      <p:bldP spid="5126" grpId="0" animBg="1"/>
      <p:bldP spid="51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灯片编号占位符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F3C9A474-25CA-43F5-843B-9F1ED7D1D514}" type="slidenum">
              <a:rPr lang="en-US" altLang="zh-CN" sz="1400"/>
              <a:t>57</a:t>
            </a:fld>
            <a:endParaRPr lang="en-US" altLang="zh-CN" sz="1400"/>
          </a:p>
        </p:txBody>
      </p:sp>
      <p:graphicFrame>
        <p:nvGraphicFramePr>
          <p:cNvPr id="6146" name="Group 2"/>
          <p:cNvGraphicFramePr>
            <a:graphicFrameLocks noGrp="1"/>
          </p:cNvGraphicFramePr>
          <p:nvPr/>
        </p:nvGraphicFramePr>
        <p:xfrm>
          <a:off x="755650" y="2159000"/>
          <a:ext cx="7391400" cy="3743325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原问题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对偶问题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结论或继续计算的步骤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4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可行解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可行解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非可行解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非可行解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可行解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非可行解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可行解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非可行解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问题的最优解或最优基不变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用单纯形法继续迭代求最优解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对偶单纯形法继续迭代求最优解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原始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对偶单纯形算法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引进人工变量，编制新的单纯形表重新计算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7059" name="Text Box 16"/>
          <p:cNvSpPr txBox="1">
            <a:spLocks noChangeArrowheads="1"/>
          </p:cNvSpPr>
          <p:nvPr/>
        </p:nvSpPr>
        <p:spPr bwMode="auto">
          <a:xfrm>
            <a:off x="755650" y="955675"/>
            <a:ext cx="410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重新解新线性规划问题？</a:t>
            </a: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693381" y="1474519"/>
            <a:ext cx="80293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重新计算发生变化的个别系数</a:t>
            </a:r>
            <a:r>
              <a:rPr lang="en-US" altLang="zh-CN" sz="2400" dirty="0"/>
              <a:t>,</a:t>
            </a:r>
            <a:r>
              <a:rPr lang="zh-CN" altLang="en-US" sz="2400" dirty="0"/>
              <a:t>判断问题现状</a:t>
            </a:r>
            <a:r>
              <a:rPr lang="en-US" altLang="zh-CN" sz="2400" dirty="0"/>
              <a:t>,</a:t>
            </a:r>
            <a:r>
              <a:rPr lang="zh-CN" altLang="en-US" sz="2400" dirty="0"/>
              <a:t>采取如下措置</a:t>
            </a: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755650" y="3070225"/>
            <a:ext cx="7416800" cy="1655763"/>
            <a:chOff x="385" y="2523"/>
            <a:chExt cx="4672" cy="1043"/>
          </a:xfrm>
        </p:grpSpPr>
        <p:sp>
          <p:nvSpPr>
            <p:cNvPr id="87063" name="Line 20"/>
            <p:cNvSpPr>
              <a:spLocks noChangeShapeType="1"/>
            </p:cNvSpPr>
            <p:nvPr/>
          </p:nvSpPr>
          <p:spPr bwMode="auto">
            <a:xfrm>
              <a:off x="385" y="2523"/>
              <a:ext cx="4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064" name="Line 21"/>
            <p:cNvSpPr>
              <a:spLocks noChangeShapeType="1"/>
            </p:cNvSpPr>
            <p:nvPr/>
          </p:nvSpPr>
          <p:spPr bwMode="auto">
            <a:xfrm>
              <a:off x="385" y="3022"/>
              <a:ext cx="4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065" name="Line 22"/>
            <p:cNvSpPr>
              <a:spLocks noChangeShapeType="1"/>
            </p:cNvSpPr>
            <p:nvPr/>
          </p:nvSpPr>
          <p:spPr bwMode="auto">
            <a:xfrm>
              <a:off x="385" y="3566"/>
              <a:ext cx="4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727075" y="955675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考虑标准</a:t>
            </a:r>
            <a:r>
              <a:rPr lang="en-US" altLang="zh-CN" sz="2400" dirty="0"/>
              <a:t>LP</a:t>
            </a:r>
            <a:r>
              <a:rPr lang="zh-CN" altLang="en-US" sz="2400" dirty="0">
                <a:cs typeface="Times New Roman" panose="02020603050405020304" pitchFamily="18" charset="0"/>
              </a:rPr>
              <a:t>问题为</a:t>
            </a:r>
            <a:endParaRPr lang="zh-CN" altLang="en-US" sz="2400" dirty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5710238" y="2589213"/>
            <a:ext cx="835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Arial Narrow" panose="020B0606020202030204" pitchFamily="34" charset="0"/>
              </a:rPr>
              <a:t>RHS</a:t>
            </a:r>
            <a:endParaRPr lang="en-US" altLang="zh-CN" sz="240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900113" y="4265613"/>
          <a:ext cx="4667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39" r:id="rId3" imgW="215900" imgH="228600" progId="Equation.3">
                  <p:embed/>
                </p:oleObj>
              </mc:Choice>
              <mc:Fallback>
                <p:oleObj r:id="rId3" imgW="2159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265613"/>
                        <a:ext cx="46672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3957638" y="2589213"/>
          <a:ext cx="508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0" r:id="rId5" imgW="241300" imgH="228600" progId="Equation.3">
                  <p:embed/>
                </p:oleObj>
              </mc:Choice>
              <mc:Fallback>
                <p:oleObj r:id="rId5" imgW="2413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2589213"/>
                        <a:ext cx="508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3195638" y="3355975"/>
          <a:ext cx="19748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1" r:id="rId7" imgW="926465" imgH="266700" progId="Equation.3">
                  <p:embed/>
                </p:oleObj>
              </mc:Choice>
              <mc:Fallback>
                <p:oleObj r:id="rId7" imgW="926465" imgH="266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3355975"/>
                        <a:ext cx="1974850" cy="5699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5557838" y="3351213"/>
          <a:ext cx="11604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2" r:id="rId9" imgW="545465" imgH="266700" progId="Equation.3">
                  <p:embed/>
                </p:oleObj>
              </mc:Choice>
              <mc:Fallback>
                <p:oleObj r:id="rId9" imgW="545465" imgH="266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3351213"/>
                        <a:ext cx="1160462" cy="5699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2052638" y="4341813"/>
          <a:ext cx="29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3" r:id="rId11" imgW="127000" imgH="165100" progId="Equation.3">
                  <p:embed/>
                </p:oleObj>
              </mc:Choice>
              <mc:Fallback>
                <p:oleObj r:id="rId11" imgW="127000" imgH="165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4341813"/>
                        <a:ext cx="292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3805238" y="4265613"/>
          <a:ext cx="914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4" r:id="rId13" imgW="431800" imgH="228600" progId="Equation.3">
                  <p:embed/>
                </p:oleObj>
              </mc:Choice>
              <mc:Fallback>
                <p:oleObj r:id="rId13" imgW="4318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8" y="4265613"/>
                        <a:ext cx="9144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5710238" y="4341813"/>
          <a:ext cx="792162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5" r:id="rId15" imgW="368300" imgH="228600" progId="Equation.3">
                  <p:embed/>
                </p:oleObj>
              </mc:Choice>
              <mc:Fallback>
                <p:oleObj r:id="rId15" imgW="3683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0238" y="4341813"/>
                        <a:ext cx="792162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 bwMode="auto">
          <a:xfrm>
            <a:off x="1595438" y="3122613"/>
            <a:ext cx="5334000" cy="1905000"/>
            <a:chOff x="-3" y="381"/>
            <a:chExt cx="1976" cy="774"/>
          </a:xfrm>
        </p:grpSpPr>
        <p:grpSp>
          <p:nvGrpSpPr>
            <p:cNvPr id="88089" name="Group 13"/>
            <p:cNvGrpSpPr/>
            <p:nvPr/>
          </p:nvGrpSpPr>
          <p:grpSpPr bwMode="auto">
            <a:xfrm>
              <a:off x="0" y="384"/>
              <a:ext cx="1970" cy="768"/>
              <a:chOff x="0" y="384"/>
              <a:chExt cx="1970" cy="768"/>
            </a:xfrm>
          </p:grpSpPr>
          <p:grpSp>
            <p:nvGrpSpPr>
              <p:cNvPr id="88091" name="Group 14"/>
              <p:cNvGrpSpPr/>
              <p:nvPr/>
            </p:nvGrpSpPr>
            <p:grpSpPr bwMode="auto">
              <a:xfrm>
                <a:off x="0" y="384"/>
                <a:ext cx="1382" cy="384"/>
                <a:chOff x="0" y="384"/>
                <a:chExt cx="1382" cy="384"/>
              </a:xfrm>
            </p:grpSpPr>
            <p:sp>
              <p:nvSpPr>
                <p:cNvPr id="88101" name="Rectangle 15"/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12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000">
                      <a:solidFill>
                        <a:srgbClr val="000000"/>
                      </a:solidFill>
                      <a:latin typeface="Arial Narrow" panose="020B0606020202030204" pitchFamily="34" charset="0"/>
                    </a:rPr>
                    <a:t>  </a:t>
                  </a:r>
                  <a:endParaRPr lang="en-US" altLang="zh-CN" sz="2400"/>
                </a:p>
              </p:txBody>
            </p:sp>
            <p:sp>
              <p:nvSpPr>
                <p:cNvPr id="88102" name="Rectangle 16"/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138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</p:grpSp>
          <p:grpSp>
            <p:nvGrpSpPr>
              <p:cNvPr id="88092" name="Group 17"/>
              <p:cNvGrpSpPr/>
              <p:nvPr/>
            </p:nvGrpSpPr>
            <p:grpSpPr bwMode="auto">
              <a:xfrm>
                <a:off x="1382" y="384"/>
                <a:ext cx="588" cy="384"/>
                <a:chOff x="1382" y="384"/>
                <a:chExt cx="588" cy="384"/>
              </a:xfrm>
            </p:grpSpPr>
            <p:sp>
              <p:nvSpPr>
                <p:cNvPr id="88099" name="Rectangle 18"/>
                <p:cNvSpPr>
                  <a:spLocks noChangeArrowheads="1" noTextEdit="1"/>
                </p:cNvSpPr>
                <p:nvPr/>
              </p:nvSpPr>
              <p:spPr bwMode="auto">
                <a:xfrm>
                  <a:off x="1425" y="384"/>
                  <a:ext cx="50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100" name="Rectangle 19"/>
                <p:cNvSpPr>
                  <a:spLocks noChangeArrowheads="1"/>
                </p:cNvSpPr>
                <p:nvPr/>
              </p:nvSpPr>
              <p:spPr bwMode="auto">
                <a:xfrm>
                  <a:off x="1382" y="384"/>
                  <a:ext cx="58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</p:grpSp>
          <p:grpSp>
            <p:nvGrpSpPr>
              <p:cNvPr id="88093" name="Group 20"/>
              <p:cNvGrpSpPr/>
              <p:nvPr/>
            </p:nvGrpSpPr>
            <p:grpSpPr bwMode="auto">
              <a:xfrm>
                <a:off x="0" y="768"/>
                <a:ext cx="1382" cy="384"/>
                <a:chOff x="0" y="768"/>
                <a:chExt cx="1382" cy="384"/>
              </a:xfrm>
            </p:grpSpPr>
            <p:sp>
              <p:nvSpPr>
                <p:cNvPr id="8809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129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000">
                      <a:solidFill>
                        <a:srgbClr val="000000"/>
                      </a:solidFill>
                      <a:latin typeface="Arial Narrow" panose="020B0606020202030204" pitchFamily="34" charset="0"/>
                    </a:rPr>
                    <a:t>                 </a:t>
                  </a:r>
                  <a:endParaRPr lang="en-US" altLang="zh-CN" sz="1000"/>
                </a:p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endParaRPr lang="en-US" altLang="zh-CN" sz="2400"/>
                </a:p>
              </p:txBody>
            </p:sp>
            <p:sp>
              <p:nvSpPr>
                <p:cNvPr id="88098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138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</p:grpSp>
          <p:grpSp>
            <p:nvGrpSpPr>
              <p:cNvPr id="88094" name="Group 23"/>
              <p:cNvGrpSpPr/>
              <p:nvPr/>
            </p:nvGrpSpPr>
            <p:grpSpPr bwMode="auto">
              <a:xfrm>
                <a:off x="1382" y="768"/>
                <a:ext cx="588" cy="384"/>
                <a:chOff x="1382" y="768"/>
                <a:chExt cx="588" cy="384"/>
              </a:xfrm>
            </p:grpSpPr>
            <p:sp>
              <p:nvSpPr>
                <p:cNvPr id="88095" name="Rectangle 24"/>
                <p:cNvSpPr>
                  <a:spLocks noChangeArrowheads="1" noTextEdit="1"/>
                </p:cNvSpPr>
                <p:nvPr/>
              </p:nvSpPr>
              <p:spPr bwMode="auto">
                <a:xfrm>
                  <a:off x="1425" y="768"/>
                  <a:ext cx="502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096" name="Rectangle 25"/>
                <p:cNvSpPr>
                  <a:spLocks noChangeArrowheads="1"/>
                </p:cNvSpPr>
                <p:nvPr/>
              </p:nvSpPr>
              <p:spPr bwMode="auto">
                <a:xfrm>
                  <a:off x="1382" y="768"/>
                  <a:ext cx="58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</p:grpSp>
        </p:grpSp>
        <p:sp>
          <p:nvSpPr>
            <p:cNvPr id="88090" name="Rectangle 26"/>
            <p:cNvSpPr>
              <a:spLocks noChangeArrowheads="1"/>
            </p:cNvSpPr>
            <p:nvPr/>
          </p:nvSpPr>
          <p:spPr bwMode="auto">
            <a:xfrm>
              <a:off x="-3" y="381"/>
              <a:ext cx="1976" cy="77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7195" name="Object 27"/>
          <p:cNvGraphicFramePr>
            <a:graphicFrameLocks noChangeAspect="1"/>
          </p:cNvGraphicFramePr>
          <p:nvPr/>
        </p:nvGraphicFramePr>
        <p:xfrm>
          <a:off x="985838" y="3503613"/>
          <a:ext cx="26352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6" r:id="rId17" imgW="127000" imgH="127000" progId="Equation.3">
                  <p:embed/>
                </p:oleObj>
              </mc:Choice>
              <mc:Fallback>
                <p:oleObj r:id="rId17" imgW="127000" imgH="1270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3503613"/>
                        <a:ext cx="263525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6" name="Object 28"/>
          <p:cNvGraphicFramePr>
            <a:graphicFrameLocks noChangeAspect="1"/>
          </p:cNvGraphicFramePr>
          <p:nvPr/>
        </p:nvGraphicFramePr>
        <p:xfrm>
          <a:off x="2124075" y="2565400"/>
          <a:ext cx="4667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" r:id="rId19" imgW="215900" imgH="228600" progId="Equation.3">
                  <p:embed/>
                </p:oleObj>
              </mc:Choice>
              <mc:Fallback>
                <p:oleObj r:id="rId19" imgW="21590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565400"/>
                        <a:ext cx="4667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1976438" y="335597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250825" y="2205038"/>
            <a:ext cx="431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假定得到最优单纯形表如下</a:t>
            </a:r>
          </a:p>
        </p:txBody>
      </p:sp>
      <p:graphicFrame>
        <p:nvGraphicFramePr>
          <p:cNvPr id="7199" name="Object 31"/>
          <p:cNvGraphicFramePr>
            <a:graphicFrameLocks noChangeAspect="1"/>
          </p:cNvGraphicFramePr>
          <p:nvPr/>
        </p:nvGraphicFramePr>
        <p:xfrm>
          <a:off x="827088" y="5229225"/>
          <a:ext cx="640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8" name="Equation" r:id="rId20" imgW="2755900" imgH="393065" progId="Equation.DSMT4">
                  <p:embed/>
                </p:oleObj>
              </mc:Choice>
              <mc:Fallback>
                <p:oleObj name="Equation" r:id="rId20" imgW="2755900" imgH="393065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229225"/>
                        <a:ext cx="640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87" name="Object 3"/>
          <p:cNvGraphicFramePr>
            <a:graphicFrameLocks noChangeAspect="1"/>
          </p:cNvGraphicFramePr>
          <p:nvPr/>
        </p:nvGraphicFramePr>
        <p:xfrm>
          <a:off x="3708400" y="908050"/>
          <a:ext cx="2492375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9" name="Equation" r:id="rId22" imgW="723900" imgH="711200" progId="Equation.DSMT4">
                  <p:embed/>
                </p:oleObj>
              </mc:Choice>
              <mc:Fallback>
                <p:oleObj name="Equation" r:id="rId22" imgW="7239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908050"/>
                        <a:ext cx="2492375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改变系数向量</a:t>
            </a:r>
            <a:r>
              <a:rPr lang="en-US" altLang="zh-CN" dirty="0"/>
              <a:t>c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2" grpId="0"/>
      <p:bldP spid="7197" grpId="0"/>
      <p:bldP spid="719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711450" y="2540000"/>
          <a:ext cx="2622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6" name="Equation" r:id="rId3" imgW="1218565" imgH="241300" progId="Equation.DSMT4">
                  <p:embed/>
                </p:oleObj>
              </mc:Choice>
              <mc:Fallback>
                <p:oleObj name="Equation" r:id="rId3" imgW="1218565" imgH="241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540000"/>
                        <a:ext cx="26225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611743"/>
              </p:ext>
            </p:extLst>
          </p:nvPr>
        </p:nvGraphicFramePr>
        <p:xfrm>
          <a:off x="2525713" y="3297238"/>
          <a:ext cx="30543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7" name="Equation" r:id="rId5" imgW="1371600" imgH="241200" progId="Equation.DSMT4">
                  <p:embed/>
                </p:oleObj>
              </mc:Choice>
              <mc:Fallback>
                <p:oleObj name="Equation" r:id="rId5" imgW="13716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3" y="3297238"/>
                        <a:ext cx="30543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6" name="Rectangle 5"/>
          <p:cNvSpPr>
            <a:spLocks noChangeArrowheads="1"/>
          </p:cNvSpPr>
          <p:nvPr/>
        </p:nvSpPr>
        <p:spPr bwMode="auto">
          <a:xfrm>
            <a:off x="469900" y="1155571"/>
            <a:ext cx="822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dirty="0"/>
              <a:t>当</a:t>
            </a:r>
            <a:r>
              <a:rPr lang="en-US" altLang="zh-CN" sz="2400" dirty="0"/>
              <a:t>c</a:t>
            </a:r>
            <a:r>
              <a:rPr lang="zh-CN" altLang="en-US" sz="2400" dirty="0"/>
              <a:t>发生变化时，可能发生改变的是检验数和目标函数值，其它没有改变，因而只需计算新的检验数和目标函数值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250825" y="4297363"/>
            <a:ext cx="628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如果检验数非正，则原最优解依然是最优解；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50825" y="4830763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否则是基本可行解，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2949575" y="4830763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以此为初始基可行解按单纯形法进行迭代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323850" y="5419725"/>
            <a:ext cx="353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就可以求出新问题的解。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改变系数向量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/>
      <p:bldP spid="8201" grpId="0"/>
      <p:bldP spid="8202" grpId="0"/>
      <p:bldP spid="820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7" name="Text Box 2"/>
          <p:cNvSpPr txBox="1">
            <a:spLocks noChangeArrowheads="1"/>
          </p:cNvSpPr>
          <p:nvPr/>
        </p:nvSpPr>
        <p:spPr bwMode="auto">
          <a:xfrm>
            <a:off x="505891" y="156845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r>
              <a:rPr lang="zh-CN" altLang="en-US" sz="2400" dirty="0">
                <a:solidFill>
                  <a:srgbClr val="0000FF"/>
                </a:solidFill>
              </a:rPr>
              <a:t>、情形</a:t>
            </a:r>
            <a:r>
              <a:rPr lang="en-US" altLang="zh-CN" sz="2400" dirty="0">
                <a:solidFill>
                  <a:srgbClr val="0000FF"/>
                </a:solidFill>
              </a:rPr>
              <a:t>I:      </a:t>
            </a:r>
            <a:r>
              <a:rPr lang="zh-CN" altLang="en-US" sz="2400" dirty="0">
                <a:solidFill>
                  <a:srgbClr val="0000FF"/>
                </a:solidFill>
              </a:rPr>
              <a:t>是非基变量</a:t>
            </a:r>
          </a:p>
        </p:txBody>
      </p:sp>
      <p:graphicFrame>
        <p:nvGraphicFramePr>
          <p:cNvPr id="90118" name="Object 3"/>
          <p:cNvGraphicFramePr>
            <a:graphicFrameLocks noChangeAspect="1"/>
          </p:cNvGraphicFramePr>
          <p:nvPr/>
        </p:nvGraphicFramePr>
        <p:xfrm>
          <a:off x="1908175" y="1568450"/>
          <a:ext cx="406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67" name="Equation" r:id="rId3" imgW="141605" imgH="173990" progId="Equation.DSMT4">
                  <p:embed/>
                </p:oleObj>
              </mc:Choice>
              <mc:Fallback>
                <p:oleObj name="Equation" r:id="rId3" imgW="141605" imgH="17399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568450"/>
                        <a:ext cx="406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811213" y="4011613"/>
          <a:ext cx="440848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68" name="Equation" r:id="rId5" imgW="2057400" imgH="241300" progId="Equation.DSMT4">
                  <p:embed/>
                </p:oleObj>
              </mc:Choice>
              <mc:Fallback>
                <p:oleObj name="Equation" r:id="rId5" imgW="20574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4011613"/>
                        <a:ext cx="440848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735904" y="2248944"/>
            <a:ext cx="6835775" cy="531834"/>
            <a:chOff x="432" y="1230"/>
            <a:chExt cx="3817" cy="288"/>
          </a:xfrm>
        </p:grpSpPr>
        <p:sp>
          <p:nvSpPr>
            <p:cNvPr id="90135" name="Rectangle 6"/>
            <p:cNvSpPr>
              <a:spLocks noChangeArrowheads="1"/>
            </p:cNvSpPr>
            <p:nvPr/>
          </p:nvSpPr>
          <p:spPr bwMode="auto">
            <a:xfrm>
              <a:off x="432" y="1230"/>
              <a:ext cx="3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改变非基变量的价值向量                     ：</a:t>
              </a:r>
            </a:p>
          </p:txBody>
        </p:sp>
        <p:grpSp>
          <p:nvGrpSpPr>
            <p:cNvPr id="90136" name="Group 7"/>
            <p:cNvGrpSpPr/>
            <p:nvPr/>
          </p:nvGrpSpPr>
          <p:grpSpPr bwMode="auto">
            <a:xfrm>
              <a:off x="2688" y="1248"/>
              <a:ext cx="1561" cy="266"/>
              <a:chOff x="2784" y="720"/>
              <a:chExt cx="1561" cy="266"/>
            </a:xfrm>
          </p:grpSpPr>
          <p:graphicFrame>
            <p:nvGraphicFramePr>
              <p:cNvPr id="90137" name="Object 8"/>
              <p:cNvGraphicFramePr>
                <a:graphicFrameLocks noChangeAspect="1"/>
              </p:cNvGraphicFramePr>
              <p:nvPr/>
            </p:nvGraphicFramePr>
            <p:xfrm>
              <a:off x="2784" y="720"/>
              <a:ext cx="222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369" r:id="rId7" imgW="190500" imgH="228600" progId="Equation.3">
                      <p:embed/>
                    </p:oleObj>
                  </mc:Choice>
                  <mc:Fallback>
                    <p:oleObj r:id="rId7" imgW="190500" imgH="2286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720"/>
                            <a:ext cx="222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0138" name="Object 9"/>
              <p:cNvGraphicFramePr>
                <a:graphicFrameLocks noChangeAspect="1"/>
              </p:cNvGraphicFramePr>
              <p:nvPr/>
            </p:nvGraphicFramePr>
            <p:xfrm>
              <a:off x="3368" y="720"/>
              <a:ext cx="977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370" name="Equation" r:id="rId9" imgW="20116800" imgH="5486400" progId="Equation.DSMT4">
                      <p:embed/>
                    </p:oleObj>
                  </mc:Choice>
                  <mc:Fallback>
                    <p:oleObj name="Equation" r:id="rId9" imgW="20116800" imgH="548640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8" y="720"/>
                            <a:ext cx="977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0139" name="Object 10"/>
              <p:cNvGraphicFramePr>
                <a:graphicFrameLocks noChangeAspect="1"/>
              </p:cNvGraphicFramePr>
              <p:nvPr/>
            </p:nvGraphicFramePr>
            <p:xfrm>
              <a:off x="3024" y="761"/>
              <a:ext cx="232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371" name="Equation" r:id="rId11" imgW="203200" imgH="152400" progId="Equation.DSMT4">
                      <p:embed/>
                    </p:oleObj>
                  </mc:Choice>
                  <mc:Fallback>
                    <p:oleObj name="Equation" r:id="rId11" imgW="203200" imgH="1524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761"/>
                            <a:ext cx="232" cy="1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11"/>
          <p:cNvGrpSpPr/>
          <p:nvPr/>
        </p:nvGrpSpPr>
        <p:grpSpPr bwMode="auto">
          <a:xfrm>
            <a:off x="598291" y="5160397"/>
            <a:ext cx="2293938" cy="457200"/>
            <a:chOff x="295" y="3142"/>
            <a:chExt cx="1445" cy="288"/>
          </a:xfrm>
        </p:grpSpPr>
        <p:sp>
          <p:nvSpPr>
            <p:cNvPr id="90133" name="Text Box 12"/>
            <p:cNvSpPr txBox="1">
              <a:spLocks noChangeArrowheads="1"/>
            </p:cNvSpPr>
            <p:nvPr/>
          </p:nvSpPr>
          <p:spPr bwMode="auto">
            <a:xfrm>
              <a:off x="295" y="3142"/>
              <a:ext cx="14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若                 ，</a:t>
              </a:r>
            </a:p>
          </p:txBody>
        </p:sp>
        <p:graphicFrame>
          <p:nvGraphicFramePr>
            <p:cNvPr id="90134" name="Object 13"/>
            <p:cNvGraphicFramePr>
              <a:graphicFrameLocks noChangeAspect="1"/>
            </p:cNvGraphicFramePr>
            <p:nvPr/>
          </p:nvGraphicFramePr>
          <p:xfrm>
            <a:off x="567" y="3167"/>
            <a:ext cx="73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72" name="Equation" r:id="rId13" imgW="419100" imgH="228600" progId="Equation.DSMT4">
                    <p:embed/>
                  </p:oleObj>
                </mc:Choice>
                <mc:Fallback>
                  <p:oleObj name="Equation" r:id="rId13" imgW="419100" imgH="2286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167"/>
                          <a:ext cx="73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/>
          <p:nvPr/>
        </p:nvGrpSpPr>
        <p:grpSpPr bwMode="auto">
          <a:xfrm>
            <a:off x="648222" y="2797349"/>
            <a:ext cx="7696200" cy="457200"/>
            <a:chOff x="432" y="1536"/>
            <a:chExt cx="4848" cy="288"/>
          </a:xfrm>
        </p:grpSpPr>
        <p:sp>
          <p:nvSpPr>
            <p:cNvPr id="90131" name="Text Box 16"/>
            <p:cNvSpPr txBox="1">
              <a:spLocks noChangeArrowheads="1"/>
            </p:cNvSpPr>
            <p:nvPr/>
          </p:nvSpPr>
          <p:spPr bwMode="auto">
            <a:xfrm>
              <a:off x="432" y="1536"/>
              <a:ext cx="48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/>
                <a:t>由单纯形法计算公式知，只有检验数      起变化</a:t>
              </a:r>
              <a:r>
                <a:rPr lang="en-US" altLang="zh-CN" sz="2400" dirty="0"/>
                <a:t>, </a:t>
              </a:r>
            </a:p>
          </p:txBody>
        </p:sp>
        <p:graphicFrame>
          <p:nvGraphicFramePr>
            <p:cNvPr id="90132" name="Object 17"/>
            <p:cNvGraphicFramePr>
              <a:graphicFrameLocks noChangeAspect="1"/>
            </p:cNvGraphicFramePr>
            <p:nvPr/>
          </p:nvGraphicFramePr>
          <p:xfrm>
            <a:off x="3600" y="1560"/>
            <a:ext cx="20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73" name="Equation" r:id="rId15" imgW="177800" imgH="228600" progId="Equation.DSMT4">
                    <p:embed/>
                  </p:oleObj>
                </mc:Choice>
                <mc:Fallback>
                  <p:oleObj name="Equation" r:id="rId15" imgW="177800" imgH="2286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560"/>
                          <a:ext cx="205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34" name="Object 18"/>
          <p:cNvGraphicFramePr>
            <a:graphicFrameLocks noChangeAspect="1"/>
          </p:cNvGraphicFramePr>
          <p:nvPr/>
        </p:nvGraphicFramePr>
        <p:xfrm>
          <a:off x="5179535" y="4022616"/>
          <a:ext cx="28035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4" name="Equation" r:id="rId17" imgW="1308100" imgH="241300" progId="Equation.DSMT4">
                  <p:embed/>
                </p:oleObj>
              </mc:Choice>
              <mc:Fallback>
                <p:oleObj name="Equation" r:id="rId17" imgW="1308100" imgH="2413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9535" y="4022616"/>
                        <a:ext cx="28035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541967" y="5727093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则原最优解依然是最优解；</a:t>
            </a: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4127480" y="5725708"/>
            <a:ext cx="421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否则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由此进行单纯形迭代。</a:t>
            </a:r>
          </a:p>
        </p:txBody>
      </p:sp>
      <p:sp>
        <p:nvSpPr>
          <p:cNvPr id="90127" name="Text Box 21"/>
          <p:cNvSpPr txBox="1">
            <a:spLocks noChangeArrowheads="1"/>
          </p:cNvSpPr>
          <p:nvPr/>
        </p:nvSpPr>
        <p:spPr bwMode="auto">
          <a:xfrm>
            <a:off x="298798" y="968549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价值向量只有一个分量</a:t>
            </a:r>
          </a:p>
        </p:txBody>
      </p:sp>
      <p:graphicFrame>
        <p:nvGraphicFramePr>
          <p:cNvPr id="90128" name="Object 23"/>
          <p:cNvGraphicFramePr>
            <a:graphicFrameLocks noChangeAspect="1"/>
          </p:cNvGraphicFramePr>
          <p:nvPr/>
        </p:nvGraphicFramePr>
        <p:xfrm>
          <a:off x="3440113" y="995363"/>
          <a:ext cx="17081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5" name="Equation" r:id="rId19" imgW="800100" imgH="228600" progId="Equation.DSMT4">
                  <p:embed/>
                </p:oleObj>
              </mc:Choice>
              <mc:Fallback>
                <p:oleObj name="Equation" r:id="rId19" imgW="80010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995363"/>
                        <a:ext cx="17081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685800" y="3419475"/>
            <a:ext cx="216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新的检验数      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392429"/>
              </p:ext>
            </p:extLst>
          </p:nvPr>
        </p:nvGraphicFramePr>
        <p:xfrm>
          <a:off x="2704379" y="5208831"/>
          <a:ext cx="3157353" cy="50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6" name="Equation" r:id="rId21" imgW="34137600" imgH="5486400" progId="Equation.DSMT4">
                  <p:embed/>
                </p:oleObj>
              </mc:Choice>
              <mc:Fallback>
                <p:oleObj name="Equation" r:id="rId21" imgW="341376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379" y="5208831"/>
                        <a:ext cx="3157353" cy="50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17AE43D-2914-40F1-B006-91C86FE19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382002"/>
              </p:ext>
            </p:extLst>
          </p:nvPr>
        </p:nvGraphicFramePr>
        <p:xfrm>
          <a:off x="1207499" y="4509589"/>
          <a:ext cx="3666403" cy="51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7" name="Equation" r:id="rId23" imgW="1878733" imgH="263929" progId="Equation.DSMT4">
                  <p:embed/>
                </p:oleObj>
              </mc:Choice>
              <mc:Fallback>
                <p:oleObj name="Equation" r:id="rId23" imgW="1878733" imgH="26392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07499" y="4509589"/>
                        <a:ext cx="3666403" cy="514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5" grpId="0"/>
      <p:bldP spid="9236" grpId="0"/>
      <p:bldP spid="924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Text Box 2"/>
          <p:cNvSpPr txBox="1">
            <a:spLocks noChangeArrowheads="1"/>
          </p:cNvSpPr>
          <p:nvPr/>
        </p:nvSpPr>
        <p:spPr bwMode="auto">
          <a:xfrm>
            <a:off x="304800" y="365125"/>
            <a:ext cx="354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2</a:t>
            </a:r>
            <a:r>
              <a:rPr lang="zh-CN" altLang="en-US" sz="2400" b="1">
                <a:solidFill>
                  <a:srgbClr val="0000FF"/>
                </a:solidFill>
              </a:rPr>
              <a:t>、情形</a:t>
            </a:r>
            <a:r>
              <a:rPr lang="en-US" altLang="zh-CN" sz="2400" b="1">
                <a:solidFill>
                  <a:srgbClr val="0000FF"/>
                </a:solidFill>
              </a:rPr>
              <a:t>II:      </a:t>
            </a:r>
            <a:r>
              <a:rPr lang="zh-CN" altLang="en-US" sz="2400" b="1">
                <a:solidFill>
                  <a:srgbClr val="0000FF"/>
                </a:solidFill>
              </a:rPr>
              <a:t>是基变量</a:t>
            </a:r>
          </a:p>
        </p:txBody>
      </p:sp>
      <p:graphicFrame>
        <p:nvGraphicFramePr>
          <p:cNvPr id="91142" name="Object 3"/>
          <p:cNvGraphicFramePr>
            <a:graphicFrameLocks noChangeAspect="1"/>
          </p:cNvGraphicFramePr>
          <p:nvPr/>
        </p:nvGraphicFramePr>
        <p:xfrm>
          <a:off x="1862138" y="333375"/>
          <a:ext cx="406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98" name="Equation" r:id="rId3" imgW="190500" imgH="228600" progId="Equation.DSMT4">
                  <p:embed/>
                </p:oleObj>
              </mc:Choice>
              <mc:Fallback>
                <p:oleObj name="Equation" r:id="rId3" imgW="190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333375"/>
                        <a:ext cx="406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 bwMode="auto">
          <a:xfrm>
            <a:off x="112713" y="1739900"/>
            <a:ext cx="5467350" cy="523875"/>
            <a:chOff x="68" y="1152"/>
            <a:chExt cx="3444" cy="330"/>
          </a:xfrm>
        </p:grpSpPr>
        <p:sp>
          <p:nvSpPr>
            <p:cNvPr id="91169" name="Rectangle 5"/>
            <p:cNvSpPr>
              <a:spLocks noChangeArrowheads="1"/>
            </p:cNvSpPr>
            <p:nvPr/>
          </p:nvSpPr>
          <p:spPr bwMode="auto">
            <a:xfrm>
              <a:off x="68" y="1152"/>
              <a:ext cx="297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indent="1524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基变量对应的约束为第</a:t>
              </a:r>
              <a:r>
                <a:rPr lang="zh-CN" altLang="en-US" sz="2800" dirty="0">
                  <a:solidFill>
                    <a:srgbClr val="000000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Mistral" panose="03090702030407020403" pitchFamily="66" charset="0"/>
                </a:rPr>
                <a:t>l</a:t>
              </a:r>
              <a:r>
                <a:rPr lang="zh-CN" altLang="en-US" sz="2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个</a:t>
              </a:r>
              <a:r>
                <a:rPr lang="en-US" altLang="zh-CN" sz="2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, </a:t>
              </a:r>
              <a:r>
                <a:rPr lang="zh-CN" altLang="en-US" sz="2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即</a:t>
              </a:r>
              <a:endParaRPr lang="zh-CN" altLang="en-US" sz="2400" dirty="0"/>
            </a:p>
          </p:txBody>
        </p:sp>
        <p:graphicFrame>
          <p:nvGraphicFramePr>
            <p:cNvPr id="91170" name="Object 6"/>
            <p:cNvGraphicFramePr>
              <a:graphicFrameLocks noChangeAspect="1"/>
            </p:cNvGraphicFramePr>
            <p:nvPr/>
          </p:nvGraphicFramePr>
          <p:xfrm>
            <a:off x="2804" y="1152"/>
            <a:ext cx="708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99" name="Equation" r:id="rId5" imgW="457200" imgH="228600" progId="Equation.DSMT4">
                    <p:embed/>
                  </p:oleObj>
                </mc:Choice>
                <mc:Fallback>
                  <p:oleObj name="Equation" r:id="rId5" imgW="45720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" y="1152"/>
                          <a:ext cx="708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144" name="Group 7"/>
          <p:cNvGrpSpPr/>
          <p:nvPr/>
        </p:nvGrpSpPr>
        <p:grpSpPr bwMode="auto">
          <a:xfrm>
            <a:off x="252413" y="1052513"/>
            <a:ext cx="5219700" cy="457200"/>
            <a:chOff x="431" y="777"/>
            <a:chExt cx="3288" cy="288"/>
          </a:xfrm>
        </p:grpSpPr>
        <p:sp>
          <p:nvSpPr>
            <p:cNvPr id="91164" name="Rectangle 8"/>
            <p:cNvSpPr>
              <a:spLocks noChangeArrowheads="1"/>
            </p:cNvSpPr>
            <p:nvPr/>
          </p:nvSpPr>
          <p:spPr bwMode="auto">
            <a:xfrm>
              <a:off x="431" y="777"/>
              <a:ext cx="3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Arial Narrow" panose="020B0606020202030204" pitchFamily="34" charset="0"/>
                </a:rPr>
                <a:t>改变基变量</a:t>
              </a:r>
              <a:r>
                <a:rPr lang="en-US" altLang="zh-CN" sz="2400" i="1">
                  <a:solidFill>
                    <a:srgbClr val="000000"/>
                  </a:solidFill>
                  <a:cs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k</a:t>
              </a:r>
              <a:r>
                <a:rPr lang="zh-CN" altLang="en-US" sz="2400">
                  <a:solidFill>
                    <a:srgbClr val="000000"/>
                  </a:solidFill>
                  <a:latin typeface="Arial Narrow" panose="020B0606020202030204" pitchFamily="34" charset="0"/>
                </a:rPr>
                <a:t> 的价值向量</a:t>
              </a:r>
              <a:endParaRPr lang="en-US" altLang="zh-CN" sz="24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91165" name="Group 9"/>
            <p:cNvGrpSpPr/>
            <p:nvPr/>
          </p:nvGrpSpPr>
          <p:grpSpPr bwMode="auto">
            <a:xfrm>
              <a:off x="2608" y="777"/>
              <a:ext cx="667" cy="274"/>
              <a:chOff x="2551" y="777"/>
              <a:chExt cx="667" cy="274"/>
            </a:xfrm>
          </p:grpSpPr>
          <p:graphicFrame>
            <p:nvGraphicFramePr>
              <p:cNvPr id="91166" name="Object 10"/>
              <p:cNvGraphicFramePr>
                <a:graphicFrameLocks noChangeAspect="1"/>
              </p:cNvGraphicFramePr>
              <p:nvPr/>
            </p:nvGraphicFramePr>
            <p:xfrm>
              <a:off x="2551" y="777"/>
              <a:ext cx="213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500" r:id="rId7" imgW="190500" imgH="228600" progId="Equation.3">
                      <p:embed/>
                    </p:oleObj>
                  </mc:Choice>
                  <mc:Fallback>
                    <p:oleObj r:id="rId7" imgW="190500" imgH="2286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1" y="777"/>
                            <a:ext cx="213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67" name="Object 11"/>
              <p:cNvGraphicFramePr>
                <a:graphicFrameLocks noChangeAspect="1"/>
              </p:cNvGraphicFramePr>
              <p:nvPr/>
            </p:nvGraphicFramePr>
            <p:xfrm>
              <a:off x="2778" y="868"/>
              <a:ext cx="240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501" r:id="rId9" imgW="203200" imgH="152400" progId="Equation.3">
                      <p:embed/>
                    </p:oleObj>
                  </mc:Choice>
                  <mc:Fallback>
                    <p:oleObj r:id="rId9" imgW="203200" imgH="1524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78" y="868"/>
                            <a:ext cx="240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168" name="Object 12"/>
              <p:cNvGraphicFramePr>
                <a:graphicFrameLocks noChangeAspect="1"/>
              </p:cNvGraphicFramePr>
              <p:nvPr/>
            </p:nvGraphicFramePr>
            <p:xfrm>
              <a:off x="3005" y="777"/>
              <a:ext cx="213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502" r:id="rId11" imgW="190500" imgH="228600" progId="Equation.3">
                      <p:embed/>
                    </p:oleObj>
                  </mc:Choice>
                  <mc:Fallback>
                    <p:oleObj r:id="rId11" imgW="190500" imgH="228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05" y="777"/>
                            <a:ext cx="213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245737" y="2924175"/>
          <a:ext cx="28082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03" name="Equation" r:id="rId13" imgW="1371600" imgH="266700" progId="Equation.DSMT4">
                  <p:embed/>
                </p:oleObj>
              </mc:Choice>
              <mc:Fallback>
                <p:oleObj name="Equation" r:id="rId13" imgW="1371600" imgH="266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37" y="2924175"/>
                        <a:ext cx="28082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3038476" y="2687812"/>
          <a:ext cx="5775456" cy="756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04" name="Equation" r:id="rId15" imgW="3009900" imgH="393700" progId="Equation.DSMT4">
                  <p:embed/>
                </p:oleObj>
              </mc:Choice>
              <mc:Fallback>
                <p:oleObj name="Equation" r:id="rId15" imgW="30099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476" y="2687812"/>
                        <a:ext cx="5775456" cy="756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/>
        </p:nvGraphicFramePr>
        <p:xfrm>
          <a:off x="249933" y="3476429"/>
          <a:ext cx="5765801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05" name="Equation" r:id="rId17" imgW="67970400" imgH="5791200" progId="Equation.DSMT4">
                  <p:embed/>
                </p:oleObj>
              </mc:Choice>
              <mc:Fallback>
                <p:oleObj name="Equation" r:id="rId17" imgW="67970400" imgH="579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33" y="3476429"/>
                        <a:ext cx="5765801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7"/>
          <p:cNvGraphicFramePr>
            <a:graphicFrameLocks noChangeAspect="1"/>
          </p:cNvGraphicFramePr>
          <p:nvPr/>
        </p:nvGraphicFramePr>
        <p:xfrm>
          <a:off x="685800" y="4756150"/>
          <a:ext cx="18621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06" name="Equation" r:id="rId19" imgW="760095" imgH="180340" progId="Equation.DSMT4">
                  <p:embed/>
                </p:oleObj>
              </mc:Choice>
              <mc:Fallback>
                <p:oleObj name="Equation" r:id="rId19" imgW="760095" imgH="1803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756150"/>
                        <a:ext cx="18621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323850" y="2349500"/>
            <a:ext cx="4752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新检验数</a:t>
            </a:r>
            <a:r>
              <a:rPr lang="en-US" altLang="zh-CN" sz="2400"/>
              <a:t>(</a:t>
            </a:r>
            <a:r>
              <a:rPr lang="zh-CN" altLang="en-US" sz="2400"/>
              <a:t>因基变量检验数要求＝</a:t>
            </a:r>
            <a:r>
              <a:rPr lang="en-US" altLang="zh-CN" sz="2400"/>
              <a:t>0)</a:t>
            </a:r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323850" y="4191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新目标函数值</a:t>
            </a:r>
          </a:p>
        </p:txBody>
      </p:sp>
      <p:graphicFrame>
        <p:nvGraphicFramePr>
          <p:cNvPr id="10261" name="Object 21"/>
          <p:cNvGraphicFramePr>
            <a:graphicFrameLocks noChangeAspect="1"/>
          </p:cNvGraphicFramePr>
          <p:nvPr/>
        </p:nvGraphicFramePr>
        <p:xfrm>
          <a:off x="2555875" y="4724400"/>
          <a:ext cx="24971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07" name="Equation" r:id="rId21" imgW="953135" imgH="180340" progId="Equation.DSMT4">
                  <p:embed/>
                </p:oleObj>
              </mc:Choice>
              <mc:Fallback>
                <p:oleObj name="Equation" r:id="rId21" imgW="953135" imgH="1803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24400"/>
                        <a:ext cx="249713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1" name="Object 31"/>
          <p:cNvGraphicFramePr>
            <a:graphicFrameLocks noChangeAspect="1"/>
          </p:cNvGraphicFramePr>
          <p:nvPr/>
        </p:nvGraphicFramePr>
        <p:xfrm>
          <a:off x="4381218" y="4196045"/>
          <a:ext cx="41402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08" name="Equation" r:id="rId23" imgW="2095500" imgH="228600" progId="Equation.DSMT4">
                  <p:embed/>
                </p:oleObj>
              </mc:Choice>
              <mc:Fallback>
                <p:oleObj name="Equation" r:id="rId23" imgW="209550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218" y="4196045"/>
                        <a:ext cx="4140200" cy="460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2" name="Group 22"/>
          <p:cNvGrpSpPr/>
          <p:nvPr/>
        </p:nvGrpSpPr>
        <p:grpSpPr bwMode="auto">
          <a:xfrm>
            <a:off x="889348" y="5424814"/>
            <a:ext cx="8001000" cy="457200"/>
            <a:chOff x="240" y="3504"/>
            <a:chExt cx="5040" cy="288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40" y="3504"/>
              <a:ext cx="50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/>
                <a:t>把单纯形表上的第</a:t>
              </a:r>
              <a:r>
                <a:rPr lang="en-US" altLang="zh-CN" sz="2400" dirty="0"/>
                <a:t>L</a:t>
              </a:r>
              <a:r>
                <a:rPr lang="zh-CN" altLang="en-US" sz="2400" dirty="0"/>
                <a:t>行元素乘以               加到检验数行上，</a:t>
              </a:r>
            </a:p>
          </p:txBody>
        </p:sp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2880" y="3504"/>
            <a:ext cx="67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509" name="Equation" r:id="rId25" imgW="450850" imgH="173990" progId="Equation.DSMT4">
                    <p:embed/>
                  </p:oleObj>
                </mc:Choice>
                <mc:Fallback>
                  <p:oleObj name="Equation" r:id="rId25" imgW="450850" imgH="17399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504"/>
                          <a:ext cx="673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5"/>
          <p:cNvGrpSpPr/>
          <p:nvPr/>
        </p:nvGrpSpPr>
        <p:grpSpPr bwMode="auto">
          <a:xfrm>
            <a:off x="914400" y="5971811"/>
            <a:ext cx="7086600" cy="569913"/>
            <a:chOff x="288" y="3817"/>
            <a:chExt cx="4464" cy="359"/>
          </a:xfrm>
        </p:grpSpPr>
        <p:grpSp>
          <p:nvGrpSpPr>
            <p:cNvPr id="26" name="Group 26"/>
            <p:cNvGrpSpPr/>
            <p:nvPr/>
          </p:nvGrpSpPr>
          <p:grpSpPr bwMode="auto">
            <a:xfrm>
              <a:off x="288" y="3854"/>
              <a:ext cx="1056" cy="322"/>
              <a:chOff x="288" y="3854"/>
              <a:chExt cx="1056" cy="322"/>
            </a:xfrm>
          </p:grpSpPr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288" y="3888"/>
                <a:ext cx="67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/>
                  <a:t>再令</a:t>
                </a:r>
              </a:p>
            </p:txBody>
          </p:sp>
          <p:graphicFrame>
            <p:nvGraphicFramePr>
              <p:cNvPr id="29" name="Object 28"/>
              <p:cNvGraphicFramePr>
                <a:graphicFrameLocks noChangeAspect="1"/>
              </p:cNvGraphicFramePr>
              <p:nvPr/>
            </p:nvGraphicFramePr>
            <p:xfrm>
              <a:off x="788" y="3854"/>
              <a:ext cx="556" cy="3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510" name="Equation" r:id="rId27" imgW="482600" imgH="279400" progId="Equation.DSMT4">
                      <p:embed/>
                    </p:oleObj>
                  </mc:Choice>
                  <mc:Fallback>
                    <p:oleObj name="Equation" r:id="rId27" imgW="482600" imgH="279400" progId="Equation.DSMT4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" y="3854"/>
                            <a:ext cx="556" cy="322"/>
                          </a:xfrm>
                          <a:prstGeom prst="rect">
                            <a:avLst/>
                          </a:prstGeom>
                          <a:solidFill>
                            <a:srgbClr val="CCFF66"/>
                          </a:solidFill>
                          <a:ln w="38100" cmpd="dbl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1536" y="3817"/>
              <a:ext cx="3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/>
                <a:t>得到对应新问题的单纯形表。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9" grpId="0" autoUpdateAnimBg="0"/>
      <p:bldP spid="10260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灯片编号占位符 3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2F488188-15EB-472F-8D34-3D1CD7B73BE5}" type="slidenum">
              <a:rPr lang="en-US" altLang="zh-CN" sz="1400"/>
              <a:t>62</a:t>
            </a:fld>
            <a:endParaRPr lang="en-US" altLang="zh-CN" sz="1400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928688" y="3214688"/>
          <a:ext cx="6838950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0" name="文档" r:id="rId3" imgW="3689985" imgH="1275080" progId="Word.Document.8">
                  <p:embed/>
                </p:oleObj>
              </mc:Choice>
              <mc:Fallback>
                <p:oleObj name="文档" r:id="rId3" imgW="3689985" imgH="12750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214688"/>
                        <a:ext cx="6838950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3"/>
          <p:cNvGraphicFramePr>
            <a:graphicFrameLocks noChangeAspect="1"/>
          </p:cNvGraphicFramePr>
          <p:nvPr/>
        </p:nvGraphicFramePr>
        <p:xfrm>
          <a:off x="500063" y="1071563"/>
          <a:ext cx="7704137" cy="219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1" name="文档" r:id="rId5" imgW="4726305" imgH="1332865" progId="Word.Document.8">
                  <p:embed/>
                </p:oleObj>
              </mc:Choice>
              <mc:Fallback>
                <p:oleObj name="文档" r:id="rId5" imgW="4726305" imgH="133286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071563"/>
                        <a:ext cx="7704137" cy="219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7" name="Rectangle 4"/>
          <p:cNvSpPr>
            <a:spLocks noGrp="1" noChangeArrowheads="1"/>
          </p:cNvSpPr>
          <p:nvPr>
            <p:ph type="title"/>
          </p:nvPr>
        </p:nvSpPr>
        <p:spPr>
          <a:xfrm>
            <a:off x="465049" y="196315"/>
            <a:ext cx="8229600" cy="757238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</a:rPr>
              <a:t>例</a:t>
            </a:r>
            <a:r>
              <a:rPr lang="en-US" altLang="zh-CN" sz="3200" b="1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071563" y="5337810"/>
            <a:ext cx="541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最优解</a:t>
            </a:r>
            <a:r>
              <a:rPr lang="en-US" altLang="zh-CN" sz="2400" dirty="0"/>
              <a:t>:(x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,x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,x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,x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,x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)=(5,3,1,0,0,0)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灯片编号占位符 2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4A589B6B-EB67-411D-826E-ED3D7E7BDCA2}" type="slidenum">
              <a:rPr lang="en-US" altLang="zh-CN" sz="1400"/>
              <a:t>63</a:t>
            </a:fld>
            <a:endParaRPr lang="en-US" altLang="zh-CN" sz="1400"/>
          </a:p>
        </p:txBody>
      </p:sp>
      <p:graphicFrame>
        <p:nvGraphicFramePr>
          <p:cNvPr id="93189" name="Object 2"/>
          <p:cNvGraphicFramePr>
            <a:graphicFrameLocks noChangeAspect="1"/>
          </p:cNvGraphicFramePr>
          <p:nvPr/>
        </p:nvGraphicFramePr>
        <p:xfrm>
          <a:off x="1187450" y="274638"/>
          <a:ext cx="68072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0" name="Equation" r:id="rId3" imgW="3314700" imgH="228600" progId="Equation.DSMT4">
                  <p:embed/>
                </p:oleObj>
              </mc:Choice>
              <mc:Fallback>
                <p:oleObj name="Equation" r:id="rId3" imgW="33147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4638"/>
                        <a:ext cx="68072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1778000" y="839788"/>
          <a:ext cx="2133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1" name="Equation" r:id="rId5" imgW="908050" imgH="173990" progId="Equation.DSMT4">
                  <p:embed/>
                </p:oleObj>
              </mc:Choice>
              <mc:Fallback>
                <p:oleObj name="Equation" r:id="rId5" imgW="908050" imgH="17399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839788"/>
                        <a:ext cx="2133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4025900" y="677863"/>
          <a:ext cx="24003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2" name="Equation" r:id="rId7" imgW="1107440" imgH="309245" progId="Equation.DSMT4">
                  <p:embed/>
                </p:oleObj>
              </mc:Choice>
              <mc:Fallback>
                <p:oleObj name="Equation" r:id="rId7" imgW="1107440" imgH="30924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677863"/>
                        <a:ext cx="24003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Line 5"/>
          <p:cNvSpPr>
            <a:spLocks noChangeShapeType="1"/>
          </p:cNvSpPr>
          <p:nvPr/>
        </p:nvSpPr>
        <p:spPr bwMode="auto">
          <a:xfrm>
            <a:off x="293688" y="1989138"/>
            <a:ext cx="8382000" cy="0"/>
          </a:xfrm>
          <a:prstGeom prst="line">
            <a:avLst/>
          </a:prstGeom>
          <a:noFill/>
          <a:ln w="38100" cmpd="dbl">
            <a:solidFill>
              <a:srgbClr val="0000FF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116013" y="1412875"/>
            <a:ext cx="684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检验数仍非负</a:t>
            </a:r>
            <a:r>
              <a:rPr lang="en-US" altLang="zh-CN" sz="2400"/>
              <a:t>, </a:t>
            </a:r>
            <a:r>
              <a:rPr lang="zh-CN" altLang="en-US" sz="2400"/>
              <a:t>问题原最优解仍是此时最优解</a:t>
            </a:r>
            <a:r>
              <a:rPr lang="en-US" altLang="zh-CN" sz="2400"/>
              <a:t>;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52413" y="2170113"/>
            <a:ext cx="1655762" cy="466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更多信息</a:t>
            </a:r>
            <a:r>
              <a:rPr lang="en-US" altLang="zh-CN" sz="2400" b="1"/>
              <a:t>: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1116013" y="3414713"/>
          <a:ext cx="2133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3" name="Equation" r:id="rId9" imgW="908050" imgH="173990" progId="Equation.DSMT4">
                  <p:embed/>
                </p:oleObj>
              </mc:Choice>
              <mc:Fallback>
                <p:oleObj name="Equation" r:id="rId9" imgW="908050" imgH="17399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414713"/>
                        <a:ext cx="2133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3348038" y="3213100"/>
          <a:ext cx="22177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4" name="Equation" r:id="rId11" imgW="1017270" imgH="321945" progId="Equation.DSMT4">
                  <p:embed/>
                </p:oleObj>
              </mc:Choice>
              <mc:Fallback>
                <p:oleObj name="Equation" r:id="rId11" imgW="1017270" imgH="32194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213100"/>
                        <a:ext cx="221773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611188" y="2708275"/>
            <a:ext cx="7993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对非基变量的价值系数在某范围变化最优解都不发生改变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1296988" y="3860800"/>
          <a:ext cx="139223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5" name="Equation" r:id="rId13" imgW="735965" imgH="406400" progId="Equation.DSMT4">
                  <p:embed/>
                </p:oleObj>
              </mc:Choice>
              <mc:Fallback>
                <p:oleObj name="Equation" r:id="rId13" imgW="735965" imgH="40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3860800"/>
                        <a:ext cx="1392237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3062288" y="4005263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最优解都不发生改变</a:t>
            </a:r>
          </a:p>
        </p:txBody>
      </p:sp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1355725" y="4532313"/>
          <a:ext cx="14160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6" name="Equation" r:id="rId15" imgW="748665" imgH="406400" progId="Equation.DSMT4">
                  <p:embed/>
                </p:oleObj>
              </mc:Choice>
              <mc:Fallback>
                <p:oleObj name="Equation" r:id="rId15" imgW="748665" imgH="406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4532313"/>
                        <a:ext cx="141605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3132138" y="4532313"/>
          <a:ext cx="105568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7" name="Equation" r:id="rId17" imgW="558800" imgH="406400" progId="Equation.DSMT4">
                  <p:embed/>
                </p:oleObj>
              </mc:Choice>
              <mc:Fallback>
                <p:oleObj name="Equation" r:id="rId17" imgW="558800" imgH="40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532313"/>
                        <a:ext cx="1055687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4524375" y="4652963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最优解都不发生改变</a:t>
            </a:r>
          </a:p>
        </p:txBody>
      </p:sp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557213" y="4797425"/>
            <a:ext cx="558800" cy="792163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同理</a:t>
            </a:r>
          </a:p>
        </p:txBody>
      </p:sp>
      <p:graphicFrame>
        <p:nvGraphicFramePr>
          <p:cNvPr id="123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524763"/>
              </p:ext>
            </p:extLst>
          </p:nvPr>
        </p:nvGraphicFramePr>
        <p:xfrm>
          <a:off x="1517650" y="5519738"/>
          <a:ext cx="17668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48" name="Equation" r:id="rId19" imgW="685800" imgH="253800" progId="Equation.DSMT4">
                  <p:embed/>
                </p:oleObj>
              </mc:Choice>
              <mc:Fallback>
                <p:oleObj name="Equation" r:id="rId19" imgW="685800" imgH="253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5519738"/>
                        <a:ext cx="176688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3589338" y="5597525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最优解都不发生改变</a:t>
            </a:r>
          </a:p>
        </p:txBody>
      </p:sp>
      <p:sp>
        <p:nvSpPr>
          <p:cNvPr id="93206" name="Text Box 19"/>
          <p:cNvSpPr txBox="1">
            <a:spLocks noChangeArrowheads="1"/>
          </p:cNvSpPr>
          <p:nvPr/>
        </p:nvSpPr>
        <p:spPr bwMode="auto">
          <a:xfrm>
            <a:off x="395288" y="260350"/>
            <a:ext cx="587375" cy="1439863"/>
          </a:xfrm>
          <a:prstGeom prst="rect">
            <a:avLst/>
          </a:prstGeom>
          <a:solidFill>
            <a:srgbClr val="CCFF66"/>
          </a:solidFill>
          <a:ln w="38100" cmpd="dbl">
            <a:solidFill>
              <a:srgbClr val="FF3300"/>
            </a:solidFill>
            <a:miter lim="800000"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非基变量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5" grpId="0" animBg="1"/>
      <p:bldP spid="12298" grpId="0"/>
      <p:bldP spid="12300" grpId="0"/>
      <p:bldP spid="12303" grpId="0"/>
      <p:bldP spid="12304" grpId="0" animBg="1"/>
      <p:bldP spid="1230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灯片编号占位符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C9B1D49B-4172-41C1-B816-6916C8146722}" type="slidenum">
              <a:rPr lang="en-US" altLang="zh-CN" sz="1400"/>
              <a:t>64</a:t>
            </a:fld>
            <a:endParaRPr lang="en-US" altLang="zh-CN" sz="140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1362075" y="260350"/>
          <a:ext cx="43815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40" name="Equation" r:id="rId3" imgW="2260600" imgH="228600" progId="Equation.DSMT4">
                  <p:embed/>
                </p:oleObj>
              </mc:Choice>
              <mc:Fallback>
                <p:oleObj name="Equation" r:id="rId3" imgW="22606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60350"/>
                        <a:ext cx="43815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323850" y="3573463"/>
            <a:ext cx="7781925" cy="2055812"/>
            <a:chOff x="375" y="2574"/>
            <a:chExt cx="4902" cy="1295"/>
          </a:xfrm>
        </p:grpSpPr>
        <p:grpSp>
          <p:nvGrpSpPr>
            <p:cNvPr id="94225" name="Group 4"/>
            <p:cNvGrpSpPr/>
            <p:nvPr/>
          </p:nvGrpSpPr>
          <p:grpSpPr bwMode="auto">
            <a:xfrm>
              <a:off x="375" y="2574"/>
              <a:ext cx="4902" cy="1083"/>
              <a:chOff x="375" y="2505"/>
              <a:chExt cx="4902" cy="1083"/>
            </a:xfrm>
          </p:grpSpPr>
          <p:sp>
            <p:nvSpPr>
              <p:cNvPr id="94308" name="Rectangle 5"/>
              <p:cNvSpPr>
                <a:spLocks noChangeArrowheads="1"/>
              </p:cNvSpPr>
              <p:nvPr/>
            </p:nvSpPr>
            <p:spPr bwMode="auto">
              <a:xfrm>
                <a:off x="472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09" name="Rectangle 6"/>
              <p:cNvSpPr>
                <a:spLocks noChangeArrowheads="1"/>
              </p:cNvSpPr>
              <p:nvPr/>
            </p:nvSpPr>
            <p:spPr bwMode="auto">
              <a:xfrm>
                <a:off x="820" y="2505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0" name="Rectangle 7"/>
              <p:cNvSpPr>
                <a:spLocks noChangeArrowheads="1"/>
              </p:cNvSpPr>
              <p:nvPr/>
            </p:nvSpPr>
            <p:spPr bwMode="auto">
              <a:xfrm>
                <a:off x="994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1" name="Rectangle 8"/>
              <p:cNvSpPr>
                <a:spLocks noChangeArrowheads="1"/>
              </p:cNvSpPr>
              <p:nvPr/>
            </p:nvSpPr>
            <p:spPr bwMode="auto">
              <a:xfrm>
                <a:off x="1256" y="2505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2" name="Rectangle 9"/>
              <p:cNvSpPr>
                <a:spLocks noChangeArrowheads="1"/>
              </p:cNvSpPr>
              <p:nvPr/>
            </p:nvSpPr>
            <p:spPr bwMode="auto">
              <a:xfrm>
                <a:off x="1372" y="259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1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3" name="Rectangle 10"/>
              <p:cNvSpPr>
                <a:spLocks noChangeArrowheads="1"/>
              </p:cNvSpPr>
              <p:nvPr/>
            </p:nvSpPr>
            <p:spPr bwMode="auto">
              <a:xfrm>
                <a:off x="1449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4" name="Rectangle 11"/>
              <p:cNvSpPr>
                <a:spLocks noChangeArrowheads="1"/>
              </p:cNvSpPr>
              <p:nvPr/>
            </p:nvSpPr>
            <p:spPr bwMode="auto">
              <a:xfrm>
                <a:off x="1700" y="2505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5" name="Rectangle 12"/>
              <p:cNvSpPr>
                <a:spLocks noChangeArrowheads="1"/>
              </p:cNvSpPr>
              <p:nvPr/>
            </p:nvSpPr>
            <p:spPr bwMode="auto">
              <a:xfrm>
                <a:off x="1816" y="259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2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6" name="Rectangle 13"/>
              <p:cNvSpPr>
                <a:spLocks noChangeArrowheads="1"/>
              </p:cNvSpPr>
              <p:nvPr/>
            </p:nvSpPr>
            <p:spPr bwMode="auto">
              <a:xfrm>
                <a:off x="1894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7" name="Rectangle 14"/>
              <p:cNvSpPr>
                <a:spLocks noChangeArrowheads="1"/>
              </p:cNvSpPr>
              <p:nvPr/>
            </p:nvSpPr>
            <p:spPr bwMode="auto">
              <a:xfrm>
                <a:off x="2145" y="2505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8" name="Rectangle 15"/>
              <p:cNvSpPr>
                <a:spLocks noChangeArrowheads="1"/>
              </p:cNvSpPr>
              <p:nvPr/>
            </p:nvSpPr>
            <p:spPr bwMode="auto">
              <a:xfrm>
                <a:off x="2261" y="259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3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19" name="Rectangle 16"/>
              <p:cNvSpPr>
                <a:spLocks noChangeArrowheads="1"/>
              </p:cNvSpPr>
              <p:nvPr/>
            </p:nvSpPr>
            <p:spPr bwMode="auto">
              <a:xfrm>
                <a:off x="2339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0" name="Rectangle 17"/>
              <p:cNvSpPr>
                <a:spLocks noChangeArrowheads="1"/>
              </p:cNvSpPr>
              <p:nvPr/>
            </p:nvSpPr>
            <p:spPr bwMode="auto">
              <a:xfrm>
                <a:off x="2697" y="2505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1" name="Rectangle 18"/>
              <p:cNvSpPr>
                <a:spLocks noChangeArrowheads="1"/>
              </p:cNvSpPr>
              <p:nvPr/>
            </p:nvSpPr>
            <p:spPr bwMode="auto">
              <a:xfrm>
                <a:off x="2813" y="259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4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2" name="Rectangle 19"/>
              <p:cNvSpPr>
                <a:spLocks noChangeArrowheads="1"/>
              </p:cNvSpPr>
              <p:nvPr/>
            </p:nvSpPr>
            <p:spPr bwMode="auto">
              <a:xfrm>
                <a:off x="2890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3" name="Rectangle 20"/>
              <p:cNvSpPr>
                <a:spLocks noChangeArrowheads="1"/>
              </p:cNvSpPr>
              <p:nvPr/>
            </p:nvSpPr>
            <p:spPr bwMode="auto">
              <a:xfrm>
                <a:off x="3345" y="2505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4" name="Rectangle 21"/>
              <p:cNvSpPr>
                <a:spLocks noChangeArrowheads="1"/>
              </p:cNvSpPr>
              <p:nvPr/>
            </p:nvSpPr>
            <p:spPr bwMode="auto">
              <a:xfrm>
                <a:off x="3461" y="259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5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5" name="Rectangle 22"/>
              <p:cNvSpPr>
                <a:spLocks noChangeArrowheads="1"/>
              </p:cNvSpPr>
              <p:nvPr/>
            </p:nvSpPr>
            <p:spPr bwMode="auto">
              <a:xfrm>
                <a:off x="3538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6" name="Rectangle 23"/>
              <p:cNvSpPr>
                <a:spLocks noChangeArrowheads="1"/>
              </p:cNvSpPr>
              <p:nvPr/>
            </p:nvSpPr>
            <p:spPr bwMode="auto">
              <a:xfrm>
                <a:off x="3973" y="2505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7" name="Rectangle 24"/>
              <p:cNvSpPr>
                <a:spLocks noChangeArrowheads="1"/>
              </p:cNvSpPr>
              <p:nvPr/>
            </p:nvSpPr>
            <p:spPr bwMode="auto">
              <a:xfrm>
                <a:off x="4089" y="259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6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8" name="Rectangle 25"/>
              <p:cNvSpPr>
                <a:spLocks noChangeArrowheads="1"/>
              </p:cNvSpPr>
              <p:nvPr/>
            </p:nvSpPr>
            <p:spPr bwMode="auto">
              <a:xfrm>
                <a:off x="4167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29" name="Rectangle 26"/>
              <p:cNvSpPr>
                <a:spLocks noChangeArrowheads="1"/>
              </p:cNvSpPr>
              <p:nvPr/>
            </p:nvSpPr>
            <p:spPr bwMode="auto">
              <a:xfrm>
                <a:off x="4525" y="2505"/>
                <a:ext cx="43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RHS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0" name="Rectangle 27"/>
              <p:cNvSpPr>
                <a:spLocks noChangeArrowheads="1"/>
              </p:cNvSpPr>
              <p:nvPr/>
            </p:nvSpPr>
            <p:spPr bwMode="auto">
              <a:xfrm>
                <a:off x="4960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1" name="Rectangle 28"/>
              <p:cNvSpPr>
                <a:spLocks noChangeArrowheads="1"/>
              </p:cNvSpPr>
              <p:nvPr/>
            </p:nvSpPr>
            <p:spPr bwMode="auto">
              <a:xfrm>
                <a:off x="5221" y="2505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2" name="Rectangle 29"/>
              <p:cNvSpPr>
                <a:spLocks noChangeArrowheads="1"/>
              </p:cNvSpPr>
              <p:nvPr/>
            </p:nvSpPr>
            <p:spPr bwMode="auto">
              <a:xfrm>
                <a:off x="385" y="2780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z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3" name="Rectangle 30"/>
              <p:cNvSpPr>
                <a:spLocks noChangeArrowheads="1"/>
              </p:cNvSpPr>
              <p:nvPr/>
            </p:nvSpPr>
            <p:spPr bwMode="auto">
              <a:xfrm>
                <a:off x="559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4" name="Rectangle 31"/>
              <p:cNvSpPr>
                <a:spLocks noChangeArrowheads="1"/>
              </p:cNvSpPr>
              <p:nvPr/>
            </p:nvSpPr>
            <p:spPr bwMode="auto">
              <a:xfrm>
                <a:off x="849" y="2780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5" name="Rectangle 32"/>
              <p:cNvSpPr>
                <a:spLocks noChangeArrowheads="1"/>
              </p:cNvSpPr>
              <p:nvPr/>
            </p:nvSpPr>
            <p:spPr bwMode="auto">
              <a:xfrm>
                <a:off x="965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6" name="Rectangle 33"/>
              <p:cNvSpPr>
                <a:spLocks noChangeArrowheads="1"/>
              </p:cNvSpPr>
              <p:nvPr/>
            </p:nvSpPr>
            <p:spPr bwMode="auto">
              <a:xfrm>
                <a:off x="1294" y="278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3300"/>
                    </a:solidFill>
                  </a:rPr>
                  <a:t>0</a:t>
                </a:r>
                <a:endParaRPr lang="en-US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37" name="Rectangle 34"/>
              <p:cNvSpPr>
                <a:spLocks noChangeArrowheads="1"/>
              </p:cNvSpPr>
              <p:nvPr/>
            </p:nvSpPr>
            <p:spPr bwMode="auto">
              <a:xfrm>
                <a:off x="1410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38" name="Rectangle 35"/>
              <p:cNvSpPr>
                <a:spLocks noChangeArrowheads="1"/>
              </p:cNvSpPr>
              <p:nvPr/>
            </p:nvSpPr>
            <p:spPr bwMode="auto">
              <a:xfrm>
                <a:off x="1739" y="278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3300"/>
                    </a:solidFill>
                  </a:rPr>
                  <a:t>0</a:t>
                </a:r>
                <a:endParaRPr lang="en-US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39" name="Rectangle 36"/>
              <p:cNvSpPr>
                <a:spLocks noChangeArrowheads="1"/>
              </p:cNvSpPr>
              <p:nvPr/>
            </p:nvSpPr>
            <p:spPr bwMode="auto">
              <a:xfrm>
                <a:off x="1855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40" name="Rectangle 37"/>
              <p:cNvSpPr>
                <a:spLocks noChangeArrowheads="1"/>
              </p:cNvSpPr>
              <p:nvPr/>
            </p:nvSpPr>
            <p:spPr bwMode="auto">
              <a:xfrm>
                <a:off x="2184" y="278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/>
                  <a:t>0</a:t>
                </a:r>
                <a:endParaRPr lang="en-US" altLang="zh-CN" sz="2400"/>
              </a:p>
            </p:txBody>
          </p:sp>
          <p:sp>
            <p:nvSpPr>
              <p:cNvPr id="94341" name="Rectangle 38"/>
              <p:cNvSpPr>
                <a:spLocks noChangeArrowheads="1"/>
              </p:cNvSpPr>
              <p:nvPr/>
            </p:nvSpPr>
            <p:spPr bwMode="auto">
              <a:xfrm>
                <a:off x="2300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42" name="Rectangle 39"/>
              <p:cNvSpPr>
                <a:spLocks noChangeArrowheads="1"/>
              </p:cNvSpPr>
              <p:nvPr/>
            </p:nvSpPr>
            <p:spPr bwMode="auto">
              <a:xfrm>
                <a:off x="2610" y="2780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43" name="Rectangle 40"/>
              <p:cNvSpPr>
                <a:spLocks noChangeArrowheads="1"/>
              </p:cNvSpPr>
              <p:nvPr/>
            </p:nvSpPr>
            <p:spPr bwMode="auto">
              <a:xfrm>
                <a:off x="2687" y="278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3300"/>
                    </a:solidFill>
                  </a:rPr>
                  <a:t>0</a:t>
                </a:r>
                <a:endParaRPr lang="en-US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44" name="Rectangle 41"/>
              <p:cNvSpPr>
                <a:spLocks noChangeArrowheads="1"/>
              </p:cNvSpPr>
              <p:nvPr/>
            </p:nvSpPr>
            <p:spPr bwMode="auto">
              <a:xfrm>
                <a:off x="2987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45" name="Rectangle 42"/>
              <p:cNvSpPr>
                <a:spLocks noChangeArrowheads="1"/>
              </p:cNvSpPr>
              <p:nvPr/>
            </p:nvSpPr>
            <p:spPr bwMode="auto">
              <a:xfrm>
                <a:off x="3258" y="2780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46" name="Rectangle 43"/>
              <p:cNvSpPr>
                <a:spLocks noChangeArrowheads="1"/>
              </p:cNvSpPr>
              <p:nvPr/>
            </p:nvSpPr>
            <p:spPr bwMode="auto">
              <a:xfrm>
                <a:off x="3335" y="2780"/>
                <a:ext cx="18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3300"/>
                    </a:solidFill>
                  </a:rPr>
                  <a:t>-1</a:t>
                </a:r>
                <a:endParaRPr lang="en-US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47" name="Rectangle 44"/>
              <p:cNvSpPr>
                <a:spLocks noChangeArrowheads="1"/>
              </p:cNvSpPr>
              <p:nvPr/>
            </p:nvSpPr>
            <p:spPr bwMode="auto">
              <a:xfrm>
                <a:off x="3635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48" name="Rectangle 45"/>
              <p:cNvSpPr>
                <a:spLocks noChangeArrowheads="1"/>
              </p:cNvSpPr>
              <p:nvPr/>
            </p:nvSpPr>
            <p:spPr bwMode="auto">
              <a:xfrm>
                <a:off x="3886" y="2780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49" name="Rectangle 46"/>
              <p:cNvSpPr>
                <a:spLocks noChangeArrowheads="1"/>
              </p:cNvSpPr>
              <p:nvPr/>
            </p:nvSpPr>
            <p:spPr bwMode="auto">
              <a:xfrm>
                <a:off x="3964" y="2780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3300"/>
                    </a:solidFill>
                  </a:rPr>
                  <a:t>0</a:t>
                </a:r>
                <a:endParaRPr lang="en-US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50" name="Rectangle 47"/>
              <p:cNvSpPr>
                <a:spLocks noChangeArrowheads="1"/>
              </p:cNvSpPr>
              <p:nvPr/>
            </p:nvSpPr>
            <p:spPr bwMode="auto">
              <a:xfrm>
                <a:off x="4263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51" name="Rectangle 48"/>
              <p:cNvSpPr>
                <a:spLocks noChangeArrowheads="1"/>
              </p:cNvSpPr>
              <p:nvPr/>
            </p:nvSpPr>
            <p:spPr bwMode="auto">
              <a:xfrm>
                <a:off x="4583" y="2780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52" name="Rectangle 49"/>
              <p:cNvSpPr>
                <a:spLocks noChangeArrowheads="1"/>
              </p:cNvSpPr>
              <p:nvPr/>
            </p:nvSpPr>
            <p:spPr bwMode="auto">
              <a:xfrm>
                <a:off x="4660" y="2780"/>
                <a:ext cx="2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FF3300"/>
                    </a:solidFill>
                  </a:rPr>
                  <a:t>-18</a:t>
                </a:r>
                <a:endParaRPr lang="en-US" altLang="zh-CN" sz="2400">
                  <a:solidFill>
                    <a:srgbClr val="FF3300"/>
                  </a:solidFill>
                </a:endParaRPr>
              </a:p>
            </p:txBody>
          </p:sp>
          <p:sp>
            <p:nvSpPr>
              <p:cNvPr id="94353" name="Rectangle 50"/>
              <p:cNvSpPr>
                <a:spLocks noChangeArrowheads="1"/>
              </p:cNvSpPr>
              <p:nvPr/>
            </p:nvSpPr>
            <p:spPr bwMode="auto">
              <a:xfrm>
                <a:off x="4892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54" name="Rectangle 51"/>
              <p:cNvSpPr>
                <a:spLocks noChangeArrowheads="1"/>
              </p:cNvSpPr>
              <p:nvPr/>
            </p:nvSpPr>
            <p:spPr bwMode="auto">
              <a:xfrm>
                <a:off x="5221" y="2780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355" name="Rectangle 52"/>
              <p:cNvSpPr>
                <a:spLocks noChangeArrowheads="1"/>
              </p:cNvSpPr>
              <p:nvPr/>
            </p:nvSpPr>
            <p:spPr bwMode="auto">
              <a:xfrm>
                <a:off x="685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56" name="Line 53"/>
              <p:cNvSpPr>
                <a:spLocks noChangeShapeType="1"/>
              </p:cNvSpPr>
              <p:nvPr/>
            </p:nvSpPr>
            <p:spPr bwMode="auto">
              <a:xfrm>
                <a:off x="685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57" name="Line 54"/>
              <p:cNvSpPr>
                <a:spLocks noChangeShapeType="1"/>
              </p:cNvSpPr>
              <p:nvPr/>
            </p:nvSpPr>
            <p:spPr bwMode="auto">
              <a:xfrm>
                <a:off x="685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58" name="Rectangle 55"/>
              <p:cNvSpPr>
                <a:spLocks noChangeArrowheads="1"/>
              </p:cNvSpPr>
              <p:nvPr/>
            </p:nvSpPr>
            <p:spPr bwMode="auto">
              <a:xfrm>
                <a:off x="685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59" name="Line 56"/>
              <p:cNvSpPr>
                <a:spLocks noChangeShapeType="1"/>
              </p:cNvSpPr>
              <p:nvPr/>
            </p:nvSpPr>
            <p:spPr bwMode="auto">
              <a:xfrm>
                <a:off x="685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0" name="Line 57"/>
              <p:cNvSpPr>
                <a:spLocks noChangeShapeType="1"/>
              </p:cNvSpPr>
              <p:nvPr/>
            </p:nvSpPr>
            <p:spPr bwMode="auto">
              <a:xfrm>
                <a:off x="685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1" name="Rectangle 58"/>
              <p:cNvSpPr>
                <a:spLocks noChangeArrowheads="1"/>
              </p:cNvSpPr>
              <p:nvPr/>
            </p:nvSpPr>
            <p:spPr bwMode="auto">
              <a:xfrm>
                <a:off x="695" y="2761"/>
                <a:ext cx="425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62" name="Line 59"/>
              <p:cNvSpPr>
                <a:spLocks noChangeShapeType="1"/>
              </p:cNvSpPr>
              <p:nvPr/>
            </p:nvSpPr>
            <p:spPr bwMode="auto">
              <a:xfrm>
                <a:off x="695" y="2761"/>
                <a:ext cx="42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3" name="Rectangle 60"/>
              <p:cNvSpPr>
                <a:spLocks noChangeArrowheads="1"/>
              </p:cNvSpPr>
              <p:nvPr/>
            </p:nvSpPr>
            <p:spPr bwMode="auto">
              <a:xfrm>
                <a:off x="1120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64" name="Line 61"/>
              <p:cNvSpPr>
                <a:spLocks noChangeShapeType="1"/>
              </p:cNvSpPr>
              <p:nvPr/>
            </p:nvSpPr>
            <p:spPr bwMode="auto">
              <a:xfrm>
                <a:off x="1120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5" name="Line 62"/>
              <p:cNvSpPr>
                <a:spLocks noChangeShapeType="1"/>
              </p:cNvSpPr>
              <p:nvPr/>
            </p:nvSpPr>
            <p:spPr bwMode="auto">
              <a:xfrm>
                <a:off x="1120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6" name="Rectangle 63"/>
              <p:cNvSpPr>
                <a:spLocks noChangeArrowheads="1"/>
              </p:cNvSpPr>
              <p:nvPr/>
            </p:nvSpPr>
            <p:spPr bwMode="auto">
              <a:xfrm>
                <a:off x="1130" y="2761"/>
                <a:ext cx="435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67" name="Line 64"/>
              <p:cNvSpPr>
                <a:spLocks noChangeShapeType="1"/>
              </p:cNvSpPr>
              <p:nvPr/>
            </p:nvSpPr>
            <p:spPr bwMode="auto">
              <a:xfrm>
                <a:off x="1130" y="2761"/>
                <a:ext cx="43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8" name="Rectangle 65"/>
              <p:cNvSpPr>
                <a:spLocks noChangeArrowheads="1"/>
              </p:cNvSpPr>
              <p:nvPr/>
            </p:nvSpPr>
            <p:spPr bwMode="auto">
              <a:xfrm>
                <a:off x="1565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69" name="Line 66"/>
              <p:cNvSpPr>
                <a:spLocks noChangeShapeType="1"/>
              </p:cNvSpPr>
              <p:nvPr/>
            </p:nvSpPr>
            <p:spPr bwMode="auto">
              <a:xfrm>
                <a:off x="1565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0" name="Line 67"/>
              <p:cNvSpPr>
                <a:spLocks noChangeShapeType="1"/>
              </p:cNvSpPr>
              <p:nvPr/>
            </p:nvSpPr>
            <p:spPr bwMode="auto">
              <a:xfrm>
                <a:off x="1565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1" name="Rectangle 68"/>
              <p:cNvSpPr>
                <a:spLocks noChangeArrowheads="1"/>
              </p:cNvSpPr>
              <p:nvPr/>
            </p:nvSpPr>
            <p:spPr bwMode="auto">
              <a:xfrm>
                <a:off x="1575" y="2761"/>
                <a:ext cx="435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72" name="Line 69"/>
              <p:cNvSpPr>
                <a:spLocks noChangeShapeType="1"/>
              </p:cNvSpPr>
              <p:nvPr/>
            </p:nvSpPr>
            <p:spPr bwMode="auto">
              <a:xfrm>
                <a:off x="1575" y="2761"/>
                <a:ext cx="43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3" name="Rectangle 70"/>
              <p:cNvSpPr>
                <a:spLocks noChangeArrowheads="1"/>
              </p:cNvSpPr>
              <p:nvPr/>
            </p:nvSpPr>
            <p:spPr bwMode="auto">
              <a:xfrm>
                <a:off x="2010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74" name="Line 71"/>
              <p:cNvSpPr>
                <a:spLocks noChangeShapeType="1"/>
              </p:cNvSpPr>
              <p:nvPr/>
            </p:nvSpPr>
            <p:spPr bwMode="auto">
              <a:xfrm>
                <a:off x="2010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5" name="Line 72"/>
              <p:cNvSpPr>
                <a:spLocks noChangeShapeType="1"/>
              </p:cNvSpPr>
              <p:nvPr/>
            </p:nvSpPr>
            <p:spPr bwMode="auto">
              <a:xfrm>
                <a:off x="2010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6" name="Rectangle 73"/>
              <p:cNvSpPr>
                <a:spLocks noChangeArrowheads="1"/>
              </p:cNvSpPr>
              <p:nvPr/>
            </p:nvSpPr>
            <p:spPr bwMode="auto">
              <a:xfrm>
                <a:off x="2020" y="2761"/>
                <a:ext cx="435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77" name="Line 74"/>
              <p:cNvSpPr>
                <a:spLocks noChangeShapeType="1"/>
              </p:cNvSpPr>
              <p:nvPr/>
            </p:nvSpPr>
            <p:spPr bwMode="auto">
              <a:xfrm>
                <a:off x="2020" y="2761"/>
                <a:ext cx="43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8" name="Rectangle 75"/>
              <p:cNvSpPr>
                <a:spLocks noChangeArrowheads="1"/>
              </p:cNvSpPr>
              <p:nvPr/>
            </p:nvSpPr>
            <p:spPr bwMode="auto">
              <a:xfrm>
                <a:off x="2455" y="2761"/>
                <a:ext cx="9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79" name="Line 76"/>
              <p:cNvSpPr>
                <a:spLocks noChangeShapeType="1"/>
              </p:cNvSpPr>
              <p:nvPr/>
            </p:nvSpPr>
            <p:spPr bwMode="auto">
              <a:xfrm>
                <a:off x="2455" y="2761"/>
                <a:ext cx="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0" name="Line 77"/>
              <p:cNvSpPr>
                <a:spLocks noChangeShapeType="1"/>
              </p:cNvSpPr>
              <p:nvPr/>
            </p:nvSpPr>
            <p:spPr bwMode="auto">
              <a:xfrm>
                <a:off x="2455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1" name="Rectangle 78"/>
              <p:cNvSpPr>
                <a:spLocks noChangeArrowheads="1"/>
              </p:cNvSpPr>
              <p:nvPr/>
            </p:nvSpPr>
            <p:spPr bwMode="auto">
              <a:xfrm>
                <a:off x="2464" y="2761"/>
                <a:ext cx="658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82" name="Line 79"/>
              <p:cNvSpPr>
                <a:spLocks noChangeShapeType="1"/>
              </p:cNvSpPr>
              <p:nvPr/>
            </p:nvSpPr>
            <p:spPr bwMode="auto">
              <a:xfrm>
                <a:off x="2464" y="2761"/>
                <a:ext cx="65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3" name="Rectangle 80"/>
              <p:cNvSpPr>
                <a:spLocks noChangeArrowheads="1"/>
              </p:cNvSpPr>
              <p:nvPr/>
            </p:nvSpPr>
            <p:spPr bwMode="auto">
              <a:xfrm>
                <a:off x="3122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84" name="Line 81"/>
              <p:cNvSpPr>
                <a:spLocks noChangeShapeType="1"/>
              </p:cNvSpPr>
              <p:nvPr/>
            </p:nvSpPr>
            <p:spPr bwMode="auto">
              <a:xfrm>
                <a:off x="3122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5" name="Line 82"/>
              <p:cNvSpPr>
                <a:spLocks noChangeShapeType="1"/>
              </p:cNvSpPr>
              <p:nvPr/>
            </p:nvSpPr>
            <p:spPr bwMode="auto">
              <a:xfrm>
                <a:off x="3122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6" name="Rectangle 83"/>
              <p:cNvSpPr>
                <a:spLocks noChangeArrowheads="1"/>
              </p:cNvSpPr>
              <p:nvPr/>
            </p:nvSpPr>
            <p:spPr bwMode="auto">
              <a:xfrm>
                <a:off x="3132" y="2761"/>
                <a:ext cx="619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87" name="Line 84"/>
              <p:cNvSpPr>
                <a:spLocks noChangeShapeType="1"/>
              </p:cNvSpPr>
              <p:nvPr/>
            </p:nvSpPr>
            <p:spPr bwMode="auto">
              <a:xfrm>
                <a:off x="3132" y="2761"/>
                <a:ext cx="61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8" name="Rectangle 85"/>
              <p:cNvSpPr>
                <a:spLocks noChangeArrowheads="1"/>
              </p:cNvSpPr>
              <p:nvPr/>
            </p:nvSpPr>
            <p:spPr bwMode="auto">
              <a:xfrm>
                <a:off x="3751" y="2761"/>
                <a:ext cx="9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89" name="Line 86"/>
              <p:cNvSpPr>
                <a:spLocks noChangeShapeType="1"/>
              </p:cNvSpPr>
              <p:nvPr/>
            </p:nvSpPr>
            <p:spPr bwMode="auto">
              <a:xfrm>
                <a:off x="3751" y="2761"/>
                <a:ext cx="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90" name="Line 87"/>
              <p:cNvSpPr>
                <a:spLocks noChangeShapeType="1"/>
              </p:cNvSpPr>
              <p:nvPr/>
            </p:nvSpPr>
            <p:spPr bwMode="auto">
              <a:xfrm>
                <a:off x="3751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91" name="Rectangle 88"/>
              <p:cNvSpPr>
                <a:spLocks noChangeArrowheads="1"/>
              </p:cNvSpPr>
              <p:nvPr/>
            </p:nvSpPr>
            <p:spPr bwMode="auto">
              <a:xfrm>
                <a:off x="3760" y="2761"/>
                <a:ext cx="619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92" name="Line 89"/>
              <p:cNvSpPr>
                <a:spLocks noChangeShapeType="1"/>
              </p:cNvSpPr>
              <p:nvPr/>
            </p:nvSpPr>
            <p:spPr bwMode="auto">
              <a:xfrm>
                <a:off x="3760" y="2761"/>
                <a:ext cx="61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93" name="Rectangle 90"/>
              <p:cNvSpPr>
                <a:spLocks noChangeArrowheads="1"/>
              </p:cNvSpPr>
              <p:nvPr/>
            </p:nvSpPr>
            <p:spPr bwMode="auto">
              <a:xfrm>
                <a:off x="4379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94" name="Line 91"/>
              <p:cNvSpPr>
                <a:spLocks noChangeShapeType="1"/>
              </p:cNvSpPr>
              <p:nvPr/>
            </p:nvSpPr>
            <p:spPr bwMode="auto">
              <a:xfrm>
                <a:off x="4379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95" name="Line 92"/>
              <p:cNvSpPr>
                <a:spLocks noChangeShapeType="1"/>
              </p:cNvSpPr>
              <p:nvPr/>
            </p:nvSpPr>
            <p:spPr bwMode="auto">
              <a:xfrm>
                <a:off x="4379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96" name="Rectangle 93"/>
              <p:cNvSpPr>
                <a:spLocks noChangeArrowheads="1"/>
              </p:cNvSpPr>
              <p:nvPr/>
            </p:nvSpPr>
            <p:spPr bwMode="auto">
              <a:xfrm>
                <a:off x="4389" y="2761"/>
                <a:ext cx="696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97" name="Line 94"/>
              <p:cNvSpPr>
                <a:spLocks noChangeShapeType="1"/>
              </p:cNvSpPr>
              <p:nvPr/>
            </p:nvSpPr>
            <p:spPr bwMode="auto">
              <a:xfrm>
                <a:off x="4389" y="2761"/>
                <a:ext cx="696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98" name="Rectangle 95"/>
              <p:cNvSpPr>
                <a:spLocks noChangeArrowheads="1"/>
              </p:cNvSpPr>
              <p:nvPr/>
            </p:nvSpPr>
            <p:spPr bwMode="auto">
              <a:xfrm>
                <a:off x="5085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399" name="Line 96"/>
              <p:cNvSpPr>
                <a:spLocks noChangeShapeType="1"/>
              </p:cNvSpPr>
              <p:nvPr/>
            </p:nvSpPr>
            <p:spPr bwMode="auto">
              <a:xfrm>
                <a:off x="5085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00" name="Line 97"/>
              <p:cNvSpPr>
                <a:spLocks noChangeShapeType="1"/>
              </p:cNvSpPr>
              <p:nvPr/>
            </p:nvSpPr>
            <p:spPr bwMode="auto">
              <a:xfrm>
                <a:off x="5085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01" name="Rectangle 98"/>
              <p:cNvSpPr>
                <a:spLocks noChangeArrowheads="1"/>
              </p:cNvSpPr>
              <p:nvPr/>
            </p:nvSpPr>
            <p:spPr bwMode="auto">
              <a:xfrm>
                <a:off x="5085" y="2761"/>
                <a:ext cx="10" cy="9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02" name="Line 99"/>
              <p:cNvSpPr>
                <a:spLocks noChangeShapeType="1"/>
              </p:cNvSpPr>
              <p:nvPr/>
            </p:nvSpPr>
            <p:spPr bwMode="auto">
              <a:xfrm>
                <a:off x="5085" y="2761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03" name="Line 100"/>
              <p:cNvSpPr>
                <a:spLocks noChangeShapeType="1"/>
              </p:cNvSpPr>
              <p:nvPr/>
            </p:nvSpPr>
            <p:spPr bwMode="auto">
              <a:xfrm>
                <a:off x="5085" y="2761"/>
                <a:ext cx="1" cy="9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04" name="Rectangle 101"/>
              <p:cNvSpPr>
                <a:spLocks noChangeArrowheads="1"/>
              </p:cNvSpPr>
              <p:nvPr/>
            </p:nvSpPr>
            <p:spPr bwMode="auto">
              <a:xfrm>
                <a:off x="685" y="2770"/>
                <a:ext cx="10" cy="26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05" name="Line 102"/>
              <p:cNvSpPr>
                <a:spLocks noChangeShapeType="1"/>
              </p:cNvSpPr>
              <p:nvPr/>
            </p:nvSpPr>
            <p:spPr bwMode="auto">
              <a:xfrm>
                <a:off x="685" y="2770"/>
                <a:ext cx="1" cy="265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06" name="Rectangle 103"/>
              <p:cNvSpPr>
                <a:spLocks noChangeArrowheads="1"/>
              </p:cNvSpPr>
              <p:nvPr/>
            </p:nvSpPr>
            <p:spPr bwMode="auto">
              <a:xfrm>
                <a:off x="1120" y="2770"/>
                <a:ext cx="10" cy="26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07" name="Line 104"/>
              <p:cNvSpPr>
                <a:spLocks noChangeShapeType="1"/>
              </p:cNvSpPr>
              <p:nvPr/>
            </p:nvSpPr>
            <p:spPr bwMode="auto">
              <a:xfrm>
                <a:off x="1120" y="2770"/>
                <a:ext cx="1" cy="265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08" name="Rectangle 105"/>
              <p:cNvSpPr>
                <a:spLocks noChangeArrowheads="1"/>
              </p:cNvSpPr>
              <p:nvPr/>
            </p:nvSpPr>
            <p:spPr bwMode="auto">
              <a:xfrm>
                <a:off x="4379" y="2770"/>
                <a:ext cx="10" cy="26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09" name="Line 106"/>
              <p:cNvSpPr>
                <a:spLocks noChangeShapeType="1"/>
              </p:cNvSpPr>
              <p:nvPr/>
            </p:nvSpPr>
            <p:spPr bwMode="auto">
              <a:xfrm>
                <a:off x="4379" y="2770"/>
                <a:ext cx="1" cy="265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10" name="Rectangle 107"/>
              <p:cNvSpPr>
                <a:spLocks noChangeArrowheads="1"/>
              </p:cNvSpPr>
              <p:nvPr/>
            </p:nvSpPr>
            <p:spPr bwMode="auto">
              <a:xfrm>
                <a:off x="5085" y="2770"/>
                <a:ext cx="10" cy="26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11" name="Line 108"/>
              <p:cNvSpPr>
                <a:spLocks noChangeShapeType="1"/>
              </p:cNvSpPr>
              <p:nvPr/>
            </p:nvSpPr>
            <p:spPr bwMode="auto">
              <a:xfrm>
                <a:off x="5085" y="2770"/>
                <a:ext cx="1" cy="265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12" name="Rectangle 109"/>
              <p:cNvSpPr>
                <a:spLocks noChangeArrowheads="1"/>
              </p:cNvSpPr>
              <p:nvPr/>
            </p:nvSpPr>
            <p:spPr bwMode="auto">
              <a:xfrm>
                <a:off x="375" y="3054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3" name="Rectangle 110"/>
              <p:cNvSpPr>
                <a:spLocks noChangeArrowheads="1"/>
              </p:cNvSpPr>
              <p:nvPr/>
            </p:nvSpPr>
            <p:spPr bwMode="auto">
              <a:xfrm>
                <a:off x="491" y="313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2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4" name="Rectangle 111"/>
              <p:cNvSpPr>
                <a:spLocks noChangeArrowheads="1"/>
              </p:cNvSpPr>
              <p:nvPr/>
            </p:nvSpPr>
            <p:spPr bwMode="auto">
              <a:xfrm>
                <a:off x="569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5" name="Rectangle 112"/>
              <p:cNvSpPr>
                <a:spLocks noChangeArrowheads="1"/>
              </p:cNvSpPr>
              <p:nvPr/>
            </p:nvSpPr>
            <p:spPr bwMode="auto">
              <a:xfrm>
                <a:off x="849" y="3054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6" name="Rectangle 113"/>
              <p:cNvSpPr>
                <a:spLocks noChangeArrowheads="1"/>
              </p:cNvSpPr>
              <p:nvPr/>
            </p:nvSpPr>
            <p:spPr bwMode="auto">
              <a:xfrm>
                <a:off x="965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7" name="Rectangle 114"/>
              <p:cNvSpPr>
                <a:spLocks noChangeArrowheads="1"/>
              </p:cNvSpPr>
              <p:nvPr/>
            </p:nvSpPr>
            <p:spPr bwMode="auto">
              <a:xfrm>
                <a:off x="1294" y="3054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0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8" name="Rectangle 115"/>
              <p:cNvSpPr>
                <a:spLocks noChangeArrowheads="1"/>
              </p:cNvSpPr>
              <p:nvPr/>
            </p:nvSpPr>
            <p:spPr bwMode="auto">
              <a:xfrm>
                <a:off x="1410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19" name="Rectangle 116"/>
              <p:cNvSpPr>
                <a:spLocks noChangeArrowheads="1"/>
              </p:cNvSpPr>
              <p:nvPr/>
            </p:nvSpPr>
            <p:spPr bwMode="auto">
              <a:xfrm>
                <a:off x="1739" y="3054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0" name="Rectangle 117"/>
              <p:cNvSpPr>
                <a:spLocks noChangeArrowheads="1"/>
              </p:cNvSpPr>
              <p:nvPr/>
            </p:nvSpPr>
            <p:spPr bwMode="auto">
              <a:xfrm>
                <a:off x="1855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1" name="Rectangle 118"/>
              <p:cNvSpPr>
                <a:spLocks noChangeArrowheads="1"/>
              </p:cNvSpPr>
              <p:nvPr/>
            </p:nvSpPr>
            <p:spPr bwMode="auto">
              <a:xfrm>
                <a:off x="2184" y="3054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0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2" name="Rectangle 119"/>
              <p:cNvSpPr>
                <a:spLocks noChangeArrowheads="1"/>
              </p:cNvSpPr>
              <p:nvPr/>
            </p:nvSpPr>
            <p:spPr bwMode="auto">
              <a:xfrm>
                <a:off x="2300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3" name="Rectangle 120"/>
              <p:cNvSpPr>
                <a:spLocks noChangeArrowheads="1"/>
              </p:cNvSpPr>
              <p:nvPr/>
            </p:nvSpPr>
            <p:spPr bwMode="auto">
              <a:xfrm>
                <a:off x="2648" y="3054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1/4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4" name="Rectangle 121"/>
              <p:cNvSpPr>
                <a:spLocks noChangeArrowheads="1"/>
              </p:cNvSpPr>
              <p:nvPr/>
            </p:nvSpPr>
            <p:spPr bwMode="auto">
              <a:xfrm>
                <a:off x="2948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5" name="Rectangle 122"/>
              <p:cNvSpPr>
                <a:spLocks noChangeArrowheads="1"/>
              </p:cNvSpPr>
              <p:nvPr/>
            </p:nvSpPr>
            <p:spPr bwMode="auto">
              <a:xfrm>
                <a:off x="3383" y="3054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0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6" name="Rectangle 123"/>
              <p:cNvSpPr>
                <a:spLocks noChangeArrowheads="1"/>
              </p:cNvSpPr>
              <p:nvPr/>
            </p:nvSpPr>
            <p:spPr bwMode="auto">
              <a:xfrm>
                <a:off x="3499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7" name="Rectangle 124"/>
              <p:cNvSpPr>
                <a:spLocks noChangeArrowheads="1"/>
              </p:cNvSpPr>
              <p:nvPr/>
            </p:nvSpPr>
            <p:spPr bwMode="auto">
              <a:xfrm>
                <a:off x="3886" y="3054"/>
                <a:ext cx="7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-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8" name="Rectangle 125"/>
              <p:cNvSpPr>
                <a:spLocks noChangeArrowheads="1"/>
              </p:cNvSpPr>
              <p:nvPr/>
            </p:nvSpPr>
            <p:spPr bwMode="auto">
              <a:xfrm>
                <a:off x="3964" y="3054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1/4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29" name="Rectangle 126"/>
              <p:cNvSpPr>
                <a:spLocks noChangeArrowheads="1"/>
              </p:cNvSpPr>
              <p:nvPr/>
            </p:nvSpPr>
            <p:spPr bwMode="auto">
              <a:xfrm>
                <a:off x="4263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30" name="Rectangle 127"/>
              <p:cNvSpPr>
                <a:spLocks noChangeArrowheads="1"/>
              </p:cNvSpPr>
              <p:nvPr/>
            </p:nvSpPr>
            <p:spPr bwMode="auto">
              <a:xfrm>
                <a:off x="4679" y="3054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3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31" name="Rectangle 128"/>
              <p:cNvSpPr>
                <a:spLocks noChangeArrowheads="1"/>
              </p:cNvSpPr>
              <p:nvPr/>
            </p:nvSpPr>
            <p:spPr bwMode="auto">
              <a:xfrm>
                <a:off x="4795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32" name="Rectangle 129"/>
              <p:cNvSpPr>
                <a:spLocks noChangeArrowheads="1"/>
              </p:cNvSpPr>
              <p:nvPr/>
            </p:nvSpPr>
            <p:spPr bwMode="auto">
              <a:xfrm>
                <a:off x="5221" y="3054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33" name="Rectangle 130"/>
              <p:cNvSpPr>
                <a:spLocks noChangeArrowheads="1"/>
              </p:cNvSpPr>
              <p:nvPr/>
            </p:nvSpPr>
            <p:spPr bwMode="auto">
              <a:xfrm>
                <a:off x="685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34" name="Line 131"/>
              <p:cNvSpPr>
                <a:spLocks noChangeShapeType="1"/>
              </p:cNvSpPr>
              <p:nvPr/>
            </p:nvSpPr>
            <p:spPr bwMode="auto">
              <a:xfrm>
                <a:off x="685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35" name="Line 132"/>
              <p:cNvSpPr>
                <a:spLocks noChangeShapeType="1"/>
              </p:cNvSpPr>
              <p:nvPr/>
            </p:nvSpPr>
            <p:spPr bwMode="auto">
              <a:xfrm>
                <a:off x="685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36" name="Rectangle 133"/>
              <p:cNvSpPr>
                <a:spLocks noChangeArrowheads="1"/>
              </p:cNvSpPr>
              <p:nvPr/>
            </p:nvSpPr>
            <p:spPr bwMode="auto">
              <a:xfrm>
                <a:off x="695" y="3035"/>
                <a:ext cx="425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37" name="Line 134"/>
              <p:cNvSpPr>
                <a:spLocks noChangeShapeType="1"/>
              </p:cNvSpPr>
              <p:nvPr/>
            </p:nvSpPr>
            <p:spPr bwMode="auto">
              <a:xfrm>
                <a:off x="695" y="3035"/>
                <a:ext cx="42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38" name="Rectangle 135"/>
              <p:cNvSpPr>
                <a:spLocks noChangeArrowheads="1"/>
              </p:cNvSpPr>
              <p:nvPr/>
            </p:nvSpPr>
            <p:spPr bwMode="auto">
              <a:xfrm>
                <a:off x="1120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39" name="Line 136"/>
              <p:cNvSpPr>
                <a:spLocks noChangeShapeType="1"/>
              </p:cNvSpPr>
              <p:nvPr/>
            </p:nvSpPr>
            <p:spPr bwMode="auto">
              <a:xfrm>
                <a:off x="1120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40" name="Line 137"/>
              <p:cNvSpPr>
                <a:spLocks noChangeShapeType="1"/>
              </p:cNvSpPr>
              <p:nvPr/>
            </p:nvSpPr>
            <p:spPr bwMode="auto">
              <a:xfrm>
                <a:off x="1120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41" name="Rectangle 138"/>
              <p:cNvSpPr>
                <a:spLocks noChangeArrowheads="1"/>
              </p:cNvSpPr>
              <p:nvPr/>
            </p:nvSpPr>
            <p:spPr bwMode="auto">
              <a:xfrm>
                <a:off x="1130" y="3035"/>
                <a:ext cx="435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42" name="Line 139"/>
              <p:cNvSpPr>
                <a:spLocks noChangeShapeType="1"/>
              </p:cNvSpPr>
              <p:nvPr/>
            </p:nvSpPr>
            <p:spPr bwMode="auto">
              <a:xfrm>
                <a:off x="1130" y="3035"/>
                <a:ext cx="43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43" name="Rectangle 140"/>
              <p:cNvSpPr>
                <a:spLocks noChangeArrowheads="1"/>
              </p:cNvSpPr>
              <p:nvPr/>
            </p:nvSpPr>
            <p:spPr bwMode="auto">
              <a:xfrm>
                <a:off x="1565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44" name="Line 141"/>
              <p:cNvSpPr>
                <a:spLocks noChangeShapeType="1"/>
              </p:cNvSpPr>
              <p:nvPr/>
            </p:nvSpPr>
            <p:spPr bwMode="auto">
              <a:xfrm>
                <a:off x="1565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45" name="Line 142"/>
              <p:cNvSpPr>
                <a:spLocks noChangeShapeType="1"/>
              </p:cNvSpPr>
              <p:nvPr/>
            </p:nvSpPr>
            <p:spPr bwMode="auto">
              <a:xfrm>
                <a:off x="1565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46" name="Rectangle 143"/>
              <p:cNvSpPr>
                <a:spLocks noChangeArrowheads="1"/>
              </p:cNvSpPr>
              <p:nvPr/>
            </p:nvSpPr>
            <p:spPr bwMode="auto">
              <a:xfrm>
                <a:off x="1575" y="3035"/>
                <a:ext cx="435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47" name="Line 144"/>
              <p:cNvSpPr>
                <a:spLocks noChangeShapeType="1"/>
              </p:cNvSpPr>
              <p:nvPr/>
            </p:nvSpPr>
            <p:spPr bwMode="auto">
              <a:xfrm>
                <a:off x="1575" y="3035"/>
                <a:ext cx="43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48" name="Rectangle 145"/>
              <p:cNvSpPr>
                <a:spLocks noChangeArrowheads="1"/>
              </p:cNvSpPr>
              <p:nvPr/>
            </p:nvSpPr>
            <p:spPr bwMode="auto">
              <a:xfrm>
                <a:off x="2010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49" name="Line 146"/>
              <p:cNvSpPr>
                <a:spLocks noChangeShapeType="1"/>
              </p:cNvSpPr>
              <p:nvPr/>
            </p:nvSpPr>
            <p:spPr bwMode="auto">
              <a:xfrm>
                <a:off x="2010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50" name="Line 147"/>
              <p:cNvSpPr>
                <a:spLocks noChangeShapeType="1"/>
              </p:cNvSpPr>
              <p:nvPr/>
            </p:nvSpPr>
            <p:spPr bwMode="auto">
              <a:xfrm>
                <a:off x="2010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51" name="Rectangle 148"/>
              <p:cNvSpPr>
                <a:spLocks noChangeArrowheads="1"/>
              </p:cNvSpPr>
              <p:nvPr/>
            </p:nvSpPr>
            <p:spPr bwMode="auto">
              <a:xfrm>
                <a:off x="2020" y="3035"/>
                <a:ext cx="435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52" name="Line 149"/>
              <p:cNvSpPr>
                <a:spLocks noChangeShapeType="1"/>
              </p:cNvSpPr>
              <p:nvPr/>
            </p:nvSpPr>
            <p:spPr bwMode="auto">
              <a:xfrm>
                <a:off x="2020" y="3035"/>
                <a:ext cx="43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53" name="Rectangle 150"/>
              <p:cNvSpPr>
                <a:spLocks noChangeArrowheads="1"/>
              </p:cNvSpPr>
              <p:nvPr/>
            </p:nvSpPr>
            <p:spPr bwMode="auto">
              <a:xfrm>
                <a:off x="2455" y="3035"/>
                <a:ext cx="9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54" name="Line 151"/>
              <p:cNvSpPr>
                <a:spLocks noChangeShapeType="1"/>
              </p:cNvSpPr>
              <p:nvPr/>
            </p:nvSpPr>
            <p:spPr bwMode="auto">
              <a:xfrm>
                <a:off x="2455" y="3035"/>
                <a:ext cx="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55" name="Line 152"/>
              <p:cNvSpPr>
                <a:spLocks noChangeShapeType="1"/>
              </p:cNvSpPr>
              <p:nvPr/>
            </p:nvSpPr>
            <p:spPr bwMode="auto">
              <a:xfrm>
                <a:off x="2455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56" name="Rectangle 153"/>
              <p:cNvSpPr>
                <a:spLocks noChangeArrowheads="1"/>
              </p:cNvSpPr>
              <p:nvPr/>
            </p:nvSpPr>
            <p:spPr bwMode="auto">
              <a:xfrm>
                <a:off x="2464" y="3035"/>
                <a:ext cx="658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57" name="Line 154"/>
              <p:cNvSpPr>
                <a:spLocks noChangeShapeType="1"/>
              </p:cNvSpPr>
              <p:nvPr/>
            </p:nvSpPr>
            <p:spPr bwMode="auto">
              <a:xfrm>
                <a:off x="2464" y="3035"/>
                <a:ext cx="65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58" name="Rectangle 155"/>
              <p:cNvSpPr>
                <a:spLocks noChangeArrowheads="1"/>
              </p:cNvSpPr>
              <p:nvPr/>
            </p:nvSpPr>
            <p:spPr bwMode="auto">
              <a:xfrm>
                <a:off x="3122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59" name="Line 156"/>
              <p:cNvSpPr>
                <a:spLocks noChangeShapeType="1"/>
              </p:cNvSpPr>
              <p:nvPr/>
            </p:nvSpPr>
            <p:spPr bwMode="auto">
              <a:xfrm>
                <a:off x="3122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60" name="Line 157"/>
              <p:cNvSpPr>
                <a:spLocks noChangeShapeType="1"/>
              </p:cNvSpPr>
              <p:nvPr/>
            </p:nvSpPr>
            <p:spPr bwMode="auto">
              <a:xfrm>
                <a:off x="3122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61" name="Rectangle 158"/>
              <p:cNvSpPr>
                <a:spLocks noChangeArrowheads="1"/>
              </p:cNvSpPr>
              <p:nvPr/>
            </p:nvSpPr>
            <p:spPr bwMode="auto">
              <a:xfrm>
                <a:off x="3132" y="3035"/>
                <a:ext cx="619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62" name="Line 159"/>
              <p:cNvSpPr>
                <a:spLocks noChangeShapeType="1"/>
              </p:cNvSpPr>
              <p:nvPr/>
            </p:nvSpPr>
            <p:spPr bwMode="auto">
              <a:xfrm>
                <a:off x="3132" y="3035"/>
                <a:ext cx="61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63" name="Rectangle 160"/>
              <p:cNvSpPr>
                <a:spLocks noChangeArrowheads="1"/>
              </p:cNvSpPr>
              <p:nvPr/>
            </p:nvSpPr>
            <p:spPr bwMode="auto">
              <a:xfrm>
                <a:off x="3751" y="3035"/>
                <a:ext cx="9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64" name="Line 161"/>
              <p:cNvSpPr>
                <a:spLocks noChangeShapeType="1"/>
              </p:cNvSpPr>
              <p:nvPr/>
            </p:nvSpPr>
            <p:spPr bwMode="auto">
              <a:xfrm>
                <a:off x="3751" y="3035"/>
                <a:ext cx="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65" name="Line 162"/>
              <p:cNvSpPr>
                <a:spLocks noChangeShapeType="1"/>
              </p:cNvSpPr>
              <p:nvPr/>
            </p:nvSpPr>
            <p:spPr bwMode="auto">
              <a:xfrm>
                <a:off x="3751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66" name="Rectangle 163"/>
              <p:cNvSpPr>
                <a:spLocks noChangeArrowheads="1"/>
              </p:cNvSpPr>
              <p:nvPr/>
            </p:nvSpPr>
            <p:spPr bwMode="auto">
              <a:xfrm>
                <a:off x="3760" y="3035"/>
                <a:ext cx="619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67" name="Line 164"/>
              <p:cNvSpPr>
                <a:spLocks noChangeShapeType="1"/>
              </p:cNvSpPr>
              <p:nvPr/>
            </p:nvSpPr>
            <p:spPr bwMode="auto">
              <a:xfrm>
                <a:off x="3760" y="3035"/>
                <a:ext cx="61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68" name="Rectangle 165"/>
              <p:cNvSpPr>
                <a:spLocks noChangeArrowheads="1"/>
              </p:cNvSpPr>
              <p:nvPr/>
            </p:nvSpPr>
            <p:spPr bwMode="auto">
              <a:xfrm>
                <a:off x="4379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69" name="Line 166"/>
              <p:cNvSpPr>
                <a:spLocks noChangeShapeType="1"/>
              </p:cNvSpPr>
              <p:nvPr/>
            </p:nvSpPr>
            <p:spPr bwMode="auto">
              <a:xfrm>
                <a:off x="4379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70" name="Line 167"/>
              <p:cNvSpPr>
                <a:spLocks noChangeShapeType="1"/>
              </p:cNvSpPr>
              <p:nvPr/>
            </p:nvSpPr>
            <p:spPr bwMode="auto">
              <a:xfrm>
                <a:off x="4379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71" name="Rectangle 168"/>
              <p:cNvSpPr>
                <a:spLocks noChangeArrowheads="1"/>
              </p:cNvSpPr>
              <p:nvPr/>
            </p:nvSpPr>
            <p:spPr bwMode="auto">
              <a:xfrm>
                <a:off x="4389" y="3035"/>
                <a:ext cx="696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72" name="Line 169"/>
              <p:cNvSpPr>
                <a:spLocks noChangeShapeType="1"/>
              </p:cNvSpPr>
              <p:nvPr/>
            </p:nvSpPr>
            <p:spPr bwMode="auto">
              <a:xfrm>
                <a:off x="4389" y="3035"/>
                <a:ext cx="696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73" name="Rectangle 170"/>
              <p:cNvSpPr>
                <a:spLocks noChangeArrowheads="1"/>
              </p:cNvSpPr>
              <p:nvPr/>
            </p:nvSpPr>
            <p:spPr bwMode="auto">
              <a:xfrm>
                <a:off x="5085" y="3035"/>
                <a:ext cx="10" cy="1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74" name="Line 171"/>
              <p:cNvSpPr>
                <a:spLocks noChangeShapeType="1"/>
              </p:cNvSpPr>
              <p:nvPr/>
            </p:nvSpPr>
            <p:spPr bwMode="auto">
              <a:xfrm>
                <a:off x="5085" y="3035"/>
                <a:ext cx="10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75" name="Line 172"/>
              <p:cNvSpPr>
                <a:spLocks noChangeShapeType="1"/>
              </p:cNvSpPr>
              <p:nvPr/>
            </p:nvSpPr>
            <p:spPr bwMode="auto">
              <a:xfrm>
                <a:off x="5085" y="3035"/>
                <a:ext cx="1" cy="10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76" name="Rectangle 173"/>
              <p:cNvSpPr>
                <a:spLocks noChangeArrowheads="1"/>
              </p:cNvSpPr>
              <p:nvPr/>
            </p:nvSpPr>
            <p:spPr bwMode="auto">
              <a:xfrm>
                <a:off x="685" y="3045"/>
                <a:ext cx="10" cy="26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77" name="Line 174"/>
              <p:cNvSpPr>
                <a:spLocks noChangeShapeType="1"/>
              </p:cNvSpPr>
              <p:nvPr/>
            </p:nvSpPr>
            <p:spPr bwMode="auto">
              <a:xfrm>
                <a:off x="685" y="3045"/>
                <a:ext cx="1" cy="264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78" name="Rectangle 175"/>
              <p:cNvSpPr>
                <a:spLocks noChangeArrowheads="1"/>
              </p:cNvSpPr>
              <p:nvPr/>
            </p:nvSpPr>
            <p:spPr bwMode="auto">
              <a:xfrm>
                <a:off x="1120" y="3045"/>
                <a:ext cx="10" cy="26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79" name="Line 176"/>
              <p:cNvSpPr>
                <a:spLocks noChangeShapeType="1"/>
              </p:cNvSpPr>
              <p:nvPr/>
            </p:nvSpPr>
            <p:spPr bwMode="auto">
              <a:xfrm>
                <a:off x="1120" y="3045"/>
                <a:ext cx="1" cy="264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80" name="Rectangle 177"/>
              <p:cNvSpPr>
                <a:spLocks noChangeArrowheads="1"/>
              </p:cNvSpPr>
              <p:nvPr/>
            </p:nvSpPr>
            <p:spPr bwMode="auto">
              <a:xfrm>
                <a:off x="4379" y="3045"/>
                <a:ext cx="10" cy="26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81" name="Line 178"/>
              <p:cNvSpPr>
                <a:spLocks noChangeShapeType="1"/>
              </p:cNvSpPr>
              <p:nvPr/>
            </p:nvSpPr>
            <p:spPr bwMode="auto">
              <a:xfrm>
                <a:off x="4379" y="3045"/>
                <a:ext cx="1" cy="264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82" name="Rectangle 179"/>
              <p:cNvSpPr>
                <a:spLocks noChangeArrowheads="1"/>
              </p:cNvSpPr>
              <p:nvPr/>
            </p:nvSpPr>
            <p:spPr bwMode="auto">
              <a:xfrm>
                <a:off x="5085" y="3045"/>
                <a:ext cx="10" cy="26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483" name="Line 180"/>
              <p:cNvSpPr>
                <a:spLocks noChangeShapeType="1"/>
              </p:cNvSpPr>
              <p:nvPr/>
            </p:nvSpPr>
            <p:spPr bwMode="auto">
              <a:xfrm>
                <a:off x="5085" y="3045"/>
                <a:ext cx="1" cy="264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84" name="Rectangle 181"/>
              <p:cNvSpPr>
                <a:spLocks noChangeArrowheads="1"/>
              </p:cNvSpPr>
              <p:nvPr/>
            </p:nvSpPr>
            <p:spPr bwMode="auto">
              <a:xfrm>
                <a:off x="375" y="3319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x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85" name="Rectangle 182"/>
              <p:cNvSpPr>
                <a:spLocks noChangeArrowheads="1"/>
              </p:cNvSpPr>
              <p:nvPr/>
            </p:nvSpPr>
            <p:spPr bwMode="auto">
              <a:xfrm>
                <a:off x="491" y="340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FF"/>
                    </a:solidFill>
                  </a:rPr>
                  <a:t>1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86" name="Rectangle 183"/>
              <p:cNvSpPr>
                <a:spLocks noChangeArrowheads="1"/>
              </p:cNvSpPr>
              <p:nvPr/>
            </p:nvSpPr>
            <p:spPr bwMode="auto">
              <a:xfrm>
                <a:off x="569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87" name="Rectangle 184"/>
              <p:cNvSpPr>
                <a:spLocks noChangeArrowheads="1"/>
              </p:cNvSpPr>
              <p:nvPr/>
            </p:nvSpPr>
            <p:spPr bwMode="auto">
              <a:xfrm>
                <a:off x="849" y="3319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88" name="Rectangle 185"/>
              <p:cNvSpPr>
                <a:spLocks noChangeArrowheads="1"/>
              </p:cNvSpPr>
              <p:nvPr/>
            </p:nvSpPr>
            <p:spPr bwMode="auto">
              <a:xfrm>
                <a:off x="965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89" name="Rectangle 186"/>
              <p:cNvSpPr>
                <a:spLocks noChangeArrowheads="1"/>
              </p:cNvSpPr>
              <p:nvPr/>
            </p:nvSpPr>
            <p:spPr bwMode="auto">
              <a:xfrm>
                <a:off x="1294" y="3319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0" name="Rectangle 187"/>
              <p:cNvSpPr>
                <a:spLocks noChangeArrowheads="1"/>
              </p:cNvSpPr>
              <p:nvPr/>
            </p:nvSpPr>
            <p:spPr bwMode="auto">
              <a:xfrm>
                <a:off x="1410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1" name="Rectangle 188"/>
              <p:cNvSpPr>
                <a:spLocks noChangeArrowheads="1"/>
              </p:cNvSpPr>
              <p:nvPr/>
            </p:nvSpPr>
            <p:spPr bwMode="auto">
              <a:xfrm>
                <a:off x="1739" y="3319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0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2" name="Rectangle 189"/>
              <p:cNvSpPr>
                <a:spLocks noChangeArrowheads="1"/>
              </p:cNvSpPr>
              <p:nvPr/>
            </p:nvSpPr>
            <p:spPr bwMode="auto">
              <a:xfrm>
                <a:off x="1855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3" name="Rectangle 190"/>
              <p:cNvSpPr>
                <a:spLocks noChangeArrowheads="1"/>
              </p:cNvSpPr>
              <p:nvPr/>
            </p:nvSpPr>
            <p:spPr bwMode="auto">
              <a:xfrm>
                <a:off x="2184" y="3319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0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4" name="Rectangle 191"/>
              <p:cNvSpPr>
                <a:spLocks noChangeArrowheads="1"/>
              </p:cNvSpPr>
              <p:nvPr/>
            </p:nvSpPr>
            <p:spPr bwMode="auto">
              <a:xfrm>
                <a:off x="2300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5" name="Rectangle 192"/>
              <p:cNvSpPr>
                <a:spLocks noChangeArrowheads="1"/>
              </p:cNvSpPr>
              <p:nvPr/>
            </p:nvSpPr>
            <p:spPr bwMode="auto">
              <a:xfrm>
                <a:off x="2610" y="3319"/>
                <a:ext cx="7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-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6" name="Rectangle 193"/>
              <p:cNvSpPr>
                <a:spLocks noChangeArrowheads="1"/>
              </p:cNvSpPr>
              <p:nvPr/>
            </p:nvSpPr>
            <p:spPr bwMode="auto">
              <a:xfrm>
                <a:off x="2687" y="3319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1/6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7" name="Rectangle 194"/>
              <p:cNvSpPr>
                <a:spLocks noChangeArrowheads="1"/>
              </p:cNvSpPr>
              <p:nvPr/>
            </p:nvSpPr>
            <p:spPr bwMode="auto">
              <a:xfrm>
                <a:off x="2987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8" name="Rectangle 195"/>
              <p:cNvSpPr>
                <a:spLocks noChangeArrowheads="1"/>
              </p:cNvSpPr>
              <p:nvPr/>
            </p:nvSpPr>
            <p:spPr bwMode="auto">
              <a:xfrm>
                <a:off x="3296" y="3319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1/3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499" name="Rectangle 196"/>
              <p:cNvSpPr>
                <a:spLocks noChangeArrowheads="1"/>
              </p:cNvSpPr>
              <p:nvPr/>
            </p:nvSpPr>
            <p:spPr bwMode="auto">
              <a:xfrm>
                <a:off x="3596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500" name="Rectangle 197"/>
              <p:cNvSpPr>
                <a:spLocks noChangeArrowheads="1"/>
              </p:cNvSpPr>
              <p:nvPr/>
            </p:nvSpPr>
            <p:spPr bwMode="auto">
              <a:xfrm>
                <a:off x="3925" y="3319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1/2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501" name="Rectangle 198"/>
              <p:cNvSpPr>
                <a:spLocks noChangeArrowheads="1"/>
              </p:cNvSpPr>
              <p:nvPr/>
            </p:nvSpPr>
            <p:spPr bwMode="auto">
              <a:xfrm>
                <a:off x="4225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502" name="Rectangle 199"/>
              <p:cNvSpPr>
                <a:spLocks noChangeArrowheads="1"/>
              </p:cNvSpPr>
              <p:nvPr/>
            </p:nvSpPr>
            <p:spPr bwMode="auto">
              <a:xfrm>
                <a:off x="4679" y="3319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5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503" name="Rectangle 200"/>
              <p:cNvSpPr>
                <a:spLocks noChangeArrowheads="1"/>
              </p:cNvSpPr>
              <p:nvPr/>
            </p:nvSpPr>
            <p:spPr bwMode="auto">
              <a:xfrm>
                <a:off x="4795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504" name="Rectangle 201"/>
              <p:cNvSpPr>
                <a:spLocks noChangeArrowheads="1"/>
              </p:cNvSpPr>
              <p:nvPr/>
            </p:nvSpPr>
            <p:spPr bwMode="auto">
              <a:xfrm>
                <a:off x="5221" y="3319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</a:rPr>
                  <a:t> 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4505" name="Rectangle 202"/>
              <p:cNvSpPr>
                <a:spLocks noChangeArrowheads="1"/>
              </p:cNvSpPr>
              <p:nvPr/>
            </p:nvSpPr>
            <p:spPr bwMode="auto">
              <a:xfrm>
                <a:off x="685" y="3309"/>
                <a:ext cx="10" cy="26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4506" name="Line 203"/>
              <p:cNvSpPr>
                <a:spLocks noChangeShapeType="1"/>
              </p:cNvSpPr>
              <p:nvPr/>
            </p:nvSpPr>
            <p:spPr bwMode="auto">
              <a:xfrm>
                <a:off x="685" y="3309"/>
                <a:ext cx="1" cy="265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507" name="Rectangle 204"/>
              <p:cNvSpPr>
                <a:spLocks noChangeArrowheads="1"/>
              </p:cNvSpPr>
              <p:nvPr/>
            </p:nvSpPr>
            <p:spPr bwMode="auto">
              <a:xfrm>
                <a:off x="1120" y="3309"/>
                <a:ext cx="10" cy="26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94226" name="Line 205"/>
            <p:cNvSpPr>
              <a:spLocks noChangeShapeType="1"/>
            </p:cNvSpPr>
            <p:nvPr/>
          </p:nvSpPr>
          <p:spPr bwMode="auto">
            <a:xfrm>
              <a:off x="1120" y="3309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7" name="Rectangle 206"/>
            <p:cNvSpPr>
              <a:spLocks noChangeArrowheads="1"/>
            </p:cNvSpPr>
            <p:nvPr/>
          </p:nvSpPr>
          <p:spPr bwMode="auto">
            <a:xfrm>
              <a:off x="4379" y="3309"/>
              <a:ext cx="10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28" name="Line 207"/>
            <p:cNvSpPr>
              <a:spLocks noChangeShapeType="1"/>
            </p:cNvSpPr>
            <p:nvPr/>
          </p:nvSpPr>
          <p:spPr bwMode="auto">
            <a:xfrm>
              <a:off x="4379" y="3309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9" name="Rectangle 208"/>
            <p:cNvSpPr>
              <a:spLocks noChangeArrowheads="1"/>
            </p:cNvSpPr>
            <p:nvPr/>
          </p:nvSpPr>
          <p:spPr bwMode="auto">
            <a:xfrm>
              <a:off x="5085" y="3309"/>
              <a:ext cx="10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30" name="Line 209"/>
            <p:cNvSpPr>
              <a:spLocks noChangeShapeType="1"/>
            </p:cNvSpPr>
            <p:nvPr/>
          </p:nvSpPr>
          <p:spPr bwMode="auto">
            <a:xfrm>
              <a:off x="5085" y="3309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1" name="Rectangle 210"/>
            <p:cNvSpPr>
              <a:spLocks noChangeArrowheads="1"/>
            </p:cNvSpPr>
            <p:nvPr/>
          </p:nvSpPr>
          <p:spPr bwMode="auto">
            <a:xfrm>
              <a:off x="375" y="358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x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32" name="Rectangle 211"/>
            <p:cNvSpPr>
              <a:spLocks noChangeArrowheads="1"/>
            </p:cNvSpPr>
            <p:nvPr/>
          </p:nvSpPr>
          <p:spPr bwMode="auto">
            <a:xfrm>
              <a:off x="491" y="366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900">
                  <a:solidFill>
                    <a:srgbClr val="0000FF"/>
                  </a:solidFill>
                </a:rPr>
                <a:t>3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33" name="Rectangle 212"/>
            <p:cNvSpPr>
              <a:spLocks noChangeArrowheads="1"/>
            </p:cNvSpPr>
            <p:nvPr/>
          </p:nvSpPr>
          <p:spPr bwMode="auto">
            <a:xfrm>
              <a:off x="576" y="3600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34" name="Rectangle 213"/>
            <p:cNvSpPr>
              <a:spLocks noChangeArrowheads="1"/>
            </p:cNvSpPr>
            <p:nvPr/>
          </p:nvSpPr>
          <p:spPr bwMode="auto">
            <a:xfrm>
              <a:off x="965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35" name="Rectangle 214"/>
            <p:cNvSpPr>
              <a:spLocks noChangeArrowheads="1"/>
            </p:cNvSpPr>
            <p:nvPr/>
          </p:nvSpPr>
          <p:spPr bwMode="auto">
            <a:xfrm>
              <a:off x="1294" y="358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0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36" name="Rectangle 215"/>
            <p:cNvSpPr>
              <a:spLocks noChangeArrowheads="1"/>
            </p:cNvSpPr>
            <p:nvPr/>
          </p:nvSpPr>
          <p:spPr bwMode="auto">
            <a:xfrm>
              <a:off x="1410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37" name="Rectangle 216"/>
            <p:cNvSpPr>
              <a:spLocks noChangeArrowheads="1"/>
            </p:cNvSpPr>
            <p:nvPr/>
          </p:nvSpPr>
          <p:spPr bwMode="auto">
            <a:xfrm>
              <a:off x="1739" y="358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0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38" name="Rectangle 217"/>
            <p:cNvSpPr>
              <a:spLocks noChangeArrowheads="1"/>
            </p:cNvSpPr>
            <p:nvPr/>
          </p:nvSpPr>
          <p:spPr bwMode="auto">
            <a:xfrm>
              <a:off x="1855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39" name="Rectangle 218"/>
            <p:cNvSpPr>
              <a:spLocks noChangeArrowheads="1"/>
            </p:cNvSpPr>
            <p:nvPr/>
          </p:nvSpPr>
          <p:spPr bwMode="auto">
            <a:xfrm>
              <a:off x="2184" y="358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1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40" name="Rectangle 219"/>
            <p:cNvSpPr>
              <a:spLocks noChangeArrowheads="1"/>
            </p:cNvSpPr>
            <p:nvPr/>
          </p:nvSpPr>
          <p:spPr bwMode="auto">
            <a:xfrm>
              <a:off x="2300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41" name="Rectangle 220"/>
            <p:cNvSpPr>
              <a:spLocks noChangeArrowheads="1"/>
            </p:cNvSpPr>
            <p:nvPr/>
          </p:nvSpPr>
          <p:spPr bwMode="auto">
            <a:xfrm>
              <a:off x="2590" y="3584"/>
              <a:ext cx="3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5/12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42" name="Rectangle 221"/>
            <p:cNvSpPr>
              <a:spLocks noChangeArrowheads="1"/>
            </p:cNvSpPr>
            <p:nvPr/>
          </p:nvSpPr>
          <p:spPr bwMode="auto">
            <a:xfrm>
              <a:off x="3006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43" name="Rectangle 222"/>
            <p:cNvSpPr>
              <a:spLocks noChangeArrowheads="1"/>
            </p:cNvSpPr>
            <p:nvPr/>
          </p:nvSpPr>
          <p:spPr bwMode="auto">
            <a:xfrm>
              <a:off x="3258" y="3584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-</a:t>
              </a:r>
              <a:endParaRPr lang="en-US" altLang="zh-CN" sz="2400"/>
            </a:p>
          </p:txBody>
        </p:sp>
        <p:sp>
          <p:nvSpPr>
            <p:cNvPr id="94244" name="Rectangle 223"/>
            <p:cNvSpPr>
              <a:spLocks noChangeArrowheads="1"/>
            </p:cNvSpPr>
            <p:nvPr/>
          </p:nvSpPr>
          <p:spPr bwMode="auto">
            <a:xfrm>
              <a:off x="3335" y="3584"/>
              <a:ext cx="2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1/3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45" name="Rectangle 224"/>
            <p:cNvSpPr>
              <a:spLocks noChangeArrowheads="1"/>
            </p:cNvSpPr>
            <p:nvPr/>
          </p:nvSpPr>
          <p:spPr bwMode="auto">
            <a:xfrm>
              <a:off x="3635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46" name="Rectangle 225"/>
            <p:cNvSpPr>
              <a:spLocks noChangeArrowheads="1"/>
            </p:cNvSpPr>
            <p:nvPr/>
          </p:nvSpPr>
          <p:spPr bwMode="auto">
            <a:xfrm>
              <a:off x="3925" y="3584"/>
              <a:ext cx="28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1/4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47" name="Rectangle 226"/>
            <p:cNvSpPr>
              <a:spLocks noChangeArrowheads="1"/>
            </p:cNvSpPr>
            <p:nvPr/>
          </p:nvSpPr>
          <p:spPr bwMode="auto">
            <a:xfrm>
              <a:off x="4225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48" name="Rectangle 227"/>
            <p:cNvSpPr>
              <a:spLocks noChangeArrowheads="1"/>
            </p:cNvSpPr>
            <p:nvPr/>
          </p:nvSpPr>
          <p:spPr bwMode="auto">
            <a:xfrm>
              <a:off x="4679" y="358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</a:rPr>
                <a:t>1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4249" name="Rectangle 228"/>
            <p:cNvSpPr>
              <a:spLocks noChangeArrowheads="1"/>
            </p:cNvSpPr>
            <p:nvPr/>
          </p:nvSpPr>
          <p:spPr bwMode="auto">
            <a:xfrm>
              <a:off x="4795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FF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50" name="Rectangle 229"/>
            <p:cNvSpPr>
              <a:spLocks noChangeArrowheads="1"/>
            </p:cNvSpPr>
            <p:nvPr/>
          </p:nvSpPr>
          <p:spPr bwMode="auto">
            <a:xfrm>
              <a:off x="5221" y="358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4251" name="Rectangle 230"/>
            <p:cNvSpPr>
              <a:spLocks noChangeArrowheads="1"/>
            </p:cNvSpPr>
            <p:nvPr/>
          </p:nvSpPr>
          <p:spPr bwMode="auto">
            <a:xfrm>
              <a:off x="685" y="3574"/>
              <a:ext cx="10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52" name="Line 231"/>
            <p:cNvSpPr>
              <a:spLocks noChangeShapeType="1"/>
            </p:cNvSpPr>
            <p:nvPr/>
          </p:nvSpPr>
          <p:spPr bwMode="auto">
            <a:xfrm>
              <a:off x="685" y="3574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3" name="Rectangle 232"/>
            <p:cNvSpPr>
              <a:spLocks noChangeArrowheads="1"/>
            </p:cNvSpPr>
            <p:nvPr/>
          </p:nvSpPr>
          <p:spPr bwMode="auto">
            <a:xfrm>
              <a:off x="685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54" name="Line 233"/>
            <p:cNvSpPr>
              <a:spLocks noChangeShapeType="1"/>
            </p:cNvSpPr>
            <p:nvPr/>
          </p:nvSpPr>
          <p:spPr bwMode="auto">
            <a:xfrm>
              <a:off x="685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5" name="Line 234"/>
            <p:cNvSpPr>
              <a:spLocks noChangeShapeType="1"/>
            </p:cNvSpPr>
            <p:nvPr/>
          </p:nvSpPr>
          <p:spPr bwMode="auto">
            <a:xfrm>
              <a:off x="685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6" name="Rectangle 235"/>
            <p:cNvSpPr>
              <a:spLocks noChangeArrowheads="1"/>
            </p:cNvSpPr>
            <p:nvPr/>
          </p:nvSpPr>
          <p:spPr bwMode="auto">
            <a:xfrm>
              <a:off x="685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57" name="Line 236"/>
            <p:cNvSpPr>
              <a:spLocks noChangeShapeType="1"/>
            </p:cNvSpPr>
            <p:nvPr/>
          </p:nvSpPr>
          <p:spPr bwMode="auto">
            <a:xfrm>
              <a:off x="685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8" name="Line 237"/>
            <p:cNvSpPr>
              <a:spLocks noChangeShapeType="1"/>
            </p:cNvSpPr>
            <p:nvPr/>
          </p:nvSpPr>
          <p:spPr bwMode="auto">
            <a:xfrm>
              <a:off x="685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9" name="Rectangle 238"/>
            <p:cNvSpPr>
              <a:spLocks noChangeArrowheads="1"/>
            </p:cNvSpPr>
            <p:nvPr/>
          </p:nvSpPr>
          <p:spPr bwMode="auto">
            <a:xfrm>
              <a:off x="695" y="3839"/>
              <a:ext cx="425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60" name="Line 239"/>
            <p:cNvSpPr>
              <a:spLocks noChangeShapeType="1"/>
            </p:cNvSpPr>
            <p:nvPr/>
          </p:nvSpPr>
          <p:spPr bwMode="auto">
            <a:xfrm>
              <a:off x="695" y="3839"/>
              <a:ext cx="425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1" name="Rectangle 240"/>
            <p:cNvSpPr>
              <a:spLocks noChangeArrowheads="1"/>
            </p:cNvSpPr>
            <p:nvPr/>
          </p:nvSpPr>
          <p:spPr bwMode="auto">
            <a:xfrm>
              <a:off x="1120" y="3574"/>
              <a:ext cx="10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62" name="Line 241"/>
            <p:cNvSpPr>
              <a:spLocks noChangeShapeType="1"/>
            </p:cNvSpPr>
            <p:nvPr/>
          </p:nvSpPr>
          <p:spPr bwMode="auto">
            <a:xfrm>
              <a:off x="1120" y="3574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3" name="Rectangle 242"/>
            <p:cNvSpPr>
              <a:spLocks noChangeArrowheads="1"/>
            </p:cNvSpPr>
            <p:nvPr/>
          </p:nvSpPr>
          <p:spPr bwMode="auto">
            <a:xfrm>
              <a:off x="1120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64" name="Line 243"/>
            <p:cNvSpPr>
              <a:spLocks noChangeShapeType="1"/>
            </p:cNvSpPr>
            <p:nvPr/>
          </p:nvSpPr>
          <p:spPr bwMode="auto">
            <a:xfrm>
              <a:off x="1120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5" name="Line 244"/>
            <p:cNvSpPr>
              <a:spLocks noChangeShapeType="1"/>
            </p:cNvSpPr>
            <p:nvPr/>
          </p:nvSpPr>
          <p:spPr bwMode="auto">
            <a:xfrm>
              <a:off x="1120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6" name="Rectangle 245"/>
            <p:cNvSpPr>
              <a:spLocks noChangeArrowheads="1"/>
            </p:cNvSpPr>
            <p:nvPr/>
          </p:nvSpPr>
          <p:spPr bwMode="auto">
            <a:xfrm>
              <a:off x="1130" y="3839"/>
              <a:ext cx="435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67" name="Line 246"/>
            <p:cNvSpPr>
              <a:spLocks noChangeShapeType="1"/>
            </p:cNvSpPr>
            <p:nvPr/>
          </p:nvSpPr>
          <p:spPr bwMode="auto">
            <a:xfrm>
              <a:off x="1130" y="3839"/>
              <a:ext cx="435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8" name="Rectangle 247"/>
            <p:cNvSpPr>
              <a:spLocks noChangeArrowheads="1"/>
            </p:cNvSpPr>
            <p:nvPr/>
          </p:nvSpPr>
          <p:spPr bwMode="auto">
            <a:xfrm>
              <a:off x="1565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69" name="Line 248"/>
            <p:cNvSpPr>
              <a:spLocks noChangeShapeType="1"/>
            </p:cNvSpPr>
            <p:nvPr/>
          </p:nvSpPr>
          <p:spPr bwMode="auto">
            <a:xfrm>
              <a:off x="1565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0" name="Line 249"/>
            <p:cNvSpPr>
              <a:spLocks noChangeShapeType="1"/>
            </p:cNvSpPr>
            <p:nvPr/>
          </p:nvSpPr>
          <p:spPr bwMode="auto">
            <a:xfrm>
              <a:off x="1565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1" name="Rectangle 250"/>
            <p:cNvSpPr>
              <a:spLocks noChangeArrowheads="1"/>
            </p:cNvSpPr>
            <p:nvPr/>
          </p:nvSpPr>
          <p:spPr bwMode="auto">
            <a:xfrm>
              <a:off x="1575" y="3839"/>
              <a:ext cx="435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72" name="Line 251"/>
            <p:cNvSpPr>
              <a:spLocks noChangeShapeType="1"/>
            </p:cNvSpPr>
            <p:nvPr/>
          </p:nvSpPr>
          <p:spPr bwMode="auto">
            <a:xfrm>
              <a:off x="1575" y="3839"/>
              <a:ext cx="435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3" name="Rectangle 252"/>
            <p:cNvSpPr>
              <a:spLocks noChangeArrowheads="1"/>
            </p:cNvSpPr>
            <p:nvPr/>
          </p:nvSpPr>
          <p:spPr bwMode="auto">
            <a:xfrm>
              <a:off x="2010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74" name="Line 253"/>
            <p:cNvSpPr>
              <a:spLocks noChangeShapeType="1"/>
            </p:cNvSpPr>
            <p:nvPr/>
          </p:nvSpPr>
          <p:spPr bwMode="auto">
            <a:xfrm>
              <a:off x="2010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5" name="Line 254"/>
            <p:cNvSpPr>
              <a:spLocks noChangeShapeType="1"/>
            </p:cNvSpPr>
            <p:nvPr/>
          </p:nvSpPr>
          <p:spPr bwMode="auto">
            <a:xfrm>
              <a:off x="2010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6" name="Rectangle 255"/>
            <p:cNvSpPr>
              <a:spLocks noChangeArrowheads="1"/>
            </p:cNvSpPr>
            <p:nvPr/>
          </p:nvSpPr>
          <p:spPr bwMode="auto">
            <a:xfrm>
              <a:off x="2020" y="3839"/>
              <a:ext cx="435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77" name="Line 256"/>
            <p:cNvSpPr>
              <a:spLocks noChangeShapeType="1"/>
            </p:cNvSpPr>
            <p:nvPr/>
          </p:nvSpPr>
          <p:spPr bwMode="auto">
            <a:xfrm>
              <a:off x="2020" y="3839"/>
              <a:ext cx="435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8" name="Rectangle 257"/>
            <p:cNvSpPr>
              <a:spLocks noChangeArrowheads="1"/>
            </p:cNvSpPr>
            <p:nvPr/>
          </p:nvSpPr>
          <p:spPr bwMode="auto">
            <a:xfrm>
              <a:off x="2455" y="3839"/>
              <a:ext cx="9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79" name="Line 258"/>
            <p:cNvSpPr>
              <a:spLocks noChangeShapeType="1"/>
            </p:cNvSpPr>
            <p:nvPr/>
          </p:nvSpPr>
          <p:spPr bwMode="auto">
            <a:xfrm>
              <a:off x="2455" y="3839"/>
              <a:ext cx="9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0" name="Line 259"/>
            <p:cNvSpPr>
              <a:spLocks noChangeShapeType="1"/>
            </p:cNvSpPr>
            <p:nvPr/>
          </p:nvSpPr>
          <p:spPr bwMode="auto">
            <a:xfrm>
              <a:off x="2455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1" name="Rectangle 260"/>
            <p:cNvSpPr>
              <a:spLocks noChangeArrowheads="1"/>
            </p:cNvSpPr>
            <p:nvPr/>
          </p:nvSpPr>
          <p:spPr bwMode="auto">
            <a:xfrm>
              <a:off x="2464" y="3839"/>
              <a:ext cx="658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82" name="Line 261"/>
            <p:cNvSpPr>
              <a:spLocks noChangeShapeType="1"/>
            </p:cNvSpPr>
            <p:nvPr/>
          </p:nvSpPr>
          <p:spPr bwMode="auto">
            <a:xfrm>
              <a:off x="2464" y="3839"/>
              <a:ext cx="65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3" name="Rectangle 262"/>
            <p:cNvSpPr>
              <a:spLocks noChangeArrowheads="1"/>
            </p:cNvSpPr>
            <p:nvPr/>
          </p:nvSpPr>
          <p:spPr bwMode="auto">
            <a:xfrm>
              <a:off x="3122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84" name="Line 263"/>
            <p:cNvSpPr>
              <a:spLocks noChangeShapeType="1"/>
            </p:cNvSpPr>
            <p:nvPr/>
          </p:nvSpPr>
          <p:spPr bwMode="auto">
            <a:xfrm>
              <a:off x="3122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5" name="Line 264"/>
            <p:cNvSpPr>
              <a:spLocks noChangeShapeType="1"/>
            </p:cNvSpPr>
            <p:nvPr/>
          </p:nvSpPr>
          <p:spPr bwMode="auto">
            <a:xfrm>
              <a:off x="3122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6" name="Rectangle 265"/>
            <p:cNvSpPr>
              <a:spLocks noChangeArrowheads="1"/>
            </p:cNvSpPr>
            <p:nvPr/>
          </p:nvSpPr>
          <p:spPr bwMode="auto">
            <a:xfrm>
              <a:off x="3132" y="3839"/>
              <a:ext cx="619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87" name="Line 266"/>
            <p:cNvSpPr>
              <a:spLocks noChangeShapeType="1"/>
            </p:cNvSpPr>
            <p:nvPr/>
          </p:nvSpPr>
          <p:spPr bwMode="auto">
            <a:xfrm>
              <a:off x="3132" y="3839"/>
              <a:ext cx="619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8" name="Rectangle 267"/>
            <p:cNvSpPr>
              <a:spLocks noChangeArrowheads="1"/>
            </p:cNvSpPr>
            <p:nvPr/>
          </p:nvSpPr>
          <p:spPr bwMode="auto">
            <a:xfrm>
              <a:off x="3751" y="3839"/>
              <a:ext cx="9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89" name="Line 268"/>
            <p:cNvSpPr>
              <a:spLocks noChangeShapeType="1"/>
            </p:cNvSpPr>
            <p:nvPr/>
          </p:nvSpPr>
          <p:spPr bwMode="auto">
            <a:xfrm>
              <a:off x="3751" y="3839"/>
              <a:ext cx="9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0" name="Line 269"/>
            <p:cNvSpPr>
              <a:spLocks noChangeShapeType="1"/>
            </p:cNvSpPr>
            <p:nvPr/>
          </p:nvSpPr>
          <p:spPr bwMode="auto">
            <a:xfrm>
              <a:off x="3751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1" name="Rectangle 270"/>
            <p:cNvSpPr>
              <a:spLocks noChangeArrowheads="1"/>
            </p:cNvSpPr>
            <p:nvPr/>
          </p:nvSpPr>
          <p:spPr bwMode="auto">
            <a:xfrm>
              <a:off x="3760" y="3839"/>
              <a:ext cx="619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92" name="Line 271"/>
            <p:cNvSpPr>
              <a:spLocks noChangeShapeType="1"/>
            </p:cNvSpPr>
            <p:nvPr/>
          </p:nvSpPr>
          <p:spPr bwMode="auto">
            <a:xfrm>
              <a:off x="3760" y="3839"/>
              <a:ext cx="619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3" name="Rectangle 272"/>
            <p:cNvSpPr>
              <a:spLocks noChangeArrowheads="1"/>
            </p:cNvSpPr>
            <p:nvPr/>
          </p:nvSpPr>
          <p:spPr bwMode="auto">
            <a:xfrm>
              <a:off x="4379" y="3574"/>
              <a:ext cx="10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94" name="Line 273"/>
            <p:cNvSpPr>
              <a:spLocks noChangeShapeType="1"/>
            </p:cNvSpPr>
            <p:nvPr/>
          </p:nvSpPr>
          <p:spPr bwMode="auto">
            <a:xfrm>
              <a:off x="4379" y="3574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5" name="Rectangle 274"/>
            <p:cNvSpPr>
              <a:spLocks noChangeArrowheads="1"/>
            </p:cNvSpPr>
            <p:nvPr/>
          </p:nvSpPr>
          <p:spPr bwMode="auto">
            <a:xfrm>
              <a:off x="4379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96" name="Line 275"/>
            <p:cNvSpPr>
              <a:spLocks noChangeShapeType="1"/>
            </p:cNvSpPr>
            <p:nvPr/>
          </p:nvSpPr>
          <p:spPr bwMode="auto">
            <a:xfrm>
              <a:off x="4379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7" name="Line 276"/>
            <p:cNvSpPr>
              <a:spLocks noChangeShapeType="1"/>
            </p:cNvSpPr>
            <p:nvPr/>
          </p:nvSpPr>
          <p:spPr bwMode="auto">
            <a:xfrm>
              <a:off x="4379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8" name="Rectangle 277"/>
            <p:cNvSpPr>
              <a:spLocks noChangeArrowheads="1"/>
            </p:cNvSpPr>
            <p:nvPr/>
          </p:nvSpPr>
          <p:spPr bwMode="auto">
            <a:xfrm>
              <a:off x="4389" y="3839"/>
              <a:ext cx="696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299" name="Line 278"/>
            <p:cNvSpPr>
              <a:spLocks noChangeShapeType="1"/>
            </p:cNvSpPr>
            <p:nvPr/>
          </p:nvSpPr>
          <p:spPr bwMode="auto">
            <a:xfrm>
              <a:off x="4389" y="3839"/>
              <a:ext cx="696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00" name="Rectangle 279"/>
            <p:cNvSpPr>
              <a:spLocks noChangeArrowheads="1"/>
            </p:cNvSpPr>
            <p:nvPr/>
          </p:nvSpPr>
          <p:spPr bwMode="auto">
            <a:xfrm>
              <a:off x="5085" y="3574"/>
              <a:ext cx="10" cy="265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301" name="Line 280"/>
            <p:cNvSpPr>
              <a:spLocks noChangeShapeType="1"/>
            </p:cNvSpPr>
            <p:nvPr/>
          </p:nvSpPr>
          <p:spPr bwMode="auto">
            <a:xfrm>
              <a:off x="5085" y="3574"/>
              <a:ext cx="1" cy="265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02" name="Rectangle 281"/>
            <p:cNvSpPr>
              <a:spLocks noChangeArrowheads="1"/>
            </p:cNvSpPr>
            <p:nvPr/>
          </p:nvSpPr>
          <p:spPr bwMode="auto">
            <a:xfrm>
              <a:off x="5085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303" name="Line 282"/>
            <p:cNvSpPr>
              <a:spLocks noChangeShapeType="1"/>
            </p:cNvSpPr>
            <p:nvPr/>
          </p:nvSpPr>
          <p:spPr bwMode="auto">
            <a:xfrm>
              <a:off x="5085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04" name="Line 283"/>
            <p:cNvSpPr>
              <a:spLocks noChangeShapeType="1"/>
            </p:cNvSpPr>
            <p:nvPr/>
          </p:nvSpPr>
          <p:spPr bwMode="auto">
            <a:xfrm>
              <a:off x="5085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05" name="Rectangle 284"/>
            <p:cNvSpPr>
              <a:spLocks noChangeArrowheads="1"/>
            </p:cNvSpPr>
            <p:nvPr/>
          </p:nvSpPr>
          <p:spPr bwMode="auto">
            <a:xfrm>
              <a:off x="5085" y="3839"/>
              <a:ext cx="10" cy="1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4306" name="Line 285"/>
            <p:cNvSpPr>
              <a:spLocks noChangeShapeType="1"/>
            </p:cNvSpPr>
            <p:nvPr/>
          </p:nvSpPr>
          <p:spPr bwMode="auto">
            <a:xfrm>
              <a:off x="5085" y="3839"/>
              <a:ext cx="10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07" name="Line 286"/>
            <p:cNvSpPr>
              <a:spLocks noChangeShapeType="1"/>
            </p:cNvSpPr>
            <p:nvPr/>
          </p:nvSpPr>
          <p:spPr bwMode="auto">
            <a:xfrm>
              <a:off x="5085" y="3839"/>
              <a:ext cx="1" cy="10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599" name="Text Box 287"/>
          <p:cNvSpPr txBox="1">
            <a:spLocks noChangeArrowheads="1"/>
          </p:cNvSpPr>
          <p:nvPr/>
        </p:nvSpPr>
        <p:spPr bwMode="auto">
          <a:xfrm>
            <a:off x="395288" y="5638800"/>
            <a:ext cx="770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若检验数向量非负数，而右端向量没变，故仍最优解，</a:t>
            </a:r>
          </a:p>
        </p:txBody>
      </p:sp>
      <p:sp>
        <p:nvSpPr>
          <p:cNvPr id="13600" name="Text Box 288"/>
          <p:cNvSpPr txBox="1">
            <a:spLocks noChangeArrowheads="1"/>
          </p:cNvSpPr>
          <p:nvPr/>
        </p:nvSpPr>
        <p:spPr bwMode="auto">
          <a:xfrm>
            <a:off x="395288" y="6140450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否则用单纯形算法即可。</a:t>
            </a:r>
          </a:p>
        </p:txBody>
      </p:sp>
      <p:sp>
        <p:nvSpPr>
          <p:cNvPr id="94217" name="Text Box 289"/>
          <p:cNvSpPr txBox="1">
            <a:spLocks noChangeArrowheads="1"/>
          </p:cNvSpPr>
          <p:nvPr/>
        </p:nvSpPr>
        <p:spPr bwMode="auto">
          <a:xfrm>
            <a:off x="281647" y="147334"/>
            <a:ext cx="587375" cy="1081088"/>
          </a:xfrm>
          <a:prstGeom prst="rect">
            <a:avLst/>
          </a:prstGeom>
          <a:solidFill>
            <a:srgbClr val="CCFF66"/>
          </a:solidFill>
          <a:ln w="38100" cmpd="dbl">
            <a:solidFill>
              <a:srgbClr val="FF3300"/>
            </a:solidFill>
            <a:miter lim="800000"/>
          </a:ln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基变量</a:t>
            </a:r>
          </a:p>
        </p:txBody>
      </p:sp>
      <p:graphicFrame>
        <p:nvGraphicFramePr>
          <p:cNvPr id="13602" name="Object 290"/>
          <p:cNvGraphicFramePr>
            <a:graphicFrameLocks noChangeAspect="1"/>
          </p:cNvGraphicFramePr>
          <p:nvPr/>
        </p:nvGraphicFramePr>
        <p:xfrm>
          <a:off x="971550" y="590550"/>
          <a:ext cx="6838950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41" name="文档" r:id="rId5" imgW="3689985" imgH="1275080" progId="Word.Document.8">
                  <p:embed/>
                </p:oleObj>
              </mc:Choice>
              <mc:Fallback>
                <p:oleObj name="文档" r:id="rId5" imgW="3689985" imgH="1275080" progId="Word.Document.8">
                  <p:embed/>
                  <p:pic>
                    <p:nvPicPr>
                      <p:cNvPr id="0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90550"/>
                        <a:ext cx="6838950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03" name="Text Box 291"/>
          <p:cNvSpPr txBox="1">
            <a:spLocks noChangeArrowheads="1"/>
          </p:cNvSpPr>
          <p:nvPr/>
        </p:nvSpPr>
        <p:spPr bwMode="auto">
          <a:xfrm>
            <a:off x="755650" y="2611438"/>
            <a:ext cx="7424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把最优单纯形表的第</a:t>
            </a:r>
            <a:r>
              <a:rPr lang="en-US" altLang="zh-CN" sz="2400"/>
              <a:t>3</a:t>
            </a:r>
            <a:r>
              <a:rPr lang="zh-CN" altLang="en-US" sz="2400"/>
              <a:t>行乘以</a:t>
            </a:r>
            <a:r>
              <a:rPr lang="en-US" altLang="zh-CN" sz="2400"/>
              <a:t>[ 1-(-1) ]</a:t>
            </a:r>
            <a:r>
              <a:rPr lang="zh-CN" altLang="en-US" sz="2400"/>
              <a:t>加到检验数行上</a:t>
            </a:r>
          </a:p>
        </p:txBody>
      </p:sp>
      <p:grpSp>
        <p:nvGrpSpPr>
          <p:cNvPr id="4" name="Group 292"/>
          <p:cNvGrpSpPr/>
          <p:nvPr/>
        </p:nvGrpSpPr>
        <p:grpSpPr bwMode="auto">
          <a:xfrm>
            <a:off x="808038" y="3116263"/>
            <a:ext cx="1676400" cy="511175"/>
            <a:chOff x="336" y="2112"/>
            <a:chExt cx="1056" cy="322"/>
          </a:xfrm>
        </p:grpSpPr>
        <p:sp>
          <p:nvSpPr>
            <p:cNvPr id="94223" name="Text Box 293"/>
            <p:cNvSpPr txBox="1">
              <a:spLocks noChangeArrowheads="1"/>
            </p:cNvSpPr>
            <p:nvPr/>
          </p:nvSpPr>
          <p:spPr bwMode="auto">
            <a:xfrm>
              <a:off x="336" y="2146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再令</a:t>
              </a:r>
            </a:p>
          </p:txBody>
        </p:sp>
        <p:graphicFrame>
          <p:nvGraphicFramePr>
            <p:cNvPr id="94224" name="Object 294"/>
            <p:cNvGraphicFramePr>
              <a:graphicFrameLocks noChangeAspect="1"/>
            </p:cNvGraphicFramePr>
            <p:nvPr/>
          </p:nvGraphicFramePr>
          <p:xfrm>
            <a:off x="836" y="2112"/>
            <a:ext cx="55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042" name="Equation" r:id="rId7" imgW="482600" imgH="279400" progId="Equation.DSMT4">
                    <p:embed/>
                  </p:oleObj>
                </mc:Choice>
                <mc:Fallback>
                  <p:oleObj name="Equation" r:id="rId7" imgW="482600" imgH="279400" progId="Equation.DSMT4">
                    <p:embed/>
                    <p:pic>
                      <p:nvPicPr>
                        <p:cNvPr id="0" name="Object 2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2112"/>
                          <a:ext cx="556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07" name="Text Box 295"/>
          <p:cNvSpPr txBox="1">
            <a:spLocks noChangeArrowheads="1"/>
          </p:cNvSpPr>
          <p:nvPr/>
        </p:nvSpPr>
        <p:spPr bwMode="auto">
          <a:xfrm>
            <a:off x="2649538" y="3187700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得到对应新问题的单纯形表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46549" y="6100762"/>
            <a:ext cx="8229600" cy="757238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1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99" grpId="0" autoUpdateAnimBg="0"/>
      <p:bldP spid="13600" grpId="0" autoUpdateAnimBg="0"/>
      <p:bldP spid="13603" grpId="0" autoUpdateAnimBg="0"/>
      <p:bldP spid="13607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灯片编号占位符 3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59C349EC-5707-471D-9D16-34CEE744153F}" type="slidenum">
              <a:rPr lang="en-US" altLang="zh-CN" sz="1400"/>
              <a:t>65</a:t>
            </a:fld>
            <a:endParaRPr lang="en-US" altLang="zh-CN" sz="1400"/>
          </a:p>
        </p:txBody>
      </p:sp>
      <p:sp>
        <p:nvSpPr>
          <p:cNvPr id="95237" name="Rectangle 2"/>
          <p:cNvSpPr>
            <a:spLocks noChangeArrowheads="1"/>
          </p:cNvSpPr>
          <p:nvPr/>
        </p:nvSpPr>
        <p:spPr bwMode="auto">
          <a:xfrm>
            <a:off x="468313" y="1125538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3300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/>
              <a:t>1. </a:t>
            </a:r>
            <a:r>
              <a:rPr lang="zh-CN" altLang="en-US" sz="2400" b="1"/>
              <a:t>基本思想</a:t>
            </a:r>
          </a:p>
        </p:txBody>
      </p:sp>
      <p:grpSp>
        <p:nvGrpSpPr>
          <p:cNvPr id="95238" name="Group 3"/>
          <p:cNvGrpSpPr/>
          <p:nvPr/>
        </p:nvGrpSpPr>
        <p:grpSpPr bwMode="auto">
          <a:xfrm>
            <a:off x="827088" y="1628775"/>
            <a:ext cx="6029325" cy="2438400"/>
            <a:chOff x="672" y="1104"/>
            <a:chExt cx="3798" cy="1536"/>
          </a:xfrm>
        </p:grpSpPr>
        <p:sp>
          <p:nvSpPr>
            <p:cNvPr id="95250" name="Rectangle 4"/>
            <p:cNvSpPr>
              <a:spLocks noChangeArrowheads="1"/>
            </p:cNvSpPr>
            <p:nvPr/>
          </p:nvSpPr>
          <p:spPr bwMode="auto">
            <a:xfrm>
              <a:off x="3702" y="1104"/>
              <a:ext cx="5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Arial Narrow" panose="020B0606020202030204" pitchFamily="34" charset="0"/>
                </a:rPr>
                <a:t>RHS</a:t>
              </a:r>
              <a:endParaRPr lang="en-US" altLang="zh-CN" sz="2400"/>
            </a:p>
          </p:txBody>
        </p:sp>
        <p:graphicFrame>
          <p:nvGraphicFramePr>
            <p:cNvPr id="95251" name="Object 5"/>
            <p:cNvGraphicFramePr>
              <a:graphicFrameLocks noChangeAspect="1"/>
            </p:cNvGraphicFramePr>
            <p:nvPr/>
          </p:nvGraphicFramePr>
          <p:xfrm>
            <a:off x="672" y="2160"/>
            <a:ext cx="29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27" r:id="rId3" imgW="215900" imgH="228600" progId="Equation.3">
                    <p:embed/>
                  </p:oleObj>
                </mc:Choice>
                <mc:Fallback>
                  <p:oleObj r:id="rId3" imgW="2159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160"/>
                          <a:ext cx="29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2" name="Object 6"/>
            <p:cNvGraphicFramePr>
              <a:graphicFrameLocks noChangeAspect="1"/>
            </p:cNvGraphicFramePr>
            <p:nvPr/>
          </p:nvGraphicFramePr>
          <p:xfrm>
            <a:off x="2598" y="1104"/>
            <a:ext cx="32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28" r:id="rId5" imgW="241300" imgH="228600" progId="Equation.3">
                    <p:embed/>
                  </p:oleObj>
                </mc:Choice>
                <mc:Fallback>
                  <p:oleObj r:id="rId5" imgW="2413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8" y="1104"/>
                          <a:ext cx="32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3" name="Object 7"/>
            <p:cNvGraphicFramePr>
              <a:graphicFrameLocks noChangeAspect="1"/>
            </p:cNvGraphicFramePr>
            <p:nvPr/>
          </p:nvGraphicFramePr>
          <p:xfrm>
            <a:off x="2118" y="1632"/>
            <a:ext cx="1244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29" r:id="rId7" imgW="926465" imgH="266700" progId="Equation.3">
                    <p:embed/>
                  </p:oleObj>
                </mc:Choice>
                <mc:Fallback>
                  <p:oleObj r:id="rId7" imgW="926465" imgH="2667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8" y="1632"/>
                          <a:ext cx="1244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4" name="Object 8"/>
            <p:cNvGraphicFramePr>
              <a:graphicFrameLocks noChangeAspect="1"/>
            </p:cNvGraphicFramePr>
            <p:nvPr/>
          </p:nvGraphicFramePr>
          <p:xfrm>
            <a:off x="3606" y="1584"/>
            <a:ext cx="731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0" r:id="rId9" imgW="545465" imgH="266700" progId="Equation.3">
                    <p:embed/>
                  </p:oleObj>
                </mc:Choice>
                <mc:Fallback>
                  <p:oleObj r:id="rId9" imgW="545465" imgH="2667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584"/>
                          <a:ext cx="731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5" name="Object 9"/>
            <p:cNvGraphicFramePr>
              <a:graphicFrameLocks noChangeAspect="1"/>
            </p:cNvGraphicFramePr>
            <p:nvPr/>
          </p:nvGraphicFramePr>
          <p:xfrm>
            <a:off x="1494" y="2208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1" r:id="rId11" imgW="127000" imgH="165100" progId="Equation.3">
                    <p:embed/>
                  </p:oleObj>
                </mc:Choice>
                <mc:Fallback>
                  <p:oleObj r:id="rId11" imgW="127000" imgH="165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4" y="2208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6" name="Object 10"/>
            <p:cNvGraphicFramePr>
              <a:graphicFrameLocks noChangeAspect="1"/>
            </p:cNvGraphicFramePr>
            <p:nvPr/>
          </p:nvGraphicFramePr>
          <p:xfrm>
            <a:off x="2550" y="2256"/>
            <a:ext cx="57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2" r:id="rId13" imgW="431800" imgH="228600" progId="Equation.3">
                    <p:embed/>
                  </p:oleObj>
                </mc:Choice>
                <mc:Fallback>
                  <p:oleObj r:id="rId13" imgW="4318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" y="2256"/>
                          <a:ext cx="576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57" name="Object 11"/>
            <p:cNvGraphicFramePr>
              <a:graphicFrameLocks noChangeAspect="1"/>
            </p:cNvGraphicFramePr>
            <p:nvPr/>
          </p:nvGraphicFramePr>
          <p:xfrm>
            <a:off x="3702" y="2208"/>
            <a:ext cx="49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3" r:id="rId15" imgW="368300" imgH="228600" progId="Equation.3">
                    <p:embed/>
                  </p:oleObj>
                </mc:Choice>
                <mc:Fallback>
                  <p:oleObj r:id="rId15" imgW="3683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2" y="2208"/>
                          <a:ext cx="499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5258" name="Group 12"/>
            <p:cNvGrpSpPr/>
            <p:nvPr/>
          </p:nvGrpSpPr>
          <p:grpSpPr bwMode="auto">
            <a:xfrm>
              <a:off x="1110" y="1440"/>
              <a:ext cx="3360" cy="1200"/>
              <a:chOff x="-3" y="381"/>
              <a:chExt cx="1976" cy="774"/>
            </a:xfrm>
          </p:grpSpPr>
          <p:grpSp>
            <p:nvGrpSpPr>
              <p:cNvPr id="95262" name="Group 13"/>
              <p:cNvGrpSpPr/>
              <p:nvPr/>
            </p:nvGrpSpPr>
            <p:grpSpPr bwMode="auto">
              <a:xfrm>
                <a:off x="0" y="384"/>
                <a:ext cx="1970" cy="768"/>
                <a:chOff x="0" y="384"/>
                <a:chExt cx="1970" cy="768"/>
              </a:xfrm>
            </p:grpSpPr>
            <p:grpSp>
              <p:nvGrpSpPr>
                <p:cNvPr id="95264" name="Group 14"/>
                <p:cNvGrpSpPr/>
                <p:nvPr/>
              </p:nvGrpSpPr>
              <p:grpSpPr bwMode="auto">
                <a:xfrm>
                  <a:off x="0" y="384"/>
                  <a:ext cx="1382" cy="384"/>
                  <a:chOff x="0" y="384"/>
                  <a:chExt cx="1382" cy="384"/>
                </a:xfrm>
              </p:grpSpPr>
              <p:sp>
                <p:nvSpPr>
                  <p:cNvPr id="95274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29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000">
                        <a:solidFill>
                          <a:srgbClr val="000000"/>
                        </a:solidFill>
                        <a:latin typeface="Arial Narrow" panose="020B0606020202030204" pitchFamily="34" charset="0"/>
                      </a:rPr>
                      <a:t>  </a:t>
                    </a:r>
                    <a:endParaRPr lang="en-US" altLang="zh-CN" sz="2400"/>
                  </a:p>
                </p:txBody>
              </p:sp>
              <p:sp>
                <p:nvSpPr>
                  <p:cNvPr id="95275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138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/>
                  </a:p>
                </p:txBody>
              </p:sp>
            </p:grpSp>
            <p:grpSp>
              <p:nvGrpSpPr>
                <p:cNvPr id="95265" name="Group 17"/>
                <p:cNvGrpSpPr/>
                <p:nvPr/>
              </p:nvGrpSpPr>
              <p:grpSpPr bwMode="auto">
                <a:xfrm>
                  <a:off x="1382" y="384"/>
                  <a:ext cx="588" cy="384"/>
                  <a:chOff x="1382" y="384"/>
                  <a:chExt cx="588" cy="384"/>
                </a:xfrm>
              </p:grpSpPr>
              <p:sp>
                <p:nvSpPr>
                  <p:cNvPr id="95272" name="Rectangle 18"/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1425" y="384"/>
                    <a:ext cx="50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273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382" y="384"/>
                    <a:ext cx="58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/>
                  </a:p>
                </p:txBody>
              </p:sp>
            </p:grpSp>
            <p:grpSp>
              <p:nvGrpSpPr>
                <p:cNvPr id="95266" name="Group 20"/>
                <p:cNvGrpSpPr/>
                <p:nvPr/>
              </p:nvGrpSpPr>
              <p:grpSpPr bwMode="auto">
                <a:xfrm>
                  <a:off x="0" y="768"/>
                  <a:ext cx="1382" cy="384"/>
                  <a:chOff x="0" y="768"/>
                  <a:chExt cx="1382" cy="384"/>
                </a:xfrm>
              </p:grpSpPr>
              <p:sp>
                <p:nvSpPr>
                  <p:cNvPr id="95270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29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000">
                        <a:solidFill>
                          <a:srgbClr val="000000"/>
                        </a:solidFill>
                        <a:latin typeface="Arial Narrow" panose="020B0606020202030204" pitchFamily="34" charset="0"/>
                      </a:rPr>
                      <a:t>                 </a:t>
                    </a:r>
                    <a:endParaRPr lang="en-US" altLang="zh-CN" sz="1000"/>
                  </a:p>
                  <a:p>
                    <a:pPr algn="just">
                      <a:spcBef>
                        <a:spcPct val="0"/>
                      </a:spcBef>
                      <a:buFontTx/>
                      <a:buNone/>
                    </a:pPr>
                    <a:endParaRPr lang="en-US" altLang="zh-CN" sz="2400"/>
                  </a:p>
                </p:txBody>
              </p:sp>
              <p:sp>
                <p:nvSpPr>
                  <p:cNvPr id="95271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138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/>
                  </a:p>
                </p:txBody>
              </p:sp>
            </p:grpSp>
            <p:grpSp>
              <p:nvGrpSpPr>
                <p:cNvPr id="95267" name="Group 23"/>
                <p:cNvGrpSpPr/>
                <p:nvPr/>
              </p:nvGrpSpPr>
              <p:grpSpPr bwMode="auto">
                <a:xfrm>
                  <a:off x="1382" y="768"/>
                  <a:ext cx="588" cy="384"/>
                  <a:chOff x="1382" y="768"/>
                  <a:chExt cx="588" cy="384"/>
                </a:xfrm>
              </p:grpSpPr>
              <p:sp>
                <p:nvSpPr>
                  <p:cNvPr id="95268" name="Rectangle 24"/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1425" y="768"/>
                    <a:ext cx="50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269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382" y="768"/>
                    <a:ext cx="588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/>
                  </a:p>
                </p:txBody>
              </p:sp>
            </p:grpSp>
          </p:grpSp>
          <p:sp>
            <p:nvSpPr>
              <p:cNvPr id="95263" name="Rectangle 26"/>
              <p:cNvSpPr>
                <a:spLocks noChangeArrowheads="1"/>
              </p:cNvSpPr>
              <p:nvPr/>
            </p:nvSpPr>
            <p:spPr bwMode="auto">
              <a:xfrm>
                <a:off x="-3" y="381"/>
                <a:ext cx="1976" cy="774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graphicFrame>
          <p:nvGraphicFramePr>
            <p:cNvPr id="95259" name="Object 27"/>
            <p:cNvGraphicFramePr>
              <a:graphicFrameLocks noChangeAspect="1"/>
            </p:cNvGraphicFramePr>
            <p:nvPr/>
          </p:nvGraphicFramePr>
          <p:xfrm>
            <a:off x="726" y="1680"/>
            <a:ext cx="16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4" r:id="rId17" imgW="127000" imgH="127000" progId="Equation.3">
                    <p:embed/>
                  </p:oleObj>
                </mc:Choice>
                <mc:Fallback>
                  <p:oleObj r:id="rId17" imgW="127000" imgH="1270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1680"/>
                          <a:ext cx="16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260" name="Object 28"/>
            <p:cNvGraphicFramePr>
              <a:graphicFrameLocks noChangeAspect="1"/>
            </p:cNvGraphicFramePr>
            <p:nvPr/>
          </p:nvGraphicFramePr>
          <p:xfrm>
            <a:off x="1446" y="1104"/>
            <a:ext cx="29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5" r:id="rId19" imgW="215900" imgH="228600" progId="Equation.3">
                    <p:embed/>
                  </p:oleObj>
                </mc:Choice>
                <mc:Fallback>
                  <p:oleObj r:id="rId19" imgW="215900" imgH="2286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" y="1104"/>
                          <a:ext cx="29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61" name="Text Box 29"/>
            <p:cNvSpPr txBox="1">
              <a:spLocks noChangeArrowheads="1"/>
            </p:cNvSpPr>
            <p:nvPr/>
          </p:nvSpPr>
          <p:spPr bwMode="auto">
            <a:xfrm>
              <a:off x="1350" y="16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</p:grpSp>
      <p:graphicFrame>
        <p:nvGraphicFramePr>
          <p:cNvPr id="95239" name="Object 30"/>
          <p:cNvGraphicFramePr>
            <a:graphicFrameLocks noChangeAspect="1"/>
          </p:cNvGraphicFramePr>
          <p:nvPr/>
        </p:nvGraphicFramePr>
        <p:xfrm>
          <a:off x="2497138" y="4365625"/>
          <a:ext cx="1498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36" name="Equation" r:id="rId20" imgW="736600" imgH="228600" progId="Equation.DSMT4">
                  <p:embed/>
                </p:oleObj>
              </mc:Choice>
              <mc:Fallback>
                <p:oleObj name="Equation" r:id="rId20" imgW="736600" imgH="228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4365625"/>
                        <a:ext cx="14986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Object 31"/>
          <p:cNvGraphicFramePr>
            <a:graphicFrameLocks noChangeAspect="1"/>
          </p:cNvGraphicFramePr>
          <p:nvPr/>
        </p:nvGraphicFramePr>
        <p:xfrm>
          <a:off x="6464300" y="5013325"/>
          <a:ext cx="142081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37" r:id="rId22" imgW="698500" imgH="266700" progId="Equation.3">
                  <p:embed/>
                </p:oleObj>
              </mc:Choice>
              <mc:Fallback>
                <p:oleObj r:id="rId22" imgW="698500" imgH="2667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4300" y="5013325"/>
                        <a:ext cx="1420813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2"/>
          <p:cNvGrpSpPr/>
          <p:nvPr/>
        </p:nvGrpSpPr>
        <p:grpSpPr bwMode="auto">
          <a:xfrm>
            <a:off x="755650" y="5084763"/>
            <a:ext cx="5746750" cy="468312"/>
            <a:chOff x="460" y="3216"/>
            <a:chExt cx="3620" cy="295"/>
          </a:xfrm>
        </p:grpSpPr>
        <p:sp>
          <p:nvSpPr>
            <p:cNvPr id="95248" name="Rectangle 33"/>
            <p:cNvSpPr>
              <a:spLocks noChangeArrowheads="1"/>
            </p:cNvSpPr>
            <p:nvPr/>
          </p:nvSpPr>
          <p:spPr bwMode="auto">
            <a:xfrm>
              <a:off x="460" y="3223"/>
              <a:ext cx="36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如果             ，则已发现新问题的最优解，</a:t>
              </a:r>
            </a:p>
          </p:txBody>
        </p:sp>
        <p:graphicFrame>
          <p:nvGraphicFramePr>
            <p:cNvPr id="95249" name="Object 34"/>
            <p:cNvGraphicFramePr>
              <a:graphicFrameLocks noChangeAspect="1"/>
            </p:cNvGraphicFramePr>
            <p:nvPr/>
          </p:nvGraphicFramePr>
          <p:xfrm>
            <a:off x="940" y="3216"/>
            <a:ext cx="57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8" r:id="rId24" imgW="443865" imgH="215900" progId="Equation.3">
                    <p:embed/>
                  </p:oleObj>
                </mc:Choice>
                <mc:Fallback>
                  <p:oleObj r:id="rId24" imgW="443865" imgH="2159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" y="3216"/>
                          <a:ext cx="576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71" name="Rectangle 35"/>
          <p:cNvSpPr>
            <a:spLocks noChangeArrowheads="1"/>
          </p:cNvSpPr>
          <p:nvPr/>
        </p:nvSpPr>
        <p:spPr bwMode="auto">
          <a:xfrm>
            <a:off x="730250" y="5715000"/>
            <a:ext cx="536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否则利用对偶单纯形算法求解新问题。</a:t>
            </a:r>
          </a:p>
        </p:txBody>
      </p:sp>
      <p:graphicFrame>
        <p:nvGraphicFramePr>
          <p:cNvPr id="95243" name="Object 36"/>
          <p:cNvGraphicFramePr>
            <a:graphicFrameLocks noChangeAspect="1"/>
          </p:cNvGraphicFramePr>
          <p:nvPr/>
        </p:nvGraphicFramePr>
        <p:xfrm>
          <a:off x="7258050" y="2446338"/>
          <a:ext cx="11366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39" name="Equation" r:id="rId26" imgW="558800" imgH="241300" progId="Equation.DSMT4">
                  <p:embed/>
                </p:oleObj>
              </mc:Choice>
              <mc:Fallback>
                <p:oleObj name="Equation" r:id="rId26" imgW="558800" imgH="2413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8050" y="2446338"/>
                        <a:ext cx="11366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4" name="Object 37"/>
          <p:cNvGraphicFramePr>
            <a:graphicFrameLocks noChangeAspect="1"/>
          </p:cNvGraphicFramePr>
          <p:nvPr/>
        </p:nvGraphicFramePr>
        <p:xfrm>
          <a:off x="7164388" y="3357563"/>
          <a:ext cx="13176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40" name="Equation" r:id="rId28" imgW="647700" imgH="203200" progId="Equation.DSMT4">
                  <p:embed/>
                </p:oleObj>
              </mc:Choice>
              <mc:Fallback>
                <p:oleObj name="Equation" r:id="rId28" imgW="647700" imgH="2032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3357563"/>
                        <a:ext cx="13176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5" name="Object 38"/>
          <p:cNvGraphicFramePr>
            <a:graphicFrameLocks noChangeAspect="1"/>
          </p:cNvGraphicFramePr>
          <p:nvPr/>
        </p:nvGraphicFramePr>
        <p:xfrm>
          <a:off x="4500563" y="4292600"/>
          <a:ext cx="142081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41" r:id="rId30" imgW="698500" imgH="266700" progId="Equation.3">
                  <p:embed/>
                </p:oleObj>
              </mc:Choice>
              <mc:Fallback>
                <p:oleObj r:id="rId30" imgW="698500" imgH="2667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292600"/>
                        <a:ext cx="142081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6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ea typeface="隶书" panose="02010509060101010101" pitchFamily="49" charset="-122"/>
              </a:rPr>
              <a:t>改变右端向量 </a:t>
            </a:r>
            <a:r>
              <a:rPr lang="en-US" altLang="zh-CN" sz="4000" b="1" i="1" dirty="0">
                <a:solidFill>
                  <a:srgbClr val="FF0000"/>
                </a:solidFill>
                <a:ea typeface="隶书" panose="02010509060101010101" pitchFamily="49" charset="-122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灯片编号占位符 2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D9226CDF-8F0F-4A34-88CD-8B869B377069}" type="slidenum">
              <a:rPr lang="en-US" altLang="zh-CN" sz="1400"/>
              <a:t>66</a:t>
            </a:fld>
            <a:endParaRPr lang="en-US" altLang="zh-CN" sz="1400"/>
          </a:p>
        </p:txBody>
      </p:sp>
      <p:graphicFrame>
        <p:nvGraphicFramePr>
          <p:cNvPr id="962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492901"/>
              </p:ext>
            </p:extLst>
          </p:nvPr>
        </p:nvGraphicFramePr>
        <p:xfrm>
          <a:off x="3995453" y="250701"/>
          <a:ext cx="10604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2" name="Equation" r:id="rId3" imgW="520700" imgH="228600" progId="Equation.DSMT4">
                  <p:embed/>
                </p:oleObj>
              </mc:Choice>
              <mc:Fallback>
                <p:oleObj name="Equation" r:id="rId3" imgW="5207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453" y="250701"/>
                        <a:ext cx="10604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609600" y="1066800"/>
          <a:ext cx="53276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3" name="Equation" r:id="rId5" imgW="2628900" imgH="228600" progId="Equation.DSMT4">
                  <p:embed/>
                </p:oleObj>
              </mc:Choice>
              <mc:Fallback>
                <p:oleObj name="Equation" r:id="rId5" imgW="26289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066800"/>
                        <a:ext cx="532765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 bwMode="auto">
          <a:xfrm>
            <a:off x="468313" y="2205038"/>
            <a:ext cx="4114800" cy="515937"/>
            <a:chOff x="576" y="1536"/>
            <a:chExt cx="2592" cy="325"/>
          </a:xfrm>
        </p:grpSpPr>
        <p:sp>
          <p:nvSpPr>
            <p:cNvPr id="96279" name="Rectangle 5"/>
            <p:cNvSpPr>
              <a:spLocks noChangeArrowheads="1"/>
            </p:cNvSpPr>
            <p:nvPr/>
          </p:nvSpPr>
          <p:spPr bwMode="auto">
            <a:xfrm>
              <a:off x="576" y="1536"/>
              <a:ext cx="25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其中    为    的第 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r </a:t>
              </a: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列。</a:t>
              </a:r>
            </a:p>
          </p:txBody>
        </p:sp>
        <p:graphicFrame>
          <p:nvGraphicFramePr>
            <p:cNvPr id="96280" name="Object 6"/>
            <p:cNvGraphicFramePr>
              <a:graphicFrameLocks noChangeAspect="1"/>
            </p:cNvGraphicFramePr>
            <p:nvPr/>
          </p:nvGraphicFramePr>
          <p:xfrm>
            <a:off x="1053" y="1552"/>
            <a:ext cx="323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14" name="Equation" r:id="rId7" imgW="254000" imgH="241300" progId="Equation.DSMT4">
                    <p:embed/>
                  </p:oleObj>
                </mc:Choice>
                <mc:Fallback>
                  <p:oleObj name="Equation" r:id="rId7" imgW="254000" imgH="2413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3" y="1552"/>
                          <a:ext cx="323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81" name="Object 7"/>
            <p:cNvGraphicFramePr>
              <a:graphicFrameLocks noChangeAspect="1"/>
            </p:cNvGraphicFramePr>
            <p:nvPr/>
          </p:nvGraphicFramePr>
          <p:xfrm>
            <a:off x="1584" y="1536"/>
            <a:ext cx="35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15" r:id="rId9" imgW="279400" imgH="215900" progId="Equation.3">
                    <p:embed/>
                  </p:oleObj>
                </mc:Choice>
                <mc:Fallback>
                  <p:oleObj r:id="rId9" imgW="279400" imgH="2159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536"/>
                          <a:ext cx="35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847725" y="1676400"/>
          <a:ext cx="27162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6" name="Equation" r:id="rId11" imgW="1113790" imgH="180340" progId="Equation.DSMT4">
                  <p:embed/>
                </p:oleObj>
              </mc:Choice>
              <mc:Fallback>
                <p:oleObj name="Equation" r:id="rId11" imgW="1113790" imgH="1803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1676400"/>
                        <a:ext cx="2716213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/>
          <p:nvPr/>
        </p:nvGrpSpPr>
        <p:grpSpPr bwMode="auto">
          <a:xfrm>
            <a:off x="730250" y="3751263"/>
            <a:ext cx="5518150" cy="468312"/>
            <a:chOff x="460" y="2448"/>
            <a:chExt cx="3476" cy="295"/>
          </a:xfrm>
        </p:grpSpPr>
        <p:sp>
          <p:nvSpPr>
            <p:cNvPr id="96277" name="Rectangle 11"/>
            <p:cNvSpPr>
              <a:spLocks noChangeArrowheads="1"/>
            </p:cNvSpPr>
            <p:nvPr/>
          </p:nvSpPr>
          <p:spPr bwMode="auto">
            <a:xfrm>
              <a:off x="460" y="2455"/>
              <a:ext cx="34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</a:rPr>
                <a:t>如果             ，则已发现新问题的最优解</a:t>
              </a:r>
              <a:r>
                <a:rPr lang="en-US" altLang="zh-CN" sz="2400">
                  <a:solidFill>
                    <a:srgbClr val="000000"/>
                  </a:solidFill>
                </a:rPr>
                <a:t>.</a:t>
              </a:r>
            </a:p>
          </p:txBody>
        </p:sp>
        <p:graphicFrame>
          <p:nvGraphicFramePr>
            <p:cNvPr id="96278" name="Object 12"/>
            <p:cNvGraphicFramePr>
              <a:graphicFrameLocks noChangeAspect="1"/>
            </p:cNvGraphicFramePr>
            <p:nvPr/>
          </p:nvGraphicFramePr>
          <p:xfrm>
            <a:off x="960" y="2448"/>
            <a:ext cx="57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17" r:id="rId13" imgW="443865" imgH="215900" progId="Equation.3">
                    <p:embed/>
                  </p:oleObj>
                </mc:Choice>
                <mc:Fallback>
                  <p:oleObj r:id="rId13" imgW="443865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448"/>
                          <a:ext cx="576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381000" y="3141663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因新问题的单纯形表检验数向量不变，</a:t>
            </a:r>
          </a:p>
        </p:txBody>
      </p:sp>
      <p:grpSp>
        <p:nvGrpSpPr>
          <p:cNvPr id="4" name="Group 14"/>
          <p:cNvGrpSpPr/>
          <p:nvPr/>
        </p:nvGrpSpPr>
        <p:grpSpPr bwMode="auto">
          <a:xfrm>
            <a:off x="5486400" y="3141663"/>
            <a:ext cx="1935163" cy="457200"/>
            <a:chOff x="3792" y="2112"/>
            <a:chExt cx="1219" cy="288"/>
          </a:xfrm>
        </p:grpSpPr>
        <p:sp>
          <p:nvSpPr>
            <p:cNvPr id="96275" name="Text Box 15"/>
            <p:cNvSpPr txBox="1">
              <a:spLocks noChangeArrowheads="1"/>
            </p:cNvSpPr>
            <p:nvPr/>
          </p:nvSpPr>
          <p:spPr bwMode="auto">
            <a:xfrm>
              <a:off x="3792" y="2112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仍有</a:t>
              </a:r>
            </a:p>
          </p:txBody>
        </p:sp>
        <p:graphicFrame>
          <p:nvGraphicFramePr>
            <p:cNvPr id="96276" name="Object 16"/>
            <p:cNvGraphicFramePr>
              <a:graphicFrameLocks noChangeAspect="1"/>
            </p:cNvGraphicFramePr>
            <p:nvPr/>
          </p:nvGraphicFramePr>
          <p:xfrm>
            <a:off x="4272" y="2160"/>
            <a:ext cx="739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18" name="Equation" r:id="rId15" imgW="635000" imgH="203200" progId="Equation.DSMT4">
                    <p:embed/>
                  </p:oleObj>
                </mc:Choice>
                <mc:Fallback>
                  <p:oleObj name="Equation" r:id="rId15" imgW="635000" imgH="2032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160"/>
                          <a:ext cx="739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699071" y="4596741"/>
            <a:ext cx="709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否则，单纯形表对应新问题的一个基本</a:t>
            </a:r>
            <a:r>
              <a:rPr lang="en-US" altLang="zh-CN" sz="2400">
                <a:solidFill>
                  <a:srgbClr val="000000"/>
                </a:solidFill>
              </a:rPr>
              <a:t>(</a:t>
            </a:r>
            <a:r>
              <a:rPr lang="zh-CN" altLang="en-US" sz="2400">
                <a:solidFill>
                  <a:srgbClr val="0000FF"/>
                </a:solidFill>
              </a:rPr>
              <a:t>不可行</a:t>
            </a:r>
            <a:r>
              <a:rPr lang="en-US" altLang="zh-CN" sz="2400">
                <a:solidFill>
                  <a:srgbClr val="000000"/>
                </a:solidFill>
              </a:rPr>
              <a:t>)</a:t>
            </a:r>
            <a:r>
              <a:rPr lang="zh-CN" altLang="en-US" sz="2400">
                <a:solidFill>
                  <a:srgbClr val="000000"/>
                </a:solidFill>
              </a:rPr>
              <a:t>解和</a:t>
            </a:r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3881438" y="5410200"/>
            <a:ext cx="4938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故可用对偶单纯形法继续求解。</a:t>
            </a:r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457200" y="54102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对偶问题的一个可行解，</a:t>
            </a:r>
          </a:p>
        </p:txBody>
      </p:sp>
      <p:graphicFrame>
        <p:nvGraphicFramePr>
          <p:cNvPr id="15380" name="Object 20"/>
          <p:cNvGraphicFramePr>
            <a:graphicFrameLocks noChangeAspect="1"/>
          </p:cNvGraphicFramePr>
          <p:nvPr/>
        </p:nvGraphicFramePr>
        <p:xfrm>
          <a:off x="6372225" y="3725863"/>
          <a:ext cx="142081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9" r:id="rId17" imgW="698500" imgH="266700" progId="Equation.3">
                  <p:embed/>
                </p:oleObj>
              </mc:Choice>
              <mc:Fallback>
                <p:oleObj r:id="rId17" imgW="698500" imgH="2667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725863"/>
                        <a:ext cx="1420813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1"/>
          <p:cNvGraphicFramePr>
            <a:graphicFrameLocks noChangeAspect="1"/>
          </p:cNvGraphicFramePr>
          <p:nvPr/>
        </p:nvGraphicFramePr>
        <p:xfrm>
          <a:off x="6156325" y="288925"/>
          <a:ext cx="2884488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0" name="Equation" r:id="rId19" imgW="1422400" imgH="1155700" progId="Equation.DSMT4">
                  <p:embed/>
                </p:oleObj>
              </mc:Choice>
              <mc:Fallback>
                <p:oleObj name="Equation" r:id="rId19" imgW="1422400" imgH="11557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88925"/>
                        <a:ext cx="2884488" cy="23479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80114" y="196315"/>
            <a:ext cx="8229600" cy="757238"/>
          </a:xfrm>
        </p:spPr>
        <p:txBody>
          <a:bodyPr/>
          <a:lstStyle/>
          <a:p>
            <a:r>
              <a:rPr lang="zh-CN" altLang="en-US" sz="2800" dirty="0">
                <a:solidFill>
                  <a:srgbClr val="000000"/>
                </a:solidFill>
              </a:rPr>
              <a:t>当只改变一个分量时：</a:t>
            </a:r>
            <a:br>
              <a:rPr lang="zh-CN" altLang="en-US" sz="2800" dirty="0">
                <a:solidFill>
                  <a:srgbClr val="000000"/>
                </a:solidFill>
              </a:rPr>
            </a:b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3" grpId="0" autoUpdateAnimBg="0"/>
      <p:bldP spid="15377" grpId="0" autoUpdateAnimBg="0"/>
      <p:bldP spid="15378" grpId="0" autoUpdateAnimBg="0"/>
      <p:bldP spid="15379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灯片编号占位符 2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58FBAD08-0731-4956-856D-D4A2BA486484}" type="slidenum">
              <a:rPr lang="en-US" altLang="zh-CN" sz="1400"/>
              <a:t>67</a:t>
            </a:fld>
            <a:endParaRPr lang="en-US" altLang="zh-CN" sz="140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971550" y="2095500"/>
          <a:ext cx="6313488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4" name="文档" r:id="rId3" imgW="3953510" imgH="1326515" progId="Word.Document.8">
                  <p:embed/>
                </p:oleObj>
              </mc:Choice>
              <mc:Fallback>
                <p:oleObj name="文档" r:id="rId3" imgW="3953510" imgH="13265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095500"/>
                        <a:ext cx="6313488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3"/>
          <p:cNvGraphicFramePr>
            <a:graphicFrameLocks noChangeAspect="1"/>
          </p:cNvGraphicFramePr>
          <p:nvPr/>
        </p:nvGraphicFramePr>
        <p:xfrm>
          <a:off x="1219200" y="228600"/>
          <a:ext cx="6646863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5" name="文档" r:id="rId5" imgW="4733290" imgH="1294130" progId="Word.Document.8">
                  <p:embed/>
                </p:oleObj>
              </mc:Choice>
              <mc:Fallback>
                <p:oleObj name="文档" r:id="rId5" imgW="4733290" imgH="129413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"/>
                        <a:ext cx="6646863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28625" y="3857625"/>
            <a:ext cx="2287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b</a:t>
            </a:r>
            <a:r>
              <a:rPr lang="en-US" altLang="zh-CN" sz="2400" baseline="-25000"/>
              <a:t>3</a:t>
            </a:r>
            <a:r>
              <a:rPr lang="zh-CN" altLang="en-US" sz="2400"/>
              <a:t>由</a:t>
            </a:r>
            <a:r>
              <a:rPr lang="en-US" altLang="zh-CN" sz="2400"/>
              <a:t>3</a:t>
            </a:r>
            <a:r>
              <a:rPr lang="zh-CN" altLang="en-US" sz="2400"/>
              <a:t>变成</a:t>
            </a:r>
            <a:r>
              <a:rPr lang="en-US" altLang="zh-CN" sz="2400"/>
              <a:t>5</a:t>
            </a:r>
            <a:r>
              <a:rPr lang="zh-CN" altLang="en-US" sz="2400"/>
              <a:t>时，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2500313" y="4000500"/>
          <a:ext cx="25352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6" name="Equation" r:id="rId7" imgW="1043305" imgH="180340" progId="Equation.DSMT4">
                  <p:embed/>
                </p:oleObj>
              </mc:Choice>
              <mc:Fallback>
                <p:oleObj name="Equation" r:id="rId7" imgW="1043305" imgH="1803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000500"/>
                        <a:ext cx="25352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5003800" y="3633788"/>
          <a:ext cx="3344863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7" name="Equation" r:id="rId9" imgW="1879600" imgH="736600" progId="Equation.DSMT4">
                  <p:embed/>
                </p:oleObj>
              </mc:Choice>
              <mc:Fallback>
                <p:oleObj name="Equation" r:id="rId9" imgW="1879600" imgH="736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633788"/>
                        <a:ext cx="3344863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395288" y="5157788"/>
          <a:ext cx="5616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8" name="Equation" r:id="rId11" imgW="2628900" imgH="241300" progId="Equation.DSMT4">
                  <p:embed/>
                </p:oleObj>
              </mc:Choice>
              <mc:Fallback>
                <p:oleObj name="Equation" r:id="rId11" imgW="26289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157788"/>
                        <a:ext cx="56165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276600" y="5715000"/>
          <a:ext cx="26892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9" name="Equation" r:id="rId13" imgW="1244600" imgH="241300" progId="Equation.DSMT4">
                  <p:embed/>
                </p:oleObj>
              </mc:Choice>
              <mc:Fallback>
                <p:oleObj name="Equation" r:id="rId13" imgW="12446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715000"/>
                        <a:ext cx="2689225" cy="522288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2" name="Text Box 9"/>
          <p:cNvSpPr txBox="1">
            <a:spLocks noChangeArrowheads="1"/>
          </p:cNvSpPr>
          <p:nvPr/>
        </p:nvSpPr>
        <p:spPr bwMode="auto">
          <a:xfrm>
            <a:off x="228600" y="304800"/>
            <a:ext cx="685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续上例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50825" y="4581525"/>
            <a:ext cx="367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仍是最优基本可行解。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  <p:bldP spid="1639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灯片编号占位符 2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fld id="{F0CCDDED-1F77-4C22-A150-26F7E55E76AE}" type="slidenum">
              <a:rPr lang="en-US" altLang="zh-CN" sz="1400"/>
              <a:t>68</a:t>
            </a:fld>
            <a:endParaRPr lang="en-US" altLang="zh-CN" sz="1400"/>
          </a:p>
        </p:txBody>
      </p:sp>
      <p:sp>
        <p:nvSpPr>
          <p:cNvPr id="98309" name="Text Box 2"/>
          <p:cNvSpPr txBox="1">
            <a:spLocks noChangeArrowheads="1"/>
          </p:cNvSpPr>
          <p:nvPr/>
        </p:nvSpPr>
        <p:spPr bwMode="auto">
          <a:xfrm>
            <a:off x="428625" y="714375"/>
            <a:ext cx="2441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b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由</a:t>
            </a:r>
            <a:r>
              <a:rPr lang="en-US" altLang="zh-CN" sz="2400" dirty="0"/>
              <a:t>3</a:t>
            </a:r>
            <a:r>
              <a:rPr lang="zh-CN" altLang="en-US" sz="2400" dirty="0"/>
              <a:t>变成</a:t>
            </a:r>
            <a:r>
              <a:rPr lang="en-US" altLang="zh-CN" sz="2400" dirty="0"/>
              <a:t>19</a:t>
            </a:r>
            <a:r>
              <a:rPr lang="zh-CN" altLang="en-US" sz="2400" dirty="0"/>
              <a:t>时，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2554288" y="736600"/>
          <a:ext cx="25352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6" name="Equation" r:id="rId4" imgW="1043305" imgH="180340" progId="Equation.DSMT4">
                  <p:embed/>
                </p:oleObj>
              </mc:Choice>
              <mc:Fallback>
                <p:oleObj name="Equation" r:id="rId4" imgW="1043305" imgH="1803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736600"/>
                        <a:ext cx="25352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5186363" y="304800"/>
          <a:ext cx="332105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7" name="Equation" r:id="rId6" imgW="44805600" imgH="17678400" progId="Equation.DSMT4">
                  <p:embed/>
                </p:oleObj>
              </mc:Choice>
              <mc:Fallback>
                <p:oleObj name="Equation" r:id="rId6" imgW="44805600" imgH="1767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304800"/>
                        <a:ext cx="332105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28625" y="1571625"/>
            <a:ext cx="617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单纯形表对应新问题的一个基本</a:t>
            </a:r>
            <a:r>
              <a:rPr lang="en-US" altLang="zh-CN" sz="2400">
                <a:solidFill>
                  <a:srgbClr val="000000"/>
                </a:solidFill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不可行</a:t>
            </a:r>
            <a:r>
              <a:rPr lang="en-US" altLang="zh-CN" sz="2400">
                <a:solidFill>
                  <a:srgbClr val="000000"/>
                </a:solidFill>
              </a:rPr>
              <a:t>)</a:t>
            </a:r>
            <a:r>
              <a:rPr lang="zh-CN" altLang="en-US" sz="2400">
                <a:solidFill>
                  <a:srgbClr val="000000"/>
                </a:solidFill>
              </a:rPr>
              <a:t>解和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733800" y="2362200"/>
            <a:ext cx="4938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</a:rPr>
              <a:t>故可用对偶单纯形法继续求解。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381000" y="23622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对偶问题的一个可行解，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914400" y="3886200"/>
            <a:ext cx="7502525" cy="2498725"/>
            <a:chOff x="595" y="2517"/>
            <a:chExt cx="4103" cy="1152"/>
          </a:xfrm>
        </p:grpSpPr>
        <p:grpSp>
          <p:nvGrpSpPr>
            <p:cNvPr id="98320" name="Group 9"/>
            <p:cNvGrpSpPr/>
            <p:nvPr/>
          </p:nvGrpSpPr>
          <p:grpSpPr bwMode="auto">
            <a:xfrm>
              <a:off x="597" y="2517"/>
              <a:ext cx="4101" cy="916"/>
              <a:chOff x="595" y="2459"/>
              <a:chExt cx="4101" cy="916"/>
            </a:xfrm>
          </p:grpSpPr>
          <p:sp>
            <p:nvSpPr>
              <p:cNvPr id="98382" name="Rectangle 10"/>
              <p:cNvSpPr>
                <a:spLocks noChangeArrowheads="1"/>
              </p:cNvSpPr>
              <p:nvPr/>
            </p:nvSpPr>
            <p:spPr bwMode="auto">
              <a:xfrm>
                <a:off x="675" y="245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383" name="Rectangle 11"/>
              <p:cNvSpPr>
                <a:spLocks noChangeArrowheads="1"/>
              </p:cNvSpPr>
              <p:nvPr/>
            </p:nvSpPr>
            <p:spPr bwMode="auto">
              <a:xfrm>
                <a:off x="968" y="2459"/>
                <a:ext cx="74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z</a:t>
                </a:r>
              </a:p>
            </p:txBody>
          </p:sp>
          <p:sp>
            <p:nvSpPr>
              <p:cNvPr id="98384" name="Rectangle 12"/>
              <p:cNvSpPr>
                <a:spLocks noChangeArrowheads="1"/>
              </p:cNvSpPr>
              <p:nvPr/>
            </p:nvSpPr>
            <p:spPr bwMode="auto">
              <a:xfrm>
                <a:off x="1114" y="245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385" name="Rectangle 13"/>
              <p:cNvSpPr>
                <a:spLocks noChangeArrowheads="1"/>
              </p:cNvSpPr>
              <p:nvPr/>
            </p:nvSpPr>
            <p:spPr bwMode="auto">
              <a:xfrm>
                <a:off x="1333" y="245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386" name="Rectangle 14"/>
              <p:cNvSpPr>
                <a:spLocks noChangeArrowheads="1"/>
              </p:cNvSpPr>
              <p:nvPr/>
            </p:nvSpPr>
            <p:spPr bwMode="auto">
              <a:xfrm>
                <a:off x="1430" y="2532"/>
                <a:ext cx="5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1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387" name="Rectangle 15"/>
              <p:cNvSpPr>
                <a:spLocks noChangeArrowheads="1"/>
              </p:cNvSpPr>
              <p:nvPr/>
            </p:nvSpPr>
            <p:spPr bwMode="auto">
              <a:xfrm>
                <a:off x="1495" y="245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388" name="Rectangle 16"/>
              <p:cNvSpPr>
                <a:spLocks noChangeArrowheads="1"/>
              </p:cNvSpPr>
              <p:nvPr/>
            </p:nvSpPr>
            <p:spPr bwMode="auto">
              <a:xfrm>
                <a:off x="1705" y="245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389" name="Rectangle 17"/>
              <p:cNvSpPr>
                <a:spLocks noChangeArrowheads="1"/>
              </p:cNvSpPr>
              <p:nvPr/>
            </p:nvSpPr>
            <p:spPr bwMode="auto">
              <a:xfrm>
                <a:off x="1803" y="2532"/>
                <a:ext cx="5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2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390" name="Rectangle 18"/>
              <p:cNvSpPr>
                <a:spLocks noChangeArrowheads="1"/>
              </p:cNvSpPr>
              <p:nvPr/>
            </p:nvSpPr>
            <p:spPr bwMode="auto">
              <a:xfrm>
                <a:off x="1867" y="245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391" name="Rectangle 19"/>
              <p:cNvSpPr>
                <a:spLocks noChangeArrowheads="1"/>
              </p:cNvSpPr>
              <p:nvPr/>
            </p:nvSpPr>
            <p:spPr bwMode="auto">
              <a:xfrm>
                <a:off x="2078" y="245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392" name="Rectangle 20"/>
              <p:cNvSpPr>
                <a:spLocks noChangeArrowheads="1"/>
              </p:cNvSpPr>
              <p:nvPr/>
            </p:nvSpPr>
            <p:spPr bwMode="auto">
              <a:xfrm>
                <a:off x="2175" y="2532"/>
                <a:ext cx="5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3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393" name="Rectangle 21"/>
              <p:cNvSpPr>
                <a:spLocks noChangeArrowheads="1"/>
              </p:cNvSpPr>
              <p:nvPr/>
            </p:nvSpPr>
            <p:spPr bwMode="auto">
              <a:xfrm>
                <a:off x="2240" y="245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394" name="Rectangle 22"/>
              <p:cNvSpPr>
                <a:spLocks noChangeArrowheads="1"/>
              </p:cNvSpPr>
              <p:nvPr/>
            </p:nvSpPr>
            <p:spPr bwMode="auto">
              <a:xfrm>
                <a:off x="2539" y="2459"/>
                <a:ext cx="84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395" name="Rectangle 23"/>
              <p:cNvSpPr>
                <a:spLocks noChangeArrowheads="1"/>
              </p:cNvSpPr>
              <p:nvPr/>
            </p:nvSpPr>
            <p:spPr bwMode="auto">
              <a:xfrm>
                <a:off x="2637" y="2532"/>
                <a:ext cx="5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4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396" name="Rectangle 24"/>
              <p:cNvSpPr>
                <a:spLocks noChangeArrowheads="1"/>
              </p:cNvSpPr>
              <p:nvPr/>
            </p:nvSpPr>
            <p:spPr bwMode="auto">
              <a:xfrm>
                <a:off x="2702" y="245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397" name="Rectangle 25"/>
              <p:cNvSpPr>
                <a:spLocks noChangeArrowheads="1"/>
              </p:cNvSpPr>
              <p:nvPr/>
            </p:nvSpPr>
            <p:spPr bwMode="auto">
              <a:xfrm>
                <a:off x="3083" y="245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398" name="Rectangle 26"/>
              <p:cNvSpPr>
                <a:spLocks noChangeArrowheads="1"/>
              </p:cNvSpPr>
              <p:nvPr/>
            </p:nvSpPr>
            <p:spPr bwMode="auto">
              <a:xfrm>
                <a:off x="3180" y="2532"/>
                <a:ext cx="5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5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399" name="Rectangle 27"/>
              <p:cNvSpPr>
                <a:spLocks noChangeArrowheads="1"/>
              </p:cNvSpPr>
              <p:nvPr/>
            </p:nvSpPr>
            <p:spPr bwMode="auto">
              <a:xfrm>
                <a:off x="3245" y="245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00" name="Rectangle 28"/>
              <p:cNvSpPr>
                <a:spLocks noChangeArrowheads="1"/>
              </p:cNvSpPr>
              <p:nvPr/>
            </p:nvSpPr>
            <p:spPr bwMode="auto">
              <a:xfrm>
                <a:off x="3609" y="245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401" name="Rectangle 29"/>
              <p:cNvSpPr>
                <a:spLocks noChangeArrowheads="1"/>
              </p:cNvSpPr>
              <p:nvPr/>
            </p:nvSpPr>
            <p:spPr bwMode="auto">
              <a:xfrm>
                <a:off x="3706" y="2532"/>
                <a:ext cx="5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6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402" name="Rectangle 30"/>
              <p:cNvSpPr>
                <a:spLocks noChangeArrowheads="1"/>
              </p:cNvSpPr>
              <p:nvPr/>
            </p:nvSpPr>
            <p:spPr bwMode="auto">
              <a:xfrm>
                <a:off x="3771" y="245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03" name="Rectangle 31"/>
              <p:cNvSpPr>
                <a:spLocks noChangeArrowheads="1"/>
              </p:cNvSpPr>
              <p:nvPr/>
            </p:nvSpPr>
            <p:spPr bwMode="auto">
              <a:xfrm>
                <a:off x="4071" y="2459"/>
                <a:ext cx="32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RHS</a:t>
                </a:r>
              </a:p>
            </p:txBody>
          </p:sp>
          <p:sp>
            <p:nvSpPr>
              <p:cNvPr id="98404" name="Rectangle 32"/>
              <p:cNvSpPr>
                <a:spLocks noChangeArrowheads="1"/>
              </p:cNvSpPr>
              <p:nvPr/>
            </p:nvSpPr>
            <p:spPr bwMode="auto">
              <a:xfrm>
                <a:off x="4435" y="245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05" name="Rectangle 33"/>
              <p:cNvSpPr>
                <a:spLocks noChangeArrowheads="1"/>
              </p:cNvSpPr>
              <p:nvPr/>
            </p:nvSpPr>
            <p:spPr bwMode="auto">
              <a:xfrm>
                <a:off x="4654" y="245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06" name="Rectangle 34"/>
              <p:cNvSpPr>
                <a:spLocks noChangeArrowheads="1"/>
              </p:cNvSpPr>
              <p:nvPr/>
            </p:nvSpPr>
            <p:spPr bwMode="auto">
              <a:xfrm>
                <a:off x="603" y="2694"/>
                <a:ext cx="74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z</a:t>
                </a:r>
              </a:p>
            </p:txBody>
          </p:sp>
          <p:sp>
            <p:nvSpPr>
              <p:cNvPr id="98407" name="Rectangle 35"/>
              <p:cNvSpPr>
                <a:spLocks noChangeArrowheads="1"/>
              </p:cNvSpPr>
              <p:nvPr/>
            </p:nvSpPr>
            <p:spPr bwMode="auto">
              <a:xfrm>
                <a:off x="748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08" name="Rectangle 36"/>
              <p:cNvSpPr>
                <a:spLocks noChangeArrowheads="1"/>
              </p:cNvSpPr>
              <p:nvPr/>
            </p:nvSpPr>
            <p:spPr bwMode="auto">
              <a:xfrm>
                <a:off x="991" y="2694"/>
                <a:ext cx="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409" name="Rectangle 37"/>
              <p:cNvSpPr>
                <a:spLocks noChangeArrowheads="1"/>
              </p:cNvSpPr>
              <p:nvPr/>
            </p:nvSpPr>
            <p:spPr bwMode="auto">
              <a:xfrm>
                <a:off x="1090" y="2694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10" name="Rectangle 38"/>
              <p:cNvSpPr>
                <a:spLocks noChangeArrowheads="1"/>
              </p:cNvSpPr>
              <p:nvPr/>
            </p:nvSpPr>
            <p:spPr bwMode="auto">
              <a:xfrm>
                <a:off x="1365" y="2694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411" name="Rectangle 39"/>
              <p:cNvSpPr>
                <a:spLocks noChangeArrowheads="1"/>
              </p:cNvSpPr>
              <p:nvPr/>
            </p:nvSpPr>
            <p:spPr bwMode="auto">
              <a:xfrm>
                <a:off x="1462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12" name="Rectangle 40"/>
              <p:cNvSpPr>
                <a:spLocks noChangeArrowheads="1"/>
              </p:cNvSpPr>
              <p:nvPr/>
            </p:nvSpPr>
            <p:spPr bwMode="auto">
              <a:xfrm>
                <a:off x="1738" y="2694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413" name="Rectangle 41"/>
              <p:cNvSpPr>
                <a:spLocks noChangeArrowheads="1"/>
              </p:cNvSpPr>
              <p:nvPr/>
            </p:nvSpPr>
            <p:spPr bwMode="auto">
              <a:xfrm>
                <a:off x="1834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14" name="Rectangle 42"/>
              <p:cNvSpPr>
                <a:spLocks noChangeArrowheads="1"/>
              </p:cNvSpPr>
              <p:nvPr/>
            </p:nvSpPr>
            <p:spPr bwMode="auto">
              <a:xfrm>
                <a:off x="2110" y="2694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415" name="Rectangle 43"/>
              <p:cNvSpPr>
                <a:spLocks noChangeArrowheads="1"/>
              </p:cNvSpPr>
              <p:nvPr/>
            </p:nvSpPr>
            <p:spPr bwMode="auto">
              <a:xfrm>
                <a:off x="2208" y="2694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16" name="Rectangle 44"/>
              <p:cNvSpPr>
                <a:spLocks noChangeArrowheads="1"/>
              </p:cNvSpPr>
              <p:nvPr/>
            </p:nvSpPr>
            <p:spPr bwMode="auto">
              <a:xfrm>
                <a:off x="2466" y="2694"/>
                <a:ext cx="56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</a:t>
                </a:r>
              </a:p>
            </p:txBody>
          </p:sp>
          <p:sp>
            <p:nvSpPr>
              <p:cNvPr id="98417" name="Rectangle 45"/>
              <p:cNvSpPr>
                <a:spLocks noChangeArrowheads="1"/>
              </p:cNvSpPr>
              <p:nvPr/>
            </p:nvSpPr>
            <p:spPr bwMode="auto">
              <a:xfrm>
                <a:off x="2532" y="2694"/>
                <a:ext cx="21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5/6</a:t>
                </a:r>
              </a:p>
            </p:txBody>
          </p:sp>
          <p:sp>
            <p:nvSpPr>
              <p:cNvPr id="98418" name="Rectangle 46"/>
              <p:cNvSpPr>
                <a:spLocks noChangeArrowheads="1"/>
              </p:cNvSpPr>
              <p:nvPr/>
            </p:nvSpPr>
            <p:spPr bwMode="auto">
              <a:xfrm>
                <a:off x="2782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19" name="Rectangle 47"/>
              <p:cNvSpPr>
                <a:spLocks noChangeArrowheads="1"/>
              </p:cNvSpPr>
              <p:nvPr/>
            </p:nvSpPr>
            <p:spPr bwMode="auto">
              <a:xfrm>
                <a:off x="3010" y="2694"/>
                <a:ext cx="56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</a:t>
                </a:r>
              </a:p>
            </p:txBody>
          </p:sp>
          <p:sp>
            <p:nvSpPr>
              <p:cNvPr id="98420" name="Rectangle 48"/>
              <p:cNvSpPr>
                <a:spLocks noChangeArrowheads="1"/>
              </p:cNvSpPr>
              <p:nvPr/>
            </p:nvSpPr>
            <p:spPr bwMode="auto">
              <a:xfrm>
                <a:off x="3074" y="2694"/>
                <a:ext cx="21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1/3</a:t>
                </a:r>
              </a:p>
            </p:txBody>
          </p:sp>
          <p:sp>
            <p:nvSpPr>
              <p:cNvPr id="98421" name="Rectangle 49"/>
              <p:cNvSpPr>
                <a:spLocks noChangeArrowheads="1"/>
              </p:cNvSpPr>
              <p:nvPr/>
            </p:nvSpPr>
            <p:spPr bwMode="auto">
              <a:xfrm>
                <a:off x="3326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22" name="Rectangle 50"/>
              <p:cNvSpPr>
                <a:spLocks noChangeArrowheads="1"/>
              </p:cNvSpPr>
              <p:nvPr/>
            </p:nvSpPr>
            <p:spPr bwMode="auto">
              <a:xfrm>
                <a:off x="3536" y="2694"/>
                <a:ext cx="56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</a:t>
                </a:r>
              </a:p>
            </p:txBody>
          </p:sp>
          <p:sp>
            <p:nvSpPr>
              <p:cNvPr id="98423" name="Rectangle 51"/>
              <p:cNvSpPr>
                <a:spLocks noChangeArrowheads="1"/>
              </p:cNvSpPr>
              <p:nvPr/>
            </p:nvSpPr>
            <p:spPr bwMode="auto">
              <a:xfrm>
                <a:off x="3601" y="2694"/>
                <a:ext cx="21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1/2</a:t>
                </a:r>
              </a:p>
            </p:txBody>
          </p:sp>
          <p:sp>
            <p:nvSpPr>
              <p:cNvPr id="98424" name="Rectangle 52"/>
              <p:cNvSpPr>
                <a:spLocks noChangeArrowheads="1"/>
              </p:cNvSpPr>
              <p:nvPr/>
            </p:nvSpPr>
            <p:spPr bwMode="auto">
              <a:xfrm>
                <a:off x="3852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25" name="Rectangle 53"/>
              <p:cNvSpPr>
                <a:spLocks noChangeArrowheads="1"/>
              </p:cNvSpPr>
              <p:nvPr/>
            </p:nvSpPr>
            <p:spPr bwMode="auto">
              <a:xfrm>
                <a:off x="4119" y="2694"/>
                <a:ext cx="5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</a:t>
                </a:r>
              </a:p>
            </p:txBody>
          </p:sp>
          <p:sp>
            <p:nvSpPr>
              <p:cNvPr id="98426" name="Rectangle 54"/>
              <p:cNvSpPr>
                <a:spLocks noChangeArrowheads="1"/>
              </p:cNvSpPr>
              <p:nvPr/>
            </p:nvSpPr>
            <p:spPr bwMode="auto">
              <a:xfrm>
                <a:off x="4184" y="2694"/>
                <a:ext cx="168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28</a:t>
                </a:r>
              </a:p>
            </p:txBody>
          </p:sp>
          <p:sp>
            <p:nvSpPr>
              <p:cNvPr id="98427" name="Rectangle 55"/>
              <p:cNvSpPr>
                <a:spLocks noChangeArrowheads="1"/>
              </p:cNvSpPr>
              <p:nvPr/>
            </p:nvSpPr>
            <p:spPr bwMode="auto">
              <a:xfrm>
                <a:off x="4379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28" name="Rectangle 56"/>
              <p:cNvSpPr>
                <a:spLocks noChangeArrowheads="1"/>
              </p:cNvSpPr>
              <p:nvPr/>
            </p:nvSpPr>
            <p:spPr bwMode="auto">
              <a:xfrm>
                <a:off x="4654" y="2694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29" name="Rectangle 57"/>
              <p:cNvSpPr>
                <a:spLocks noChangeArrowheads="1"/>
              </p:cNvSpPr>
              <p:nvPr/>
            </p:nvSpPr>
            <p:spPr bwMode="auto">
              <a:xfrm>
                <a:off x="855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30" name="Line 58"/>
              <p:cNvSpPr>
                <a:spLocks noChangeShapeType="1"/>
              </p:cNvSpPr>
              <p:nvPr/>
            </p:nvSpPr>
            <p:spPr bwMode="auto">
              <a:xfrm>
                <a:off x="855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1" name="Line 59"/>
              <p:cNvSpPr>
                <a:spLocks noChangeShapeType="1"/>
              </p:cNvSpPr>
              <p:nvPr/>
            </p:nvSpPr>
            <p:spPr bwMode="auto">
              <a:xfrm>
                <a:off x="855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2" name="Rectangle 60"/>
              <p:cNvSpPr>
                <a:spLocks noChangeArrowheads="1"/>
              </p:cNvSpPr>
              <p:nvPr/>
            </p:nvSpPr>
            <p:spPr bwMode="auto">
              <a:xfrm>
                <a:off x="855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33" name="Line 61"/>
              <p:cNvSpPr>
                <a:spLocks noChangeShapeType="1"/>
              </p:cNvSpPr>
              <p:nvPr/>
            </p:nvSpPr>
            <p:spPr bwMode="auto">
              <a:xfrm>
                <a:off x="855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4" name="Line 62"/>
              <p:cNvSpPr>
                <a:spLocks noChangeShapeType="1"/>
              </p:cNvSpPr>
              <p:nvPr/>
            </p:nvSpPr>
            <p:spPr bwMode="auto">
              <a:xfrm>
                <a:off x="855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5" name="Rectangle 63"/>
              <p:cNvSpPr>
                <a:spLocks noChangeArrowheads="1"/>
              </p:cNvSpPr>
              <p:nvPr/>
            </p:nvSpPr>
            <p:spPr bwMode="auto">
              <a:xfrm>
                <a:off x="863" y="2678"/>
                <a:ext cx="356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36" name="Line 64"/>
              <p:cNvSpPr>
                <a:spLocks noChangeShapeType="1"/>
              </p:cNvSpPr>
              <p:nvPr/>
            </p:nvSpPr>
            <p:spPr bwMode="auto">
              <a:xfrm>
                <a:off x="863" y="2678"/>
                <a:ext cx="356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7" name="Rectangle 65"/>
              <p:cNvSpPr>
                <a:spLocks noChangeArrowheads="1"/>
              </p:cNvSpPr>
              <p:nvPr/>
            </p:nvSpPr>
            <p:spPr bwMode="auto">
              <a:xfrm>
                <a:off x="1219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38" name="Line 66"/>
              <p:cNvSpPr>
                <a:spLocks noChangeShapeType="1"/>
              </p:cNvSpPr>
              <p:nvPr/>
            </p:nvSpPr>
            <p:spPr bwMode="auto">
              <a:xfrm>
                <a:off x="1219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39" name="Line 67"/>
              <p:cNvSpPr>
                <a:spLocks noChangeShapeType="1"/>
              </p:cNvSpPr>
              <p:nvPr/>
            </p:nvSpPr>
            <p:spPr bwMode="auto">
              <a:xfrm>
                <a:off x="1219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0" name="Rectangle 68"/>
              <p:cNvSpPr>
                <a:spLocks noChangeArrowheads="1"/>
              </p:cNvSpPr>
              <p:nvPr/>
            </p:nvSpPr>
            <p:spPr bwMode="auto">
              <a:xfrm>
                <a:off x="1227" y="2678"/>
                <a:ext cx="365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41" name="Line 69"/>
              <p:cNvSpPr>
                <a:spLocks noChangeShapeType="1"/>
              </p:cNvSpPr>
              <p:nvPr/>
            </p:nvSpPr>
            <p:spPr bwMode="auto">
              <a:xfrm>
                <a:off x="1227" y="2678"/>
                <a:ext cx="36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2" name="Rectangle 70"/>
              <p:cNvSpPr>
                <a:spLocks noChangeArrowheads="1"/>
              </p:cNvSpPr>
              <p:nvPr/>
            </p:nvSpPr>
            <p:spPr bwMode="auto">
              <a:xfrm>
                <a:off x="1592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43" name="Line 71"/>
              <p:cNvSpPr>
                <a:spLocks noChangeShapeType="1"/>
              </p:cNvSpPr>
              <p:nvPr/>
            </p:nvSpPr>
            <p:spPr bwMode="auto">
              <a:xfrm>
                <a:off x="1592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4" name="Line 72"/>
              <p:cNvSpPr>
                <a:spLocks noChangeShapeType="1"/>
              </p:cNvSpPr>
              <p:nvPr/>
            </p:nvSpPr>
            <p:spPr bwMode="auto">
              <a:xfrm>
                <a:off x="1592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5" name="Rectangle 73"/>
              <p:cNvSpPr>
                <a:spLocks noChangeArrowheads="1"/>
              </p:cNvSpPr>
              <p:nvPr/>
            </p:nvSpPr>
            <p:spPr bwMode="auto">
              <a:xfrm>
                <a:off x="1600" y="2678"/>
                <a:ext cx="365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46" name="Line 74"/>
              <p:cNvSpPr>
                <a:spLocks noChangeShapeType="1"/>
              </p:cNvSpPr>
              <p:nvPr/>
            </p:nvSpPr>
            <p:spPr bwMode="auto">
              <a:xfrm>
                <a:off x="1600" y="2678"/>
                <a:ext cx="36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7" name="Rectangle 75"/>
              <p:cNvSpPr>
                <a:spLocks noChangeArrowheads="1"/>
              </p:cNvSpPr>
              <p:nvPr/>
            </p:nvSpPr>
            <p:spPr bwMode="auto">
              <a:xfrm>
                <a:off x="1965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48" name="Line 76"/>
              <p:cNvSpPr>
                <a:spLocks noChangeShapeType="1"/>
              </p:cNvSpPr>
              <p:nvPr/>
            </p:nvSpPr>
            <p:spPr bwMode="auto">
              <a:xfrm>
                <a:off x="1965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9" name="Line 77"/>
              <p:cNvSpPr>
                <a:spLocks noChangeShapeType="1"/>
              </p:cNvSpPr>
              <p:nvPr/>
            </p:nvSpPr>
            <p:spPr bwMode="auto">
              <a:xfrm>
                <a:off x="1965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0" name="Rectangle 78"/>
              <p:cNvSpPr>
                <a:spLocks noChangeArrowheads="1"/>
              </p:cNvSpPr>
              <p:nvPr/>
            </p:nvSpPr>
            <p:spPr bwMode="auto">
              <a:xfrm>
                <a:off x="1973" y="2678"/>
                <a:ext cx="364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51" name="Line 79"/>
              <p:cNvSpPr>
                <a:spLocks noChangeShapeType="1"/>
              </p:cNvSpPr>
              <p:nvPr/>
            </p:nvSpPr>
            <p:spPr bwMode="auto">
              <a:xfrm>
                <a:off x="1973" y="2678"/>
                <a:ext cx="364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2" name="Rectangle 80"/>
              <p:cNvSpPr>
                <a:spLocks noChangeArrowheads="1"/>
              </p:cNvSpPr>
              <p:nvPr/>
            </p:nvSpPr>
            <p:spPr bwMode="auto">
              <a:xfrm>
                <a:off x="2337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53" name="Line 81"/>
              <p:cNvSpPr>
                <a:spLocks noChangeShapeType="1"/>
              </p:cNvSpPr>
              <p:nvPr/>
            </p:nvSpPr>
            <p:spPr bwMode="auto">
              <a:xfrm>
                <a:off x="2337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4" name="Line 82"/>
              <p:cNvSpPr>
                <a:spLocks noChangeShapeType="1"/>
              </p:cNvSpPr>
              <p:nvPr/>
            </p:nvSpPr>
            <p:spPr bwMode="auto">
              <a:xfrm>
                <a:off x="2337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5" name="Rectangle 83"/>
              <p:cNvSpPr>
                <a:spLocks noChangeArrowheads="1"/>
              </p:cNvSpPr>
              <p:nvPr/>
            </p:nvSpPr>
            <p:spPr bwMode="auto">
              <a:xfrm>
                <a:off x="2345" y="2678"/>
                <a:ext cx="551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56" name="Line 84"/>
              <p:cNvSpPr>
                <a:spLocks noChangeShapeType="1"/>
              </p:cNvSpPr>
              <p:nvPr/>
            </p:nvSpPr>
            <p:spPr bwMode="auto">
              <a:xfrm>
                <a:off x="2345" y="2678"/>
                <a:ext cx="551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7" name="Rectangle 85"/>
              <p:cNvSpPr>
                <a:spLocks noChangeArrowheads="1"/>
              </p:cNvSpPr>
              <p:nvPr/>
            </p:nvSpPr>
            <p:spPr bwMode="auto">
              <a:xfrm>
                <a:off x="2896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58" name="Line 86"/>
              <p:cNvSpPr>
                <a:spLocks noChangeShapeType="1"/>
              </p:cNvSpPr>
              <p:nvPr/>
            </p:nvSpPr>
            <p:spPr bwMode="auto">
              <a:xfrm>
                <a:off x="2896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9" name="Line 87"/>
              <p:cNvSpPr>
                <a:spLocks noChangeShapeType="1"/>
              </p:cNvSpPr>
              <p:nvPr/>
            </p:nvSpPr>
            <p:spPr bwMode="auto">
              <a:xfrm>
                <a:off x="2896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0" name="Rectangle 88"/>
              <p:cNvSpPr>
                <a:spLocks noChangeArrowheads="1"/>
              </p:cNvSpPr>
              <p:nvPr/>
            </p:nvSpPr>
            <p:spPr bwMode="auto">
              <a:xfrm>
                <a:off x="2904" y="2678"/>
                <a:ext cx="519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61" name="Line 89"/>
              <p:cNvSpPr>
                <a:spLocks noChangeShapeType="1"/>
              </p:cNvSpPr>
              <p:nvPr/>
            </p:nvSpPr>
            <p:spPr bwMode="auto">
              <a:xfrm>
                <a:off x="2904" y="2678"/>
                <a:ext cx="51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2" name="Rectangle 90"/>
              <p:cNvSpPr>
                <a:spLocks noChangeArrowheads="1"/>
              </p:cNvSpPr>
              <p:nvPr/>
            </p:nvSpPr>
            <p:spPr bwMode="auto">
              <a:xfrm>
                <a:off x="3423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63" name="Line 91"/>
              <p:cNvSpPr>
                <a:spLocks noChangeShapeType="1"/>
              </p:cNvSpPr>
              <p:nvPr/>
            </p:nvSpPr>
            <p:spPr bwMode="auto">
              <a:xfrm>
                <a:off x="3423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4" name="Line 92"/>
              <p:cNvSpPr>
                <a:spLocks noChangeShapeType="1"/>
              </p:cNvSpPr>
              <p:nvPr/>
            </p:nvSpPr>
            <p:spPr bwMode="auto">
              <a:xfrm>
                <a:off x="3423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5" name="Rectangle 93"/>
              <p:cNvSpPr>
                <a:spLocks noChangeArrowheads="1"/>
              </p:cNvSpPr>
              <p:nvPr/>
            </p:nvSpPr>
            <p:spPr bwMode="auto">
              <a:xfrm>
                <a:off x="3431" y="2678"/>
                <a:ext cx="51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66" name="Line 94"/>
              <p:cNvSpPr>
                <a:spLocks noChangeShapeType="1"/>
              </p:cNvSpPr>
              <p:nvPr/>
            </p:nvSpPr>
            <p:spPr bwMode="auto">
              <a:xfrm>
                <a:off x="3431" y="2678"/>
                <a:ext cx="51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7" name="Rectangle 95"/>
              <p:cNvSpPr>
                <a:spLocks noChangeArrowheads="1"/>
              </p:cNvSpPr>
              <p:nvPr/>
            </p:nvSpPr>
            <p:spPr bwMode="auto">
              <a:xfrm>
                <a:off x="3949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68" name="Line 96"/>
              <p:cNvSpPr>
                <a:spLocks noChangeShapeType="1"/>
              </p:cNvSpPr>
              <p:nvPr/>
            </p:nvSpPr>
            <p:spPr bwMode="auto">
              <a:xfrm>
                <a:off x="3949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9" name="Line 97"/>
              <p:cNvSpPr>
                <a:spLocks noChangeShapeType="1"/>
              </p:cNvSpPr>
              <p:nvPr/>
            </p:nvSpPr>
            <p:spPr bwMode="auto">
              <a:xfrm>
                <a:off x="3949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0" name="Rectangle 98"/>
              <p:cNvSpPr>
                <a:spLocks noChangeArrowheads="1"/>
              </p:cNvSpPr>
              <p:nvPr/>
            </p:nvSpPr>
            <p:spPr bwMode="auto">
              <a:xfrm>
                <a:off x="3957" y="2678"/>
                <a:ext cx="584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71" name="Line 99"/>
              <p:cNvSpPr>
                <a:spLocks noChangeShapeType="1"/>
              </p:cNvSpPr>
              <p:nvPr/>
            </p:nvSpPr>
            <p:spPr bwMode="auto">
              <a:xfrm>
                <a:off x="3957" y="2678"/>
                <a:ext cx="584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2" name="Rectangle 100"/>
              <p:cNvSpPr>
                <a:spLocks noChangeArrowheads="1"/>
              </p:cNvSpPr>
              <p:nvPr/>
            </p:nvSpPr>
            <p:spPr bwMode="auto">
              <a:xfrm>
                <a:off x="4541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73" name="Line 101"/>
              <p:cNvSpPr>
                <a:spLocks noChangeShapeType="1"/>
              </p:cNvSpPr>
              <p:nvPr/>
            </p:nvSpPr>
            <p:spPr bwMode="auto">
              <a:xfrm>
                <a:off x="4541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4" name="Line 102"/>
              <p:cNvSpPr>
                <a:spLocks noChangeShapeType="1"/>
              </p:cNvSpPr>
              <p:nvPr/>
            </p:nvSpPr>
            <p:spPr bwMode="auto">
              <a:xfrm>
                <a:off x="4541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5" name="Rectangle 103"/>
              <p:cNvSpPr>
                <a:spLocks noChangeArrowheads="1"/>
              </p:cNvSpPr>
              <p:nvPr/>
            </p:nvSpPr>
            <p:spPr bwMode="auto">
              <a:xfrm>
                <a:off x="4541" y="2678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76" name="Line 104"/>
              <p:cNvSpPr>
                <a:spLocks noChangeShapeType="1"/>
              </p:cNvSpPr>
              <p:nvPr/>
            </p:nvSpPr>
            <p:spPr bwMode="auto">
              <a:xfrm>
                <a:off x="4541" y="2678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7" name="Line 105"/>
              <p:cNvSpPr>
                <a:spLocks noChangeShapeType="1"/>
              </p:cNvSpPr>
              <p:nvPr/>
            </p:nvSpPr>
            <p:spPr bwMode="auto">
              <a:xfrm>
                <a:off x="4541" y="2678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78" name="Rectangle 106"/>
              <p:cNvSpPr>
                <a:spLocks noChangeArrowheads="1"/>
              </p:cNvSpPr>
              <p:nvPr/>
            </p:nvSpPr>
            <p:spPr bwMode="auto">
              <a:xfrm>
                <a:off x="855" y="2686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79" name="Line 107"/>
              <p:cNvSpPr>
                <a:spLocks noChangeShapeType="1"/>
              </p:cNvSpPr>
              <p:nvPr/>
            </p:nvSpPr>
            <p:spPr bwMode="auto">
              <a:xfrm>
                <a:off x="855" y="2686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0" name="Rectangle 108"/>
              <p:cNvSpPr>
                <a:spLocks noChangeArrowheads="1"/>
              </p:cNvSpPr>
              <p:nvPr/>
            </p:nvSpPr>
            <p:spPr bwMode="auto">
              <a:xfrm>
                <a:off x="1219" y="2686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81" name="Line 109"/>
              <p:cNvSpPr>
                <a:spLocks noChangeShapeType="1"/>
              </p:cNvSpPr>
              <p:nvPr/>
            </p:nvSpPr>
            <p:spPr bwMode="auto">
              <a:xfrm>
                <a:off x="1219" y="2686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2" name="Rectangle 110"/>
              <p:cNvSpPr>
                <a:spLocks noChangeArrowheads="1"/>
              </p:cNvSpPr>
              <p:nvPr/>
            </p:nvSpPr>
            <p:spPr bwMode="auto">
              <a:xfrm>
                <a:off x="3949" y="2686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83" name="Line 111"/>
              <p:cNvSpPr>
                <a:spLocks noChangeShapeType="1"/>
              </p:cNvSpPr>
              <p:nvPr/>
            </p:nvSpPr>
            <p:spPr bwMode="auto">
              <a:xfrm>
                <a:off x="3949" y="2686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4" name="Rectangle 112"/>
              <p:cNvSpPr>
                <a:spLocks noChangeArrowheads="1"/>
              </p:cNvSpPr>
              <p:nvPr/>
            </p:nvSpPr>
            <p:spPr bwMode="auto">
              <a:xfrm>
                <a:off x="4541" y="2686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485" name="Line 113"/>
              <p:cNvSpPr>
                <a:spLocks noChangeShapeType="1"/>
              </p:cNvSpPr>
              <p:nvPr/>
            </p:nvSpPr>
            <p:spPr bwMode="auto">
              <a:xfrm>
                <a:off x="4541" y="2686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86" name="Rectangle 114"/>
              <p:cNvSpPr>
                <a:spLocks noChangeArrowheads="1"/>
              </p:cNvSpPr>
              <p:nvPr/>
            </p:nvSpPr>
            <p:spPr bwMode="auto">
              <a:xfrm>
                <a:off x="595" y="292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487" name="Rectangle 115"/>
              <p:cNvSpPr>
                <a:spLocks noChangeArrowheads="1"/>
              </p:cNvSpPr>
              <p:nvPr/>
            </p:nvSpPr>
            <p:spPr bwMode="auto">
              <a:xfrm>
                <a:off x="693" y="3002"/>
                <a:ext cx="5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2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488" name="Rectangle 116"/>
              <p:cNvSpPr>
                <a:spLocks noChangeArrowheads="1"/>
              </p:cNvSpPr>
              <p:nvPr/>
            </p:nvSpPr>
            <p:spPr bwMode="auto">
              <a:xfrm>
                <a:off x="757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89" name="Rectangle 117"/>
              <p:cNvSpPr>
                <a:spLocks noChangeArrowheads="1"/>
              </p:cNvSpPr>
              <p:nvPr/>
            </p:nvSpPr>
            <p:spPr bwMode="auto">
              <a:xfrm>
                <a:off x="991" y="2929"/>
                <a:ext cx="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490" name="Rectangle 118"/>
              <p:cNvSpPr>
                <a:spLocks noChangeArrowheads="1"/>
              </p:cNvSpPr>
              <p:nvPr/>
            </p:nvSpPr>
            <p:spPr bwMode="auto">
              <a:xfrm>
                <a:off x="1090" y="292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91" name="Rectangle 119"/>
              <p:cNvSpPr>
                <a:spLocks noChangeArrowheads="1"/>
              </p:cNvSpPr>
              <p:nvPr/>
            </p:nvSpPr>
            <p:spPr bwMode="auto">
              <a:xfrm>
                <a:off x="1365" y="292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492" name="Rectangle 120"/>
              <p:cNvSpPr>
                <a:spLocks noChangeArrowheads="1"/>
              </p:cNvSpPr>
              <p:nvPr/>
            </p:nvSpPr>
            <p:spPr bwMode="auto">
              <a:xfrm>
                <a:off x="1462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93" name="Rectangle 121"/>
              <p:cNvSpPr>
                <a:spLocks noChangeArrowheads="1"/>
              </p:cNvSpPr>
              <p:nvPr/>
            </p:nvSpPr>
            <p:spPr bwMode="auto">
              <a:xfrm>
                <a:off x="1738" y="292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98494" name="Rectangle 122"/>
              <p:cNvSpPr>
                <a:spLocks noChangeArrowheads="1"/>
              </p:cNvSpPr>
              <p:nvPr/>
            </p:nvSpPr>
            <p:spPr bwMode="auto">
              <a:xfrm>
                <a:off x="1834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95" name="Rectangle 123"/>
              <p:cNvSpPr>
                <a:spLocks noChangeArrowheads="1"/>
              </p:cNvSpPr>
              <p:nvPr/>
            </p:nvSpPr>
            <p:spPr bwMode="auto">
              <a:xfrm>
                <a:off x="2110" y="292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496" name="Rectangle 124"/>
              <p:cNvSpPr>
                <a:spLocks noChangeArrowheads="1"/>
              </p:cNvSpPr>
              <p:nvPr/>
            </p:nvSpPr>
            <p:spPr bwMode="auto">
              <a:xfrm>
                <a:off x="2208" y="292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97" name="Rectangle 125"/>
              <p:cNvSpPr>
                <a:spLocks noChangeArrowheads="1"/>
              </p:cNvSpPr>
              <p:nvPr/>
            </p:nvSpPr>
            <p:spPr bwMode="auto">
              <a:xfrm>
                <a:off x="2499" y="2929"/>
                <a:ext cx="21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1/4</a:t>
                </a:r>
              </a:p>
            </p:txBody>
          </p:sp>
          <p:sp>
            <p:nvSpPr>
              <p:cNvPr id="98498" name="Rectangle 126"/>
              <p:cNvSpPr>
                <a:spLocks noChangeArrowheads="1"/>
              </p:cNvSpPr>
              <p:nvPr/>
            </p:nvSpPr>
            <p:spPr bwMode="auto">
              <a:xfrm>
                <a:off x="2750" y="2929"/>
                <a:ext cx="4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499" name="Rectangle 127"/>
              <p:cNvSpPr>
                <a:spLocks noChangeArrowheads="1"/>
              </p:cNvSpPr>
              <p:nvPr/>
            </p:nvSpPr>
            <p:spPr bwMode="auto">
              <a:xfrm>
                <a:off x="3115" y="2929"/>
                <a:ext cx="8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500" name="Rectangle 128"/>
              <p:cNvSpPr>
                <a:spLocks noChangeArrowheads="1"/>
              </p:cNvSpPr>
              <p:nvPr/>
            </p:nvSpPr>
            <p:spPr bwMode="auto">
              <a:xfrm>
                <a:off x="3212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01" name="Rectangle 129"/>
              <p:cNvSpPr>
                <a:spLocks noChangeArrowheads="1"/>
              </p:cNvSpPr>
              <p:nvPr/>
            </p:nvSpPr>
            <p:spPr bwMode="auto">
              <a:xfrm>
                <a:off x="3536" y="2929"/>
                <a:ext cx="56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</a:t>
                </a:r>
              </a:p>
            </p:txBody>
          </p:sp>
          <p:sp>
            <p:nvSpPr>
              <p:cNvPr id="98502" name="Rectangle 130"/>
              <p:cNvSpPr>
                <a:spLocks noChangeArrowheads="1"/>
              </p:cNvSpPr>
              <p:nvPr/>
            </p:nvSpPr>
            <p:spPr bwMode="auto">
              <a:xfrm>
                <a:off x="3601" y="2929"/>
                <a:ext cx="21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1/4</a:t>
                </a:r>
              </a:p>
            </p:txBody>
          </p:sp>
          <p:sp>
            <p:nvSpPr>
              <p:cNvPr id="98503" name="Rectangle 131"/>
              <p:cNvSpPr>
                <a:spLocks noChangeArrowheads="1"/>
              </p:cNvSpPr>
              <p:nvPr/>
            </p:nvSpPr>
            <p:spPr bwMode="auto">
              <a:xfrm>
                <a:off x="3852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04" name="Rectangle 132"/>
              <p:cNvSpPr>
                <a:spLocks noChangeArrowheads="1"/>
              </p:cNvSpPr>
              <p:nvPr/>
            </p:nvSpPr>
            <p:spPr bwMode="auto">
              <a:xfrm>
                <a:off x="4201" y="2929"/>
                <a:ext cx="139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-1</a:t>
                </a:r>
              </a:p>
            </p:txBody>
          </p:sp>
          <p:sp>
            <p:nvSpPr>
              <p:cNvPr id="98505" name="Rectangle 133"/>
              <p:cNvSpPr>
                <a:spLocks noChangeArrowheads="1"/>
              </p:cNvSpPr>
              <p:nvPr/>
            </p:nvSpPr>
            <p:spPr bwMode="auto">
              <a:xfrm>
                <a:off x="4298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tx2"/>
                    </a:solidFill>
                  </a:rPr>
                  <a:t> </a:t>
                </a:r>
              </a:p>
            </p:txBody>
          </p:sp>
          <p:sp>
            <p:nvSpPr>
              <p:cNvPr id="98506" name="Rectangle 134"/>
              <p:cNvSpPr>
                <a:spLocks noChangeArrowheads="1"/>
              </p:cNvSpPr>
              <p:nvPr/>
            </p:nvSpPr>
            <p:spPr bwMode="auto">
              <a:xfrm>
                <a:off x="4654" y="2929"/>
                <a:ext cx="4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07" name="Rectangle 135"/>
              <p:cNvSpPr>
                <a:spLocks noChangeArrowheads="1"/>
              </p:cNvSpPr>
              <p:nvPr/>
            </p:nvSpPr>
            <p:spPr bwMode="auto">
              <a:xfrm>
                <a:off x="855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08" name="Line 136"/>
              <p:cNvSpPr>
                <a:spLocks noChangeShapeType="1"/>
              </p:cNvSpPr>
              <p:nvPr/>
            </p:nvSpPr>
            <p:spPr bwMode="auto">
              <a:xfrm>
                <a:off x="855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09" name="Line 137"/>
              <p:cNvSpPr>
                <a:spLocks noChangeShapeType="1"/>
              </p:cNvSpPr>
              <p:nvPr/>
            </p:nvSpPr>
            <p:spPr bwMode="auto">
              <a:xfrm>
                <a:off x="855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0" name="Rectangle 138"/>
              <p:cNvSpPr>
                <a:spLocks noChangeArrowheads="1"/>
              </p:cNvSpPr>
              <p:nvPr/>
            </p:nvSpPr>
            <p:spPr bwMode="auto">
              <a:xfrm>
                <a:off x="863" y="2913"/>
                <a:ext cx="356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11" name="Line 139"/>
              <p:cNvSpPr>
                <a:spLocks noChangeShapeType="1"/>
              </p:cNvSpPr>
              <p:nvPr/>
            </p:nvSpPr>
            <p:spPr bwMode="auto">
              <a:xfrm>
                <a:off x="863" y="2913"/>
                <a:ext cx="356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2" name="Rectangle 140"/>
              <p:cNvSpPr>
                <a:spLocks noChangeArrowheads="1"/>
              </p:cNvSpPr>
              <p:nvPr/>
            </p:nvSpPr>
            <p:spPr bwMode="auto">
              <a:xfrm>
                <a:off x="1219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13" name="Line 141"/>
              <p:cNvSpPr>
                <a:spLocks noChangeShapeType="1"/>
              </p:cNvSpPr>
              <p:nvPr/>
            </p:nvSpPr>
            <p:spPr bwMode="auto">
              <a:xfrm>
                <a:off x="1219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4" name="Line 142"/>
              <p:cNvSpPr>
                <a:spLocks noChangeShapeType="1"/>
              </p:cNvSpPr>
              <p:nvPr/>
            </p:nvSpPr>
            <p:spPr bwMode="auto">
              <a:xfrm>
                <a:off x="1219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5" name="Rectangle 143"/>
              <p:cNvSpPr>
                <a:spLocks noChangeArrowheads="1"/>
              </p:cNvSpPr>
              <p:nvPr/>
            </p:nvSpPr>
            <p:spPr bwMode="auto">
              <a:xfrm>
                <a:off x="1227" y="2913"/>
                <a:ext cx="365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16" name="Line 144"/>
              <p:cNvSpPr>
                <a:spLocks noChangeShapeType="1"/>
              </p:cNvSpPr>
              <p:nvPr/>
            </p:nvSpPr>
            <p:spPr bwMode="auto">
              <a:xfrm>
                <a:off x="1227" y="2913"/>
                <a:ext cx="36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7" name="Rectangle 145"/>
              <p:cNvSpPr>
                <a:spLocks noChangeArrowheads="1"/>
              </p:cNvSpPr>
              <p:nvPr/>
            </p:nvSpPr>
            <p:spPr bwMode="auto">
              <a:xfrm>
                <a:off x="1592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18" name="Line 146"/>
              <p:cNvSpPr>
                <a:spLocks noChangeShapeType="1"/>
              </p:cNvSpPr>
              <p:nvPr/>
            </p:nvSpPr>
            <p:spPr bwMode="auto">
              <a:xfrm>
                <a:off x="1592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19" name="Line 147"/>
              <p:cNvSpPr>
                <a:spLocks noChangeShapeType="1"/>
              </p:cNvSpPr>
              <p:nvPr/>
            </p:nvSpPr>
            <p:spPr bwMode="auto">
              <a:xfrm>
                <a:off x="1592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0" name="Rectangle 148"/>
              <p:cNvSpPr>
                <a:spLocks noChangeArrowheads="1"/>
              </p:cNvSpPr>
              <p:nvPr/>
            </p:nvSpPr>
            <p:spPr bwMode="auto">
              <a:xfrm>
                <a:off x="1600" y="2913"/>
                <a:ext cx="365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21" name="Line 149"/>
              <p:cNvSpPr>
                <a:spLocks noChangeShapeType="1"/>
              </p:cNvSpPr>
              <p:nvPr/>
            </p:nvSpPr>
            <p:spPr bwMode="auto">
              <a:xfrm>
                <a:off x="1600" y="2913"/>
                <a:ext cx="365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2" name="Rectangle 150"/>
              <p:cNvSpPr>
                <a:spLocks noChangeArrowheads="1"/>
              </p:cNvSpPr>
              <p:nvPr/>
            </p:nvSpPr>
            <p:spPr bwMode="auto">
              <a:xfrm>
                <a:off x="1965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23" name="Line 151"/>
              <p:cNvSpPr>
                <a:spLocks noChangeShapeType="1"/>
              </p:cNvSpPr>
              <p:nvPr/>
            </p:nvSpPr>
            <p:spPr bwMode="auto">
              <a:xfrm>
                <a:off x="1965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4" name="Line 152"/>
              <p:cNvSpPr>
                <a:spLocks noChangeShapeType="1"/>
              </p:cNvSpPr>
              <p:nvPr/>
            </p:nvSpPr>
            <p:spPr bwMode="auto">
              <a:xfrm>
                <a:off x="1965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5" name="Rectangle 153"/>
              <p:cNvSpPr>
                <a:spLocks noChangeArrowheads="1"/>
              </p:cNvSpPr>
              <p:nvPr/>
            </p:nvSpPr>
            <p:spPr bwMode="auto">
              <a:xfrm>
                <a:off x="1973" y="2913"/>
                <a:ext cx="364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26" name="Line 154"/>
              <p:cNvSpPr>
                <a:spLocks noChangeShapeType="1"/>
              </p:cNvSpPr>
              <p:nvPr/>
            </p:nvSpPr>
            <p:spPr bwMode="auto">
              <a:xfrm>
                <a:off x="1973" y="2913"/>
                <a:ext cx="364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7" name="Rectangle 155"/>
              <p:cNvSpPr>
                <a:spLocks noChangeArrowheads="1"/>
              </p:cNvSpPr>
              <p:nvPr/>
            </p:nvSpPr>
            <p:spPr bwMode="auto">
              <a:xfrm>
                <a:off x="2337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28" name="Line 156"/>
              <p:cNvSpPr>
                <a:spLocks noChangeShapeType="1"/>
              </p:cNvSpPr>
              <p:nvPr/>
            </p:nvSpPr>
            <p:spPr bwMode="auto">
              <a:xfrm>
                <a:off x="2337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29" name="Line 157"/>
              <p:cNvSpPr>
                <a:spLocks noChangeShapeType="1"/>
              </p:cNvSpPr>
              <p:nvPr/>
            </p:nvSpPr>
            <p:spPr bwMode="auto">
              <a:xfrm>
                <a:off x="2337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0" name="Rectangle 158"/>
              <p:cNvSpPr>
                <a:spLocks noChangeArrowheads="1"/>
              </p:cNvSpPr>
              <p:nvPr/>
            </p:nvSpPr>
            <p:spPr bwMode="auto">
              <a:xfrm>
                <a:off x="2345" y="2913"/>
                <a:ext cx="551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31" name="Line 159"/>
              <p:cNvSpPr>
                <a:spLocks noChangeShapeType="1"/>
              </p:cNvSpPr>
              <p:nvPr/>
            </p:nvSpPr>
            <p:spPr bwMode="auto">
              <a:xfrm>
                <a:off x="2345" y="2913"/>
                <a:ext cx="551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2" name="Rectangle 160"/>
              <p:cNvSpPr>
                <a:spLocks noChangeArrowheads="1"/>
              </p:cNvSpPr>
              <p:nvPr/>
            </p:nvSpPr>
            <p:spPr bwMode="auto">
              <a:xfrm>
                <a:off x="2896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33" name="Line 161"/>
              <p:cNvSpPr>
                <a:spLocks noChangeShapeType="1"/>
              </p:cNvSpPr>
              <p:nvPr/>
            </p:nvSpPr>
            <p:spPr bwMode="auto">
              <a:xfrm>
                <a:off x="2896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4" name="Line 162"/>
              <p:cNvSpPr>
                <a:spLocks noChangeShapeType="1"/>
              </p:cNvSpPr>
              <p:nvPr/>
            </p:nvSpPr>
            <p:spPr bwMode="auto">
              <a:xfrm>
                <a:off x="2896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5" name="Rectangle 163"/>
              <p:cNvSpPr>
                <a:spLocks noChangeArrowheads="1"/>
              </p:cNvSpPr>
              <p:nvPr/>
            </p:nvSpPr>
            <p:spPr bwMode="auto">
              <a:xfrm>
                <a:off x="2904" y="2913"/>
                <a:ext cx="519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36" name="Line 164"/>
              <p:cNvSpPr>
                <a:spLocks noChangeShapeType="1"/>
              </p:cNvSpPr>
              <p:nvPr/>
            </p:nvSpPr>
            <p:spPr bwMode="auto">
              <a:xfrm>
                <a:off x="2904" y="2913"/>
                <a:ext cx="519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7" name="Rectangle 165"/>
              <p:cNvSpPr>
                <a:spLocks noChangeArrowheads="1"/>
              </p:cNvSpPr>
              <p:nvPr/>
            </p:nvSpPr>
            <p:spPr bwMode="auto">
              <a:xfrm>
                <a:off x="3423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38" name="Line 166"/>
              <p:cNvSpPr>
                <a:spLocks noChangeShapeType="1"/>
              </p:cNvSpPr>
              <p:nvPr/>
            </p:nvSpPr>
            <p:spPr bwMode="auto">
              <a:xfrm>
                <a:off x="3423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39" name="Line 167"/>
              <p:cNvSpPr>
                <a:spLocks noChangeShapeType="1"/>
              </p:cNvSpPr>
              <p:nvPr/>
            </p:nvSpPr>
            <p:spPr bwMode="auto">
              <a:xfrm>
                <a:off x="3423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0" name="Rectangle 168"/>
              <p:cNvSpPr>
                <a:spLocks noChangeArrowheads="1"/>
              </p:cNvSpPr>
              <p:nvPr/>
            </p:nvSpPr>
            <p:spPr bwMode="auto">
              <a:xfrm>
                <a:off x="3431" y="2913"/>
                <a:ext cx="51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41" name="Line 169"/>
              <p:cNvSpPr>
                <a:spLocks noChangeShapeType="1"/>
              </p:cNvSpPr>
              <p:nvPr/>
            </p:nvSpPr>
            <p:spPr bwMode="auto">
              <a:xfrm>
                <a:off x="3431" y="2913"/>
                <a:ext cx="51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2" name="Rectangle 170"/>
              <p:cNvSpPr>
                <a:spLocks noChangeArrowheads="1"/>
              </p:cNvSpPr>
              <p:nvPr/>
            </p:nvSpPr>
            <p:spPr bwMode="auto">
              <a:xfrm>
                <a:off x="3949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43" name="Line 171"/>
              <p:cNvSpPr>
                <a:spLocks noChangeShapeType="1"/>
              </p:cNvSpPr>
              <p:nvPr/>
            </p:nvSpPr>
            <p:spPr bwMode="auto">
              <a:xfrm>
                <a:off x="3949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4" name="Line 172"/>
              <p:cNvSpPr>
                <a:spLocks noChangeShapeType="1"/>
              </p:cNvSpPr>
              <p:nvPr/>
            </p:nvSpPr>
            <p:spPr bwMode="auto">
              <a:xfrm>
                <a:off x="3949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5" name="Rectangle 173"/>
              <p:cNvSpPr>
                <a:spLocks noChangeArrowheads="1"/>
              </p:cNvSpPr>
              <p:nvPr/>
            </p:nvSpPr>
            <p:spPr bwMode="auto">
              <a:xfrm>
                <a:off x="3957" y="2913"/>
                <a:ext cx="584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46" name="Line 174"/>
              <p:cNvSpPr>
                <a:spLocks noChangeShapeType="1"/>
              </p:cNvSpPr>
              <p:nvPr/>
            </p:nvSpPr>
            <p:spPr bwMode="auto">
              <a:xfrm>
                <a:off x="3957" y="2913"/>
                <a:ext cx="584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7" name="Rectangle 175"/>
              <p:cNvSpPr>
                <a:spLocks noChangeArrowheads="1"/>
              </p:cNvSpPr>
              <p:nvPr/>
            </p:nvSpPr>
            <p:spPr bwMode="auto">
              <a:xfrm>
                <a:off x="4541" y="2913"/>
                <a:ext cx="8" cy="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48" name="Line 176"/>
              <p:cNvSpPr>
                <a:spLocks noChangeShapeType="1"/>
              </p:cNvSpPr>
              <p:nvPr/>
            </p:nvSpPr>
            <p:spPr bwMode="auto">
              <a:xfrm>
                <a:off x="4541" y="2913"/>
                <a:ext cx="8" cy="1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49" name="Line 177"/>
              <p:cNvSpPr>
                <a:spLocks noChangeShapeType="1"/>
              </p:cNvSpPr>
              <p:nvPr/>
            </p:nvSpPr>
            <p:spPr bwMode="auto">
              <a:xfrm>
                <a:off x="4541" y="2913"/>
                <a:ext cx="1" cy="8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0" name="Rectangle 178"/>
              <p:cNvSpPr>
                <a:spLocks noChangeArrowheads="1"/>
              </p:cNvSpPr>
              <p:nvPr/>
            </p:nvSpPr>
            <p:spPr bwMode="auto">
              <a:xfrm>
                <a:off x="855" y="2921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51" name="Line 179"/>
              <p:cNvSpPr>
                <a:spLocks noChangeShapeType="1"/>
              </p:cNvSpPr>
              <p:nvPr/>
            </p:nvSpPr>
            <p:spPr bwMode="auto">
              <a:xfrm>
                <a:off x="855" y="2921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2" name="Rectangle 180"/>
              <p:cNvSpPr>
                <a:spLocks noChangeArrowheads="1"/>
              </p:cNvSpPr>
              <p:nvPr/>
            </p:nvSpPr>
            <p:spPr bwMode="auto">
              <a:xfrm>
                <a:off x="1219" y="2921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53" name="Line 181"/>
              <p:cNvSpPr>
                <a:spLocks noChangeShapeType="1"/>
              </p:cNvSpPr>
              <p:nvPr/>
            </p:nvSpPr>
            <p:spPr bwMode="auto">
              <a:xfrm>
                <a:off x="1219" y="2921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4" name="Rectangle 182"/>
              <p:cNvSpPr>
                <a:spLocks noChangeArrowheads="1"/>
              </p:cNvSpPr>
              <p:nvPr/>
            </p:nvSpPr>
            <p:spPr bwMode="auto">
              <a:xfrm>
                <a:off x="3949" y="2921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55" name="Line 183"/>
              <p:cNvSpPr>
                <a:spLocks noChangeShapeType="1"/>
              </p:cNvSpPr>
              <p:nvPr/>
            </p:nvSpPr>
            <p:spPr bwMode="auto">
              <a:xfrm>
                <a:off x="3949" y="2921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6" name="Rectangle 184"/>
              <p:cNvSpPr>
                <a:spLocks noChangeArrowheads="1"/>
              </p:cNvSpPr>
              <p:nvPr/>
            </p:nvSpPr>
            <p:spPr bwMode="auto">
              <a:xfrm>
                <a:off x="4541" y="2921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57" name="Line 185"/>
              <p:cNvSpPr>
                <a:spLocks noChangeShapeType="1"/>
              </p:cNvSpPr>
              <p:nvPr/>
            </p:nvSpPr>
            <p:spPr bwMode="auto">
              <a:xfrm>
                <a:off x="4541" y="2921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58" name="Rectangle 186"/>
              <p:cNvSpPr>
                <a:spLocks noChangeArrowheads="1"/>
              </p:cNvSpPr>
              <p:nvPr/>
            </p:nvSpPr>
            <p:spPr bwMode="auto">
              <a:xfrm>
                <a:off x="595" y="3157"/>
                <a:ext cx="8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8559" name="Rectangle 187"/>
              <p:cNvSpPr>
                <a:spLocks noChangeArrowheads="1"/>
              </p:cNvSpPr>
              <p:nvPr/>
            </p:nvSpPr>
            <p:spPr bwMode="auto">
              <a:xfrm>
                <a:off x="693" y="3229"/>
                <a:ext cx="5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rgbClr val="0000FF"/>
                    </a:solidFill>
                  </a:rPr>
                  <a:t>1</a:t>
                </a:r>
                <a:endParaRPr lang="en-US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560" name="Rectangle 188"/>
              <p:cNvSpPr>
                <a:spLocks noChangeArrowheads="1"/>
              </p:cNvSpPr>
              <p:nvPr/>
            </p:nvSpPr>
            <p:spPr bwMode="auto">
              <a:xfrm>
                <a:off x="757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61" name="Rectangle 189"/>
              <p:cNvSpPr>
                <a:spLocks noChangeArrowheads="1"/>
              </p:cNvSpPr>
              <p:nvPr/>
            </p:nvSpPr>
            <p:spPr bwMode="auto">
              <a:xfrm>
                <a:off x="991" y="3157"/>
                <a:ext cx="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98562" name="Rectangle 190"/>
              <p:cNvSpPr>
                <a:spLocks noChangeArrowheads="1"/>
              </p:cNvSpPr>
              <p:nvPr/>
            </p:nvSpPr>
            <p:spPr bwMode="auto">
              <a:xfrm>
                <a:off x="1090" y="3157"/>
                <a:ext cx="41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63" name="Rectangle 191"/>
              <p:cNvSpPr>
                <a:spLocks noChangeArrowheads="1"/>
              </p:cNvSpPr>
              <p:nvPr/>
            </p:nvSpPr>
            <p:spPr bwMode="auto">
              <a:xfrm>
                <a:off x="1365" y="3157"/>
                <a:ext cx="8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98564" name="Rectangle 192"/>
              <p:cNvSpPr>
                <a:spLocks noChangeArrowheads="1"/>
              </p:cNvSpPr>
              <p:nvPr/>
            </p:nvSpPr>
            <p:spPr bwMode="auto">
              <a:xfrm>
                <a:off x="1462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65" name="Rectangle 193"/>
              <p:cNvSpPr>
                <a:spLocks noChangeArrowheads="1"/>
              </p:cNvSpPr>
              <p:nvPr/>
            </p:nvSpPr>
            <p:spPr bwMode="auto">
              <a:xfrm>
                <a:off x="1738" y="3157"/>
                <a:ext cx="8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566" name="Rectangle 194"/>
              <p:cNvSpPr>
                <a:spLocks noChangeArrowheads="1"/>
              </p:cNvSpPr>
              <p:nvPr/>
            </p:nvSpPr>
            <p:spPr bwMode="auto">
              <a:xfrm>
                <a:off x="1834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67" name="Rectangle 195"/>
              <p:cNvSpPr>
                <a:spLocks noChangeArrowheads="1"/>
              </p:cNvSpPr>
              <p:nvPr/>
            </p:nvSpPr>
            <p:spPr bwMode="auto">
              <a:xfrm>
                <a:off x="2110" y="3157"/>
                <a:ext cx="8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98568" name="Rectangle 196"/>
              <p:cNvSpPr>
                <a:spLocks noChangeArrowheads="1"/>
              </p:cNvSpPr>
              <p:nvPr/>
            </p:nvSpPr>
            <p:spPr bwMode="auto">
              <a:xfrm>
                <a:off x="2208" y="3157"/>
                <a:ext cx="41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69" name="Rectangle 197"/>
              <p:cNvSpPr>
                <a:spLocks noChangeArrowheads="1"/>
              </p:cNvSpPr>
              <p:nvPr/>
            </p:nvSpPr>
            <p:spPr bwMode="auto">
              <a:xfrm>
                <a:off x="2466" y="3157"/>
                <a:ext cx="56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-</a:t>
                </a:r>
              </a:p>
            </p:txBody>
          </p:sp>
          <p:sp>
            <p:nvSpPr>
              <p:cNvPr id="98570" name="Rectangle 198"/>
              <p:cNvSpPr>
                <a:spLocks noChangeArrowheads="1"/>
              </p:cNvSpPr>
              <p:nvPr/>
            </p:nvSpPr>
            <p:spPr bwMode="auto">
              <a:xfrm>
                <a:off x="2532" y="3157"/>
                <a:ext cx="21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1/6</a:t>
                </a:r>
              </a:p>
            </p:txBody>
          </p:sp>
          <p:sp>
            <p:nvSpPr>
              <p:cNvPr id="98571" name="Rectangle 199"/>
              <p:cNvSpPr>
                <a:spLocks noChangeArrowheads="1"/>
              </p:cNvSpPr>
              <p:nvPr/>
            </p:nvSpPr>
            <p:spPr bwMode="auto">
              <a:xfrm>
                <a:off x="2782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72" name="Rectangle 200"/>
              <p:cNvSpPr>
                <a:spLocks noChangeArrowheads="1"/>
              </p:cNvSpPr>
              <p:nvPr/>
            </p:nvSpPr>
            <p:spPr bwMode="auto">
              <a:xfrm>
                <a:off x="3042" y="3157"/>
                <a:ext cx="21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1/3</a:t>
                </a:r>
              </a:p>
            </p:txBody>
          </p:sp>
          <p:sp>
            <p:nvSpPr>
              <p:cNvPr id="98573" name="Rectangle 201"/>
              <p:cNvSpPr>
                <a:spLocks noChangeArrowheads="1"/>
              </p:cNvSpPr>
              <p:nvPr/>
            </p:nvSpPr>
            <p:spPr bwMode="auto">
              <a:xfrm>
                <a:off x="3293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74" name="Rectangle 202"/>
              <p:cNvSpPr>
                <a:spLocks noChangeArrowheads="1"/>
              </p:cNvSpPr>
              <p:nvPr/>
            </p:nvSpPr>
            <p:spPr bwMode="auto">
              <a:xfrm>
                <a:off x="3569" y="3157"/>
                <a:ext cx="21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1/2</a:t>
                </a:r>
              </a:p>
            </p:txBody>
          </p:sp>
          <p:sp>
            <p:nvSpPr>
              <p:cNvPr id="98575" name="Rectangle 203"/>
              <p:cNvSpPr>
                <a:spLocks noChangeArrowheads="1"/>
              </p:cNvSpPr>
              <p:nvPr/>
            </p:nvSpPr>
            <p:spPr bwMode="auto">
              <a:xfrm>
                <a:off x="3820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76" name="Rectangle 204"/>
              <p:cNvSpPr>
                <a:spLocks noChangeArrowheads="1"/>
              </p:cNvSpPr>
              <p:nvPr/>
            </p:nvSpPr>
            <p:spPr bwMode="auto">
              <a:xfrm>
                <a:off x="4201" y="3157"/>
                <a:ext cx="168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13</a:t>
                </a:r>
              </a:p>
            </p:txBody>
          </p:sp>
          <p:sp>
            <p:nvSpPr>
              <p:cNvPr id="98577" name="Rectangle 205"/>
              <p:cNvSpPr>
                <a:spLocks noChangeArrowheads="1"/>
              </p:cNvSpPr>
              <p:nvPr/>
            </p:nvSpPr>
            <p:spPr bwMode="auto">
              <a:xfrm>
                <a:off x="4298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78" name="Rectangle 206"/>
              <p:cNvSpPr>
                <a:spLocks noChangeArrowheads="1"/>
              </p:cNvSpPr>
              <p:nvPr/>
            </p:nvSpPr>
            <p:spPr bwMode="auto">
              <a:xfrm>
                <a:off x="4654" y="3157"/>
                <a:ext cx="42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rgbClr val="0000FF"/>
                    </a:solidFill>
                  </a:rPr>
                  <a:t> </a:t>
                </a:r>
              </a:p>
            </p:txBody>
          </p:sp>
          <p:sp>
            <p:nvSpPr>
              <p:cNvPr id="98579" name="Rectangle 207"/>
              <p:cNvSpPr>
                <a:spLocks noChangeArrowheads="1"/>
              </p:cNvSpPr>
              <p:nvPr/>
            </p:nvSpPr>
            <p:spPr bwMode="auto">
              <a:xfrm>
                <a:off x="855" y="3148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98580" name="Line 208"/>
              <p:cNvSpPr>
                <a:spLocks noChangeShapeType="1"/>
              </p:cNvSpPr>
              <p:nvPr/>
            </p:nvSpPr>
            <p:spPr bwMode="auto">
              <a:xfrm>
                <a:off x="855" y="3148"/>
                <a:ext cx="1" cy="227"/>
              </a:xfrm>
              <a:prstGeom prst="line">
                <a:avLst/>
              </a:prstGeom>
              <a:noFill/>
              <a:ln w="0">
                <a:solidFill>
                  <a:srgbClr val="00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81" name="Rectangle 209"/>
              <p:cNvSpPr>
                <a:spLocks noChangeArrowheads="1"/>
              </p:cNvSpPr>
              <p:nvPr/>
            </p:nvSpPr>
            <p:spPr bwMode="auto">
              <a:xfrm>
                <a:off x="1219" y="3148"/>
                <a:ext cx="8" cy="22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98321" name="Line 210"/>
            <p:cNvSpPr>
              <a:spLocks noChangeShapeType="1"/>
            </p:cNvSpPr>
            <p:nvPr/>
          </p:nvSpPr>
          <p:spPr bwMode="auto">
            <a:xfrm>
              <a:off x="1219" y="3206"/>
              <a:ext cx="1" cy="227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Rectangle 211"/>
            <p:cNvSpPr>
              <a:spLocks noChangeArrowheads="1"/>
            </p:cNvSpPr>
            <p:nvPr/>
          </p:nvSpPr>
          <p:spPr bwMode="auto">
            <a:xfrm>
              <a:off x="3949" y="3206"/>
              <a:ext cx="8" cy="22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23" name="Line 212"/>
            <p:cNvSpPr>
              <a:spLocks noChangeShapeType="1"/>
            </p:cNvSpPr>
            <p:nvPr/>
          </p:nvSpPr>
          <p:spPr bwMode="auto">
            <a:xfrm>
              <a:off x="3949" y="3206"/>
              <a:ext cx="1" cy="227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4" name="Rectangle 213"/>
            <p:cNvSpPr>
              <a:spLocks noChangeArrowheads="1"/>
            </p:cNvSpPr>
            <p:nvPr/>
          </p:nvSpPr>
          <p:spPr bwMode="auto">
            <a:xfrm>
              <a:off x="4541" y="3206"/>
              <a:ext cx="8" cy="22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25" name="Line 214"/>
            <p:cNvSpPr>
              <a:spLocks noChangeShapeType="1"/>
            </p:cNvSpPr>
            <p:nvPr/>
          </p:nvSpPr>
          <p:spPr bwMode="auto">
            <a:xfrm>
              <a:off x="4541" y="3206"/>
              <a:ext cx="1" cy="227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6" name="Rectangle 215"/>
            <p:cNvSpPr>
              <a:spLocks noChangeArrowheads="1"/>
            </p:cNvSpPr>
            <p:nvPr/>
          </p:nvSpPr>
          <p:spPr bwMode="auto">
            <a:xfrm>
              <a:off x="595" y="3442"/>
              <a:ext cx="8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x</a:t>
              </a:r>
            </a:p>
          </p:txBody>
        </p:sp>
        <p:sp>
          <p:nvSpPr>
            <p:cNvPr id="98327" name="Rectangle 216"/>
            <p:cNvSpPr>
              <a:spLocks noChangeArrowheads="1"/>
            </p:cNvSpPr>
            <p:nvPr/>
          </p:nvSpPr>
          <p:spPr bwMode="auto">
            <a:xfrm>
              <a:off x="693" y="3515"/>
              <a:ext cx="56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rgbClr val="0000FF"/>
                  </a:solidFill>
                </a:rPr>
                <a:t>3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  <p:sp>
          <p:nvSpPr>
            <p:cNvPr id="98328" name="Rectangle 217"/>
            <p:cNvSpPr>
              <a:spLocks noChangeArrowheads="1"/>
            </p:cNvSpPr>
            <p:nvPr/>
          </p:nvSpPr>
          <p:spPr bwMode="auto">
            <a:xfrm>
              <a:off x="1365" y="3442"/>
              <a:ext cx="8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98329" name="Rectangle 218"/>
            <p:cNvSpPr>
              <a:spLocks noChangeArrowheads="1"/>
            </p:cNvSpPr>
            <p:nvPr/>
          </p:nvSpPr>
          <p:spPr bwMode="auto">
            <a:xfrm>
              <a:off x="1738" y="3442"/>
              <a:ext cx="84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98330" name="Rectangle 219"/>
            <p:cNvSpPr>
              <a:spLocks noChangeArrowheads="1"/>
            </p:cNvSpPr>
            <p:nvPr/>
          </p:nvSpPr>
          <p:spPr bwMode="auto">
            <a:xfrm>
              <a:off x="2110" y="3442"/>
              <a:ext cx="8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98331" name="Rectangle 220"/>
            <p:cNvSpPr>
              <a:spLocks noChangeArrowheads="1"/>
            </p:cNvSpPr>
            <p:nvPr/>
          </p:nvSpPr>
          <p:spPr bwMode="auto">
            <a:xfrm>
              <a:off x="2451" y="3466"/>
              <a:ext cx="296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5/12</a:t>
              </a:r>
            </a:p>
          </p:txBody>
        </p:sp>
        <p:sp>
          <p:nvSpPr>
            <p:cNvPr id="98332" name="Rectangle 221"/>
            <p:cNvSpPr>
              <a:spLocks noChangeArrowheads="1"/>
            </p:cNvSpPr>
            <p:nvPr/>
          </p:nvSpPr>
          <p:spPr bwMode="auto">
            <a:xfrm>
              <a:off x="3010" y="3442"/>
              <a:ext cx="56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-</a:t>
              </a:r>
            </a:p>
          </p:txBody>
        </p:sp>
        <p:sp>
          <p:nvSpPr>
            <p:cNvPr id="98333" name="Rectangle 222"/>
            <p:cNvSpPr>
              <a:spLocks noChangeArrowheads="1"/>
            </p:cNvSpPr>
            <p:nvPr/>
          </p:nvSpPr>
          <p:spPr bwMode="auto">
            <a:xfrm>
              <a:off x="3074" y="3442"/>
              <a:ext cx="21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1/3</a:t>
              </a:r>
            </a:p>
          </p:txBody>
        </p:sp>
        <p:sp>
          <p:nvSpPr>
            <p:cNvPr id="98334" name="Rectangle 223"/>
            <p:cNvSpPr>
              <a:spLocks noChangeArrowheads="1"/>
            </p:cNvSpPr>
            <p:nvPr/>
          </p:nvSpPr>
          <p:spPr bwMode="auto">
            <a:xfrm>
              <a:off x="3569" y="3442"/>
              <a:ext cx="213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1/4</a:t>
              </a:r>
            </a:p>
          </p:txBody>
        </p:sp>
        <p:sp>
          <p:nvSpPr>
            <p:cNvPr id="98335" name="Rectangle 224"/>
            <p:cNvSpPr>
              <a:spLocks noChangeArrowheads="1"/>
            </p:cNvSpPr>
            <p:nvPr/>
          </p:nvSpPr>
          <p:spPr bwMode="auto">
            <a:xfrm>
              <a:off x="4201" y="3442"/>
              <a:ext cx="8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</a:rPr>
                <a:t>5</a:t>
              </a:r>
            </a:p>
          </p:txBody>
        </p:sp>
        <p:sp>
          <p:nvSpPr>
            <p:cNvPr id="98336" name="Rectangle 225"/>
            <p:cNvSpPr>
              <a:spLocks noChangeArrowheads="1"/>
            </p:cNvSpPr>
            <p:nvPr/>
          </p:nvSpPr>
          <p:spPr bwMode="auto">
            <a:xfrm>
              <a:off x="4298" y="3442"/>
              <a:ext cx="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 </a:t>
              </a:r>
            </a:p>
          </p:txBody>
        </p:sp>
        <p:sp>
          <p:nvSpPr>
            <p:cNvPr id="98337" name="Rectangle 226"/>
            <p:cNvSpPr>
              <a:spLocks noChangeArrowheads="1"/>
            </p:cNvSpPr>
            <p:nvPr/>
          </p:nvSpPr>
          <p:spPr bwMode="auto">
            <a:xfrm>
              <a:off x="855" y="3433"/>
              <a:ext cx="8" cy="22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38" name="Line 227"/>
            <p:cNvSpPr>
              <a:spLocks noChangeShapeType="1"/>
            </p:cNvSpPr>
            <p:nvPr/>
          </p:nvSpPr>
          <p:spPr bwMode="auto">
            <a:xfrm>
              <a:off x="855" y="3433"/>
              <a:ext cx="1" cy="22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9" name="Rectangle 228"/>
            <p:cNvSpPr>
              <a:spLocks noChangeArrowheads="1"/>
            </p:cNvSpPr>
            <p:nvPr/>
          </p:nvSpPr>
          <p:spPr bwMode="auto">
            <a:xfrm>
              <a:off x="855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40" name="Line 229"/>
            <p:cNvSpPr>
              <a:spLocks noChangeShapeType="1"/>
            </p:cNvSpPr>
            <p:nvPr/>
          </p:nvSpPr>
          <p:spPr bwMode="auto">
            <a:xfrm>
              <a:off x="855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1" name="Line 230"/>
            <p:cNvSpPr>
              <a:spLocks noChangeShapeType="1"/>
            </p:cNvSpPr>
            <p:nvPr/>
          </p:nvSpPr>
          <p:spPr bwMode="auto">
            <a:xfrm>
              <a:off x="855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2" name="Rectangle 231"/>
            <p:cNvSpPr>
              <a:spLocks noChangeArrowheads="1"/>
            </p:cNvSpPr>
            <p:nvPr/>
          </p:nvSpPr>
          <p:spPr bwMode="auto">
            <a:xfrm>
              <a:off x="855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43" name="Line 232"/>
            <p:cNvSpPr>
              <a:spLocks noChangeShapeType="1"/>
            </p:cNvSpPr>
            <p:nvPr/>
          </p:nvSpPr>
          <p:spPr bwMode="auto">
            <a:xfrm>
              <a:off x="855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4" name="Line 233"/>
            <p:cNvSpPr>
              <a:spLocks noChangeShapeType="1"/>
            </p:cNvSpPr>
            <p:nvPr/>
          </p:nvSpPr>
          <p:spPr bwMode="auto">
            <a:xfrm>
              <a:off x="855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5" name="Rectangle 234"/>
            <p:cNvSpPr>
              <a:spLocks noChangeArrowheads="1"/>
            </p:cNvSpPr>
            <p:nvPr/>
          </p:nvSpPr>
          <p:spPr bwMode="auto">
            <a:xfrm>
              <a:off x="863" y="3661"/>
              <a:ext cx="356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46" name="Line 235"/>
            <p:cNvSpPr>
              <a:spLocks noChangeShapeType="1"/>
            </p:cNvSpPr>
            <p:nvPr/>
          </p:nvSpPr>
          <p:spPr bwMode="auto">
            <a:xfrm>
              <a:off x="863" y="3661"/>
              <a:ext cx="356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7" name="Rectangle 236"/>
            <p:cNvSpPr>
              <a:spLocks noChangeArrowheads="1"/>
            </p:cNvSpPr>
            <p:nvPr/>
          </p:nvSpPr>
          <p:spPr bwMode="auto">
            <a:xfrm>
              <a:off x="1219" y="3433"/>
              <a:ext cx="8" cy="22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48" name="Line 237"/>
            <p:cNvSpPr>
              <a:spLocks noChangeShapeType="1"/>
            </p:cNvSpPr>
            <p:nvPr/>
          </p:nvSpPr>
          <p:spPr bwMode="auto">
            <a:xfrm>
              <a:off x="1219" y="3433"/>
              <a:ext cx="1" cy="22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9" name="Rectangle 238"/>
            <p:cNvSpPr>
              <a:spLocks noChangeArrowheads="1"/>
            </p:cNvSpPr>
            <p:nvPr/>
          </p:nvSpPr>
          <p:spPr bwMode="auto">
            <a:xfrm>
              <a:off x="1219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50" name="Line 239"/>
            <p:cNvSpPr>
              <a:spLocks noChangeShapeType="1"/>
            </p:cNvSpPr>
            <p:nvPr/>
          </p:nvSpPr>
          <p:spPr bwMode="auto">
            <a:xfrm>
              <a:off x="1219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1" name="Line 240"/>
            <p:cNvSpPr>
              <a:spLocks noChangeShapeType="1"/>
            </p:cNvSpPr>
            <p:nvPr/>
          </p:nvSpPr>
          <p:spPr bwMode="auto">
            <a:xfrm>
              <a:off x="1219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2" name="Rectangle 241"/>
            <p:cNvSpPr>
              <a:spLocks noChangeArrowheads="1"/>
            </p:cNvSpPr>
            <p:nvPr/>
          </p:nvSpPr>
          <p:spPr bwMode="auto">
            <a:xfrm>
              <a:off x="1227" y="3661"/>
              <a:ext cx="365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53" name="Line 242"/>
            <p:cNvSpPr>
              <a:spLocks noChangeShapeType="1"/>
            </p:cNvSpPr>
            <p:nvPr/>
          </p:nvSpPr>
          <p:spPr bwMode="auto">
            <a:xfrm>
              <a:off x="1227" y="3661"/>
              <a:ext cx="365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4" name="Rectangle 243"/>
            <p:cNvSpPr>
              <a:spLocks noChangeArrowheads="1"/>
            </p:cNvSpPr>
            <p:nvPr/>
          </p:nvSpPr>
          <p:spPr bwMode="auto">
            <a:xfrm>
              <a:off x="1600" y="3661"/>
              <a:ext cx="365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55" name="Line 244"/>
            <p:cNvSpPr>
              <a:spLocks noChangeShapeType="1"/>
            </p:cNvSpPr>
            <p:nvPr/>
          </p:nvSpPr>
          <p:spPr bwMode="auto">
            <a:xfrm>
              <a:off x="1600" y="3661"/>
              <a:ext cx="365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6" name="Rectangle 245"/>
            <p:cNvSpPr>
              <a:spLocks noChangeArrowheads="1"/>
            </p:cNvSpPr>
            <p:nvPr/>
          </p:nvSpPr>
          <p:spPr bwMode="auto">
            <a:xfrm>
              <a:off x="1965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57" name="Line 246"/>
            <p:cNvSpPr>
              <a:spLocks noChangeShapeType="1"/>
            </p:cNvSpPr>
            <p:nvPr/>
          </p:nvSpPr>
          <p:spPr bwMode="auto">
            <a:xfrm>
              <a:off x="1965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8" name="Line 247"/>
            <p:cNvSpPr>
              <a:spLocks noChangeShapeType="1"/>
            </p:cNvSpPr>
            <p:nvPr/>
          </p:nvSpPr>
          <p:spPr bwMode="auto">
            <a:xfrm>
              <a:off x="1965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9" name="Rectangle 248"/>
            <p:cNvSpPr>
              <a:spLocks noChangeArrowheads="1"/>
            </p:cNvSpPr>
            <p:nvPr/>
          </p:nvSpPr>
          <p:spPr bwMode="auto">
            <a:xfrm>
              <a:off x="1973" y="3661"/>
              <a:ext cx="364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60" name="Line 249"/>
            <p:cNvSpPr>
              <a:spLocks noChangeShapeType="1"/>
            </p:cNvSpPr>
            <p:nvPr/>
          </p:nvSpPr>
          <p:spPr bwMode="auto">
            <a:xfrm>
              <a:off x="1973" y="3661"/>
              <a:ext cx="364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1" name="Rectangle 250"/>
            <p:cNvSpPr>
              <a:spLocks noChangeArrowheads="1"/>
            </p:cNvSpPr>
            <p:nvPr/>
          </p:nvSpPr>
          <p:spPr bwMode="auto">
            <a:xfrm>
              <a:off x="2345" y="3661"/>
              <a:ext cx="551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62" name="Line 251"/>
            <p:cNvSpPr>
              <a:spLocks noChangeShapeType="1"/>
            </p:cNvSpPr>
            <p:nvPr/>
          </p:nvSpPr>
          <p:spPr bwMode="auto">
            <a:xfrm>
              <a:off x="2345" y="3661"/>
              <a:ext cx="551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3" name="Rectangle 252"/>
            <p:cNvSpPr>
              <a:spLocks noChangeArrowheads="1"/>
            </p:cNvSpPr>
            <p:nvPr/>
          </p:nvSpPr>
          <p:spPr bwMode="auto">
            <a:xfrm>
              <a:off x="2904" y="3661"/>
              <a:ext cx="519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64" name="Line 253"/>
            <p:cNvSpPr>
              <a:spLocks noChangeShapeType="1"/>
            </p:cNvSpPr>
            <p:nvPr/>
          </p:nvSpPr>
          <p:spPr bwMode="auto">
            <a:xfrm>
              <a:off x="2904" y="3661"/>
              <a:ext cx="519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5" name="Rectangle 254"/>
            <p:cNvSpPr>
              <a:spLocks noChangeArrowheads="1"/>
            </p:cNvSpPr>
            <p:nvPr/>
          </p:nvSpPr>
          <p:spPr bwMode="auto">
            <a:xfrm>
              <a:off x="3431" y="3661"/>
              <a:ext cx="51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66" name="Line 255"/>
            <p:cNvSpPr>
              <a:spLocks noChangeShapeType="1"/>
            </p:cNvSpPr>
            <p:nvPr/>
          </p:nvSpPr>
          <p:spPr bwMode="auto">
            <a:xfrm>
              <a:off x="3431" y="3661"/>
              <a:ext cx="51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7" name="Rectangle 256"/>
            <p:cNvSpPr>
              <a:spLocks noChangeArrowheads="1"/>
            </p:cNvSpPr>
            <p:nvPr/>
          </p:nvSpPr>
          <p:spPr bwMode="auto">
            <a:xfrm>
              <a:off x="3949" y="3433"/>
              <a:ext cx="8" cy="22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68" name="Line 257"/>
            <p:cNvSpPr>
              <a:spLocks noChangeShapeType="1"/>
            </p:cNvSpPr>
            <p:nvPr/>
          </p:nvSpPr>
          <p:spPr bwMode="auto">
            <a:xfrm>
              <a:off x="3949" y="3433"/>
              <a:ext cx="1" cy="22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9" name="Rectangle 258"/>
            <p:cNvSpPr>
              <a:spLocks noChangeArrowheads="1"/>
            </p:cNvSpPr>
            <p:nvPr/>
          </p:nvSpPr>
          <p:spPr bwMode="auto">
            <a:xfrm>
              <a:off x="3949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70" name="Line 259"/>
            <p:cNvSpPr>
              <a:spLocks noChangeShapeType="1"/>
            </p:cNvSpPr>
            <p:nvPr/>
          </p:nvSpPr>
          <p:spPr bwMode="auto">
            <a:xfrm>
              <a:off x="3949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1" name="Line 260"/>
            <p:cNvSpPr>
              <a:spLocks noChangeShapeType="1"/>
            </p:cNvSpPr>
            <p:nvPr/>
          </p:nvSpPr>
          <p:spPr bwMode="auto">
            <a:xfrm>
              <a:off x="3949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2" name="Rectangle 261"/>
            <p:cNvSpPr>
              <a:spLocks noChangeArrowheads="1"/>
            </p:cNvSpPr>
            <p:nvPr/>
          </p:nvSpPr>
          <p:spPr bwMode="auto">
            <a:xfrm>
              <a:off x="3957" y="3661"/>
              <a:ext cx="584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73" name="Line 262"/>
            <p:cNvSpPr>
              <a:spLocks noChangeShapeType="1"/>
            </p:cNvSpPr>
            <p:nvPr/>
          </p:nvSpPr>
          <p:spPr bwMode="auto">
            <a:xfrm>
              <a:off x="3957" y="3661"/>
              <a:ext cx="584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4" name="Rectangle 263"/>
            <p:cNvSpPr>
              <a:spLocks noChangeArrowheads="1"/>
            </p:cNvSpPr>
            <p:nvPr/>
          </p:nvSpPr>
          <p:spPr bwMode="auto">
            <a:xfrm>
              <a:off x="4541" y="3433"/>
              <a:ext cx="8" cy="22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75" name="Line 264"/>
            <p:cNvSpPr>
              <a:spLocks noChangeShapeType="1"/>
            </p:cNvSpPr>
            <p:nvPr/>
          </p:nvSpPr>
          <p:spPr bwMode="auto">
            <a:xfrm>
              <a:off x="4541" y="3433"/>
              <a:ext cx="1" cy="22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6" name="Rectangle 265"/>
            <p:cNvSpPr>
              <a:spLocks noChangeArrowheads="1"/>
            </p:cNvSpPr>
            <p:nvPr/>
          </p:nvSpPr>
          <p:spPr bwMode="auto">
            <a:xfrm>
              <a:off x="4541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77" name="Line 266"/>
            <p:cNvSpPr>
              <a:spLocks noChangeShapeType="1"/>
            </p:cNvSpPr>
            <p:nvPr/>
          </p:nvSpPr>
          <p:spPr bwMode="auto">
            <a:xfrm>
              <a:off x="4541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8" name="Line 267"/>
            <p:cNvSpPr>
              <a:spLocks noChangeShapeType="1"/>
            </p:cNvSpPr>
            <p:nvPr/>
          </p:nvSpPr>
          <p:spPr bwMode="auto">
            <a:xfrm>
              <a:off x="4541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9" name="Rectangle 268"/>
            <p:cNvSpPr>
              <a:spLocks noChangeArrowheads="1"/>
            </p:cNvSpPr>
            <p:nvPr/>
          </p:nvSpPr>
          <p:spPr bwMode="auto">
            <a:xfrm>
              <a:off x="4541" y="3661"/>
              <a:ext cx="8" cy="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8380" name="Line 269"/>
            <p:cNvSpPr>
              <a:spLocks noChangeShapeType="1"/>
            </p:cNvSpPr>
            <p:nvPr/>
          </p:nvSpPr>
          <p:spPr bwMode="auto">
            <a:xfrm>
              <a:off x="4541" y="3661"/>
              <a:ext cx="8" cy="1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81" name="Line 270"/>
            <p:cNvSpPr>
              <a:spLocks noChangeShapeType="1"/>
            </p:cNvSpPr>
            <p:nvPr/>
          </p:nvSpPr>
          <p:spPr bwMode="auto">
            <a:xfrm>
              <a:off x="4541" y="3661"/>
              <a:ext cx="1" cy="8"/>
            </a:xfrm>
            <a:prstGeom prst="line">
              <a:avLst/>
            </a:prstGeom>
            <a:noFill/>
            <a:ln w="0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679" name="Object 271"/>
          <p:cNvGraphicFramePr>
            <a:graphicFrameLocks noChangeAspect="1"/>
          </p:cNvGraphicFramePr>
          <p:nvPr/>
        </p:nvGraphicFramePr>
        <p:xfrm>
          <a:off x="457200" y="3048000"/>
          <a:ext cx="22621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8" name="Equation" r:id="rId8" imgW="26822400" imgH="5791200" progId="Equation.DSMT4">
                  <p:embed/>
                </p:oleObj>
              </mc:Choice>
              <mc:Fallback>
                <p:oleObj name="Equation" r:id="rId8" imgW="26822400" imgH="5791200" progId="Equation.DSMT4">
                  <p:embed/>
                  <p:pic>
                    <p:nvPicPr>
                      <p:cNvPr id="0" name="Object 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8000"/>
                        <a:ext cx="22621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80" name="Text Box 272"/>
          <p:cNvSpPr txBox="1">
            <a:spLocks noChangeArrowheads="1"/>
          </p:cNvSpPr>
          <p:nvPr/>
        </p:nvSpPr>
        <p:spPr bwMode="auto">
          <a:xfrm>
            <a:off x="2895600" y="304800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此时单纯形表</a:t>
            </a:r>
          </a:p>
        </p:txBody>
      </p:sp>
      <p:sp>
        <p:nvSpPr>
          <p:cNvPr id="17681" name="Oval 273"/>
          <p:cNvSpPr>
            <a:spLocks noChangeArrowheads="1"/>
          </p:cNvSpPr>
          <p:nvPr/>
        </p:nvSpPr>
        <p:spPr bwMode="auto">
          <a:xfrm>
            <a:off x="6156325" y="4868863"/>
            <a:ext cx="863600" cy="431800"/>
          </a:xfrm>
          <a:prstGeom prst="ellipse">
            <a:avLst/>
          </a:prstGeom>
          <a:noFill/>
          <a:ln w="28575">
            <a:solidFill>
              <a:srgbClr val="FF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utoUpdateAnimBg="0"/>
      <p:bldP spid="17414" grpId="0" autoUpdateAnimBg="0"/>
      <p:bldP spid="17415" grpId="0" autoUpdateAnimBg="0"/>
      <p:bldP spid="17680" grpId="0" autoUpdateAnimBg="0"/>
      <p:bldP spid="1768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灯片编号占位符 6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CB5024A-E03C-414C-9DAA-4B985DB70F49}" type="slidenum">
              <a:rPr lang="en-US" altLang="zh-CN" sz="1400"/>
              <a:t>69</a:t>
            </a:fld>
            <a:endParaRPr lang="en-US" altLang="zh-CN" sz="1400"/>
          </a:p>
        </p:txBody>
      </p:sp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改变约束矩阵</a:t>
            </a:r>
            <a:r>
              <a:rPr lang="en-US" altLang="zh-CN" sz="4000" b="1" dirty="0">
                <a:solidFill>
                  <a:srgbClr val="FF0000"/>
                </a:solidFill>
                <a:ea typeface="隶书" panose="02010509060101010101" pitchFamily="49" charset="-122"/>
              </a:rPr>
              <a:t>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977900"/>
            <a:ext cx="3959225" cy="5762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400" dirty="0"/>
              <a:t>有如下两种情形</a:t>
            </a:r>
          </a:p>
        </p:txBody>
      </p:sp>
      <p:graphicFrame>
        <p:nvGraphicFramePr>
          <p:cNvPr id="30724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33587804"/>
              </p:ext>
            </p:extLst>
          </p:nvPr>
        </p:nvGraphicFramePr>
        <p:xfrm>
          <a:off x="1099335" y="1489253"/>
          <a:ext cx="24479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3" name="Equation" r:id="rId3" imgW="1180465" imgH="241300" progId="Equation.DSMT4">
                  <p:embed/>
                </p:oleObj>
              </mc:Choice>
              <mc:Fallback>
                <p:oleObj name="Equation" r:id="rId3" imgW="1180465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335" y="1489253"/>
                        <a:ext cx="2447925" cy="5000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828675" y="3815556"/>
          <a:ext cx="7197725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4" name="Equation" r:id="rId5" imgW="3530600" imgH="1016000" progId="Equation.DSMT4">
                  <p:embed/>
                </p:oleObj>
              </mc:Choice>
              <mc:Fallback>
                <p:oleObj name="Equation" r:id="rId5" imgW="3530600" imgH="1016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3815556"/>
                        <a:ext cx="7197725" cy="20637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/>
        </p:nvGraphicFramePr>
        <p:xfrm>
          <a:off x="796925" y="2096294"/>
          <a:ext cx="695325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65" name="Equation" r:id="rId7" imgW="3454400" imgH="939800" progId="Equation.DSMT4">
                  <p:embed/>
                </p:oleObj>
              </mc:Choice>
              <mc:Fallback>
                <p:oleObj name="Equation" r:id="rId7" imgW="3454400" imgH="939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2096294"/>
                        <a:ext cx="695325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4125" y="2366108"/>
            <a:ext cx="8135938" cy="64770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此时情况较复杂</a:t>
            </a:r>
          </a:p>
        </p:txBody>
      </p:sp>
      <p:graphicFrame>
        <p:nvGraphicFramePr>
          <p:cNvPr id="1003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986148"/>
              </p:ext>
            </p:extLst>
          </p:nvPr>
        </p:nvGraphicFramePr>
        <p:xfrm>
          <a:off x="581329" y="1115086"/>
          <a:ext cx="28797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18" name="Equation" r:id="rId3" imgW="1040765" imgH="241300" progId="Equation.DSMT4">
                  <p:embed/>
                </p:oleObj>
              </mc:Choice>
              <mc:Fallback>
                <p:oleObj name="Equation" r:id="rId3" imgW="1040765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29" y="1115086"/>
                        <a:ext cx="2879725" cy="666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加入新的约束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908050"/>
            <a:ext cx="8280400" cy="433388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设原有约束为</a:t>
            </a:r>
            <a:r>
              <a:rPr lang="en-US" altLang="zh-CN" sz="2400" b="1" i="1">
                <a:solidFill>
                  <a:srgbClr val="3333CC"/>
                </a:solidFill>
              </a:rPr>
              <a:t>Ax=b</a:t>
            </a:r>
            <a:r>
              <a:rPr lang="zh-CN" altLang="en-US" sz="2400"/>
              <a:t>，在此基础上，我们增加一个新的约束</a:t>
            </a:r>
          </a:p>
        </p:txBody>
      </p:sp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2843213" y="1412875"/>
          <a:ext cx="201612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5" name="Equation" r:id="rId3" imgW="774065" imgH="241300" progId="Equation.DSMT4">
                  <p:embed/>
                </p:oleObj>
              </mc:Choice>
              <mc:Fallback>
                <p:oleObj name="Equation" r:id="rId3" imgW="774065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412875"/>
                        <a:ext cx="201612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2484438" y="4221163"/>
          <a:ext cx="28813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6" name="Equation" r:id="rId5" imgW="1548765" imgH="635000" progId="Equation.DSMT4">
                  <p:embed/>
                </p:oleObj>
              </mc:Choice>
              <mc:Fallback>
                <p:oleObj name="Equation" r:id="rId5" imgW="1548765" imgH="635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221163"/>
                        <a:ext cx="28813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358775" y="2133600"/>
          <a:ext cx="81740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7" name="Equation" r:id="rId7" imgW="3886200" imgH="215900" progId="Equation.DSMT4">
                  <p:embed/>
                </p:oleObj>
              </mc:Choice>
              <mc:Fallback>
                <p:oleObj name="Equation" r:id="rId7" imgW="3886200" imgH="215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2133600"/>
                        <a:ext cx="81740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95288" y="2708275"/>
            <a:ext cx="82089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(2)</a:t>
            </a:r>
            <a:r>
              <a:rPr lang="zh-CN" altLang="en-US" sz="2400"/>
              <a:t>若原问题的最优解不满足新的约束，则需要把新的约束条件增加到原来的最优表中再解新问题。</a:t>
            </a:r>
            <a:endParaRPr lang="zh-CN" altLang="en-US" sz="2400" b="1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611188" y="3644900"/>
            <a:ext cx="434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设原来的最优基为</a:t>
            </a:r>
            <a:r>
              <a:rPr lang="en-US" altLang="zh-CN" sz="2400"/>
              <a:t>B</a:t>
            </a:r>
            <a:r>
              <a:rPr lang="zh-CN" altLang="en-US" sz="2400"/>
              <a:t>。最优解为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849" grpId="0"/>
      <p:bldP spid="3585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468313" y="925513"/>
          <a:ext cx="7920037" cy="279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2" name="Equation" r:id="rId3" imgW="3530600" imgH="1244600" progId="Equation.DSMT4">
                  <p:embed/>
                </p:oleObj>
              </mc:Choice>
              <mc:Fallback>
                <p:oleObj name="Equation" r:id="rId3" imgW="3530600" imgH="1244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25513"/>
                        <a:ext cx="7920037" cy="279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342079"/>
              </p:ext>
            </p:extLst>
          </p:nvPr>
        </p:nvGraphicFramePr>
        <p:xfrm>
          <a:off x="427038" y="3949700"/>
          <a:ext cx="7785100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03" name="Equation" r:id="rId5" imgW="3085920" imgH="736560" progId="Equation.DSMT4">
                  <p:embed/>
                </p:oleObj>
              </mc:Choice>
              <mc:Fallback>
                <p:oleObj name="Equation" r:id="rId5" imgW="3085920" imgH="736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3949700"/>
                        <a:ext cx="7785100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468313" y="958850"/>
          <a:ext cx="7759700" cy="542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2" name="Equation" r:id="rId3" imgW="3924300" imgH="2743200" progId="Equation.DSMT4">
                  <p:embed/>
                </p:oleObj>
              </mc:Choice>
              <mc:Fallback>
                <p:oleObj name="Equation" r:id="rId3" imgW="3924300" imgH="274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58850"/>
                        <a:ext cx="7759700" cy="542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539750" y="925513"/>
          <a:ext cx="7435850" cy="330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0" name="Equation" r:id="rId3" imgW="3314700" imgH="1473200" progId="Equation.DSMT4">
                  <p:embed/>
                </p:oleObj>
              </mc:Choice>
              <mc:Fallback>
                <p:oleObj name="Equation" r:id="rId3" imgW="3314700" imgH="147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25513"/>
                        <a:ext cx="7435850" cy="330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323850" y="4381500"/>
          <a:ext cx="8208963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1" name="Equation" r:id="rId5" imgW="4241800" imgH="698500" progId="Equation.DSMT4">
                  <p:embed/>
                </p:oleObj>
              </mc:Choice>
              <mc:Fallback>
                <p:oleObj name="Equation" r:id="rId5" imgW="4241800" imgH="698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381500"/>
                        <a:ext cx="8208963" cy="1350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灯片编号占位符 3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1FD4D73-8775-41F6-82B5-5F271071E01A}" type="slidenum">
              <a:rPr lang="en-US" altLang="zh-CN" sz="1400"/>
              <a:t>75</a:t>
            </a:fld>
            <a:endParaRPr lang="en-US" altLang="zh-CN" sz="140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06501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909638"/>
          <a:ext cx="8064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2" name="Equation" r:id="rId3" imgW="4191000" imgH="215900" progId="Equation.DSMT4">
                  <p:embed/>
                </p:oleObj>
              </mc:Choice>
              <mc:Fallback>
                <p:oleObj name="Equation" r:id="rId3" imgW="4191000" imgH="215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09638"/>
                        <a:ext cx="80645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439738" y="1268413"/>
            <a:ext cx="6005512" cy="2051050"/>
            <a:chOff x="639" y="709"/>
            <a:chExt cx="3783" cy="1292"/>
          </a:xfrm>
        </p:grpSpPr>
        <p:graphicFrame>
          <p:nvGraphicFramePr>
            <p:cNvPr id="10651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0672858"/>
                </p:ext>
              </p:extLst>
            </p:nvPr>
          </p:nvGraphicFramePr>
          <p:xfrm>
            <a:off x="639" y="709"/>
            <a:ext cx="3769" cy="1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83" name="Equation" r:id="rId5" imgW="2666880" imgH="914400" progId="Equation.DSMT4">
                    <p:embed/>
                  </p:oleObj>
                </mc:Choice>
                <mc:Fallback>
                  <p:oleObj name="Equation" r:id="rId5" imgW="2666880" imgH="9144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" y="709"/>
                          <a:ext cx="3769" cy="1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15" name="Rectangle 6"/>
            <p:cNvSpPr>
              <a:spLocks noChangeArrowheads="1"/>
            </p:cNvSpPr>
            <p:nvPr/>
          </p:nvSpPr>
          <p:spPr bwMode="auto">
            <a:xfrm>
              <a:off x="1338" y="1026"/>
              <a:ext cx="3084" cy="9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6516" name="Line 7"/>
            <p:cNvSpPr>
              <a:spLocks noChangeShapeType="1"/>
            </p:cNvSpPr>
            <p:nvPr/>
          </p:nvSpPr>
          <p:spPr bwMode="auto">
            <a:xfrm>
              <a:off x="1338" y="1706"/>
              <a:ext cx="30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17" name="Line 8"/>
            <p:cNvSpPr>
              <a:spLocks noChangeShapeType="1"/>
            </p:cNvSpPr>
            <p:nvPr/>
          </p:nvSpPr>
          <p:spPr bwMode="auto">
            <a:xfrm>
              <a:off x="3742" y="1026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6"/>
          <p:cNvGrpSpPr/>
          <p:nvPr/>
        </p:nvGrpSpPr>
        <p:grpSpPr bwMode="auto">
          <a:xfrm>
            <a:off x="326881" y="4426841"/>
            <a:ext cx="7519988" cy="2051050"/>
            <a:chOff x="-88" y="2782"/>
            <a:chExt cx="4737" cy="1292"/>
          </a:xfrm>
        </p:grpSpPr>
        <p:graphicFrame>
          <p:nvGraphicFramePr>
            <p:cNvPr id="10650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2951760"/>
                </p:ext>
              </p:extLst>
            </p:nvPr>
          </p:nvGraphicFramePr>
          <p:xfrm>
            <a:off x="-88" y="2782"/>
            <a:ext cx="4558" cy="1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84" name="Equation" r:id="rId7" imgW="3225600" imgH="914400" progId="Equation.DSMT4">
                    <p:embed/>
                  </p:oleObj>
                </mc:Choice>
                <mc:Fallback>
                  <p:oleObj name="Equation" r:id="rId7" imgW="3225600" imgH="914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8" y="2782"/>
                          <a:ext cx="4558" cy="1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6510" name="Group 15"/>
            <p:cNvGrpSpPr/>
            <p:nvPr/>
          </p:nvGrpSpPr>
          <p:grpSpPr bwMode="auto">
            <a:xfrm>
              <a:off x="612" y="3067"/>
              <a:ext cx="4037" cy="998"/>
              <a:chOff x="612" y="3067"/>
              <a:chExt cx="4037" cy="998"/>
            </a:xfrm>
          </p:grpSpPr>
          <p:sp>
            <p:nvSpPr>
              <p:cNvPr id="106511" name="Rectangle 12"/>
              <p:cNvSpPr>
                <a:spLocks noChangeArrowheads="1"/>
              </p:cNvSpPr>
              <p:nvPr/>
            </p:nvSpPr>
            <p:spPr bwMode="auto">
              <a:xfrm>
                <a:off x="612" y="3067"/>
                <a:ext cx="4037" cy="99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06512" name="Line 13"/>
              <p:cNvSpPr>
                <a:spLocks noChangeShapeType="1"/>
              </p:cNvSpPr>
              <p:nvPr/>
            </p:nvSpPr>
            <p:spPr bwMode="auto">
              <a:xfrm>
                <a:off x="612" y="3748"/>
                <a:ext cx="40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13" name="Line 14"/>
              <p:cNvSpPr>
                <a:spLocks noChangeShapeType="1"/>
              </p:cNvSpPr>
              <p:nvPr/>
            </p:nvSpPr>
            <p:spPr bwMode="auto">
              <a:xfrm>
                <a:off x="3016" y="3067"/>
                <a:ext cx="0" cy="9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20"/>
          <p:cNvGrpSpPr/>
          <p:nvPr/>
        </p:nvGrpSpPr>
        <p:grpSpPr bwMode="auto">
          <a:xfrm>
            <a:off x="2093110" y="3315984"/>
            <a:ext cx="6611938" cy="1223963"/>
            <a:chOff x="1202" y="1933"/>
            <a:chExt cx="4165" cy="771"/>
          </a:xfrm>
        </p:grpSpPr>
        <p:graphicFrame>
          <p:nvGraphicFramePr>
            <p:cNvPr id="10650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4581824"/>
                </p:ext>
              </p:extLst>
            </p:nvPr>
          </p:nvGraphicFramePr>
          <p:xfrm>
            <a:off x="1392" y="2024"/>
            <a:ext cx="3975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85" name="Equation" r:id="rId9" imgW="3403440" imgH="482400" progId="Equation.DSMT4">
                    <p:embed/>
                  </p:oleObj>
                </mc:Choice>
                <mc:Fallback>
                  <p:oleObj name="Equation" r:id="rId9" imgW="3403440" imgH="4824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24"/>
                          <a:ext cx="3975" cy="563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07" name="Line 17"/>
            <p:cNvSpPr>
              <a:spLocks noChangeShapeType="1"/>
            </p:cNvSpPr>
            <p:nvPr/>
          </p:nvSpPr>
          <p:spPr bwMode="auto">
            <a:xfrm>
              <a:off x="1202" y="1933"/>
              <a:ext cx="0" cy="771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08" name="Line 19"/>
            <p:cNvSpPr>
              <a:spLocks noChangeShapeType="1"/>
            </p:cNvSpPr>
            <p:nvPr/>
          </p:nvSpPr>
          <p:spPr bwMode="auto">
            <a:xfrm>
              <a:off x="1202" y="2341"/>
              <a:ext cx="2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05824"/>
              </p:ext>
            </p:extLst>
          </p:nvPr>
        </p:nvGraphicFramePr>
        <p:xfrm>
          <a:off x="250825" y="981075"/>
          <a:ext cx="2632075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06" name="Equation" r:id="rId3" imgW="1244520" imgH="1396800" progId="Equation.DSMT4">
                  <p:embed/>
                </p:oleObj>
              </mc:Choice>
              <mc:Fallback>
                <p:oleObj name="Equation" r:id="rId3" imgW="1244520" imgH="139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81075"/>
                        <a:ext cx="2632075" cy="295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9940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391025" y="981075"/>
          <a:ext cx="47529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07" name="Equation" r:id="rId5" imgW="2273300" imgH="457200" progId="Equation.DSMT4">
                  <p:embed/>
                </p:oleObj>
              </mc:Choice>
              <mc:Fallback>
                <p:oleObj name="Equation" r:id="rId5" imgW="22733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981075"/>
                        <a:ext cx="47529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319588" y="2060575"/>
          <a:ext cx="482441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08" name="Equation" r:id="rId7" imgW="2336800" imgH="457200" progId="Equation.DSMT4">
                  <p:embed/>
                </p:oleObj>
              </mc:Choice>
              <mc:Fallback>
                <p:oleObj name="Equation" r:id="rId7" imgW="23368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2060575"/>
                        <a:ext cx="4824412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/>
          <p:nvPr/>
        </p:nvGrpSpPr>
        <p:grpSpPr bwMode="auto">
          <a:xfrm>
            <a:off x="2771775" y="3357563"/>
            <a:ext cx="5919788" cy="2701925"/>
            <a:chOff x="1471" y="2115"/>
            <a:chExt cx="3729" cy="1702"/>
          </a:xfrm>
        </p:grpSpPr>
        <p:graphicFrame>
          <p:nvGraphicFramePr>
            <p:cNvPr id="107529" name="Object 3"/>
            <p:cNvGraphicFramePr>
              <a:graphicFrameLocks noChangeAspect="1"/>
            </p:cNvGraphicFramePr>
            <p:nvPr/>
          </p:nvGraphicFramePr>
          <p:xfrm>
            <a:off x="1471" y="2115"/>
            <a:ext cx="3729" cy="1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09" name="Equation" r:id="rId9" imgW="2794000" imgH="1295400" progId="Equation.DSMT4">
                    <p:embed/>
                  </p:oleObj>
                </mc:Choice>
                <mc:Fallback>
                  <p:oleObj name="Equation" r:id="rId9" imgW="2794000" imgH="12954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1" y="2115"/>
                          <a:ext cx="3729" cy="1702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0" name="Rectangle 9"/>
            <p:cNvSpPr>
              <a:spLocks noChangeArrowheads="1"/>
            </p:cNvSpPr>
            <p:nvPr/>
          </p:nvSpPr>
          <p:spPr bwMode="auto">
            <a:xfrm>
              <a:off x="1701" y="2425"/>
              <a:ext cx="3497" cy="13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7531" name="Line 10"/>
            <p:cNvSpPr>
              <a:spLocks noChangeShapeType="1"/>
            </p:cNvSpPr>
            <p:nvPr/>
          </p:nvSpPr>
          <p:spPr bwMode="auto">
            <a:xfrm>
              <a:off x="1701" y="3521"/>
              <a:ext cx="34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2" name="Line 11"/>
            <p:cNvSpPr>
              <a:spLocks noChangeShapeType="1"/>
            </p:cNvSpPr>
            <p:nvPr/>
          </p:nvSpPr>
          <p:spPr bwMode="auto">
            <a:xfrm flipH="1">
              <a:off x="4649" y="2425"/>
              <a:ext cx="8" cy="1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灯片编号占位符 3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600E3DC-BBEA-4D07-8A4B-4A121536B65C}" type="slidenum">
              <a:rPr lang="en-US" altLang="zh-CN" sz="1400"/>
              <a:t>77</a:t>
            </a:fld>
            <a:endParaRPr lang="en-US" altLang="zh-CN" sz="1400"/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143353"/>
              </p:ext>
            </p:extLst>
          </p:nvPr>
        </p:nvGraphicFramePr>
        <p:xfrm>
          <a:off x="539750" y="908050"/>
          <a:ext cx="7977188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2" name="Equation" r:id="rId3" imgW="3708360" imgH="698400" progId="Equation.DSMT4">
                  <p:embed/>
                </p:oleObj>
              </mc:Choice>
              <mc:Fallback>
                <p:oleObj name="Equation" r:id="rId3" imgW="3708360" imgH="69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08050"/>
                        <a:ext cx="7977188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1042988" y="2420938"/>
            <a:ext cx="6697662" cy="3529012"/>
            <a:chOff x="657" y="1434"/>
            <a:chExt cx="4219" cy="2223"/>
          </a:xfrm>
        </p:grpSpPr>
        <p:graphicFrame>
          <p:nvGraphicFramePr>
            <p:cNvPr id="108552" name="Object 4"/>
            <p:cNvGraphicFramePr>
              <a:graphicFrameLocks noChangeAspect="1"/>
            </p:cNvGraphicFramePr>
            <p:nvPr/>
          </p:nvGraphicFramePr>
          <p:xfrm>
            <a:off x="657" y="1434"/>
            <a:ext cx="4218" cy="2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23" name="Equation" r:id="rId5" imgW="2933700" imgH="1524000" progId="Equation.DSMT4">
                    <p:embed/>
                  </p:oleObj>
                </mc:Choice>
                <mc:Fallback>
                  <p:oleObj name="Equation" r:id="rId5" imgW="2933700" imgH="1524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434"/>
                          <a:ext cx="4218" cy="2191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553" name="Rectangle 6"/>
            <p:cNvSpPr>
              <a:spLocks noChangeArrowheads="1"/>
            </p:cNvSpPr>
            <p:nvPr/>
          </p:nvSpPr>
          <p:spPr bwMode="auto">
            <a:xfrm>
              <a:off x="1020" y="1752"/>
              <a:ext cx="3856" cy="190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8554" name="Line 7"/>
            <p:cNvSpPr>
              <a:spLocks noChangeShapeType="1"/>
            </p:cNvSpPr>
            <p:nvPr/>
          </p:nvSpPr>
          <p:spPr bwMode="auto">
            <a:xfrm>
              <a:off x="1020" y="3294"/>
              <a:ext cx="38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55" name="Line 8"/>
            <p:cNvSpPr>
              <a:spLocks noChangeShapeType="1"/>
            </p:cNvSpPr>
            <p:nvPr/>
          </p:nvSpPr>
          <p:spPr bwMode="auto">
            <a:xfrm>
              <a:off x="4286" y="1752"/>
              <a:ext cx="0" cy="19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灯片编号占位符 3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A97AA42-BF1E-43D8-BF59-C7156BC77B9C}" type="slidenum">
              <a:rPr lang="en-US" altLang="zh-CN" sz="1400"/>
              <a:t>78</a:t>
            </a:fld>
            <a:endParaRPr lang="en-US" altLang="zh-CN" sz="1400"/>
          </a:p>
        </p:txBody>
      </p:sp>
      <p:sp>
        <p:nvSpPr>
          <p:cNvPr id="40972" name="Oval 12"/>
          <p:cNvSpPr>
            <a:spLocks noChangeArrowheads="1"/>
          </p:cNvSpPr>
          <p:nvPr/>
        </p:nvSpPr>
        <p:spPr bwMode="auto">
          <a:xfrm>
            <a:off x="5364163" y="3357563"/>
            <a:ext cx="720725" cy="503237"/>
          </a:xfrm>
          <a:prstGeom prst="ellipse">
            <a:avLst/>
          </a:prstGeom>
          <a:solidFill>
            <a:srgbClr val="CCFFFF"/>
          </a:solidFill>
          <a:ln w="28575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2" name="Group 9"/>
          <p:cNvGrpSpPr/>
          <p:nvPr/>
        </p:nvGrpSpPr>
        <p:grpSpPr bwMode="auto">
          <a:xfrm>
            <a:off x="1042988" y="885825"/>
            <a:ext cx="6913562" cy="3479800"/>
            <a:chOff x="657" y="572"/>
            <a:chExt cx="4355" cy="2192"/>
          </a:xfrm>
        </p:grpSpPr>
        <p:graphicFrame>
          <p:nvGraphicFramePr>
            <p:cNvPr id="109578" name="Object 4"/>
            <p:cNvGraphicFramePr>
              <a:graphicFrameLocks noChangeAspect="1"/>
            </p:cNvGraphicFramePr>
            <p:nvPr/>
          </p:nvGraphicFramePr>
          <p:xfrm>
            <a:off x="657" y="572"/>
            <a:ext cx="4219" cy="2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92" name="Equation" r:id="rId3" imgW="2933700" imgH="1524000" progId="Equation.DSMT4">
                    <p:embed/>
                  </p:oleObj>
                </mc:Choice>
                <mc:Fallback>
                  <p:oleObj name="Equation" r:id="rId3" imgW="2933700" imgH="1524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572"/>
                          <a:ext cx="4219" cy="2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79" name="Rectangle 6"/>
            <p:cNvSpPr>
              <a:spLocks noChangeArrowheads="1"/>
            </p:cNvSpPr>
            <p:nvPr/>
          </p:nvSpPr>
          <p:spPr bwMode="auto">
            <a:xfrm>
              <a:off x="975" y="890"/>
              <a:ext cx="4037" cy="18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9580" name="Line 7"/>
            <p:cNvSpPr>
              <a:spLocks noChangeShapeType="1"/>
            </p:cNvSpPr>
            <p:nvPr/>
          </p:nvSpPr>
          <p:spPr bwMode="auto">
            <a:xfrm>
              <a:off x="975" y="2432"/>
              <a:ext cx="4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81" name="Line 8"/>
            <p:cNvSpPr>
              <a:spLocks noChangeShapeType="1"/>
            </p:cNvSpPr>
            <p:nvPr/>
          </p:nvSpPr>
          <p:spPr bwMode="auto">
            <a:xfrm>
              <a:off x="4332" y="890"/>
              <a:ext cx="0" cy="18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70" name="AutoShape 10"/>
          <p:cNvSpPr>
            <a:spLocks noChangeArrowheads="1"/>
          </p:cNvSpPr>
          <p:nvPr/>
        </p:nvSpPr>
        <p:spPr bwMode="auto">
          <a:xfrm>
            <a:off x="7667625" y="3357563"/>
            <a:ext cx="865188" cy="503237"/>
          </a:xfrm>
          <a:prstGeom prst="leftArrow">
            <a:avLst>
              <a:gd name="adj1" fmla="val 50000"/>
              <a:gd name="adj2" fmla="val 429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0971" name="AutoShape 11"/>
          <p:cNvSpPr>
            <a:spLocks noChangeArrowheads="1"/>
          </p:cNvSpPr>
          <p:nvPr/>
        </p:nvSpPr>
        <p:spPr bwMode="auto">
          <a:xfrm>
            <a:off x="5581650" y="4365625"/>
            <a:ext cx="358775" cy="647700"/>
          </a:xfrm>
          <a:prstGeom prst="upArrow">
            <a:avLst>
              <a:gd name="adj1" fmla="val 50000"/>
              <a:gd name="adj2" fmla="val 451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2" grpId="0" animBg="1"/>
      <p:bldP spid="40970" grpId="0" animBg="1"/>
      <p:bldP spid="4097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灯片编号占位符 3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4D6DB97-FBBD-49AE-921B-316E382E8F47}" type="slidenum">
              <a:rPr lang="en-US" altLang="zh-CN" sz="1400"/>
              <a:t>79</a:t>
            </a:fld>
            <a:endParaRPr lang="en-US" altLang="zh-CN" sz="1400"/>
          </a:p>
        </p:txBody>
      </p:sp>
      <p:grpSp>
        <p:nvGrpSpPr>
          <p:cNvPr id="110597" name="Group 9"/>
          <p:cNvGrpSpPr/>
          <p:nvPr/>
        </p:nvGrpSpPr>
        <p:grpSpPr bwMode="auto">
          <a:xfrm>
            <a:off x="1042988" y="836613"/>
            <a:ext cx="6696075" cy="4032250"/>
            <a:chOff x="703" y="618"/>
            <a:chExt cx="4218" cy="2540"/>
          </a:xfrm>
        </p:grpSpPr>
        <p:graphicFrame>
          <p:nvGraphicFramePr>
            <p:cNvPr id="110599" name="Object 4"/>
            <p:cNvGraphicFramePr>
              <a:graphicFrameLocks noChangeAspect="1"/>
            </p:cNvGraphicFramePr>
            <p:nvPr/>
          </p:nvGraphicFramePr>
          <p:xfrm>
            <a:off x="703" y="618"/>
            <a:ext cx="4083" cy="2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16" name="Equation" r:id="rId3" imgW="2933700" imgH="1778000" progId="Equation.DSMT4">
                    <p:embed/>
                  </p:oleObj>
                </mc:Choice>
                <mc:Fallback>
                  <p:oleObj name="Equation" r:id="rId3" imgW="2933700" imgH="1778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618"/>
                          <a:ext cx="4083" cy="2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00" name="Rectangle 6"/>
            <p:cNvSpPr>
              <a:spLocks noChangeArrowheads="1"/>
            </p:cNvSpPr>
            <p:nvPr/>
          </p:nvSpPr>
          <p:spPr bwMode="auto">
            <a:xfrm>
              <a:off x="1020" y="935"/>
              <a:ext cx="3901" cy="2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10601" name="Line 7"/>
            <p:cNvSpPr>
              <a:spLocks noChangeShapeType="1"/>
            </p:cNvSpPr>
            <p:nvPr/>
          </p:nvSpPr>
          <p:spPr bwMode="auto">
            <a:xfrm>
              <a:off x="1020" y="2659"/>
              <a:ext cx="39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02" name="Line 8"/>
            <p:cNvSpPr>
              <a:spLocks noChangeShapeType="1"/>
            </p:cNvSpPr>
            <p:nvPr/>
          </p:nvSpPr>
          <p:spPr bwMode="auto">
            <a:xfrm>
              <a:off x="4241" y="935"/>
              <a:ext cx="0" cy="2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431514" y="994489"/>
            <a:ext cx="7304926" cy="86513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）新增决策变量</a:t>
            </a:r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21" name="Group 3"/>
          <p:cNvGrpSpPr/>
          <p:nvPr/>
        </p:nvGrpSpPr>
        <p:grpSpPr bwMode="auto">
          <a:xfrm>
            <a:off x="3278188" y="4364038"/>
            <a:ext cx="1066800" cy="1104900"/>
            <a:chOff x="1565" y="2598"/>
            <a:chExt cx="672" cy="696"/>
          </a:xfrm>
        </p:grpSpPr>
        <p:sp>
          <p:nvSpPr>
            <p:cNvPr id="111626" name="Text Box 4"/>
            <p:cNvSpPr txBox="1">
              <a:spLocks noChangeArrowheads="1"/>
            </p:cNvSpPr>
            <p:nvPr/>
          </p:nvSpPr>
          <p:spPr bwMode="auto">
            <a:xfrm>
              <a:off x="1565" y="2598"/>
              <a:ext cx="5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111627" name="Text Box 5"/>
            <p:cNvSpPr txBox="1">
              <a:spLocks noChangeArrowheads="1"/>
            </p:cNvSpPr>
            <p:nvPr/>
          </p:nvSpPr>
          <p:spPr bwMode="auto">
            <a:xfrm>
              <a:off x="1565" y="3006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/>
            </a:p>
          </p:txBody>
        </p:sp>
      </p:grp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900113" y="3141663"/>
            <a:ext cx="7632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当原问题只有个别数据改变</a:t>
            </a:r>
            <a:r>
              <a:rPr lang="en-US" altLang="zh-CN" sz="2400" dirty="0"/>
              <a:t>, </a:t>
            </a:r>
            <a:r>
              <a:rPr lang="zh-CN" altLang="en-US" sz="2400" dirty="0"/>
              <a:t>特别是变化幅度不大时</a:t>
            </a:r>
            <a:r>
              <a:rPr lang="en-US" altLang="zh-CN" sz="2400" dirty="0"/>
              <a:t>,  </a:t>
            </a:r>
            <a:r>
              <a:rPr lang="zh-CN" altLang="en-US" sz="2400" dirty="0"/>
              <a:t>用灵敏度分析比对新问题重新求解简单</a:t>
            </a:r>
            <a:r>
              <a:rPr lang="en-US" altLang="zh-CN" sz="2400" dirty="0"/>
              <a:t>, 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900113" y="1316955"/>
            <a:ext cx="71072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在现实中市场因素</a:t>
            </a:r>
            <a:r>
              <a:rPr lang="en-US" altLang="zh-CN" sz="2400"/>
              <a:t>(</a:t>
            </a:r>
            <a:r>
              <a:rPr lang="zh-CN" altLang="en-US" sz="2400"/>
              <a:t>价值系数</a:t>
            </a:r>
            <a:r>
              <a:rPr lang="en-US" altLang="zh-CN" sz="2400"/>
              <a:t>) , </a:t>
            </a:r>
            <a:r>
              <a:rPr lang="zh-CN" altLang="en-US" sz="2400"/>
              <a:t>生产资料</a:t>
            </a:r>
            <a:r>
              <a:rPr lang="en-US" altLang="zh-CN" sz="2400"/>
              <a:t>(</a:t>
            </a:r>
            <a:r>
              <a:rPr lang="zh-CN" altLang="en-US" sz="2400"/>
              <a:t>右端向量</a:t>
            </a:r>
            <a:r>
              <a:rPr lang="en-US" altLang="zh-CN" sz="2400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生产技术</a:t>
            </a:r>
            <a:r>
              <a:rPr lang="en-US" altLang="zh-CN" sz="2400"/>
              <a:t>(</a:t>
            </a:r>
            <a:r>
              <a:rPr lang="zh-CN" altLang="en-US" sz="2400"/>
              <a:t>矩阵元素</a:t>
            </a:r>
            <a:r>
              <a:rPr lang="en-US" altLang="zh-CN" sz="2400"/>
              <a:t>)</a:t>
            </a:r>
            <a:r>
              <a:rPr lang="zh-CN" altLang="en-US" sz="2400"/>
              <a:t>随时在变化</a:t>
            </a:r>
            <a:r>
              <a:rPr lang="en-US" altLang="zh-CN" sz="2400"/>
              <a:t>, </a:t>
            </a:r>
            <a:r>
              <a:rPr lang="zh-CN" altLang="en-US" sz="2400"/>
              <a:t>而参数的变化必然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引起模型的变化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总结</a:t>
            </a:r>
            <a:r>
              <a:rPr lang="en-US" altLang="zh-CN" dirty="0">
                <a:solidFill>
                  <a:srgbClr val="0000FF"/>
                </a:solidFill>
              </a:rPr>
              <a:t>: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4NTIyNDdkYTEzYTZiOThmYTEzNjBjNDhhYTAzOTQifQ=="/>
</p:tagLst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3084</Words>
  <Application>Microsoft Office PowerPoint</Application>
  <PresentationFormat>全屏显示(4:3)</PresentationFormat>
  <Paragraphs>568</Paragraphs>
  <Slides>81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81</vt:i4>
      </vt:variant>
    </vt:vector>
  </HeadingPairs>
  <TitlesOfParts>
    <vt:vector size="109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Arial Narrow</vt:lpstr>
      <vt:lpstr>Calibri</vt:lpstr>
      <vt:lpstr>Calibri Light</vt:lpstr>
      <vt:lpstr>Cambria Math</vt:lpstr>
      <vt:lpstr>Euclid Symbol</vt:lpstr>
      <vt:lpstr>Garamond</vt:lpstr>
      <vt:lpstr>Mistral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MathType 7.0 Equation</vt:lpstr>
      <vt:lpstr>Equation</vt:lpstr>
      <vt:lpstr>Equation.3</vt:lpstr>
      <vt:lpstr>文档</vt:lpstr>
      <vt:lpstr>PowerPoint 演示文稿</vt:lpstr>
      <vt:lpstr>第四章 对偶理论与灵敏度分析</vt:lpstr>
      <vt:lpstr>对偶问题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对偶单纯形法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初始对偶可行的基本解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灵敏度分析</vt:lpstr>
      <vt:lpstr>PowerPoint 演示文稿</vt:lpstr>
      <vt:lpstr>PowerPoint 演示文稿</vt:lpstr>
      <vt:lpstr>PowerPoint 演示文稿</vt:lpstr>
      <vt:lpstr>改变系数向量c</vt:lpstr>
      <vt:lpstr>改变系数向量c</vt:lpstr>
      <vt:lpstr>PowerPoint 演示文稿</vt:lpstr>
      <vt:lpstr>PowerPoint 演示文稿</vt:lpstr>
      <vt:lpstr>例7</vt:lpstr>
      <vt:lpstr>PowerPoint 演示文稿</vt:lpstr>
      <vt:lpstr>PowerPoint 演示文稿</vt:lpstr>
      <vt:lpstr>改变右端向量 b</vt:lpstr>
      <vt:lpstr>当只改变一个分量时： </vt:lpstr>
      <vt:lpstr>PowerPoint 演示文稿</vt:lpstr>
      <vt:lpstr>PowerPoint 演示文稿</vt:lpstr>
      <vt:lpstr>改变约束矩阵A</vt:lpstr>
      <vt:lpstr>PowerPoint 演示文稿</vt:lpstr>
      <vt:lpstr>加入新的约束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1738</cp:revision>
  <dcterms:created xsi:type="dcterms:W3CDTF">2012-04-20T06:02:00Z</dcterms:created>
  <dcterms:modified xsi:type="dcterms:W3CDTF">2026-03-01T13:54:56Z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9CF86C79608144ADBEF3A26E5FD9A904</vt:lpwstr>
  </property>
</Properties>
</file>