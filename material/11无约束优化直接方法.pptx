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710" r:id="rId4"/>
    <p:sldMasterId id="2147483686" r:id="rId5"/>
    <p:sldMasterId id="2147483698" r:id="rId6"/>
    <p:sldMasterId id="2147483722" r:id="rId7"/>
  </p:sldMasterIdLst>
  <p:notesMasterIdLst>
    <p:notesMasterId r:id="rId71"/>
  </p:notesMasterIdLst>
  <p:handoutMasterIdLst>
    <p:handoutMasterId r:id="rId72"/>
  </p:handoutMasterIdLst>
  <p:sldIdLst>
    <p:sldId id="377" r:id="rId8"/>
    <p:sldId id="256" r:id="rId9"/>
    <p:sldId id="279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75" r:id="rId20"/>
    <p:sldId id="385" r:id="rId21"/>
    <p:sldId id="386" r:id="rId22"/>
    <p:sldId id="274" r:id="rId23"/>
    <p:sldId id="277" r:id="rId24"/>
    <p:sldId id="278" r:id="rId25"/>
    <p:sldId id="280" r:id="rId26"/>
    <p:sldId id="281" r:id="rId27"/>
    <p:sldId id="283" r:id="rId28"/>
    <p:sldId id="284" r:id="rId29"/>
    <p:sldId id="285" r:id="rId30"/>
    <p:sldId id="307" r:id="rId31"/>
    <p:sldId id="308" r:id="rId32"/>
    <p:sldId id="286" r:id="rId33"/>
    <p:sldId id="287" r:id="rId34"/>
    <p:sldId id="288" r:id="rId35"/>
    <p:sldId id="289" r:id="rId36"/>
    <p:sldId id="290" r:id="rId37"/>
    <p:sldId id="291" r:id="rId38"/>
    <p:sldId id="300" r:id="rId39"/>
    <p:sldId id="301" r:id="rId40"/>
    <p:sldId id="302" r:id="rId41"/>
    <p:sldId id="309" r:id="rId42"/>
    <p:sldId id="310" r:id="rId43"/>
    <p:sldId id="311" r:id="rId44"/>
    <p:sldId id="313" r:id="rId45"/>
    <p:sldId id="312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6" r:id="rId54"/>
    <p:sldId id="321" r:id="rId55"/>
    <p:sldId id="322" r:id="rId56"/>
    <p:sldId id="323" r:id="rId57"/>
    <p:sldId id="378" r:id="rId58"/>
    <p:sldId id="379" r:id="rId59"/>
    <p:sldId id="380" r:id="rId60"/>
    <p:sldId id="381" r:id="rId61"/>
    <p:sldId id="382" r:id="rId62"/>
    <p:sldId id="387" r:id="rId63"/>
    <p:sldId id="383" r:id="rId64"/>
    <p:sldId id="384" r:id="rId65"/>
    <p:sldId id="388" r:id="rId66"/>
    <p:sldId id="389" r:id="rId67"/>
    <p:sldId id="390" r:id="rId68"/>
    <p:sldId id="391" r:id="rId69"/>
    <p:sldId id="392" r:id="rId70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29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6600"/>
    <a:srgbClr val="CC6600"/>
    <a:srgbClr val="990000"/>
    <a:srgbClr val="336699"/>
    <a:srgbClr val="CC3300"/>
    <a:srgbClr val="008080"/>
    <a:srgbClr val="009999"/>
    <a:srgbClr val="FFFFFF"/>
    <a:srgbClr val="CBD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7" autoAdjust="0"/>
    <p:restoredTop sz="92552" autoAdjust="0"/>
  </p:normalViewPr>
  <p:slideViewPr>
    <p:cSldViewPr snapToGrid="0">
      <p:cViewPr varScale="1">
        <p:scale>
          <a:sx n="66" d="100"/>
          <a:sy n="66" d="100"/>
        </p:scale>
        <p:origin x="1196" y="64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7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5.wmf"/><Relationship Id="rId18" Type="http://schemas.openxmlformats.org/officeDocument/2006/relationships/image" Target="../media/image5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12" Type="http://schemas.openxmlformats.org/officeDocument/2006/relationships/image" Target="../media/image44.wmf"/><Relationship Id="rId17" Type="http://schemas.openxmlformats.org/officeDocument/2006/relationships/image" Target="../media/image49.wmf"/><Relationship Id="rId2" Type="http://schemas.openxmlformats.org/officeDocument/2006/relationships/image" Target="../media/image34.wmf"/><Relationship Id="rId16" Type="http://schemas.openxmlformats.org/officeDocument/2006/relationships/image" Target="../media/image48.wmf"/><Relationship Id="rId20" Type="http://schemas.openxmlformats.org/officeDocument/2006/relationships/image" Target="../media/image52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5" Type="http://schemas.openxmlformats.org/officeDocument/2006/relationships/image" Target="../media/image47.wmf"/><Relationship Id="rId10" Type="http://schemas.openxmlformats.org/officeDocument/2006/relationships/image" Target="../media/image42.wmf"/><Relationship Id="rId19" Type="http://schemas.openxmlformats.org/officeDocument/2006/relationships/image" Target="../media/image51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Relationship Id="rId14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57.wmf"/><Relationship Id="rId3" Type="http://schemas.openxmlformats.org/officeDocument/2006/relationships/image" Target="../media/image35.wmf"/><Relationship Id="rId7" Type="http://schemas.openxmlformats.org/officeDocument/2006/relationships/image" Target="../media/image53.wmf"/><Relationship Id="rId12" Type="http://schemas.openxmlformats.org/officeDocument/2006/relationships/image" Target="../media/image56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55.wmf"/><Relationship Id="rId5" Type="http://schemas.openxmlformats.org/officeDocument/2006/relationships/image" Target="../media/image37.wmf"/><Relationship Id="rId15" Type="http://schemas.openxmlformats.org/officeDocument/2006/relationships/image" Target="../media/image59.wmf"/><Relationship Id="rId10" Type="http://schemas.openxmlformats.org/officeDocument/2006/relationships/image" Target="../media/image54.wmf"/><Relationship Id="rId4" Type="http://schemas.openxmlformats.org/officeDocument/2006/relationships/image" Target="../media/image36.wmf"/><Relationship Id="rId9" Type="http://schemas.openxmlformats.org/officeDocument/2006/relationships/image" Target="../media/image29.wmf"/><Relationship Id="rId14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image" Target="../media/image70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12" Type="http://schemas.openxmlformats.org/officeDocument/2006/relationships/image" Target="../media/image6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63.wmf"/><Relationship Id="rId11" Type="http://schemas.openxmlformats.org/officeDocument/2006/relationships/image" Target="../media/image68.wmf"/><Relationship Id="rId5" Type="http://schemas.openxmlformats.org/officeDocument/2006/relationships/image" Target="../media/image62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85.wmf"/><Relationship Id="rId1" Type="http://schemas.openxmlformats.org/officeDocument/2006/relationships/image" Target="../media/image106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85.wmf"/><Relationship Id="rId1" Type="http://schemas.openxmlformats.org/officeDocument/2006/relationships/image" Target="../media/image112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4" Type="http://schemas.openxmlformats.org/officeDocument/2006/relationships/image" Target="../media/image11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image" Target="../media/image154.wmf"/><Relationship Id="rId7" Type="http://schemas.openxmlformats.org/officeDocument/2006/relationships/image" Target="../media/image158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4" Type="http://schemas.openxmlformats.org/officeDocument/2006/relationships/image" Target="../media/image163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wmf"/><Relationship Id="rId1" Type="http://schemas.openxmlformats.org/officeDocument/2006/relationships/image" Target="../media/image85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4" Type="http://schemas.openxmlformats.org/officeDocument/2006/relationships/image" Target="../media/image176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7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Relationship Id="rId6" Type="http://schemas.openxmlformats.org/officeDocument/2006/relationships/image" Target="../media/image183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2026/5/18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2026/5/18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A391B-8A29-47B0-94E5-CA187B38CAA7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035889-9C27-4FFA-8898-14C72D0021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5901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98436364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0147829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996522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209829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0358073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20366111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89745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05439786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75652015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3216887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597677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74472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877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8103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4025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1939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4868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2646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2768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1078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452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72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1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0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78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34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43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7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9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.bin"/><Relationship Id="rId18" Type="http://schemas.openxmlformats.org/officeDocument/2006/relationships/image" Target="../media/image40.wmf"/><Relationship Id="rId26" Type="http://schemas.openxmlformats.org/officeDocument/2006/relationships/image" Target="../media/image44.wmf"/><Relationship Id="rId39" Type="http://schemas.openxmlformats.org/officeDocument/2006/relationships/oleObject" Target="../embeddings/oleObject38.bin"/><Relationship Id="rId21" Type="http://schemas.openxmlformats.org/officeDocument/2006/relationships/oleObject" Target="../embeddings/oleObject29.bin"/><Relationship Id="rId34" Type="http://schemas.openxmlformats.org/officeDocument/2006/relationships/image" Target="../media/image48.wmf"/><Relationship Id="rId42" Type="http://schemas.openxmlformats.org/officeDocument/2006/relationships/image" Target="../media/image52.wmf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63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29" Type="http://schemas.openxmlformats.org/officeDocument/2006/relationships/oleObject" Target="../embeddings/oleObject33.bin"/><Relationship Id="rId41" Type="http://schemas.openxmlformats.org/officeDocument/2006/relationships/oleObject" Target="../embeddings/oleObject3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43.wmf"/><Relationship Id="rId32" Type="http://schemas.openxmlformats.org/officeDocument/2006/relationships/image" Target="../media/image47.wmf"/><Relationship Id="rId37" Type="http://schemas.openxmlformats.org/officeDocument/2006/relationships/oleObject" Target="../embeddings/oleObject37.bin"/><Relationship Id="rId40" Type="http://schemas.openxmlformats.org/officeDocument/2006/relationships/image" Target="../media/image51.w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45.wmf"/><Relationship Id="rId36" Type="http://schemas.openxmlformats.org/officeDocument/2006/relationships/image" Target="../media/image49.wmf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28.bin"/><Relationship Id="rId31" Type="http://schemas.openxmlformats.org/officeDocument/2006/relationships/oleObject" Target="../embeddings/oleObject34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32.bin"/><Relationship Id="rId30" Type="http://schemas.openxmlformats.org/officeDocument/2006/relationships/image" Target="../media/image46.wmf"/><Relationship Id="rId35" Type="http://schemas.openxmlformats.org/officeDocument/2006/relationships/oleObject" Target="../embeddings/oleObject36.bin"/><Relationship Id="rId8" Type="http://schemas.openxmlformats.org/officeDocument/2006/relationships/image" Target="../media/image35.wmf"/><Relationship Id="rId3" Type="http://schemas.openxmlformats.org/officeDocument/2006/relationships/oleObject" Target="../embeddings/oleObject20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33" Type="http://schemas.openxmlformats.org/officeDocument/2006/relationships/oleObject" Target="../embeddings/oleObject35.bin"/><Relationship Id="rId38" Type="http://schemas.openxmlformats.org/officeDocument/2006/relationships/image" Target="../media/image5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52.wmf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40.bin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2" Type="http://schemas.openxmlformats.org/officeDocument/2006/relationships/slideLayout" Target="../slideLayouts/slideLayout63.xml"/><Relationship Id="rId16" Type="http://schemas.openxmlformats.org/officeDocument/2006/relationships/image" Target="../media/image53.wmf"/><Relationship Id="rId20" Type="http://schemas.openxmlformats.org/officeDocument/2006/relationships/image" Target="../media/image29.wmf"/><Relationship Id="rId29" Type="http://schemas.openxmlformats.org/officeDocument/2006/relationships/oleObject" Target="../embeddings/oleObject53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55.wmf"/><Relationship Id="rId32" Type="http://schemas.openxmlformats.org/officeDocument/2006/relationships/image" Target="../media/image59.wmf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28" Type="http://schemas.openxmlformats.org/officeDocument/2006/relationships/image" Target="../media/image57.wmf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48.bin"/><Relationship Id="rId31" Type="http://schemas.openxmlformats.org/officeDocument/2006/relationships/oleObject" Target="../embeddings/oleObject54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38.wmf"/><Relationship Id="rId22" Type="http://schemas.openxmlformats.org/officeDocument/2006/relationships/image" Target="../media/image54.wmf"/><Relationship Id="rId27" Type="http://schemas.openxmlformats.org/officeDocument/2006/relationships/oleObject" Target="../embeddings/oleObject52.bin"/><Relationship Id="rId30" Type="http://schemas.openxmlformats.org/officeDocument/2006/relationships/image" Target="../media/image5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5.wmf"/><Relationship Id="rId26" Type="http://schemas.openxmlformats.org/officeDocument/2006/relationships/image" Target="../media/image69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6.bin"/><Relationship Id="rId2" Type="http://schemas.openxmlformats.org/officeDocument/2006/relationships/slideLayout" Target="../slideLayouts/slideLayout63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68.w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28" Type="http://schemas.openxmlformats.org/officeDocument/2006/relationships/image" Target="../media/image70.wmf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Relationship Id="rId27" Type="http://schemas.openxmlformats.org/officeDocument/2006/relationships/oleObject" Target="../embeddings/oleObject6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7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77.bin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8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81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84.bin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9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09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0" Type="http://schemas.openxmlformats.org/officeDocument/2006/relationships/image" Target="../media/image108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0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1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1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1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118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17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2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32.bin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2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0" Type="http://schemas.openxmlformats.org/officeDocument/2006/relationships/image" Target="../media/image131.w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38.bin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38.wmf"/><Relationship Id="rId2" Type="http://schemas.openxmlformats.org/officeDocument/2006/relationships/slideLayout" Target="../slideLayouts/slideLayout63.xml"/><Relationship Id="rId16" Type="http://schemas.openxmlformats.org/officeDocument/2006/relationships/image" Target="../media/image14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3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45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44.bin"/><Relationship Id="rId5" Type="http://schemas.openxmlformats.org/officeDocument/2006/relationships/oleObject" Target="../embeddings/oleObject141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43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50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50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5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159.wm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56.wmf"/><Relationship Id="rId17" Type="http://schemas.openxmlformats.org/officeDocument/2006/relationships/oleObject" Target="../embeddings/oleObject158.bin"/><Relationship Id="rId2" Type="http://schemas.openxmlformats.org/officeDocument/2006/relationships/slideLayout" Target="../slideLayouts/slideLayout63.xml"/><Relationship Id="rId16" Type="http://schemas.openxmlformats.org/officeDocument/2006/relationships/image" Target="../media/image158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5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61.wmf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63.wmf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6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3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85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9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8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71.bin"/><Relationship Id="rId4" Type="http://schemas.openxmlformats.org/officeDocument/2006/relationships/image" Target="../media/image17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176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7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7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177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1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186.bin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82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0" Type="http://schemas.openxmlformats.org/officeDocument/2006/relationships/image" Target="../media/image181.wmf"/><Relationship Id="rId4" Type="http://schemas.openxmlformats.org/officeDocument/2006/relationships/image" Target="../media/image178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8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7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184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0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6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6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6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6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20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207.png"/><Relationship Id="rId7" Type="http://schemas.openxmlformats.org/officeDocument/2006/relationships/image" Target="../media/image202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6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6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547197" y="3493316"/>
            <a:ext cx="4322226" cy="20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tabLst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952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 dirty="0">
                <a:latin typeface="+mn-ea"/>
                <a:ea typeface="+mn-ea"/>
              </a:rPr>
              <a:t>11 </a:t>
            </a:r>
            <a:r>
              <a:rPr lang="zh-CN" altLang="en-US" sz="3600" dirty="0">
                <a:latin typeface="+mn-ea"/>
                <a:ea typeface="+mn-ea"/>
              </a:rPr>
              <a:t>无约束最优化的直接方法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9153" y="1249161"/>
            <a:ext cx="5659655" cy="202342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模式搜索法</a:t>
            </a:r>
          </a:p>
          <a:p>
            <a:pPr eaLnBrk="1" hangingPunct="1"/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Rosenbrock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</a:p>
          <a:p>
            <a:pPr eaLnBrk="1" hangingPunct="1"/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Powell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单纯形法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600"/>
              <a:t>1.</a:t>
            </a:r>
            <a:r>
              <a:rPr lang="zh-CN" altLang="en-US" sz="3600">
                <a:ea typeface="楷体_GB2312" pitchFamily="49" charset="-122"/>
              </a:rPr>
              <a:t>模式搜索法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77516" y="959636"/>
            <a:ext cx="5791200" cy="6858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基本思想</a:t>
            </a:r>
          </a:p>
          <a:p>
            <a:pPr eaLnBrk="1" hangingPunct="1"/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63" name="Rectangle 5"/>
          <p:cNvSpPr>
            <a:spLocks noChangeArrowheads="1"/>
          </p:cNvSpPr>
          <p:nvPr/>
        </p:nvSpPr>
        <p:spPr bwMode="auto">
          <a:xfrm>
            <a:off x="900113" y="1451376"/>
            <a:ext cx="411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 sz="3200" dirty="0"/>
              <a:t>Hooke &amp; Jeeves(1961)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1042988" y="4076700"/>
            <a:ext cx="72072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探测移动依次沿</a:t>
            </a:r>
            <a:r>
              <a:rPr lang="en-US" altLang="zh-CN" sz="2800" dirty="0"/>
              <a:t>n</a:t>
            </a:r>
            <a:r>
              <a:rPr lang="zh-CN" altLang="en-US" sz="2800" dirty="0"/>
              <a:t>个坐标轴进行</a:t>
            </a:r>
            <a:r>
              <a:rPr lang="en-US" altLang="zh-CN" sz="2800" dirty="0"/>
              <a:t>,</a:t>
            </a:r>
            <a:r>
              <a:rPr lang="zh-CN" altLang="en-US" sz="2800" dirty="0"/>
              <a:t>用以确定新的</a:t>
            </a:r>
          </a:p>
          <a:p>
            <a:pPr eaLnBrk="1" hangingPunct="1"/>
            <a:r>
              <a:rPr lang="zh-CN" altLang="en-US" sz="2800" dirty="0"/>
              <a:t>基点和有利于函数值下降的方向</a:t>
            </a:r>
            <a:r>
              <a:rPr lang="en-US" altLang="zh-CN" sz="2800" dirty="0"/>
              <a:t>.</a:t>
            </a:r>
          </a:p>
          <a:p>
            <a:pPr eaLnBrk="1" hangingPunct="1"/>
            <a:r>
              <a:rPr lang="zh-CN" altLang="en-US" sz="2800" dirty="0"/>
              <a:t>模式移动沿相邻两个基点连线方向进行</a:t>
            </a:r>
            <a:r>
              <a:rPr lang="en-US" altLang="zh-CN" sz="2800" dirty="0"/>
              <a:t>.</a:t>
            </a: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971550" y="2060575"/>
            <a:ext cx="754380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dirty="0"/>
              <a:t>从几何意义上看</a:t>
            </a:r>
            <a:r>
              <a:rPr lang="en-US" altLang="zh-CN" sz="2800" dirty="0"/>
              <a:t>,</a:t>
            </a:r>
            <a:r>
              <a:rPr lang="zh-CN" altLang="en-US" sz="2800" dirty="0"/>
              <a:t>寻找具有较小函数值的“山谷”力图使迭代产生的序列沿“山谷”走向逼近极小点</a:t>
            </a:r>
            <a:r>
              <a:rPr lang="en-US" altLang="zh-CN" sz="2800" dirty="0"/>
              <a:t>,</a:t>
            </a:r>
            <a:r>
              <a:rPr lang="zh-CN" altLang="en-US" sz="2800" dirty="0"/>
              <a:t>算法从初始</a:t>
            </a:r>
            <a:r>
              <a:rPr lang="zh-CN" altLang="en-US" sz="2800" b="1" dirty="0"/>
              <a:t>基点</a:t>
            </a:r>
            <a:r>
              <a:rPr lang="zh-CN" altLang="en-US" sz="2800" dirty="0"/>
              <a:t>开始</a:t>
            </a:r>
            <a:r>
              <a:rPr lang="en-US" altLang="zh-CN" sz="2800" dirty="0"/>
              <a:t>,</a:t>
            </a:r>
            <a:r>
              <a:rPr lang="zh-CN" altLang="en-US" sz="2800" dirty="0"/>
              <a:t>包括两种类型的移动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dirty="0"/>
              <a:t>----</a:t>
            </a:r>
            <a:r>
              <a:rPr lang="zh-CN" altLang="en-US" sz="2800" b="1" dirty="0">
                <a:ea typeface="楷体_GB2312" pitchFamily="49" charset="-122"/>
              </a:rPr>
              <a:t>探测移动</a:t>
            </a:r>
            <a:r>
              <a:rPr lang="zh-CN" altLang="en-US" sz="2800" dirty="0"/>
              <a:t>和</a:t>
            </a:r>
            <a:r>
              <a:rPr lang="zh-CN" altLang="en-US" sz="2800" b="1" dirty="0">
                <a:ea typeface="楷体_GB2312" pitchFamily="49" charset="-122"/>
              </a:rPr>
              <a:t>模式移动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/>
      <p:bldP spid="2560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7FA81-1B10-4EB1-BB91-4B1E813F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6086" name="Picture 6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0278" y="1100722"/>
            <a:ext cx="769620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BAD47-198C-42A5-A3CF-C887161A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2387" y="1023637"/>
            <a:ext cx="8181473" cy="631908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设目标函数为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0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坐标方向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1547813" y="1700213"/>
          <a:ext cx="52578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7" name="Equation" r:id="rId3" imgW="4572000" imgH="622080" progId="Equation.DSMT4">
                  <p:embed/>
                </p:oleObj>
              </mc:Choice>
              <mc:Fallback>
                <p:oleObj name="Equation" r:id="rId3" imgW="4572000" imgH="622080" progId="Equation.DSMT4">
                  <p:embed/>
                  <p:pic>
                    <p:nvPicPr>
                      <p:cNvPr id="10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700213"/>
                        <a:ext cx="525780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Rectangle 6"/>
          <p:cNvSpPr>
            <a:spLocks noChangeArrowheads="1"/>
          </p:cNvSpPr>
          <p:nvPr/>
        </p:nvSpPr>
        <p:spPr bwMode="auto">
          <a:xfrm>
            <a:off x="539750" y="2420938"/>
            <a:ext cx="81359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>
                <a:sym typeface="Symbol" panose="05050102010706020507" pitchFamily="18" charset="2"/>
              </a:rPr>
              <a:t>给定初始步长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加速因子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zh-CN" altLang="en-US" sz="2800">
                <a:sym typeface="Symbol" panose="05050102010706020507" pitchFamily="18" charset="2"/>
              </a:rPr>
              <a:t>任取初始点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(1)</a:t>
            </a:r>
            <a:r>
              <a:rPr lang="zh-CN" altLang="en-US" sz="2800">
                <a:sym typeface="Symbol" panose="05050102010706020507" pitchFamily="18" charset="2"/>
              </a:rPr>
              <a:t>作为第</a:t>
            </a:r>
            <a:r>
              <a:rPr lang="en-US" altLang="zh-CN" sz="2800">
                <a:sym typeface="Symbol" panose="05050102010706020507" pitchFamily="18" charset="2"/>
              </a:rPr>
              <a:t>1</a:t>
            </a:r>
            <a:r>
              <a:rPr lang="zh-CN" altLang="en-US" sz="2800">
                <a:sym typeface="Symbol" panose="05050102010706020507" pitchFamily="18" charset="2"/>
              </a:rPr>
              <a:t>个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>
                <a:sym typeface="Symbol" panose="05050102010706020507" pitchFamily="18" charset="2"/>
              </a:rPr>
              <a:t>基点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auto">
          <a:xfrm>
            <a:off x="838200" y="35052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(j) </a:t>
            </a:r>
            <a:r>
              <a:rPr lang="en-US" altLang="zh-CN" sz="2800">
                <a:sym typeface="Symbol" panose="05050102010706020507" pitchFamily="18" charset="2"/>
              </a:rPr>
              <a:t>: </a:t>
            </a:r>
            <a:r>
              <a:rPr lang="zh-CN" altLang="en-US" sz="2800">
                <a:sym typeface="Symbol" panose="05050102010706020507" pitchFamily="18" charset="2"/>
              </a:rPr>
              <a:t>第</a:t>
            </a:r>
            <a:r>
              <a:rPr lang="en-US" altLang="zh-CN" sz="2800">
                <a:sym typeface="Symbol" panose="05050102010706020507" pitchFamily="18" charset="2"/>
              </a:rPr>
              <a:t>j</a:t>
            </a:r>
            <a:r>
              <a:rPr lang="zh-CN" altLang="en-US" sz="2800">
                <a:sym typeface="Symbol" panose="05050102010706020507" pitchFamily="18" charset="2"/>
              </a:rPr>
              <a:t>个基点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auto">
          <a:xfrm>
            <a:off x="685800" y="4191000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(j) </a:t>
            </a:r>
            <a:r>
              <a:rPr lang="en-US" altLang="zh-CN" sz="2800">
                <a:sym typeface="Symbol" panose="05050102010706020507" pitchFamily="18" charset="2"/>
              </a:rPr>
              <a:t>: </a:t>
            </a:r>
            <a:r>
              <a:rPr lang="zh-CN" altLang="en-US" sz="2800">
                <a:sym typeface="Symbol" panose="05050102010706020507" pitchFamily="18" charset="2"/>
              </a:rPr>
              <a:t>沿</a:t>
            </a:r>
            <a:r>
              <a:rPr lang="en-US" altLang="zh-CN" sz="2800">
                <a:sym typeface="Symbol" panose="05050102010706020507" pitchFamily="18" charset="2"/>
              </a:rPr>
              <a:t>e</a:t>
            </a:r>
            <a:r>
              <a:rPr lang="en-US" altLang="zh-CN" sz="2800" baseline="-30000">
                <a:sym typeface="Symbol" panose="05050102010706020507" pitchFamily="18" charset="2"/>
              </a:rPr>
              <a:t>j</a:t>
            </a:r>
            <a:r>
              <a:rPr lang="zh-CN" altLang="en-US" sz="2800">
                <a:sym typeface="Symbol" panose="05050102010706020507" pitchFamily="18" charset="2"/>
              </a:rPr>
              <a:t>探测的出发点</a:t>
            </a:r>
          </a:p>
        </p:txBody>
      </p:sp>
      <p:sp>
        <p:nvSpPr>
          <p:cNvPr id="1035" name="Rectangle 9"/>
          <p:cNvSpPr>
            <a:spLocks noChangeArrowheads="1"/>
          </p:cNvSpPr>
          <p:nvPr/>
        </p:nvSpPr>
        <p:spPr bwMode="auto">
          <a:xfrm>
            <a:off x="685800" y="480060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 </a:t>
            </a:r>
            <a:r>
              <a:rPr lang="en-US" altLang="zh-CN" sz="2800">
                <a:sym typeface="Symbol" panose="05050102010706020507" pitchFamily="18" charset="2"/>
              </a:rPr>
              <a:t>: </a:t>
            </a:r>
            <a:r>
              <a:rPr lang="zh-CN" altLang="en-US" sz="2800">
                <a:sym typeface="Symbol" panose="05050102010706020507" pitchFamily="18" charset="2"/>
              </a:rPr>
              <a:t>沿</a:t>
            </a:r>
            <a:r>
              <a:rPr lang="en-US" altLang="zh-CN" sz="2800">
                <a:sym typeface="Symbol" panose="05050102010706020507" pitchFamily="18" charset="2"/>
              </a:rPr>
              <a:t>e</a:t>
            </a:r>
            <a:r>
              <a:rPr lang="en-US" altLang="zh-CN" sz="2800" baseline="-30000">
                <a:sym typeface="Symbol" panose="05050102010706020507" pitchFamily="18" charset="2"/>
              </a:rPr>
              <a:t>n</a:t>
            </a:r>
            <a:r>
              <a:rPr lang="zh-CN" altLang="en-US" sz="2800">
                <a:sym typeface="Symbol" panose="05050102010706020507" pitchFamily="18" charset="2"/>
              </a:rPr>
              <a:t>探测得到的点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A7B06-E22D-4642-A238-07AC1F5CE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36884" y="1004386"/>
            <a:ext cx="8104188" cy="720725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出发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进行探测移动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先沿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探测</a:t>
            </a:r>
            <a:endParaRPr lang="zh-CN" altLang="en-US" sz="2800" b="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468313" y="29972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并从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(2)</a:t>
            </a:r>
            <a:r>
              <a:rPr lang="zh-CN" altLang="en-US" sz="2800">
                <a:sym typeface="Symbol" panose="05050102010706020507" pitchFamily="18" charset="2"/>
              </a:rPr>
              <a:t>出发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沿</a:t>
            </a:r>
            <a:r>
              <a:rPr lang="en-US" altLang="zh-CN" sz="2800">
                <a:sym typeface="Symbol" panose="05050102010706020507" pitchFamily="18" charset="2"/>
              </a:rPr>
              <a:t>e</a:t>
            </a:r>
            <a:r>
              <a:rPr lang="en-US" altLang="zh-CN" sz="2800" baseline="-30000">
                <a:sym typeface="Symbol" panose="05050102010706020507" pitchFamily="18" charset="2"/>
              </a:rPr>
              <a:t>2</a:t>
            </a:r>
            <a:r>
              <a:rPr lang="zh-CN" altLang="en-US" sz="2800">
                <a:sym typeface="Symbol" panose="05050102010706020507" pitchFamily="18" charset="2"/>
              </a:rPr>
              <a:t>进行探测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37066"/>
              </p:ext>
            </p:extLst>
          </p:nvPr>
        </p:nvGraphicFramePr>
        <p:xfrm>
          <a:off x="549375" y="1715486"/>
          <a:ext cx="5740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2" name="Equation" r:id="rId3" imgW="5740400" imgH="469900" progId="Equation.DSMT4">
                  <p:embed/>
                </p:oleObj>
              </mc:Choice>
              <mc:Fallback>
                <p:oleObj name="Equation" r:id="rId3" imgW="5740400" imgH="469900" progId="Equation.DSMT4">
                  <p:embed/>
                  <p:pic>
                    <p:nvPicPr>
                      <p:cNvPr id="5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75" y="1715486"/>
                        <a:ext cx="5740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2411413" y="2420938"/>
          <a:ext cx="4381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3" name="Equation" r:id="rId5" imgW="4381500" imgH="469900" progId="Equation.DSMT4">
                  <p:embed/>
                </p:oleObj>
              </mc:Choice>
              <mc:Fallback>
                <p:oleObj name="Equation" r:id="rId5" imgW="4381500" imgH="469900" progId="Equation.DSMT4">
                  <p:embed/>
                  <p:pic>
                    <p:nvPicPr>
                      <p:cNvPr id="51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420938"/>
                        <a:ext cx="4381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395288" y="3573463"/>
            <a:ext cx="701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否则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沿</a:t>
            </a:r>
            <a:r>
              <a:rPr lang="en-US" altLang="zh-CN" sz="2800">
                <a:sym typeface="Symbol" panose="05050102010706020507" pitchFamily="18" charset="2"/>
              </a:rPr>
              <a:t>e</a:t>
            </a:r>
            <a:r>
              <a:rPr lang="en-US" altLang="zh-CN" sz="2800" baseline="-30000">
                <a:sym typeface="Symbol" panose="05050102010706020507" pitchFamily="18" charset="2"/>
              </a:rPr>
              <a:t>1</a:t>
            </a:r>
            <a:r>
              <a:rPr lang="zh-CN" altLang="en-US" sz="2800">
                <a:sym typeface="Symbol" panose="05050102010706020507" pitchFamily="18" charset="2"/>
              </a:rPr>
              <a:t>方向的探测失败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再沿</a:t>
            </a:r>
            <a:r>
              <a:rPr lang="en-US" altLang="zh-CN" sz="2800">
                <a:sym typeface="Symbol" panose="05050102010706020507" pitchFamily="18" charset="2"/>
              </a:rPr>
              <a:t>- e</a:t>
            </a:r>
            <a:r>
              <a:rPr lang="en-US" altLang="zh-CN" sz="2800" baseline="-30000">
                <a:sym typeface="Symbol" panose="05050102010706020507" pitchFamily="18" charset="2"/>
              </a:rPr>
              <a:t>1</a:t>
            </a:r>
            <a:r>
              <a:rPr lang="zh-CN" altLang="en-US" sz="2800">
                <a:sym typeface="Symbol" panose="05050102010706020507" pitchFamily="18" charset="2"/>
              </a:rPr>
              <a:t>方向探测</a:t>
            </a:r>
          </a:p>
        </p:txBody>
      </p:sp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547688" y="4249738"/>
          <a:ext cx="6540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4" name="Equation" r:id="rId7" imgW="6540500" imgH="469900" progId="Equation.DSMT4">
                  <p:embed/>
                </p:oleObj>
              </mc:Choice>
              <mc:Fallback>
                <p:oleObj name="Equation" r:id="rId7" imgW="6540500" imgH="469900" progId="Equation.DSMT4">
                  <p:embed/>
                  <p:pic>
                    <p:nvPicPr>
                      <p:cNvPr id="51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8" y="4249738"/>
                        <a:ext cx="6540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2209800" y="4876800"/>
          <a:ext cx="4381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5" name="Equation" r:id="rId9" imgW="4381500" imgH="469900" progId="Equation.DSMT4">
                  <p:embed/>
                </p:oleObj>
              </mc:Choice>
              <mc:Fallback>
                <p:oleObj name="Equation" r:id="rId9" imgW="4381500" imgH="469900" progId="Equation.DSMT4">
                  <p:embed/>
                  <p:pic>
                    <p:nvPicPr>
                      <p:cNvPr id="5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4381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457200" y="54102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并从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(2)</a:t>
            </a:r>
            <a:r>
              <a:rPr lang="zh-CN" altLang="en-US" sz="2800">
                <a:sym typeface="Symbol" panose="05050102010706020507" pitchFamily="18" charset="2"/>
              </a:rPr>
              <a:t>出发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沿</a:t>
            </a:r>
            <a:r>
              <a:rPr lang="en-US" altLang="zh-CN" sz="2800">
                <a:sym typeface="Symbol" panose="05050102010706020507" pitchFamily="18" charset="2"/>
              </a:rPr>
              <a:t>e</a:t>
            </a:r>
            <a:r>
              <a:rPr lang="en-US" altLang="zh-CN" sz="2800" baseline="-30000">
                <a:sym typeface="Symbol" panose="05050102010706020507" pitchFamily="18" charset="2"/>
              </a:rPr>
              <a:t>2</a:t>
            </a:r>
            <a:r>
              <a:rPr lang="zh-CN" altLang="en-US" sz="2800">
                <a:sym typeface="Symbol" panose="05050102010706020507" pitchFamily="18" charset="2"/>
              </a:rPr>
              <a:t>进行探测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  <p:bldP spid="5125" grpId="0"/>
      <p:bldP spid="5129" grpId="0"/>
      <p:bldP spid="51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468313" y="1052513"/>
          <a:ext cx="7620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6" name="Equation" r:id="rId3" imgW="7620000" imgH="469900" progId="Equation.DSMT4">
                  <p:embed/>
                </p:oleObj>
              </mc:Choice>
              <mc:Fallback>
                <p:oleObj name="Equation" r:id="rId3" imgW="7620000" imgH="469900" progId="Equation.DSMT4">
                  <p:embed/>
                  <p:pic>
                    <p:nvPicPr>
                      <p:cNvPr id="30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052513"/>
                        <a:ext cx="7620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/>
          <p:cNvGraphicFramePr>
            <a:graphicFrameLocks noChangeAspect="1"/>
          </p:cNvGraphicFramePr>
          <p:nvPr/>
        </p:nvGraphicFramePr>
        <p:xfrm>
          <a:off x="2987675" y="1700213"/>
          <a:ext cx="360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7" name="Equation" r:id="rId5" imgW="3606800" imgH="457200" progId="Equation.DSMT4">
                  <p:embed/>
                </p:oleObj>
              </mc:Choice>
              <mc:Fallback>
                <p:oleObj name="Equation" r:id="rId5" imgW="3606800" imgH="457200" progId="Equation.DSMT4">
                  <p:embed/>
                  <p:pic>
                    <p:nvPicPr>
                      <p:cNvPr id="30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700213"/>
                        <a:ext cx="3606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323850" y="2349500"/>
            <a:ext cx="8001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再从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(2)</a:t>
            </a:r>
            <a:r>
              <a:rPr lang="zh-CN" altLang="en-US" sz="2800">
                <a:sym typeface="Symbol" panose="05050102010706020507" pitchFamily="18" charset="2"/>
              </a:rPr>
              <a:t>出发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沿</a:t>
            </a:r>
            <a:r>
              <a:rPr lang="en-US" altLang="zh-CN" sz="2800">
                <a:sym typeface="Symbol" panose="05050102010706020507" pitchFamily="18" charset="2"/>
              </a:rPr>
              <a:t>e</a:t>
            </a:r>
            <a:r>
              <a:rPr lang="en-US" altLang="zh-CN" sz="2800" baseline="-30000">
                <a:sym typeface="Symbol" panose="05050102010706020507" pitchFamily="18" charset="2"/>
              </a:rPr>
              <a:t>2</a:t>
            </a:r>
            <a:r>
              <a:rPr lang="zh-CN" altLang="en-US" sz="2800">
                <a:sym typeface="Symbol" panose="05050102010706020507" pitchFamily="18" charset="2"/>
              </a:rPr>
              <a:t>进行探测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zh-CN" altLang="en-US" sz="2800">
                <a:sym typeface="Symbol" panose="05050102010706020507" pitchFamily="18" charset="2"/>
              </a:rPr>
              <a:t>方法同上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得到的点记为</a:t>
            </a:r>
          </a:p>
          <a:p>
            <a:pPr eaLnBrk="1" hangingPunct="1"/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(3) 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zh-CN" altLang="en-US" sz="2800">
                <a:sym typeface="Symbol" panose="05050102010706020507" pitchFamily="18" charset="2"/>
              </a:rPr>
              <a:t>按此方式作下去直至沿</a:t>
            </a:r>
            <a:r>
              <a:rPr lang="en-US" altLang="zh-CN" sz="2800">
                <a:sym typeface="Symbol" panose="05050102010706020507" pitchFamily="18" charset="2"/>
              </a:rPr>
              <a:t>n</a:t>
            </a:r>
            <a:r>
              <a:rPr lang="zh-CN" altLang="en-US" sz="2800">
                <a:sym typeface="Symbol" panose="05050102010706020507" pitchFamily="18" charset="2"/>
              </a:rPr>
              <a:t>个方向探测完毕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得到点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(n+1).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468313" y="5013325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此时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可望</a:t>
            </a:r>
            <a:r>
              <a:rPr lang="en-US" altLang="zh-CN" sz="2800" i="1">
                <a:sym typeface="Symbol" panose="05050102010706020507" pitchFamily="18" charset="2"/>
              </a:rPr>
              <a:t>d </a:t>
            </a:r>
            <a:r>
              <a:rPr lang="en-US" altLang="zh-CN" sz="2800">
                <a:sym typeface="Symbol" panose="05050102010706020507" pitchFamily="18" charset="2"/>
              </a:rPr>
              <a:t>=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(2) </a:t>
            </a:r>
            <a:r>
              <a:rPr lang="en-US" altLang="zh-CN" sz="3200">
                <a:sym typeface="Symbol" panose="05050102010706020507" pitchFamily="18" charset="2"/>
              </a:rPr>
              <a:t>-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(1)</a:t>
            </a:r>
            <a:r>
              <a:rPr lang="zh-CN" altLang="en-US" sz="2800">
                <a:sym typeface="Symbol" panose="05050102010706020507" pitchFamily="18" charset="2"/>
              </a:rPr>
              <a:t>是有利于函数值减小的方向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468313" y="3716338"/>
          <a:ext cx="6832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8" name="Equation" r:id="rId7" imgW="6832600" imgH="457200" progId="Equation.DSMT4">
                  <p:embed/>
                </p:oleObj>
              </mc:Choice>
              <mc:Fallback>
                <p:oleObj name="Equation" r:id="rId7" imgW="6832600" imgH="457200" progId="Equation.DSMT4">
                  <p:embed/>
                  <p:pic>
                    <p:nvPicPr>
                      <p:cNvPr id="61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716338"/>
                        <a:ext cx="6832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2627313" y="4365625"/>
          <a:ext cx="3822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9" name="Equation" r:id="rId9" imgW="3822700" imgH="457200" progId="Equation.DSMT4">
                  <p:embed/>
                </p:oleObj>
              </mc:Choice>
              <mc:Fallback>
                <p:oleObj name="Equation" r:id="rId9" imgW="3822700" imgH="457200" progId="Equation.DSMT4">
                  <p:embed/>
                  <p:pic>
                    <p:nvPicPr>
                      <p:cNvPr id="61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365625"/>
                        <a:ext cx="3822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BBB00755-23F0-4A3C-9470-B286479E5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/>
      <p:bldP spid="61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2E53C-D269-4EBE-90A4-0115B4F3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04260" y="917675"/>
            <a:ext cx="8412481" cy="55499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下一步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沿方向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进行模式移动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令新的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111" name="Rectangle 5"/>
          <p:cNvSpPr>
            <a:spLocks noChangeArrowheads="1"/>
          </p:cNvSpPr>
          <p:nvPr/>
        </p:nvSpPr>
        <p:spPr bwMode="auto">
          <a:xfrm>
            <a:off x="1835150" y="1628775"/>
            <a:ext cx="544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 dirty="0">
                <a:sym typeface="Symbol" panose="05050102010706020507" pitchFamily="18" charset="2"/>
              </a:rPr>
              <a:t>y</a:t>
            </a:r>
            <a:r>
              <a:rPr lang="en-US" altLang="zh-CN" sz="2800" baseline="30000" dirty="0">
                <a:sym typeface="Symbol" panose="05050102010706020507" pitchFamily="18" charset="2"/>
              </a:rPr>
              <a:t>(1)</a:t>
            </a:r>
            <a:r>
              <a:rPr lang="en-US" altLang="zh-CN" sz="2800" dirty="0">
                <a:sym typeface="Symbol" panose="05050102010706020507" pitchFamily="18" charset="2"/>
              </a:rPr>
              <a:t> =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sym typeface="Symbol" panose="05050102010706020507" pitchFamily="18" charset="2"/>
              </a:rPr>
              <a:t>(2) </a:t>
            </a:r>
            <a:r>
              <a:rPr lang="en-US" altLang="zh-CN" sz="2800" dirty="0">
                <a:sym typeface="Symbol" panose="05050102010706020507" pitchFamily="18" charset="2"/>
              </a:rPr>
              <a:t>+(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sym typeface="Symbol" panose="05050102010706020507" pitchFamily="18" charset="2"/>
              </a:rPr>
              <a:t>(2) </a:t>
            </a:r>
            <a:r>
              <a:rPr lang="en-US" altLang="zh-CN" sz="3200" dirty="0">
                <a:sym typeface="Symbol" panose="05050102010706020507" pitchFamily="18" charset="2"/>
              </a:rPr>
              <a:t>- 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sym typeface="Symbol" panose="05050102010706020507" pitchFamily="18" charset="2"/>
              </a:rPr>
              <a:t>(1)</a:t>
            </a:r>
            <a:r>
              <a:rPr lang="en-US" altLang="zh-CN" sz="2800" dirty="0">
                <a:sym typeface="Symbol" panose="05050102010706020507" pitchFamily="18" charset="2"/>
              </a:rPr>
              <a:t>)                 (1.5)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468313" y="2420938"/>
            <a:ext cx="75438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模式移动后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以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(1)</a:t>
            </a:r>
            <a:r>
              <a:rPr lang="zh-CN" altLang="en-US" sz="2800">
                <a:sym typeface="Symbol" panose="05050102010706020507" pitchFamily="18" charset="2"/>
              </a:rPr>
              <a:t>为起点进行探测移动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这轮探测移动仍然沿坐标轴方向进行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zh-CN" altLang="en-US" sz="2800">
                <a:sym typeface="Symbol" panose="05050102010706020507" pitchFamily="18" charset="2"/>
              </a:rPr>
              <a:t>探测完毕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得到的</a:t>
            </a:r>
          </a:p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点仍记做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 </a:t>
            </a: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539750" y="3860800"/>
            <a:ext cx="73072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若</a:t>
            </a:r>
            <a:r>
              <a:rPr lang="en-US" altLang="zh-CN" sz="3200" i="1">
                <a:sym typeface="Symbol" panose="05050102010706020507" pitchFamily="18" charset="2"/>
              </a:rPr>
              <a:t>f</a:t>
            </a:r>
            <a:r>
              <a:rPr lang="en-US" altLang="zh-CN" sz="3200">
                <a:sym typeface="Symbol" panose="05050102010706020507" pitchFamily="18" charset="2"/>
              </a:rPr>
              <a:t>(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 </a:t>
            </a:r>
            <a:r>
              <a:rPr lang="en-US" altLang="zh-CN" sz="3200">
                <a:sym typeface="Symbol" panose="05050102010706020507" pitchFamily="18" charset="2"/>
              </a:rPr>
              <a:t>)&lt;</a:t>
            </a:r>
            <a:r>
              <a:rPr lang="en-US" altLang="zh-CN" sz="2800" i="1">
                <a:sym typeface="Symbol" panose="05050102010706020507" pitchFamily="18" charset="2"/>
              </a:rPr>
              <a:t> f</a:t>
            </a:r>
            <a:r>
              <a:rPr lang="en-US" altLang="zh-CN" sz="2800">
                <a:sym typeface="Symbol" panose="05050102010706020507" pitchFamily="18" charset="2"/>
              </a:rPr>
              <a:t>(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(2)</a:t>
            </a:r>
            <a:r>
              <a:rPr lang="en-US" altLang="zh-CN" sz="2800">
                <a:sym typeface="Symbol" panose="05050102010706020507" pitchFamily="18" charset="2"/>
              </a:rPr>
              <a:t>)</a:t>
            </a:r>
            <a:r>
              <a:rPr lang="en-US" altLang="zh-CN" sz="2800" i="1">
                <a:sym typeface="Symbol" panose="05050102010706020507" pitchFamily="18" charset="2"/>
              </a:rPr>
              <a:t> 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则此次模式移动成功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zh-CN" altLang="en-US" sz="2800">
                <a:sym typeface="Symbol" panose="05050102010706020507" pitchFamily="18" charset="2"/>
              </a:rPr>
              <a:t>于是取</a:t>
            </a:r>
          </a:p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新的基点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2700338" y="4508500"/>
            <a:ext cx="1711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(3) </a:t>
            </a:r>
            <a:r>
              <a:rPr lang="en-US" altLang="zh-CN" sz="3200">
                <a:sym typeface="Symbol" panose="05050102010706020507" pitchFamily="18" charset="2"/>
              </a:rPr>
              <a:t>= 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</a:t>
            </a:r>
            <a:endParaRPr lang="en-US" altLang="zh-CN" sz="2800">
              <a:sym typeface="Symbol" panose="05050102010706020507" pitchFamily="18" charset="2"/>
            </a:endParaRP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684213" y="5157788"/>
            <a:ext cx="4205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再沿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(3) </a:t>
            </a:r>
            <a:r>
              <a:rPr lang="en-US" altLang="zh-CN" sz="3200">
                <a:sym typeface="Symbol" panose="05050102010706020507" pitchFamily="18" charset="2"/>
              </a:rPr>
              <a:t>-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(2)</a:t>
            </a:r>
            <a:r>
              <a:rPr lang="zh-CN" altLang="en-US" sz="2800">
                <a:sym typeface="Symbol" panose="05050102010706020507" pitchFamily="18" charset="2"/>
              </a:rPr>
              <a:t>进行模式移动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/>
      <p:bldP spid="7177" grpId="0"/>
      <p:bldP spid="7178" grpId="0"/>
      <p:bldP spid="71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95288" y="981075"/>
            <a:ext cx="8150225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若</a:t>
            </a:r>
            <a:r>
              <a:rPr lang="en-US" altLang="zh-CN" sz="3200" i="1" dirty="0">
                <a:sym typeface="Symbol" panose="05050102010706020507" pitchFamily="18" charset="2"/>
              </a:rPr>
              <a:t>f</a:t>
            </a:r>
            <a:r>
              <a:rPr lang="en-US" altLang="zh-CN" sz="3200" dirty="0"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ym typeface="Symbol" panose="05050102010706020507" pitchFamily="18" charset="2"/>
              </a:rPr>
              <a:t>y</a:t>
            </a:r>
            <a:r>
              <a:rPr lang="en-US" altLang="zh-CN" sz="2800" baseline="30000" dirty="0">
                <a:sym typeface="Symbol" panose="05050102010706020507" pitchFamily="18" charset="2"/>
              </a:rPr>
              <a:t>(n+1) </a:t>
            </a:r>
            <a:r>
              <a:rPr lang="en-US" altLang="zh-CN" sz="3200" dirty="0">
                <a:sym typeface="Symbol" panose="05050102010706020507" pitchFamily="18" charset="2"/>
              </a:rPr>
              <a:t>)</a:t>
            </a:r>
            <a:r>
              <a:rPr lang="en-US" altLang="zh-CN" sz="2800" i="1" dirty="0">
                <a:sym typeface="Symbol" panose="05050102010706020507" pitchFamily="18" charset="2"/>
              </a:rPr>
              <a:t> f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sym typeface="Symbol" panose="05050102010706020507" pitchFamily="18" charset="2"/>
              </a:rPr>
              <a:t>(2)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en-US" altLang="zh-CN" sz="2800" i="1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ym typeface="Symbol" panose="05050102010706020507" pitchFamily="18" charset="2"/>
              </a:rPr>
              <a:t>则表明模式移动及此次模式移动</a:t>
            </a: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之后的探测移动均无效</a:t>
            </a:r>
            <a:r>
              <a:rPr lang="en-US" altLang="zh-CN" sz="2800" dirty="0">
                <a:sym typeface="Symbol" panose="05050102010706020507" pitchFamily="18" charset="2"/>
              </a:rPr>
              <a:t>.</a:t>
            </a:r>
            <a:r>
              <a:rPr lang="zh-CN" altLang="en-US" sz="2800" dirty="0">
                <a:sym typeface="Symbol" panose="05050102010706020507" pitchFamily="18" charset="2"/>
              </a:rPr>
              <a:t>于是退回到基点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sym typeface="Symbol" panose="05050102010706020507" pitchFamily="18" charset="2"/>
              </a:rPr>
              <a:t>(2)</a:t>
            </a:r>
            <a:r>
              <a:rPr lang="en-US" altLang="zh-CN" sz="2800" dirty="0">
                <a:sym typeface="Symbol" panose="05050102010706020507" pitchFamily="18" charset="2"/>
              </a:rPr>
              <a:t>.</a:t>
            </a:r>
            <a:r>
              <a:rPr lang="zh-CN" altLang="en-US" sz="2800" b="1" dirty="0">
                <a:sym typeface="Symbol" panose="05050102010706020507" pitchFamily="18" charset="2"/>
              </a:rPr>
              <a:t>减小步</a:t>
            </a:r>
          </a:p>
          <a:p>
            <a:pPr eaLnBrk="1" hangingPunct="1"/>
            <a:r>
              <a:rPr lang="zh-CN" altLang="en-US" sz="2800" b="1" dirty="0">
                <a:sym typeface="Symbol" panose="05050102010706020507" pitchFamily="18" charset="2"/>
              </a:rPr>
              <a:t>长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ym typeface="Symbol" panose="05050102010706020507" pitchFamily="18" charset="2"/>
              </a:rPr>
              <a:t>再从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sym typeface="Symbol" panose="05050102010706020507" pitchFamily="18" charset="2"/>
              </a:rPr>
              <a:t>(2) </a:t>
            </a:r>
            <a:r>
              <a:rPr lang="zh-CN" altLang="en-US" sz="2800" dirty="0">
                <a:sym typeface="Symbol" panose="05050102010706020507" pitchFamily="18" charset="2"/>
              </a:rPr>
              <a:t>出发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ym typeface="Symbol" panose="05050102010706020507" pitchFamily="18" charset="2"/>
              </a:rPr>
              <a:t>依次沿各坐标轴方向进行探测移动</a:t>
            </a: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如此继续下去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ym typeface="Symbol" panose="05050102010706020507" pitchFamily="18" charset="2"/>
              </a:rPr>
              <a:t>直到满足精度为止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ym typeface="Symbol" panose="05050102010706020507" pitchFamily="18" charset="2"/>
              </a:rPr>
              <a:t>即步长小于事先</a:t>
            </a: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给定的某个小的正数为止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179388" y="3284538"/>
            <a:ext cx="2139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ym typeface="Symbol" panose="05050102010706020507" pitchFamily="18" charset="2"/>
              </a:rPr>
              <a:t>1.2 </a:t>
            </a:r>
            <a:r>
              <a:rPr lang="zh-CN" altLang="en-US" sz="2800">
                <a:sym typeface="Symbol" panose="05050102010706020507" pitchFamily="18" charset="2"/>
              </a:rPr>
              <a:t>计算步骤</a:t>
            </a:r>
          </a:p>
        </p:txBody>
      </p: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827088" y="4005263"/>
          <a:ext cx="71755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9" name="Equation" r:id="rId3" imgW="7175500" imgH="1600200" progId="Equation.DSMT4">
                  <p:embed/>
                </p:oleObj>
              </mc:Choice>
              <mc:Fallback>
                <p:oleObj name="Equation" r:id="rId3" imgW="7175500" imgH="1600200" progId="Equation.DSMT4">
                  <p:embed/>
                  <p:pic>
                    <p:nvPicPr>
                      <p:cNvPr id="8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005263"/>
                        <a:ext cx="71755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AC8D40C-9420-47BA-A942-F3EF5ED1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  <p:bldP spid="81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Rectangle 5"/>
          <p:cNvSpPr>
            <a:spLocks noChangeArrowheads="1"/>
          </p:cNvSpPr>
          <p:nvPr/>
        </p:nvSpPr>
        <p:spPr bwMode="auto">
          <a:xfrm>
            <a:off x="838200" y="23622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进行步</a:t>
            </a:r>
            <a:r>
              <a:rPr lang="en-US" altLang="zh-CN" sz="2800">
                <a:sym typeface="Symbol" panose="05050102010706020507" pitchFamily="18" charset="2"/>
              </a:rPr>
              <a:t>4.,</a:t>
            </a:r>
            <a:r>
              <a:rPr lang="zh-CN" altLang="en-US" sz="2800">
                <a:sym typeface="Symbol" panose="05050102010706020507" pitchFamily="18" charset="2"/>
              </a:rPr>
              <a:t>否则转</a:t>
            </a:r>
            <a:r>
              <a:rPr lang="en-US" altLang="zh-CN" sz="2800">
                <a:sym typeface="Symbol" panose="05050102010706020507" pitchFamily="18" charset="2"/>
              </a:rPr>
              <a:t>3</a:t>
            </a:r>
          </a:p>
        </p:txBody>
      </p:sp>
      <p:graphicFrame>
        <p:nvGraphicFramePr>
          <p:cNvPr id="5122" name="Object 6"/>
          <p:cNvGraphicFramePr>
            <a:graphicFrameLocks noChangeAspect="1"/>
          </p:cNvGraphicFramePr>
          <p:nvPr/>
        </p:nvGraphicFramePr>
        <p:xfrm>
          <a:off x="838200" y="1143000"/>
          <a:ext cx="4711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4" name="Equation" r:id="rId3" imgW="4711700" imgH="508000" progId="Equation.DSMT4">
                  <p:embed/>
                </p:oleObj>
              </mc:Choice>
              <mc:Fallback>
                <p:oleObj name="Equation" r:id="rId3" imgW="4711700" imgH="508000" progId="Equation.DSMT4">
                  <p:embed/>
                  <p:pic>
                    <p:nvPicPr>
                      <p:cNvPr id="51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43000"/>
                        <a:ext cx="4711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2743200" y="1828800"/>
          <a:ext cx="3911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5" name="Equation" r:id="rId5" imgW="3911600" imgH="508000" progId="Equation.DSMT4">
                  <p:embed/>
                </p:oleObj>
              </mc:Choice>
              <mc:Fallback>
                <p:oleObj name="Equation" r:id="rId5" imgW="3911600" imgH="508000" progId="Equation.DSMT4">
                  <p:embed/>
                  <p:pic>
                    <p:nvPicPr>
                      <p:cNvPr id="51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828800"/>
                        <a:ext cx="3911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8"/>
          <p:cNvSpPr>
            <a:spLocks noChangeArrowheads="1"/>
          </p:cNvSpPr>
          <p:nvPr/>
        </p:nvSpPr>
        <p:spPr bwMode="auto">
          <a:xfrm>
            <a:off x="914400" y="40386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进行步</a:t>
            </a:r>
            <a:r>
              <a:rPr lang="en-US" altLang="zh-CN" sz="2800">
                <a:sym typeface="Symbol" panose="05050102010706020507" pitchFamily="18" charset="2"/>
              </a:rPr>
              <a:t>4.,</a:t>
            </a:r>
            <a:r>
              <a:rPr lang="zh-CN" altLang="en-US" sz="2800">
                <a:sym typeface="Symbol" panose="05050102010706020507" pitchFamily="18" charset="2"/>
              </a:rPr>
              <a:t>否则令</a:t>
            </a:r>
          </a:p>
        </p:txBody>
      </p:sp>
      <p:graphicFrame>
        <p:nvGraphicFramePr>
          <p:cNvPr id="5124" name="Object 9"/>
          <p:cNvGraphicFramePr>
            <a:graphicFrameLocks noChangeAspect="1"/>
          </p:cNvGraphicFramePr>
          <p:nvPr/>
        </p:nvGraphicFramePr>
        <p:xfrm>
          <a:off x="914400" y="2895600"/>
          <a:ext cx="469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6" name="Equation" r:id="rId7" imgW="4699000" imgH="508000" progId="Equation.DSMT4">
                  <p:embed/>
                </p:oleObj>
              </mc:Choice>
              <mc:Fallback>
                <p:oleObj name="Equation" r:id="rId7" imgW="4699000" imgH="508000" progId="Equation.DSMT4">
                  <p:embed/>
                  <p:pic>
                    <p:nvPicPr>
                      <p:cNvPr id="512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895600"/>
                        <a:ext cx="4699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0"/>
          <p:cNvGraphicFramePr>
            <a:graphicFrameLocks noChangeAspect="1"/>
          </p:cNvGraphicFramePr>
          <p:nvPr/>
        </p:nvGraphicFramePr>
        <p:xfrm>
          <a:off x="2667000" y="3505200"/>
          <a:ext cx="2921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7" name="Equation" r:id="rId9" imgW="2921000" imgH="508000" progId="Equation.DSMT4">
                  <p:embed/>
                </p:oleObj>
              </mc:Choice>
              <mc:Fallback>
                <p:oleObj name="Equation" r:id="rId9" imgW="2921000" imgH="508000" progId="Equation.DSMT4">
                  <p:embed/>
                  <p:pic>
                    <p:nvPicPr>
                      <p:cNvPr id="512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505200"/>
                        <a:ext cx="2921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Rectangle 11"/>
          <p:cNvSpPr>
            <a:spLocks noChangeArrowheads="1"/>
          </p:cNvSpPr>
          <p:nvPr/>
        </p:nvSpPr>
        <p:spPr bwMode="auto">
          <a:xfrm>
            <a:off x="914400" y="52578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进行步</a:t>
            </a:r>
            <a:r>
              <a:rPr lang="en-US" altLang="zh-CN" sz="2800">
                <a:sym typeface="Symbol" panose="05050102010706020507" pitchFamily="18" charset="2"/>
              </a:rPr>
              <a:t>4.</a:t>
            </a:r>
          </a:p>
        </p:txBody>
      </p:sp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2590800" y="4648200"/>
            <a:ext cx="1573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(j+1) </a:t>
            </a:r>
            <a:r>
              <a:rPr lang="en-US" altLang="zh-CN" sz="2800" i="1">
                <a:sym typeface="Symbol" panose="05050102010706020507" pitchFamily="18" charset="2"/>
              </a:rPr>
              <a:t>=</a:t>
            </a:r>
            <a:r>
              <a:rPr lang="en-US" altLang="zh-CN" sz="2800" baseline="30000">
                <a:sym typeface="Symbol" panose="05050102010706020507" pitchFamily="18" charset="2"/>
              </a:rPr>
              <a:t> 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(j)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E6D950-893C-4B7E-B728-961C839C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8FA8F-F271-4317-B2C8-F189B8E88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58265" y="1052513"/>
            <a:ext cx="8056345" cy="670409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 dirty="0"/>
              <a:t>4. </a:t>
            </a:r>
            <a:r>
              <a:rPr lang="zh-CN" altLang="en-US" sz="2800" b="0" dirty="0"/>
              <a:t>若</a:t>
            </a:r>
            <a:r>
              <a:rPr lang="en-US" altLang="zh-CN" sz="2800" b="0" dirty="0"/>
              <a:t>j&lt;n,</a:t>
            </a:r>
            <a:r>
              <a:rPr lang="zh-CN" altLang="en-US" sz="2800" b="0" dirty="0"/>
              <a:t>则置</a:t>
            </a:r>
            <a:r>
              <a:rPr lang="en-US" altLang="zh-CN" sz="2800" b="0" dirty="0"/>
              <a:t>j:=j+1,</a:t>
            </a:r>
            <a:r>
              <a:rPr lang="zh-CN" altLang="en-US" sz="2800" b="0" dirty="0"/>
              <a:t>转步</a:t>
            </a:r>
            <a:r>
              <a:rPr lang="en-US" altLang="zh-CN" sz="2800" b="0" dirty="0"/>
              <a:t>2,</a:t>
            </a:r>
            <a:r>
              <a:rPr lang="zh-CN" altLang="en-US" sz="2800" b="0" dirty="0"/>
              <a:t>否则</a:t>
            </a:r>
            <a:r>
              <a:rPr lang="en-US" altLang="zh-CN" sz="2800" b="0" dirty="0"/>
              <a:t>,</a:t>
            </a:r>
            <a:r>
              <a:rPr lang="zh-CN" altLang="en-US" sz="2800" b="0" dirty="0"/>
              <a:t>进行步</a:t>
            </a:r>
            <a:r>
              <a:rPr lang="en-US" altLang="zh-CN" sz="2800" b="0" dirty="0"/>
              <a:t>5.</a:t>
            </a:r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/>
        </p:nvGraphicFramePr>
        <p:xfrm>
          <a:off x="762000" y="1828800"/>
          <a:ext cx="706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7" name="Equation" r:id="rId3" imgW="7061200" imgH="457200" progId="Equation.DSMT4">
                  <p:embed/>
                </p:oleObj>
              </mc:Choice>
              <mc:Fallback>
                <p:oleObj name="Equation" r:id="rId3" imgW="7061200" imgH="457200" progId="Equation.DSMT4">
                  <p:embed/>
                  <p:pic>
                    <p:nvPicPr>
                      <p:cNvPr id="614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828800"/>
                        <a:ext cx="7061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Rectangle 6"/>
          <p:cNvSpPr>
            <a:spLocks noChangeArrowheads="1"/>
          </p:cNvSpPr>
          <p:nvPr/>
        </p:nvSpPr>
        <p:spPr bwMode="auto">
          <a:xfrm>
            <a:off x="685800" y="2438400"/>
            <a:ext cx="4572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/>
              <a:t>6.</a:t>
            </a:r>
            <a:r>
              <a:rPr lang="zh-CN" altLang="en-US" sz="2800"/>
              <a:t>置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(k+1) </a:t>
            </a:r>
            <a:r>
              <a:rPr lang="en-US" altLang="zh-CN" sz="2800"/>
              <a:t>=</a:t>
            </a:r>
            <a:r>
              <a:rPr lang="en-US" altLang="zh-CN" sz="2800" baseline="30000">
                <a:sym typeface="Symbol" panose="05050102010706020507" pitchFamily="18" charset="2"/>
              </a:rPr>
              <a:t> </a:t>
            </a:r>
            <a:r>
              <a:rPr lang="en-US" altLang="zh-CN" sz="3200">
                <a:sym typeface="Symbol" panose="05050102010706020507" pitchFamily="18" charset="2"/>
              </a:rPr>
              <a:t> 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令</a:t>
            </a:r>
            <a:endParaRPr lang="zh-CN" altLang="en-US" sz="2800" baseline="30000">
              <a:sym typeface="Symbol" panose="05050102010706020507" pitchFamily="18" charset="2"/>
            </a:endParaRPr>
          </a:p>
        </p:txBody>
      </p:sp>
      <p:sp>
        <p:nvSpPr>
          <p:cNvPr id="6153" name="Rectangle 7"/>
          <p:cNvSpPr>
            <a:spLocks noChangeArrowheads="1"/>
          </p:cNvSpPr>
          <p:nvPr/>
        </p:nvSpPr>
        <p:spPr bwMode="auto">
          <a:xfrm>
            <a:off x="1905000" y="3124200"/>
            <a:ext cx="3765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(1)</a:t>
            </a:r>
            <a:r>
              <a:rPr lang="en-US" altLang="zh-CN" sz="2800">
                <a:sym typeface="Symbol" panose="05050102010706020507" pitchFamily="18" charset="2"/>
              </a:rPr>
              <a:t> =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(k+1) </a:t>
            </a:r>
            <a:r>
              <a:rPr lang="en-US" altLang="zh-CN" sz="2800">
                <a:sym typeface="Symbol" panose="05050102010706020507" pitchFamily="18" charset="2"/>
              </a:rPr>
              <a:t>+(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(k+1) </a:t>
            </a:r>
            <a:r>
              <a:rPr lang="en-US" altLang="zh-CN" sz="3200">
                <a:sym typeface="Symbol" panose="05050102010706020507" pitchFamily="18" charset="2"/>
              </a:rPr>
              <a:t>-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(k)</a:t>
            </a:r>
            <a:r>
              <a:rPr lang="en-US" altLang="zh-CN" sz="2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154" name="Rectangle 8"/>
          <p:cNvSpPr>
            <a:spLocks noChangeArrowheads="1"/>
          </p:cNvSpPr>
          <p:nvPr/>
        </p:nvSpPr>
        <p:spPr bwMode="auto">
          <a:xfrm>
            <a:off x="990600" y="3810000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置</a:t>
            </a:r>
            <a:r>
              <a:rPr lang="en-US" altLang="zh-CN" sz="2800">
                <a:sym typeface="Symbol" panose="05050102010706020507" pitchFamily="18" charset="2"/>
              </a:rPr>
              <a:t>k:=k+1,j=1,</a:t>
            </a:r>
            <a:r>
              <a:rPr lang="zh-CN" altLang="en-US" sz="2800">
                <a:sym typeface="Symbol" panose="05050102010706020507" pitchFamily="18" charset="2"/>
              </a:rPr>
              <a:t>转步</a:t>
            </a:r>
            <a:r>
              <a:rPr lang="en-US" altLang="zh-CN" sz="2800">
                <a:sym typeface="Symbol" panose="05050102010706020507" pitchFamily="18" charset="2"/>
              </a:rPr>
              <a:t>2.</a:t>
            </a:r>
          </a:p>
        </p:txBody>
      </p:sp>
      <p:sp>
        <p:nvSpPr>
          <p:cNvPr id="6155" name="Rectangle 9"/>
          <p:cNvSpPr>
            <a:spLocks noChangeArrowheads="1"/>
          </p:cNvSpPr>
          <p:nvPr/>
        </p:nvSpPr>
        <p:spPr bwMode="auto">
          <a:xfrm>
            <a:off x="609600" y="4267200"/>
            <a:ext cx="5745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>
                <a:sym typeface="Symbol" panose="05050102010706020507" pitchFamily="18" charset="2"/>
              </a:rPr>
              <a:t>7.</a:t>
            </a:r>
            <a:r>
              <a:rPr lang="zh-CN" altLang="en-US" sz="2800">
                <a:sym typeface="Symbol" panose="05050102010706020507" pitchFamily="18" charset="2"/>
              </a:rPr>
              <a:t>若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则停止迭代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得点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(k) 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否则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置</a:t>
            </a:r>
          </a:p>
        </p:txBody>
      </p:sp>
      <p:sp>
        <p:nvSpPr>
          <p:cNvPr id="6156" name="Rectangle 10"/>
          <p:cNvSpPr>
            <a:spLocks noChangeArrowheads="1"/>
          </p:cNvSpPr>
          <p:nvPr/>
        </p:nvSpPr>
        <p:spPr bwMode="auto">
          <a:xfrm>
            <a:off x="2133600" y="4876800"/>
            <a:ext cx="495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>
                <a:sym typeface="Symbol" panose="05050102010706020507" pitchFamily="18" charset="2"/>
              </a:rPr>
              <a:t>:=</a:t>
            </a:r>
            <a:r>
              <a:rPr lang="en-US" altLang="zh-CN" sz="2800" i="1">
                <a:sym typeface="Symbol" panose="05050102010706020507" pitchFamily="18" charset="2"/>
              </a:rPr>
              <a:t></a:t>
            </a:r>
            <a:r>
              <a:rPr lang="en-US" altLang="zh-CN" sz="2800">
                <a:sym typeface="Symbol" panose="05050102010706020507" pitchFamily="18" charset="2"/>
              </a:rPr>
              <a:t>, 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(1) </a:t>
            </a:r>
            <a:r>
              <a:rPr lang="en-US" altLang="zh-CN" sz="2800">
                <a:sym typeface="Symbol" panose="05050102010706020507" pitchFamily="18" charset="2"/>
              </a:rPr>
              <a:t>=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(k),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(k+1) </a:t>
            </a:r>
            <a:r>
              <a:rPr lang="en-US" altLang="zh-CN" sz="3200">
                <a:sym typeface="Symbol" panose="05050102010706020507" pitchFamily="18" charset="2"/>
              </a:rPr>
              <a:t>=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(k)</a:t>
            </a:r>
          </a:p>
        </p:txBody>
      </p:sp>
      <p:sp>
        <p:nvSpPr>
          <p:cNvPr id="6157" name="Rectangle 12"/>
          <p:cNvSpPr>
            <a:spLocks noChangeArrowheads="1"/>
          </p:cNvSpPr>
          <p:nvPr/>
        </p:nvSpPr>
        <p:spPr bwMode="auto">
          <a:xfrm>
            <a:off x="685800" y="5410200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置 </a:t>
            </a:r>
            <a:r>
              <a:rPr lang="en-US" altLang="zh-CN" sz="2800" i="1">
                <a:sym typeface="Symbol" panose="05050102010706020507" pitchFamily="18" charset="2"/>
              </a:rPr>
              <a:t>k:=k+1,j=1,</a:t>
            </a:r>
            <a:r>
              <a:rPr lang="zh-CN" altLang="en-US" sz="2800">
                <a:sym typeface="Symbol" panose="05050102010706020507" pitchFamily="18" charset="2"/>
              </a:rPr>
              <a:t>转步</a:t>
            </a:r>
            <a:r>
              <a:rPr lang="en-US" altLang="zh-CN" sz="2800" i="1">
                <a:sym typeface="Symbol" panose="05050102010706020507" pitchFamily="18" charset="2"/>
              </a:rPr>
              <a:t>2.</a:t>
            </a:r>
            <a:r>
              <a:rPr lang="en-US" altLang="zh-CN" sz="2800">
                <a:sym typeface="Symbol" panose="05050102010706020507" pitchFamily="18" charset="2"/>
              </a:rPr>
              <a:t>  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C9128-14F0-480B-A0CE-DE576826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7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2270" y="1047550"/>
            <a:ext cx="5791200" cy="6096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例</a:t>
            </a:r>
            <a:r>
              <a:rPr lang="en-US" altLang="zh-CN" sz="2800" b="0" dirty="0"/>
              <a:t>1.1 </a:t>
            </a:r>
            <a:r>
              <a:rPr lang="zh-CN" altLang="en-US" sz="2800" b="0" dirty="0"/>
              <a:t>用模式搜索法求解下列问题</a:t>
            </a:r>
          </a:p>
        </p:txBody>
      </p:sp>
      <p:graphicFrame>
        <p:nvGraphicFramePr>
          <p:cNvPr id="7170" name="Object 5"/>
          <p:cNvGraphicFramePr>
            <a:graphicFrameLocks noChangeAspect="1"/>
          </p:cNvGraphicFramePr>
          <p:nvPr/>
        </p:nvGraphicFramePr>
        <p:xfrm>
          <a:off x="1600200" y="1676400"/>
          <a:ext cx="4914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2" name="Equation" r:id="rId3" imgW="4914900" imgH="469900" progId="Equation.DSMT4">
                  <p:embed/>
                </p:oleObj>
              </mc:Choice>
              <mc:Fallback>
                <p:oleObj name="Equation" r:id="rId3" imgW="4914900" imgH="469900" progId="Equation.DSMT4">
                  <p:embed/>
                  <p:pic>
                    <p:nvPicPr>
                      <p:cNvPr id="717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4914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6"/>
          <p:cNvGraphicFramePr>
            <a:graphicFrameLocks noChangeAspect="1"/>
          </p:cNvGraphicFramePr>
          <p:nvPr/>
        </p:nvGraphicFramePr>
        <p:xfrm>
          <a:off x="990600" y="2286000"/>
          <a:ext cx="427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3" name="Equation" r:id="rId5" imgW="4279900" imgH="457200" progId="Equation.DSMT4">
                  <p:embed/>
                </p:oleObj>
              </mc:Choice>
              <mc:Fallback>
                <p:oleObj name="Equation" r:id="rId5" imgW="4279900" imgH="457200" progId="Equation.DSMT4">
                  <p:embed/>
                  <p:pic>
                    <p:nvPicPr>
                      <p:cNvPr id="717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4279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7"/>
          <p:cNvGraphicFramePr>
            <a:graphicFrameLocks noChangeAspect="1"/>
          </p:cNvGraphicFramePr>
          <p:nvPr/>
        </p:nvGraphicFramePr>
        <p:xfrm>
          <a:off x="3059113" y="2924175"/>
          <a:ext cx="3111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4" name="Equation" r:id="rId7" imgW="3111500" imgH="469900" progId="Equation.DSMT4">
                  <p:embed/>
                </p:oleObj>
              </mc:Choice>
              <mc:Fallback>
                <p:oleObj name="Equation" r:id="rId7" imgW="3111500" imgH="469900" progId="Equation.DSMT4">
                  <p:embed/>
                  <p:pic>
                    <p:nvPicPr>
                      <p:cNvPr id="717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924175"/>
                        <a:ext cx="3111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8"/>
          <p:cNvGraphicFramePr>
            <a:graphicFrameLocks noChangeAspect="1"/>
          </p:cNvGraphicFramePr>
          <p:nvPr/>
        </p:nvGraphicFramePr>
        <p:xfrm>
          <a:off x="1143000" y="3505200"/>
          <a:ext cx="3822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5" name="Equation" r:id="rId9" imgW="3822700" imgH="825500" progId="Equation.DSMT4">
                  <p:embed/>
                </p:oleObj>
              </mc:Choice>
              <mc:Fallback>
                <p:oleObj name="Equation" r:id="rId9" imgW="3822700" imgH="825500" progId="Equation.DSMT4">
                  <p:embed/>
                  <p:pic>
                    <p:nvPicPr>
                      <p:cNvPr id="717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05200"/>
                        <a:ext cx="3822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9"/>
          <p:cNvSpPr>
            <a:spLocks noChangeArrowheads="1"/>
          </p:cNvSpPr>
          <p:nvPr/>
        </p:nvSpPr>
        <p:spPr bwMode="auto">
          <a:xfrm>
            <a:off x="971550" y="4652963"/>
            <a:ext cx="231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计算结果如下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19" name="Group 115"/>
          <p:cNvGraphicFramePr>
            <a:graphicFrameLocks noGrp="1"/>
          </p:cNvGraphicFramePr>
          <p:nvPr/>
        </p:nvGraphicFramePr>
        <p:xfrm>
          <a:off x="533400" y="1295400"/>
          <a:ext cx="8077200" cy="4648201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13287266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6940435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318324029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59060291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7238381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80737874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932115"/>
                  </a:ext>
                </a:extLst>
              </a:tr>
              <a:tr h="2005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(2,0)   81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627650"/>
                  </a:ext>
                </a:extLst>
              </a:tr>
              <a:tr h="2005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50353"/>
                  </a:ext>
                </a:extLst>
              </a:tr>
            </a:tbl>
          </a:graphicData>
        </a:graphic>
      </p:graphicFrame>
      <p:graphicFrame>
        <p:nvGraphicFramePr>
          <p:cNvPr id="8194" name="Object 101"/>
          <p:cNvGraphicFramePr>
            <a:graphicFrameLocks noChangeAspect="1"/>
          </p:cNvGraphicFramePr>
          <p:nvPr/>
        </p:nvGraphicFramePr>
        <p:xfrm>
          <a:off x="609600" y="1447800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58" name="Equation" r:id="rId3" imgW="508000" imgH="381000" progId="Equation.DSMT4">
                  <p:embed/>
                </p:oleObj>
              </mc:Choice>
              <mc:Fallback>
                <p:oleObj name="Equation" r:id="rId3" imgW="508000" imgH="381000" progId="Equation.DSMT4">
                  <p:embed/>
                  <p:pic>
                    <p:nvPicPr>
                      <p:cNvPr id="8194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447800"/>
                        <a:ext cx="457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02"/>
          <p:cNvGraphicFramePr>
            <a:graphicFrameLocks noChangeAspect="1"/>
          </p:cNvGraphicFramePr>
          <p:nvPr/>
        </p:nvGraphicFramePr>
        <p:xfrm>
          <a:off x="1219200" y="144780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59" name="Equation" r:id="rId5" imgW="215806" imgH="368140" progId="Equation.DSMT4">
                  <p:embed/>
                </p:oleObj>
              </mc:Choice>
              <mc:Fallback>
                <p:oleObj name="Equation" r:id="rId5" imgW="215806" imgH="368140" progId="Equation.DSMT4">
                  <p:embed/>
                  <p:pic>
                    <p:nvPicPr>
                      <p:cNvPr id="8195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47800"/>
                        <a:ext cx="215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03"/>
          <p:cNvGraphicFramePr>
            <a:graphicFrameLocks noChangeAspect="1"/>
          </p:cNvGraphicFramePr>
          <p:nvPr/>
        </p:nvGraphicFramePr>
        <p:xfrm>
          <a:off x="8229600" y="1447800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0" name="Equation" r:id="rId7" imgW="241091" imgH="317225" progId="Equation.DSMT4">
                  <p:embed/>
                </p:oleObj>
              </mc:Choice>
              <mc:Fallback>
                <p:oleObj name="Equation" r:id="rId7" imgW="241091" imgH="317225" progId="Equation.DSMT4">
                  <p:embed/>
                  <p:pic>
                    <p:nvPicPr>
                      <p:cNvPr id="8196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447800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04"/>
          <p:cNvGraphicFramePr>
            <a:graphicFrameLocks noChangeAspect="1"/>
          </p:cNvGraphicFramePr>
          <p:nvPr/>
        </p:nvGraphicFramePr>
        <p:xfrm>
          <a:off x="1752600" y="1371600"/>
          <a:ext cx="160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1" name="Equation" r:id="rId9" imgW="2057400" imgH="457200" progId="Equation.DSMT4">
                  <p:embed/>
                </p:oleObj>
              </mc:Choice>
              <mc:Fallback>
                <p:oleObj name="Equation" r:id="rId9" imgW="2057400" imgH="457200" progId="Equation.DSMT4">
                  <p:embed/>
                  <p:pic>
                    <p:nvPicPr>
                      <p:cNvPr id="8197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71600"/>
                        <a:ext cx="1600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105"/>
          <p:cNvGraphicFramePr>
            <a:graphicFrameLocks noChangeAspect="1"/>
          </p:cNvGraphicFramePr>
          <p:nvPr/>
        </p:nvGraphicFramePr>
        <p:xfrm>
          <a:off x="3657600" y="1447800"/>
          <a:ext cx="21336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2" name="Equation" r:id="rId11" imgW="3454400" imgH="508000" progId="Equation.DSMT4">
                  <p:embed/>
                </p:oleObj>
              </mc:Choice>
              <mc:Fallback>
                <p:oleObj name="Equation" r:id="rId11" imgW="3454400" imgH="508000" progId="Equation.DSMT4">
                  <p:embed/>
                  <p:pic>
                    <p:nvPicPr>
                      <p:cNvPr id="8198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47800"/>
                        <a:ext cx="21336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106"/>
          <p:cNvGraphicFramePr>
            <a:graphicFrameLocks noChangeAspect="1"/>
          </p:cNvGraphicFramePr>
          <p:nvPr/>
        </p:nvGraphicFramePr>
        <p:xfrm>
          <a:off x="6019800" y="1447800"/>
          <a:ext cx="2057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3" name="Equation" r:id="rId13" imgW="3175000" imgH="508000" progId="Equation.DSMT4">
                  <p:embed/>
                </p:oleObj>
              </mc:Choice>
              <mc:Fallback>
                <p:oleObj name="Equation" r:id="rId13" imgW="3175000" imgH="508000" progId="Equation.DSMT4">
                  <p:embed/>
                  <p:pic>
                    <p:nvPicPr>
                      <p:cNvPr id="8199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447800"/>
                        <a:ext cx="2057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110"/>
          <p:cNvGraphicFramePr>
            <a:graphicFrameLocks noChangeAspect="1"/>
          </p:cNvGraphicFramePr>
          <p:nvPr/>
        </p:nvGraphicFramePr>
        <p:xfrm>
          <a:off x="620713" y="2133600"/>
          <a:ext cx="4349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4" name="Equation" r:id="rId15" imgW="469800" imgH="380880" progId="Equation.DSMT4">
                  <p:embed/>
                </p:oleObj>
              </mc:Choice>
              <mc:Fallback>
                <p:oleObj name="Equation" r:id="rId15" imgW="469800" imgH="380880" progId="Equation.DSMT4">
                  <p:embed/>
                  <p:pic>
                    <p:nvPicPr>
                      <p:cNvPr id="820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2133600"/>
                        <a:ext cx="4349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116"/>
          <p:cNvGraphicFramePr>
            <a:graphicFrameLocks noChangeAspect="1"/>
          </p:cNvGraphicFramePr>
          <p:nvPr/>
        </p:nvGraphicFramePr>
        <p:xfrm>
          <a:off x="592138" y="4343400"/>
          <a:ext cx="4683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5" name="Equation" r:id="rId17" imgW="507960" imgH="380880" progId="Equation.DSMT4">
                  <p:embed/>
                </p:oleObj>
              </mc:Choice>
              <mc:Fallback>
                <p:oleObj name="Equation" r:id="rId17" imgW="507960" imgH="380880" progId="Equation.DSMT4">
                  <p:embed/>
                  <p:pic>
                    <p:nvPicPr>
                      <p:cNvPr id="8201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4343400"/>
                        <a:ext cx="4683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17"/>
          <p:cNvGraphicFramePr>
            <a:graphicFrameLocks noChangeAspect="1"/>
          </p:cNvGraphicFramePr>
          <p:nvPr/>
        </p:nvGraphicFramePr>
        <p:xfrm>
          <a:off x="1676400" y="2438400"/>
          <a:ext cx="156845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6" name="Equation" r:id="rId19" imgW="1917700" imgH="825500" progId="Equation.DSMT4">
                  <p:embed/>
                </p:oleObj>
              </mc:Choice>
              <mc:Fallback>
                <p:oleObj name="Equation" r:id="rId19" imgW="1917700" imgH="825500" progId="Equation.DSMT4">
                  <p:embed/>
                  <p:pic>
                    <p:nvPicPr>
                      <p:cNvPr id="8202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438400"/>
                        <a:ext cx="156845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8"/>
          <p:cNvGraphicFramePr>
            <a:graphicFrameLocks noChangeAspect="1"/>
          </p:cNvGraphicFramePr>
          <p:nvPr/>
        </p:nvGraphicFramePr>
        <p:xfrm>
          <a:off x="1731963" y="3124200"/>
          <a:ext cx="160972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7" name="Equation" r:id="rId21" imgW="1968500" imgH="825500" progId="Equation.DSMT4">
                  <p:embed/>
                </p:oleObj>
              </mc:Choice>
              <mc:Fallback>
                <p:oleObj name="Equation" r:id="rId21" imgW="1968500" imgH="825500" progId="Equation.DSMT4">
                  <p:embed/>
                  <p:pic>
                    <p:nvPicPr>
                      <p:cNvPr id="8203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3124200"/>
                        <a:ext cx="1609725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19"/>
          <p:cNvGraphicFramePr>
            <a:graphicFrameLocks noChangeAspect="1"/>
          </p:cNvGraphicFramePr>
          <p:nvPr/>
        </p:nvGraphicFramePr>
        <p:xfrm>
          <a:off x="3657600" y="1981200"/>
          <a:ext cx="2209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8" name="Equation" r:id="rId23" imgW="3365500" imgH="838200" progId="Equation.DSMT4">
                  <p:embed/>
                </p:oleObj>
              </mc:Choice>
              <mc:Fallback>
                <p:oleObj name="Equation" r:id="rId23" imgW="3365500" imgH="838200" progId="Equation.DSMT4">
                  <p:embed/>
                  <p:pic>
                    <p:nvPicPr>
                      <p:cNvPr id="8204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981200"/>
                        <a:ext cx="2209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20"/>
          <p:cNvGraphicFramePr>
            <a:graphicFrameLocks noChangeAspect="1"/>
          </p:cNvGraphicFramePr>
          <p:nvPr/>
        </p:nvGraphicFramePr>
        <p:xfrm>
          <a:off x="3657600" y="2667000"/>
          <a:ext cx="2133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69" name="Equation" r:id="rId25" imgW="3060700" imgH="838200" progId="Equation.DSMT4">
                  <p:embed/>
                </p:oleObj>
              </mc:Choice>
              <mc:Fallback>
                <p:oleObj name="Equation" r:id="rId25" imgW="3060700" imgH="838200" progId="Equation.DSMT4">
                  <p:embed/>
                  <p:pic>
                    <p:nvPicPr>
                      <p:cNvPr id="8205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667000"/>
                        <a:ext cx="21336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121"/>
          <p:cNvGraphicFramePr>
            <a:graphicFrameLocks noChangeAspect="1"/>
          </p:cNvGraphicFramePr>
          <p:nvPr/>
        </p:nvGraphicFramePr>
        <p:xfrm>
          <a:off x="6051550" y="2057400"/>
          <a:ext cx="19923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70" name="Equation" r:id="rId27" imgW="3035300" imgH="838200" progId="Equation.DSMT4">
                  <p:embed/>
                </p:oleObj>
              </mc:Choice>
              <mc:Fallback>
                <p:oleObj name="Equation" r:id="rId27" imgW="3035300" imgH="838200" progId="Equation.DSMT4">
                  <p:embed/>
                  <p:pic>
                    <p:nvPicPr>
                      <p:cNvPr id="8206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550" y="2057400"/>
                        <a:ext cx="199231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22"/>
          <p:cNvGraphicFramePr>
            <a:graphicFrameLocks noChangeAspect="1"/>
          </p:cNvGraphicFramePr>
          <p:nvPr/>
        </p:nvGraphicFramePr>
        <p:xfrm>
          <a:off x="8305800" y="2133600"/>
          <a:ext cx="20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71" name="Equation" r:id="rId29" imgW="203112" imgH="431613" progId="Equation.DSMT4">
                  <p:embed/>
                </p:oleObj>
              </mc:Choice>
              <mc:Fallback>
                <p:oleObj name="Equation" r:id="rId29" imgW="203112" imgH="431613" progId="Equation.DSMT4">
                  <p:embed/>
                  <p:pic>
                    <p:nvPicPr>
                      <p:cNvPr id="8207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133600"/>
                        <a:ext cx="203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23"/>
          <p:cNvGraphicFramePr>
            <a:graphicFrameLocks noChangeAspect="1"/>
          </p:cNvGraphicFramePr>
          <p:nvPr/>
        </p:nvGraphicFramePr>
        <p:xfrm>
          <a:off x="6100763" y="3505200"/>
          <a:ext cx="204787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72" name="Equation" r:id="rId31" imgW="2577960" imgH="457200" progId="Equation.DSMT4">
                  <p:embed/>
                </p:oleObj>
              </mc:Choice>
              <mc:Fallback>
                <p:oleObj name="Equation" r:id="rId31" imgW="2577960" imgH="457200" progId="Equation.DSMT4">
                  <p:embed/>
                  <p:pic>
                    <p:nvPicPr>
                      <p:cNvPr id="8208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0763" y="3505200"/>
                        <a:ext cx="204787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124"/>
          <p:cNvGraphicFramePr>
            <a:graphicFrameLocks noChangeAspect="1"/>
          </p:cNvGraphicFramePr>
          <p:nvPr/>
        </p:nvGraphicFramePr>
        <p:xfrm>
          <a:off x="3733800" y="3962400"/>
          <a:ext cx="2057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73" name="Equation" r:id="rId33" imgW="2603500" imgH="838200" progId="Equation.DSMT4">
                  <p:embed/>
                </p:oleObj>
              </mc:Choice>
              <mc:Fallback>
                <p:oleObj name="Equation" r:id="rId33" imgW="2603500" imgH="838200" progId="Equation.DSMT4">
                  <p:embed/>
                  <p:pic>
                    <p:nvPicPr>
                      <p:cNvPr id="8209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962400"/>
                        <a:ext cx="2057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125"/>
          <p:cNvGraphicFramePr>
            <a:graphicFrameLocks noChangeAspect="1"/>
          </p:cNvGraphicFramePr>
          <p:nvPr/>
        </p:nvGraphicFramePr>
        <p:xfrm>
          <a:off x="3810000" y="4648200"/>
          <a:ext cx="18288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74" name="Equation" r:id="rId35" imgW="2387600" imgH="825500" progId="Equation.DSMT4">
                  <p:embed/>
                </p:oleObj>
              </mc:Choice>
              <mc:Fallback>
                <p:oleObj name="Equation" r:id="rId35" imgW="2387600" imgH="825500" progId="Equation.DSMT4">
                  <p:embed/>
                  <p:pic>
                    <p:nvPicPr>
                      <p:cNvPr id="821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648200"/>
                        <a:ext cx="18288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1" name="Object 126"/>
          <p:cNvGraphicFramePr>
            <a:graphicFrameLocks noChangeAspect="1"/>
          </p:cNvGraphicFramePr>
          <p:nvPr/>
        </p:nvGraphicFramePr>
        <p:xfrm>
          <a:off x="5943600" y="3962400"/>
          <a:ext cx="2057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75" name="Equation" r:id="rId37" imgW="2603500" imgH="838200" progId="Equation.DSMT4">
                  <p:embed/>
                </p:oleObj>
              </mc:Choice>
              <mc:Fallback>
                <p:oleObj name="Equation" r:id="rId37" imgW="2603500" imgH="838200" progId="Equation.DSMT4">
                  <p:embed/>
                  <p:pic>
                    <p:nvPicPr>
                      <p:cNvPr id="8211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962400"/>
                        <a:ext cx="2057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" name="Object 127"/>
          <p:cNvGraphicFramePr>
            <a:graphicFrameLocks noChangeAspect="1"/>
          </p:cNvGraphicFramePr>
          <p:nvPr/>
        </p:nvGraphicFramePr>
        <p:xfrm>
          <a:off x="5943600" y="4648200"/>
          <a:ext cx="18288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76" name="Equation" r:id="rId39" imgW="2387600" imgH="825500" progId="Equation.DSMT4">
                  <p:embed/>
                </p:oleObj>
              </mc:Choice>
              <mc:Fallback>
                <p:oleObj name="Equation" r:id="rId39" imgW="2387600" imgH="825500" progId="Equation.DSMT4">
                  <p:embed/>
                  <p:pic>
                    <p:nvPicPr>
                      <p:cNvPr id="8212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648200"/>
                        <a:ext cx="18288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3" name="Object 128"/>
          <p:cNvGraphicFramePr>
            <a:graphicFrameLocks noChangeAspect="1"/>
          </p:cNvGraphicFramePr>
          <p:nvPr/>
        </p:nvGraphicFramePr>
        <p:xfrm>
          <a:off x="8305800" y="4038600"/>
          <a:ext cx="20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77" name="Equation" r:id="rId41" imgW="203112" imgH="431613" progId="Equation.DSMT4">
                  <p:embed/>
                </p:oleObj>
              </mc:Choice>
              <mc:Fallback>
                <p:oleObj name="Equation" r:id="rId41" imgW="203112" imgH="431613" progId="Equation.DSMT4">
                  <p:embed/>
                  <p:pic>
                    <p:nvPicPr>
                      <p:cNvPr id="8213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038600"/>
                        <a:ext cx="203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B711684B-7FC1-4B4C-8BE1-706F7E23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19" name="Group 115"/>
          <p:cNvGraphicFramePr>
            <a:graphicFrameLocks noGrp="1"/>
          </p:cNvGraphicFramePr>
          <p:nvPr/>
        </p:nvGraphicFramePr>
        <p:xfrm>
          <a:off x="533400" y="1295400"/>
          <a:ext cx="8077200" cy="4648201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1328726645"/>
                    </a:ext>
                  </a:extLst>
                </a:gridCol>
                <a:gridCol w="492493">
                  <a:extLst>
                    <a:ext uri="{9D8B030D-6E8A-4147-A177-3AD203B41FA5}">
                      <a16:colId xmlns:a16="http://schemas.microsoft.com/office/drawing/2014/main" val="569404353"/>
                    </a:ext>
                  </a:extLst>
                </a:gridCol>
                <a:gridCol w="2022107">
                  <a:extLst>
                    <a:ext uri="{9D8B030D-6E8A-4147-A177-3AD203B41FA5}">
                      <a16:colId xmlns:a16="http://schemas.microsoft.com/office/drawing/2014/main" val="2318324029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59060291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7238381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80737874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932115"/>
                  </a:ext>
                </a:extLst>
              </a:tr>
              <a:tr h="2005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(1,3)/2   5.25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(1,3/2) 1.25</a:t>
                      </a: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(1,1) 0        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(1,3/2) 1.25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 2)  5</a:t>
                      </a: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0</a:t>
                      </a: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627650"/>
                  </a:ext>
                </a:extLst>
              </a:tr>
              <a:tr h="2005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250353"/>
                  </a:ext>
                </a:extLst>
              </a:tr>
            </a:tbl>
          </a:graphicData>
        </a:graphic>
      </p:graphicFrame>
      <p:graphicFrame>
        <p:nvGraphicFramePr>
          <p:cNvPr id="8194" name="Object 101"/>
          <p:cNvGraphicFramePr>
            <a:graphicFrameLocks noChangeAspect="1"/>
          </p:cNvGraphicFramePr>
          <p:nvPr/>
        </p:nvGraphicFramePr>
        <p:xfrm>
          <a:off x="609600" y="1447800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5" name="Equation" r:id="rId3" imgW="508000" imgH="381000" progId="Equation.DSMT4">
                  <p:embed/>
                </p:oleObj>
              </mc:Choice>
              <mc:Fallback>
                <p:oleObj name="Equation" r:id="rId3" imgW="508000" imgH="381000" progId="Equation.DSMT4">
                  <p:embed/>
                  <p:pic>
                    <p:nvPicPr>
                      <p:cNvPr id="8194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447800"/>
                        <a:ext cx="457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02"/>
          <p:cNvGraphicFramePr>
            <a:graphicFrameLocks noChangeAspect="1"/>
          </p:cNvGraphicFramePr>
          <p:nvPr/>
        </p:nvGraphicFramePr>
        <p:xfrm>
          <a:off x="1219200" y="144780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6" name="Equation" r:id="rId5" imgW="215806" imgH="368140" progId="Equation.DSMT4">
                  <p:embed/>
                </p:oleObj>
              </mc:Choice>
              <mc:Fallback>
                <p:oleObj name="Equation" r:id="rId5" imgW="215806" imgH="368140" progId="Equation.DSMT4">
                  <p:embed/>
                  <p:pic>
                    <p:nvPicPr>
                      <p:cNvPr id="8195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47800"/>
                        <a:ext cx="215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03"/>
          <p:cNvGraphicFramePr>
            <a:graphicFrameLocks noChangeAspect="1"/>
          </p:cNvGraphicFramePr>
          <p:nvPr/>
        </p:nvGraphicFramePr>
        <p:xfrm>
          <a:off x="8229600" y="1447800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7" name="Equation" r:id="rId7" imgW="241091" imgH="317225" progId="Equation.DSMT4">
                  <p:embed/>
                </p:oleObj>
              </mc:Choice>
              <mc:Fallback>
                <p:oleObj name="Equation" r:id="rId7" imgW="241091" imgH="317225" progId="Equation.DSMT4">
                  <p:embed/>
                  <p:pic>
                    <p:nvPicPr>
                      <p:cNvPr id="8196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447800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04"/>
          <p:cNvGraphicFramePr>
            <a:graphicFrameLocks noChangeAspect="1"/>
          </p:cNvGraphicFramePr>
          <p:nvPr/>
        </p:nvGraphicFramePr>
        <p:xfrm>
          <a:off x="1752600" y="1371600"/>
          <a:ext cx="160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8" name="Equation" r:id="rId9" imgW="2057400" imgH="457200" progId="Equation.DSMT4">
                  <p:embed/>
                </p:oleObj>
              </mc:Choice>
              <mc:Fallback>
                <p:oleObj name="Equation" r:id="rId9" imgW="2057400" imgH="457200" progId="Equation.DSMT4">
                  <p:embed/>
                  <p:pic>
                    <p:nvPicPr>
                      <p:cNvPr id="8197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71600"/>
                        <a:ext cx="1600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105"/>
          <p:cNvGraphicFramePr>
            <a:graphicFrameLocks noChangeAspect="1"/>
          </p:cNvGraphicFramePr>
          <p:nvPr/>
        </p:nvGraphicFramePr>
        <p:xfrm>
          <a:off x="3657600" y="1447800"/>
          <a:ext cx="21336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9" name="Equation" r:id="rId11" imgW="3454400" imgH="508000" progId="Equation.DSMT4">
                  <p:embed/>
                </p:oleObj>
              </mc:Choice>
              <mc:Fallback>
                <p:oleObj name="Equation" r:id="rId11" imgW="3454400" imgH="508000" progId="Equation.DSMT4">
                  <p:embed/>
                  <p:pic>
                    <p:nvPicPr>
                      <p:cNvPr id="8198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47800"/>
                        <a:ext cx="21336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106"/>
          <p:cNvGraphicFramePr>
            <a:graphicFrameLocks noChangeAspect="1"/>
          </p:cNvGraphicFramePr>
          <p:nvPr/>
        </p:nvGraphicFramePr>
        <p:xfrm>
          <a:off x="6019800" y="1447800"/>
          <a:ext cx="2057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0" name="Equation" r:id="rId13" imgW="3175000" imgH="508000" progId="Equation.DSMT4">
                  <p:embed/>
                </p:oleObj>
              </mc:Choice>
              <mc:Fallback>
                <p:oleObj name="Equation" r:id="rId13" imgW="3175000" imgH="508000" progId="Equation.DSMT4">
                  <p:embed/>
                  <p:pic>
                    <p:nvPicPr>
                      <p:cNvPr id="8199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447800"/>
                        <a:ext cx="2057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116"/>
          <p:cNvGraphicFramePr>
            <a:graphicFrameLocks noChangeAspect="1"/>
          </p:cNvGraphicFramePr>
          <p:nvPr/>
        </p:nvGraphicFramePr>
        <p:xfrm>
          <a:off x="588963" y="2552700"/>
          <a:ext cx="4556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1" name="Equation" r:id="rId15" imgW="495000" imgH="380880" progId="Equation.DSMT4">
                  <p:embed/>
                </p:oleObj>
              </mc:Choice>
              <mc:Fallback>
                <p:oleObj name="Equation" r:id="rId15" imgW="495000" imgH="380880" progId="Equation.DSMT4">
                  <p:embed/>
                  <p:pic>
                    <p:nvPicPr>
                      <p:cNvPr id="8201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2552700"/>
                        <a:ext cx="4556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B711684B-7FC1-4B4C-8BE1-706F7E23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4" name="Object 128">
            <a:extLst>
              <a:ext uri="{FF2B5EF4-FFF2-40B4-BE49-F238E27FC236}">
                <a16:creationId xmlns:a16="http://schemas.microsoft.com/office/drawing/2014/main" id="{34A92286-571E-4F64-9940-C7F88ADFE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7299" y="2363805"/>
          <a:ext cx="20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2" name="Equation" r:id="rId17" imgW="203112" imgH="431613" progId="Equation.DSMT4">
                  <p:embed/>
                </p:oleObj>
              </mc:Choice>
              <mc:Fallback>
                <p:oleObj name="Equation" r:id="rId17" imgW="203112" imgH="431613" progId="Equation.DSMT4">
                  <p:embed/>
                  <p:pic>
                    <p:nvPicPr>
                      <p:cNvPr id="24" name="Object 128">
                        <a:extLst>
                          <a:ext uri="{FF2B5EF4-FFF2-40B4-BE49-F238E27FC236}">
                            <a16:creationId xmlns:a16="http://schemas.microsoft.com/office/drawing/2014/main" id="{34A92286-571E-4F64-9940-C7F88ADFEC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299" y="2363805"/>
                        <a:ext cx="203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>
            <a:extLst>
              <a:ext uri="{FF2B5EF4-FFF2-40B4-BE49-F238E27FC236}">
                <a16:creationId xmlns:a16="http://schemas.microsoft.com/office/drawing/2014/main" id="{33D37FC8-DF45-43BD-9EB8-A9EAFD0A4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8251" y="906379"/>
          <a:ext cx="4914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3" name="Equation" r:id="rId19" imgW="4914900" imgH="469900" progId="Equation.DSMT4">
                  <p:embed/>
                </p:oleObj>
              </mc:Choice>
              <mc:Fallback>
                <p:oleObj name="Equation" r:id="rId19" imgW="4914900" imgH="469900" progId="Equation.DSMT4">
                  <p:embed/>
                  <p:pic>
                    <p:nvPicPr>
                      <p:cNvPr id="25" name="Object 5">
                        <a:extLst>
                          <a:ext uri="{FF2B5EF4-FFF2-40B4-BE49-F238E27FC236}">
                            <a16:creationId xmlns:a16="http://schemas.microsoft.com/office/drawing/2014/main" id="{33D37FC8-DF45-43BD-9EB8-A9EAFD0A4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251" y="906379"/>
                        <a:ext cx="4914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1">
            <a:extLst>
              <a:ext uri="{FF2B5EF4-FFF2-40B4-BE49-F238E27FC236}">
                <a16:creationId xmlns:a16="http://schemas.microsoft.com/office/drawing/2014/main" id="{11C6F0F1-2D4C-46BE-8DD1-64E9004960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988" y="4357688"/>
          <a:ext cx="4667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4" name="Equation" r:id="rId21" imgW="507960" imgH="380880" progId="Equation.DSMT4">
                  <p:embed/>
                </p:oleObj>
              </mc:Choice>
              <mc:Fallback>
                <p:oleObj name="Equation" r:id="rId21" imgW="507960" imgH="380880" progId="Equation.DSMT4">
                  <p:embed/>
                  <p:pic>
                    <p:nvPicPr>
                      <p:cNvPr id="26" name="Object 41">
                        <a:extLst>
                          <a:ext uri="{FF2B5EF4-FFF2-40B4-BE49-F238E27FC236}">
                            <a16:creationId xmlns:a16="http://schemas.microsoft.com/office/drawing/2014/main" id="{11C6F0F1-2D4C-46BE-8DD1-64E9004960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4357688"/>
                        <a:ext cx="4667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8">
            <a:extLst>
              <a:ext uri="{FF2B5EF4-FFF2-40B4-BE49-F238E27FC236}">
                <a16:creationId xmlns:a16="http://schemas.microsoft.com/office/drawing/2014/main" id="{62ED3CB0-CCD1-4410-9C9C-FD97944B7C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434041"/>
          <a:ext cx="20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5" name="Equation" r:id="rId23" imgW="203112" imgH="431613" progId="Equation.DSMT4">
                  <p:embed/>
                </p:oleObj>
              </mc:Choice>
              <mc:Fallback>
                <p:oleObj name="Equation" r:id="rId23" imgW="203112" imgH="431613" progId="Equation.DSMT4">
                  <p:embed/>
                  <p:pic>
                    <p:nvPicPr>
                      <p:cNvPr id="30" name="Object 48">
                        <a:extLst>
                          <a:ext uri="{FF2B5EF4-FFF2-40B4-BE49-F238E27FC236}">
                            <a16:creationId xmlns:a16="http://schemas.microsoft.com/office/drawing/2014/main" id="{62ED3CB0-CCD1-4410-9C9C-FD97944B7C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434041"/>
                        <a:ext cx="203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5">
            <a:extLst>
              <a:ext uri="{FF2B5EF4-FFF2-40B4-BE49-F238E27FC236}">
                <a16:creationId xmlns:a16="http://schemas.microsoft.com/office/drawing/2014/main" id="{9E90D0EB-ADFD-4F63-A119-DE7024C10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4127635"/>
          <a:ext cx="19812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6" name="Equation" r:id="rId25" imgW="2781300" imgH="838200" progId="Equation.DSMT4">
                  <p:embed/>
                </p:oleObj>
              </mc:Choice>
              <mc:Fallback>
                <p:oleObj name="Equation" r:id="rId25" imgW="2781300" imgH="838200" progId="Equation.DSMT4">
                  <p:embed/>
                  <p:pic>
                    <p:nvPicPr>
                      <p:cNvPr id="33" name="Object 45">
                        <a:extLst>
                          <a:ext uri="{FF2B5EF4-FFF2-40B4-BE49-F238E27FC236}">
                            <a16:creationId xmlns:a16="http://schemas.microsoft.com/office/drawing/2014/main" id="{9E90D0EB-ADFD-4F63-A119-DE7024C10F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127635"/>
                        <a:ext cx="19812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6">
            <a:extLst>
              <a:ext uri="{FF2B5EF4-FFF2-40B4-BE49-F238E27FC236}">
                <a16:creationId xmlns:a16="http://schemas.microsoft.com/office/drawing/2014/main" id="{7ECA625F-1383-4B24-BDA3-3803ED419C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4737235"/>
          <a:ext cx="16732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7" name="Equation" r:id="rId27" imgW="2400300" imgH="838200" progId="Equation.DSMT4">
                  <p:embed/>
                </p:oleObj>
              </mc:Choice>
              <mc:Fallback>
                <p:oleObj name="Equation" r:id="rId27" imgW="2400300" imgH="838200" progId="Equation.DSMT4">
                  <p:embed/>
                  <p:pic>
                    <p:nvPicPr>
                      <p:cNvPr id="34" name="Object 46">
                        <a:extLst>
                          <a:ext uri="{FF2B5EF4-FFF2-40B4-BE49-F238E27FC236}">
                            <a16:creationId xmlns:a16="http://schemas.microsoft.com/office/drawing/2014/main" id="{7ECA625F-1383-4B24-BDA3-3803ED419C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737235"/>
                        <a:ext cx="16732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7">
            <a:extLst>
              <a:ext uri="{FF2B5EF4-FFF2-40B4-BE49-F238E27FC236}">
                <a16:creationId xmlns:a16="http://schemas.microsoft.com/office/drawing/2014/main" id="{EE2D86F9-BBDC-4CBF-9E67-F1DA6E6244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0" y="4203835"/>
          <a:ext cx="18256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8" name="Equation" r:id="rId29" imgW="2781300" imgH="838200" progId="Equation.DSMT4">
                  <p:embed/>
                </p:oleObj>
              </mc:Choice>
              <mc:Fallback>
                <p:oleObj name="Equation" r:id="rId29" imgW="2781300" imgH="838200" progId="Equation.DSMT4">
                  <p:embed/>
                  <p:pic>
                    <p:nvPicPr>
                      <p:cNvPr id="35" name="Object 47">
                        <a:extLst>
                          <a:ext uri="{FF2B5EF4-FFF2-40B4-BE49-F238E27FC236}">
                            <a16:creationId xmlns:a16="http://schemas.microsoft.com/office/drawing/2014/main" id="{EE2D86F9-BBDC-4CBF-9E67-F1DA6E6244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4203835"/>
                        <a:ext cx="18256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5">
            <a:extLst>
              <a:ext uri="{FF2B5EF4-FFF2-40B4-BE49-F238E27FC236}">
                <a16:creationId xmlns:a16="http://schemas.microsoft.com/office/drawing/2014/main" id="{CDC1F50F-D4FF-403F-95EF-DDF7E14A57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6025" y="4889635"/>
          <a:ext cx="15763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9" name="Equation" r:id="rId31" imgW="2400300" imgH="838200" progId="Equation.DSMT4">
                  <p:embed/>
                </p:oleObj>
              </mc:Choice>
              <mc:Fallback>
                <p:oleObj name="Equation" r:id="rId31" imgW="2400300" imgH="838200" progId="Equation.DSMT4">
                  <p:embed/>
                  <p:pic>
                    <p:nvPicPr>
                      <p:cNvPr id="37" name="Object 55">
                        <a:extLst>
                          <a:ext uri="{FF2B5EF4-FFF2-40B4-BE49-F238E27FC236}">
                            <a16:creationId xmlns:a16="http://schemas.microsoft.com/office/drawing/2014/main" id="{CDC1F50F-D4FF-403F-95EF-DDF7E14A57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6025" y="4889635"/>
                        <a:ext cx="15763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606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88" name="Group 60"/>
          <p:cNvGraphicFramePr>
            <a:graphicFrameLocks noGrp="1"/>
          </p:cNvGraphicFramePr>
          <p:nvPr/>
        </p:nvGraphicFramePr>
        <p:xfrm>
          <a:off x="457200" y="1143000"/>
          <a:ext cx="8077200" cy="4800601"/>
        </p:xfrm>
        <a:graphic>
          <a:graphicData uri="http://schemas.openxmlformats.org/drawingml/2006/table">
            <a:tbl>
              <a:tblPr/>
              <a:tblGrid>
                <a:gridCol w="658813">
                  <a:extLst>
                    <a:ext uri="{9D8B030D-6E8A-4147-A177-3AD203B41FA5}">
                      <a16:colId xmlns:a16="http://schemas.microsoft.com/office/drawing/2014/main" val="3588154605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418103964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666775178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00605454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7913638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35759997"/>
                    </a:ext>
                  </a:extLst>
                </a:gridCol>
              </a:tblGrid>
              <a:tr h="790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61344"/>
                  </a:ext>
                </a:extLst>
              </a:tr>
              <a:tr h="2005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           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38011"/>
                  </a:ext>
                </a:extLst>
              </a:tr>
              <a:tr h="2005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220495"/>
                  </a:ext>
                </a:extLst>
              </a:tr>
            </a:tbl>
          </a:graphicData>
        </a:graphic>
      </p:graphicFrame>
      <p:graphicFrame>
        <p:nvGraphicFramePr>
          <p:cNvPr id="9218" name="Object 35"/>
          <p:cNvGraphicFramePr>
            <a:graphicFrameLocks noChangeAspect="1"/>
          </p:cNvGraphicFramePr>
          <p:nvPr/>
        </p:nvGraphicFramePr>
        <p:xfrm>
          <a:off x="609600" y="1447800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1" name="Equation" r:id="rId3" imgW="508000" imgH="381000" progId="Equation.DSMT4">
                  <p:embed/>
                </p:oleObj>
              </mc:Choice>
              <mc:Fallback>
                <p:oleObj name="Equation" r:id="rId3" imgW="508000" imgH="381000" progId="Equation.DSMT4">
                  <p:embed/>
                  <p:pic>
                    <p:nvPicPr>
                      <p:cNvPr id="9218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447800"/>
                        <a:ext cx="457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6"/>
          <p:cNvGraphicFramePr>
            <a:graphicFrameLocks noChangeAspect="1"/>
          </p:cNvGraphicFramePr>
          <p:nvPr/>
        </p:nvGraphicFramePr>
        <p:xfrm>
          <a:off x="1219200" y="144780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2" name="Equation" r:id="rId5" imgW="215806" imgH="368140" progId="Equation.DSMT4">
                  <p:embed/>
                </p:oleObj>
              </mc:Choice>
              <mc:Fallback>
                <p:oleObj name="Equation" r:id="rId5" imgW="215806" imgH="368140" progId="Equation.DSMT4">
                  <p:embed/>
                  <p:pic>
                    <p:nvPicPr>
                      <p:cNvPr id="9219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47800"/>
                        <a:ext cx="215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37"/>
          <p:cNvGraphicFramePr>
            <a:graphicFrameLocks noChangeAspect="1"/>
          </p:cNvGraphicFramePr>
          <p:nvPr/>
        </p:nvGraphicFramePr>
        <p:xfrm>
          <a:off x="8229600" y="1447800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3" name="Equation" r:id="rId7" imgW="241091" imgH="317225" progId="Equation.DSMT4">
                  <p:embed/>
                </p:oleObj>
              </mc:Choice>
              <mc:Fallback>
                <p:oleObj name="Equation" r:id="rId7" imgW="241091" imgH="317225" progId="Equation.DSMT4">
                  <p:embed/>
                  <p:pic>
                    <p:nvPicPr>
                      <p:cNvPr id="922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447800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38"/>
          <p:cNvGraphicFramePr>
            <a:graphicFrameLocks noChangeAspect="1"/>
          </p:cNvGraphicFramePr>
          <p:nvPr/>
        </p:nvGraphicFramePr>
        <p:xfrm>
          <a:off x="1752600" y="1371600"/>
          <a:ext cx="160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4" name="Equation" r:id="rId9" imgW="2057400" imgH="457200" progId="Equation.DSMT4">
                  <p:embed/>
                </p:oleObj>
              </mc:Choice>
              <mc:Fallback>
                <p:oleObj name="Equation" r:id="rId9" imgW="2057400" imgH="457200" progId="Equation.DSMT4">
                  <p:embed/>
                  <p:pic>
                    <p:nvPicPr>
                      <p:cNvPr id="9221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71600"/>
                        <a:ext cx="1600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39"/>
          <p:cNvGraphicFramePr>
            <a:graphicFrameLocks noChangeAspect="1"/>
          </p:cNvGraphicFramePr>
          <p:nvPr/>
        </p:nvGraphicFramePr>
        <p:xfrm>
          <a:off x="3657600" y="1447800"/>
          <a:ext cx="21336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5" name="Equation" r:id="rId11" imgW="3454400" imgH="508000" progId="Equation.DSMT4">
                  <p:embed/>
                </p:oleObj>
              </mc:Choice>
              <mc:Fallback>
                <p:oleObj name="Equation" r:id="rId11" imgW="3454400" imgH="508000" progId="Equation.DSMT4">
                  <p:embed/>
                  <p:pic>
                    <p:nvPicPr>
                      <p:cNvPr id="9222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47800"/>
                        <a:ext cx="21336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40"/>
          <p:cNvGraphicFramePr>
            <a:graphicFrameLocks noChangeAspect="1"/>
          </p:cNvGraphicFramePr>
          <p:nvPr/>
        </p:nvGraphicFramePr>
        <p:xfrm>
          <a:off x="6019800" y="1447800"/>
          <a:ext cx="2057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6" name="Equation" r:id="rId13" imgW="3175000" imgH="508000" progId="Equation.DSMT4">
                  <p:embed/>
                </p:oleObj>
              </mc:Choice>
              <mc:Fallback>
                <p:oleObj name="Equation" r:id="rId13" imgW="3175000" imgH="508000" progId="Equation.DSMT4">
                  <p:embed/>
                  <p:pic>
                    <p:nvPicPr>
                      <p:cNvPr id="9223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447800"/>
                        <a:ext cx="2057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42"/>
          <p:cNvGraphicFramePr>
            <a:graphicFrameLocks noChangeAspect="1"/>
          </p:cNvGraphicFramePr>
          <p:nvPr/>
        </p:nvGraphicFramePr>
        <p:xfrm>
          <a:off x="534988" y="2504973"/>
          <a:ext cx="4556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7" name="Equation" r:id="rId15" imgW="495000" imgH="380880" progId="Equation.DSMT4">
                  <p:embed/>
                </p:oleObj>
              </mc:Choice>
              <mc:Fallback>
                <p:oleObj name="Equation" r:id="rId15" imgW="495000" imgH="380880" progId="Equation.DSMT4">
                  <p:embed/>
                  <p:pic>
                    <p:nvPicPr>
                      <p:cNvPr id="9225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2504973"/>
                        <a:ext cx="4556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50"/>
          <p:cNvGraphicFramePr>
            <a:graphicFrameLocks noChangeAspect="1"/>
          </p:cNvGraphicFramePr>
          <p:nvPr/>
        </p:nvGraphicFramePr>
        <p:xfrm>
          <a:off x="3633788" y="2123973"/>
          <a:ext cx="208121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8" name="Equation" r:id="rId17" imgW="2857500" imgH="838200" progId="Equation.DSMT4">
                  <p:embed/>
                </p:oleObj>
              </mc:Choice>
              <mc:Fallback>
                <p:oleObj name="Equation" r:id="rId17" imgW="2857500" imgH="838200" progId="Equation.DSMT4">
                  <p:embed/>
                  <p:pic>
                    <p:nvPicPr>
                      <p:cNvPr id="923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2123973"/>
                        <a:ext cx="208121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51"/>
          <p:cNvGraphicFramePr>
            <a:graphicFrameLocks noChangeAspect="1"/>
          </p:cNvGraphicFramePr>
          <p:nvPr/>
        </p:nvGraphicFramePr>
        <p:xfrm>
          <a:off x="3733800" y="2733573"/>
          <a:ext cx="18764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9" name="Equation" r:id="rId19" imgW="2451100" imgH="838200" progId="Equation.DSMT4">
                  <p:embed/>
                </p:oleObj>
              </mc:Choice>
              <mc:Fallback>
                <p:oleObj name="Equation" r:id="rId19" imgW="2451100" imgH="838200" progId="Equation.DSMT4">
                  <p:embed/>
                  <p:pic>
                    <p:nvPicPr>
                      <p:cNvPr id="9231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733573"/>
                        <a:ext cx="18764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Object 52"/>
          <p:cNvGraphicFramePr>
            <a:graphicFrameLocks noChangeAspect="1"/>
          </p:cNvGraphicFramePr>
          <p:nvPr/>
        </p:nvGraphicFramePr>
        <p:xfrm>
          <a:off x="6019800" y="2123973"/>
          <a:ext cx="19812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60" name="Equation" r:id="rId21" imgW="2946400" imgH="838200" progId="Equation.DSMT4">
                  <p:embed/>
                </p:oleObj>
              </mc:Choice>
              <mc:Fallback>
                <p:oleObj name="Equation" r:id="rId21" imgW="2946400" imgH="838200" progId="Equation.DSMT4">
                  <p:embed/>
                  <p:pic>
                    <p:nvPicPr>
                      <p:cNvPr id="9232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123973"/>
                        <a:ext cx="19812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53"/>
          <p:cNvGraphicFramePr>
            <a:graphicFrameLocks noChangeAspect="1"/>
          </p:cNvGraphicFramePr>
          <p:nvPr/>
        </p:nvGraphicFramePr>
        <p:xfrm>
          <a:off x="6019800" y="2809773"/>
          <a:ext cx="18875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61" name="Equation" r:id="rId23" imgW="2463800" imgH="838200" progId="Equation.DSMT4">
                  <p:embed/>
                </p:oleObj>
              </mc:Choice>
              <mc:Fallback>
                <p:oleObj name="Equation" r:id="rId23" imgW="2463800" imgH="838200" progId="Equation.DSMT4">
                  <p:embed/>
                  <p:pic>
                    <p:nvPicPr>
                      <p:cNvPr id="923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809773"/>
                        <a:ext cx="1887538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54"/>
          <p:cNvGraphicFramePr>
            <a:graphicFrameLocks noChangeAspect="1"/>
          </p:cNvGraphicFramePr>
          <p:nvPr/>
        </p:nvGraphicFramePr>
        <p:xfrm>
          <a:off x="8312150" y="2200173"/>
          <a:ext cx="19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62" name="Equation" r:id="rId25" imgW="190417" imgH="431613" progId="Equation.DSMT4">
                  <p:embed/>
                </p:oleObj>
              </mc:Choice>
              <mc:Fallback>
                <p:oleObj name="Equation" r:id="rId25" imgW="190417" imgH="431613" progId="Equation.DSMT4">
                  <p:embed/>
                  <p:pic>
                    <p:nvPicPr>
                      <p:cNvPr id="9234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150" y="2200173"/>
                        <a:ext cx="190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59"/>
          <p:cNvGraphicFramePr>
            <a:graphicFrameLocks noChangeAspect="1"/>
          </p:cNvGraphicFramePr>
          <p:nvPr/>
        </p:nvGraphicFramePr>
        <p:xfrm>
          <a:off x="457200" y="5943600"/>
          <a:ext cx="2044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63" name="Equation" r:id="rId27" imgW="2044440" imgH="457200" progId="Equation.DSMT4">
                  <p:embed/>
                </p:oleObj>
              </mc:Choice>
              <mc:Fallback>
                <p:oleObj name="Equation" r:id="rId27" imgW="2044440" imgH="457200" progId="Equation.DSMT4">
                  <p:embed/>
                  <p:pic>
                    <p:nvPicPr>
                      <p:cNvPr id="9236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943600"/>
                        <a:ext cx="2044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9FB29EE-0794-45D2-8AB5-E95E4718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600"/>
              <a:t>2.</a:t>
            </a:r>
            <a:r>
              <a:rPr lang="en-US" altLang="zh-CN" sz="3600">
                <a:ea typeface="楷体_GB2312" pitchFamily="49" charset="-122"/>
              </a:rPr>
              <a:t>Rosenbrock</a:t>
            </a:r>
            <a:r>
              <a:rPr lang="zh-CN" altLang="en-US" sz="3600">
                <a:ea typeface="楷体_GB2312" pitchFamily="49" charset="-122"/>
              </a:rPr>
              <a:t>算法</a:t>
            </a:r>
            <a:r>
              <a:rPr lang="en-US" altLang="zh-CN" sz="3600">
                <a:ea typeface="楷体_GB2312" pitchFamily="49" charset="-122"/>
              </a:rPr>
              <a:t>(</a:t>
            </a:r>
            <a:r>
              <a:rPr lang="zh-CN" altLang="en-US" sz="3600">
                <a:ea typeface="楷体_GB2312" pitchFamily="49" charset="-122"/>
              </a:rPr>
              <a:t>转轴法</a:t>
            </a:r>
            <a:r>
              <a:rPr lang="en-US" altLang="zh-CN" sz="3600">
                <a:ea typeface="楷体_GB2312" pitchFamily="49" charset="-122"/>
              </a:rPr>
              <a:t>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2762" y="1019576"/>
            <a:ext cx="3962400" cy="4572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/>
              <a:t>2.1, </a:t>
            </a:r>
            <a:r>
              <a:rPr lang="zh-CN" altLang="en-US" sz="2800" dirty="0"/>
              <a:t>方法概述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539750" y="1557338"/>
            <a:ext cx="80073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/>
              <a:t>算法每次迭代包括探测阶段和构造搜索方向两部分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609600" y="2286000"/>
            <a:ext cx="80168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dirty="0"/>
              <a:t>探测阶段</a:t>
            </a:r>
            <a:r>
              <a:rPr lang="en-US" altLang="zh-CN" sz="2800" dirty="0"/>
              <a:t>:</a:t>
            </a:r>
            <a:r>
              <a:rPr lang="zh-CN" altLang="en-US" sz="2800" dirty="0"/>
              <a:t>从一点出发</a:t>
            </a:r>
            <a:r>
              <a:rPr lang="en-US" altLang="zh-CN" sz="2800" dirty="0"/>
              <a:t>,</a:t>
            </a:r>
            <a:r>
              <a:rPr lang="zh-CN" altLang="en-US" sz="2800" dirty="0"/>
              <a:t>依次沿</a:t>
            </a:r>
            <a:r>
              <a:rPr lang="en-US" altLang="zh-CN" sz="2800" dirty="0"/>
              <a:t>n</a:t>
            </a:r>
            <a:r>
              <a:rPr lang="zh-CN" altLang="en-US" sz="2800" dirty="0"/>
              <a:t>个单位正交方向进行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dirty="0"/>
              <a:t>探测移动</a:t>
            </a:r>
            <a:r>
              <a:rPr lang="en-US" altLang="zh-CN" sz="2800" dirty="0"/>
              <a:t>,</a:t>
            </a:r>
            <a:r>
              <a:rPr lang="zh-CN" altLang="en-US" sz="2800" dirty="0"/>
              <a:t>一轮探测之后</a:t>
            </a:r>
            <a:r>
              <a:rPr lang="en-US" altLang="zh-CN" sz="2800" dirty="0"/>
              <a:t>,</a:t>
            </a:r>
            <a:r>
              <a:rPr lang="zh-CN" altLang="en-US" sz="2800" dirty="0"/>
              <a:t>再从第</a:t>
            </a:r>
            <a:r>
              <a:rPr lang="en-US" altLang="zh-CN" sz="2800" dirty="0"/>
              <a:t>1</a:t>
            </a:r>
            <a:r>
              <a:rPr lang="zh-CN" altLang="en-US" sz="2800" dirty="0"/>
              <a:t>个方向开始继续探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dirty="0"/>
              <a:t>测</a:t>
            </a:r>
            <a:r>
              <a:rPr lang="en-US" altLang="zh-CN" sz="2800" dirty="0"/>
              <a:t>.</a:t>
            </a:r>
            <a:r>
              <a:rPr lang="zh-CN" altLang="en-US" sz="2800" dirty="0"/>
              <a:t>经过若干轮探测移动</a:t>
            </a:r>
            <a:r>
              <a:rPr lang="en-US" altLang="zh-CN" sz="2800" dirty="0"/>
              <a:t>,</a:t>
            </a:r>
            <a:r>
              <a:rPr lang="zh-CN" altLang="en-US" sz="2800" dirty="0"/>
              <a:t>完成一个</a:t>
            </a:r>
            <a:r>
              <a:rPr lang="zh-CN" altLang="en-US" sz="2800" b="1" dirty="0"/>
              <a:t>探测阶段</a:t>
            </a:r>
            <a:r>
              <a:rPr lang="en-US" altLang="zh-CN" sz="2800" dirty="0"/>
              <a:t>.</a:t>
            </a:r>
            <a:r>
              <a:rPr lang="zh-CN" altLang="en-US" sz="2800" dirty="0"/>
              <a:t>同时得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dirty="0"/>
              <a:t>到一组新的正交方向</a:t>
            </a:r>
            <a:r>
              <a:rPr lang="en-US" altLang="zh-CN" sz="2800" dirty="0"/>
              <a:t>,</a:t>
            </a:r>
            <a:r>
              <a:rPr lang="zh-CN" altLang="en-US" sz="2800" dirty="0"/>
              <a:t>将其单位化</a:t>
            </a:r>
            <a:r>
              <a:rPr lang="en-US" altLang="zh-CN" sz="2800" dirty="0"/>
              <a:t>.</a:t>
            </a:r>
            <a:r>
              <a:rPr lang="zh-CN" altLang="en-US" sz="2800" dirty="0"/>
              <a:t>称之为</a:t>
            </a:r>
            <a:r>
              <a:rPr lang="zh-CN" altLang="en-US" sz="2800" b="1" dirty="0"/>
              <a:t>转轴</a:t>
            </a:r>
            <a:r>
              <a:rPr lang="en-US" altLang="zh-CN" sz="2800" b="1" dirty="0"/>
              <a:t>.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611188" y="4221163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/>
              <a:t>1.</a:t>
            </a:r>
            <a:r>
              <a:rPr lang="zh-CN" altLang="en-US" sz="2800" dirty="0"/>
              <a:t>探测阶段</a:t>
            </a:r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900113" y="4797425"/>
          <a:ext cx="7518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8" name="Equation" r:id="rId3" imgW="7518400" imgH="965200" progId="Equation.DSMT4">
                  <p:embed/>
                </p:oleObj>
              </mc:Choice>
              <mc:Fallback>
                <p:oleObj name="Equation" r:id="rId3" imgW="7518400" imgH="965200" progId="Equation.DSMT4">
                  <p:embed/>
                  <p:pic>
                    <p:nvPicPr>
                      <p:cNvPr id="20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797425"/>
                        <a:ext cx="7518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5" grpId="0"/>
      <p:bldP spid="2048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48205-EA59-46A3-B389-E29B69F35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2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773" y="2343751"/>
            <a:ext cx="6781800" cy="4572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/>
              <a:t>它们是单位正交方向</a:t>
            </a:r>
            <a:r>
              <a:rPr lang="en-US" altLang="zh-CN" sz="2800" b="0"/>
              <a:t>,</a:t>
            </a:r>
            <a:r>
              <a:rPr lang="zh-CN" altLang="en-US" sz="2800" b="0"/>
              <a:t>沿各方向的步长为</a:t>
            </a:r>
          </a:p>
        </p:txBody>
      </p:sp>
      <p:graphicFrame>
        <p:nvGraphicFramePr>
          <p:cNvPr id="11266" name="Object 5"/>
          <p:cNvGraphicFramePr>
            <a:graphicFrameLocks noChangeAspect="1"/>
          </p:cNvGraphicFramePr>
          <p:nvPr/>
        </p:nvGraphicFramePr>
        <p:xfrm>
          <a:off x="609600" y="1066800"/>
          <a:ext cx="574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1" name="Equation" r:id="rId3" imgW="5740400" imgH="431800" progId="Equation.DSMT4">
                  <p:embed/>
                </p:oleObj>
              </mc:Choice>
              <mc:Fallback>
                <p:oleObj name="Equation" r:id="rId3" imgW="5740400" imgH="431800" progId="Equation.DSMT4">
                  <p:embed/>
                  <p:pic>
                    <p:nvPicPr>
                      <p:cNvPr id="112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66800"/>
                        <a:ext cx="5740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6"/>
          <p:cNvGraphicFramePr>
            <a:graphicFrameLocks noChangeAspect="1"/>
          </p:cNvGraphicFramePr>
          <p:nvPr/>
        </p:nvGraphicFramePr>
        <p:xfrm>
          <a:off x="2819400" y="1676400"/>
          <a:ext cx="228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2" name="Equation" r:id="rId5" imgW="2159000" imgH="431800" progId="Equation.DSMT4">
                  <p:embed/>
                </p:oleObj>
              </mc:Choice>
              <mc:Fallback>
                <p:oleObj name="Equation" r:id="rId5" imgW="2159000" imgH="431800" progId="Equation.DSMT4">
                  <p:embed/>
                  <p:pic>
                    <p:nvPicPr>
                      <p:cNvPr id="112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76400"/>
                        <a:ext cx="2286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7"/>
          <p:cNvGraphicFramePr>
            <a:graphicFrameLocks noChangeAspect="1"/>
          </p:cNvGraphicFramePr>
          <p:nvPr/>
        </p:nvGraphicFramePr>
        <p:xfrm>
          <a:off x="2895600" y="2895600"/>
          <a:ext cx="19812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3" name="Equation" r:id="rId7" imgW="1524000" imgH="431800" progId="Equation.DSMT4">
                  <p:embed/>
                </p:oleObj>
              </mc:Choice>
              <mc:Fallback>
                <p:oleObj name="Equation" r:id="rId7" imgW="1524000" imgH="431800" progId="Equation.DSMT4">
                  <p:embed/>
                  <p:pic>
                    <p:nvPicPr>
                      <p:cNvPr id="1126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95600"/>
                        <a:ext cx="19812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8"/>
          <p:cNvSpPr>
            <a:spLocks noChangeArrowheads="1"/>
          </p:cNvSpPr>
          <p:nvPr/>
        </p:nvSpPr>
        <p:spPr bwMode="auto">
          <a:xfrm>
            <a:off x="533400" y="3581400"/>
            <a:ext cx="731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每轮探测的起点和终点用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(1) </a:t>
            </a:r>
            <a:r>
              <a:rPr lang="zh-CN" altLang="en-US" sz="2800">
                <a:sym typeface="Symbol" panose="05050102010706020507" pitchFamily="18" charset="2"/>
              </a:rPr>
              <a:t>和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 </a:t>
            </a:r>
            <a:r>
              <a:rPr lang="zh-CN" altLang="en-US" sz="2800">
                <a:sym typeface="Symbol" panose="05050102010706020507" pitchFamily="18" charset="2"/>
              </a:rPr>
              <a:t>表示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1275" name="Rectangle 10"/>
          <p:cNvSpPr>
            <a:spLocks noChangeArrowheads="1"/>
          </p:cNvSpPr>
          <p:nvPr/>
        </p:nvSpPr>
        <p:spPr bwMode="auto">
          <a:xfrm>
            <a:off x="685800" y="4191000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令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(1) </a:t>
            </a:r>
            <a:r>
              <a:rPr lang="en-US" altLang="zh-CN" sz="2800">
                <a:sym typeface="Symbol" panose="05050102010706020507" pitchFamily="18" charset="2"/>
              </a:rPr>
              <a:t>=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(k) 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开始第</a:t>
            </a:r>
            <a:r>
              <a:rPr lang="en-US" altLang="zh-CN" sz="2800">
                <a:sym typeface="Symbol" panose="05050102010706020507" pitchFamily="18" charset="2"/>
              </a:rPr>
              <a:t>1</a:t>
            </a:r>
            <a:r>
              <a:rPr lang="zh-CN" altLang="en-US" sz="2800">
                <a:sym typeface="Symbol" panose="05050102010706020507" pitchFamily="18" charset="2"/>
              </a:rPr>
              <a:t>轮探测移动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914400" y="4800600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先从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(1) </a:t>
            </a:r>
            <a:r>
              <a:rPr lang="zh-CN" altLang="en-US" sz="2800">
                <a:sym typeface="Symbol" panose="05050102010706020507" pitchFamily="18" charset="2"/>
              </a:rPr>
              <a:t>出发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沿</a:t>
            </a:r>
            <a:r>
              <a:rPr lang="en-US" altLang="zh-CN" sz="2800" i="1">
                <a:sym typeface="Symbol" panose="05050102010706020507" pitchFamily="18" charset="2"/>
              </a:rPr>
              <a:t>d</a:t>
            </a:r>
            <a:r>
              <a:rPr lang="en-US" altLang="zh-CN" sz="2800" baseline="30000">
                <a:sym typeface="Symbol" panose="05050102010706020507" pitchFamily="18" charset="2"/>
              </a:rPr>
              <a:t>(1)</a:t>
            </a:r>
            <a:r>
              <a:rPr lang="zh-CN" altLang="en-US" sz="2800">
                <a:sym typeface="Symbol" panose="05050102010706020507" pitchFamily="18" charset="2"/>
              </a:rPr>
              <a:t>探测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6"/>
          <p:cNvGraphicFramePr>
            <a:graphicFrameLocks noChangeAspect="1"/>
          </p:cNvGraphicFramePr>
          <p:nvPr/>
        </p:nvGraphicFramePr>
        <p:xfrm>
          <a:off x="457200" y="1219200"/>
          <a:ext cx="6045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6" name="Equation" r:id="rId3" imgW="6045200" imgH="469900" progId="Equation.DSMT4">
                  <p:embed/>
                </p:oleObj>
              </mc:Choice>
              <mc:Fallback>
                <p:oleObj name="Equation" r:id="rId3" imgW="6045200" imgH="469900" progId="Equation.DSMT4">
                  <p:embed/>
                  <p:pic>
                    <p:nvPicPr>
                      <p:cNvPr id="122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6045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7"/>
          <p:cNvGraphicFramePr>
            <a:graphicFrameLocks noChangeAspect="1"/>
          </p:cNvGraphicFramePr>
          <p:nvPr/>
        </p:nvGraphicFramePr>
        <p:xfrm>
          <a:off x="2209800" y="1905000"/>
          <a:ext cx="4686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7" name="Equation" r:id="rId5" imgW="4686300" imgH="469900" progId="Equation.DSMT4">
                  <p:embed/>
                </p:oleObj>
              </mc:Choice>
              <mc:Fallback>
                <p:oleObj name="Equation" r:id="rId5" imgW="4686300" imgH="469900" progId="Equation.DSMT4">
                  <p:embed/>
                  <p:pic>
                    <p:nvPicPr>
                      <p:cNvPr id="122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05000"/>
                        <a:ext cx="4686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8"/>
          <p:cNvGraphicFramePr>
            <a:graphicFrameLocks noChangeAspect="1"/>
          </p:cNvGraphicFramePr>
          <p:nvPr/>
        </p:nvGraphicFramePr>
        <p:xfrm>
          <a:off x="685800" y="3048000"/>
          <a:ext cx="605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8" name="Equation" r:id="rId7" imgW="6057900" imgH="469900" progId="Equation.DSMT4">
                  <p:embed/>
                </p:oleObj>
              </mc:Choice>
              <mc:Fallback>
                <p:oleObj name="Equation" r:id="rId7" imgW="6057900" imgH="469900" progId="Equation.DSMT4">
                  <p:embed/>
                  <p:pic>
                    <p:nvPicPr>
                      <p:cNvPr id="122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48000"/>
                        <a:ext cx="605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9"/>
          <p:cNvGraphicFramePr>
            <a:graphicFrameLocks noChangeAspect="1"/>
          </p:cNvGraphicFramePr>
          <p:nvPr/>
        </p:nvGraphicFramePr>
        <p:xfrm>
          <a:off x="2819400" y="3581400"/>
          <a:ext cx="360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9" name="Equation" r:id="rId9" imgW="3606800" imgH="457200" progId="Equation.DSMT4">
                  <p:embed/>
                </p:oleObj>
              </mc:Choice>
              <mc:Fallback>
                <p:oleObj name="Equation" r:id="rId9" imgW="3606800" imgH="457200" progId="Equation.DSMT4">
                  <p:embed/>
                  <p:pic>
                    <p:nvPicPr>
                      <p:cNvPr id="122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81400"/>
                        <a:ext cx="3606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Rectangle 10"/>
          <p:cNvSpPr>
            <a:spLocks noChangeArrowheads="1"/>
          </p:cNvSpPr>
          <p:nvPr/>
        </p:nvSpPr>
        <p:spPr bwMode="auto">
          <a:xfrm>
            <a:off x="762000" y="4800600"/>
            <a:ext cx="6934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再从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(2)</a:t>
            </a:r>
            <a:r>
              <a:rPr lang="zh-CN" altLang="en-US" sz="2800">
                <a:sym typeface="Symbol" panose="05050102010706020507" pitchFamily="18" charset="2"/>
              </a:rPr>
              <a:t>出发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沿</a:t>
            </a:r>
            <a:r>
              <a:rPr lang="en-US" altLang="zh-CN" sz="2800" i="1">
                <a:sym typeface="Symbol" panose="05050102010706020507" pitchFamily="18" charset="2"/>
              </a:rPr>
              <a:t>d</a:t>
            </a:r>
            <a:r>
              <a:rPr lang="en-US" altLang="zh-CN" sz="2800" baseline="30000">
                <a:sym typeface="Symbol" panose="05050102010706020507" pitchFamily="18" charset="2"/>
              </a:rPr>
              <a:t>(2)</a:t>
            </a:r>
            <a:r>
              <a:rPr lang="zh-CN" altLang="en-US" sz="2800">
                <a:sym typeface="Symbol" panose="05050102010706020507" pitchFamily="18" charset="2"/>
              </a:rPr>
              <a:t>作探测移动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zh-CN" altLang="en-US" sz="2800">
                <a:sym typeface="Symbol" panose="05050102010706020507" pitchFamily="18" charset="2"/>
              </a:rPr>
              <a:t>得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(3) 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zh-CN" altLang="en-US" sz="2800">
                <a:sym typeface="Symbol" panose="05050102010706020507" pitchFamily="18" charset="2"/>
              </a:rPr>
              <a:t>按此方式探测下去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直至沿</a:t>
            </a:r>
            <a:r>
              <a:rPr lang="en-US" altLang="zh-CN" sz="2800" i="1">
                <a:sym typeface="Symbol" panose="05050102010706020507" pitchFamily="18" charset="2"/>
              </a:rPr>
              <a:t>d</a:t>
            </a:r>
            <a:r>
              <a:rPr lang="en-US" altLang="zh-CN" sz="2800" baseline="30000">
                <a:sym typeface="Symbol" panose="05050102010706020507" pitchFamily="18" charset="2"/>
              </a:rPr>
              <a:t>(n)</a:t>
            </a:r>
            <a:r>
              <a:rPr lang="zh-CN" altLang="en-US" sz="2800">
                <a:sym typeface="Symbol" panose="05050102010706020507" pitchFamily="18" charset="2"/>
              </a:rPr>
              <a:t>探测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得到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</a:t>
            </a:r>
          </a:p>
        </p:txBody>
      </p:sp>
      <p:graphicFrame>
        <p:nvGraphicFramePr>
          <p:cNvPr id="12294" name="Object 11"/>
          <p:cNvGraphicFramePr>
            <a:graphicFrameLocks noChangeAspect="1"/>
          </p:cNvGraphicFramePr>
          <p:nvPr/>
        </p:nvGraphicFramePr>
        <p:xfrm>
          <a:off x="615950" y="2514600"/>
          <a:ext cx="7696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0" name="Equation" r:id="rId11" imgW="7696200" imgH="469900" progId="Equation.DSMT4">
                  <p:embed/>
                </p:oleObj>
              </mc:Choice>
              <mc:Fallback>
                <p:oleObj name="Equation" r:id="rId11" imgW="7696200" imgH="469900" progId="Equation.DSMT4">
                  <p:embed/>
                  <p:pic>
                    <p:nvPicPr>
                      <p:cNvPr id="1229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2514600"/>
                        <a:ext cx="7696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2"/>
          <p:cNvGraphicFramePr>
            <a:graphicFrameLocks noChangeAspect="1"/>
          </p:cNvGraphicFramePr>
          <p:nvPr/>
        </p:nvGraphicFramePr>
        <p:xfrm>
          <a:off x="685800" y="4038600"/>
          <a:ext cx="7150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1" name="Equation" r:id="rId13" imgW="7150100" imgH="469900" progId="Equation.DSMT4">
                  <p:embed/>
                </p:oleObj>
              </mc:Choice>
              <mc:Fallback>
                <p:oleObj name="Equation" r:id="rId13" imgW="7150100" imgH="469900" progId="Equation.DSMT4">
                  <p:embed/>
                  <p:pic>
                    <p:nvPicPr>
                      <p:cNvPr id="1229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38600"/>
                        <a:ext cx="7150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4D2155D-743B-4544-9C63-B0926E84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DE60D-C9BD-4391-9A47-E119F037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2762" y="990700"/>
            <a:ext cx="7416800" cy="576263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完成一轮探测后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         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(1)=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(n+1)</a:t>
            </a:r>
          </a:p>
        </p:txBody>
      </p:sp>
      <p:graphicFrame>
        <p:nvGraphicFramePr>
          <p:cNvPr id="26632" name="Object 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714204822"/>
              </p:ext>
            </p:extLst>
          </p:nvPr>
        </p:nvGraphicFramePr>
        <p:xfrm>
          <a:off x="1357313" y="3357563"/>
          <a:ext cx="7786687" cy="294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" name="Equation" r:id="rId3" imgW="3733560" imgH="1409400" progId="Equation.DSMT4">
                  <p:embed/>
                </p:oleObj>
              </mc:Choice>
              <mc:Fallback>
                <p:oleObj name="Equation" r:id="rId3" imgW="3733560" imgH="1409400" progId="Equation.DSMT4">
                  <p:embed/>
                  <p:pic>
                    <p:nvPicPr>
                      <p:cNvPr id="266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357563"/>
                        <a:ext cx="7786687" cy="294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5"/>
          <p:cNvSpPr>
            <a:spLocks noChangeArrowheads="1"/>
          </p:cNvSpPr>
          <p:nvPr/>
        </p:nvSpPr>
        <p:spPr bwMode="auto">
          <a:xfrm>
            <a:off x="755650" y="1484313"/>
            <a:ext cx="76517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进行下一轮探测</a:t>
            </a:r>
            <a:r>
              <a:rPr lang="en-US" altLang="zh-CN" sz="2800"/>
              <a:t>.</a:t>
            </a:r>
            <a:r>
              <a:rPr lang="zh-CN" altLang="en-US" sz="2800"/>
              <a:t>往复下去</a:t>
            </a:r>
            <a:r>
              <a:rPr lang="en-US" altLang="zh-CN" sz="2800"/>
              <a:t>,</a:t>
            </a:r>
            <a:r>
              <a:rPr lang="zh-CN" altLang="en-US" sz="2800"/>
              <a:t>至某一轮沿</a:t>
            </a:r>
            <a:r>
              <a:rPr lang="en-US" altLang="zh-CN" sz="2800"/>
              <a:t>n</a:t>
            </a:r>
            <a:r>
              <a:rPr lang="zh-CN" altLang="en-US" sz="2800"/>
              <a:t>个方向的</a:t>
            </a:r>
          </a:p>
          <a:p>
            <a:pPr eaLnBrk="1" hangingPunct="1"/>
            <a:r>
              <a:rPr lang="zh-CN" altLang="en-US" sz="2800"/>
              <a:t>探测均失败</a:t>
            </a:r>
            <a:r>
              <a:rPr lang="en-US" altLang="zh-CN" sz="2800"/>
              <a:t>,.</a:t>
            </a:r>
            <a:r>
              <a:rPr lang="zh-CN" altLang="en-US" sz="2800"/>
              <a:t>第</a:t>
            </a:r>
            <a:r>
              <a:rPr lang="en-US" altLang="zh-CN" sz="2800"/>
              <a:t>k</a:t>
            </a:r>
            <a:r>
              <a:rPr lang="zh-CN" altLang="en-US" sz="2800"/>
              <a:t>次迭代的探测结束时</a:t>
            </a:r>
            <a:r>
              <a:rPr lang="en-US" altLang="zh-CN" sz="2800"/>
              <a:t>,</a:t>
            </a:r>
            <a:r>
              <a:rPr lang="zh-CN" altLang="en-US" sz="2800"/>
              <a:t>得到的点</a:t>
            </a:r>
          </a:p>
          <a:p>
            <a:pPr eaLnBrk="1" hangingPunct="1"/>
            <a:r>
              <a:rPr lang="zh-CN" altLang="en-US" sz="2800"/>
              <a:t>记为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(k+1)= 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</a:t>
            </a: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468313" y="2852738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/>
              <a:t>2. </a:t>
            </a:r>
            <a:r>
              <a:rPr lang="zh-CN" altLang="en-US" sz="2800"/>
              <a:t>构造新的搜索方向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5698"/>
            <a:ext cx="6567144" cy="4263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D470E74-69D5-441A-9446-D6544DAB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5"/>
          <p:cNvGraphicFramePr>
            <a:graphicFrameLocks noChangeAspect="1"/>
          </p:cNvGraphicFramePr>
          <p:nvPr/>
        </p:nvGraphicFramePr>
        <p:xfrm>
          <a:off x="1692275" y="981075"/>
          <a:ext cx="5651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4" name="Equation" r:id="rId3" imgW="5651500" imgH="914400" progId="Equation.DSMT4">
                  <p:embed/>
                </p:oleObj>
              </mc:Choice>
              <mc:Fallback>
                <p:oleObj name="Equation" r:id="rId3" imgW="5651500" imgH="914400" progId="Equation.DSMT4">
                  <p:embed/>
                  <p:pic>
                    <p:nvPicPr>
                      <p:cNvPr id="1433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981075"/>
                        <a:ext cx="5651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6"/>
          <p:cNvGraphicFramePr>
            <a:graphicFrameLocks noChangeAspect="1"/>
          </p:cNvGraphicFramePr>
          <p:nvPr/>
        </p:nvGraphicFramePr>
        <p:xfrm>
          <a:off x="1619250" y="1989138"/>
          <a:ext cx="563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5" name="Equation" r:id="rId5" imgW="5638800" imgH="914400" progId="Equation.DSMT4">
                  <p:embed/>
                </p:oleObj>
              </mc:Choice>
              <mc:Fallback>
                <p:oleObj name="Equation" r:id="rId5" imgW="5638800" imgH="914400" progId="Equation.DSMT4">
                  <p:embed/>
                  <p:pic>
                    <p:nvPicPr>
                      <p:cNvPr id="1433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989138"/>
                        <a:ext cx="5638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7"/>
          <p:cNvGraphicFramePr>
            <a:graphicFrameLocks noChangeAspect="1"/>
          </p:cNvGraphicFramePr>
          <p:nvPr/>
        </p:nvGraphicFramePr>
        <p:xfrm>
          <a:off x="3276600" y="17907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6" name="Equation" r:id="rId7" imgW="457677" imgH="793306" progId="Equation.DSMT4">
                  <p:embed/>
                </p:oleObj>
              </mc:Choice>
              <mc:Fallback>
                <p:oleObj name="Equation" r:id="rId7" imgW="457677" imgH="793306" progId="Equation.DSMT4">
                  <p:embed/>
                  <p:pic>
                    <p:nvPicPr>
                      <p:cNvPr id="1434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7907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8"/>
          <p:cNvGraphicFramePr>
            <a:graphicFrameLocks noChangeAspect="1"/>
          </p:cNvGraphicFramePr>
          <p:nvPr/>
        </p:nvGraphicFramePr>
        <p:xfrm>
          <a:off x="1066800" y="3048000"/>
          <a:ext cx="419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7" name="Equation" r:id="rId9" imgW="4191000" imgH="457200" progId="Equation.DSMT4">
                  <p:embed/>
                </p:oleObj>
              </mc:Choice>
              <mc:Fallback>
                <p:oleObj name="Equation" r:id="rId9" imgW="4191000" imgH="457200" progId="Equation.DSMT4">
                  <p:embed/>
                  <p:pic>
                    <p:nvPicPr>
                      <p:cNvPr id="1434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048000"/>
                        <a:ext cx="419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9"/>
          <p:cNvGraphicFramePr>
            <a:graphicFrameLocks noChangeAspect="1"/>
          </p:cNvGraphicFramePr>
          <p:nvPr/>
        </p:nvGraphicFramePr>
        <p:xfrm>
          <a:off x="1143000" y="3657600"/>
          <a:ext cx="424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8" name="Equation" r:id="rId11" imgW="4241800" imgH="457200" progId="Equation.DSMT4">
                  <p:embed/>
                </p:oleObj>
              </mc:Choice>
              <mc:Fallback>
                <p:oleObj name="Equation" r:id="rId11" imgW="4241800" imgH="457200" progId="Equation.DSMT4">
                  <p:embed/>
                  <p:pic>
                    <p:nvPicPr>
                      <p:cNvPr id="1434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657600"/>
                        <a:ext cx="4241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0"/>
          <p:cNvGraphicFramePr>
            <a:graphicFrameLocks noChangeAspect="1"/>
          </p:cNvGraphicFramePr>
          <p:nvPr/>
        </p:nvGraphicFramePr>
        <p:xfrm>
          <a:off x="1447800" y="4343400"/>
          <a:ext cx="57023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9" name="Equation" r:id="rId13" imgW="5702300" imgH="1600200" progId="Equation.DSMT4">
                  <p:embed/>
                </p:oleObj>
              </mc:Choice>
              <mc:Fallback>
                <p:oleObj name="Equation" r:id="rId13" imgW="5702300" imgH="1600200" progId="Equation.DSMT4">
                  <p:embed/>
                  <p:pic>
                    <p:nvPicPr>
                      <p:cNvPr id="1434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343400"/>
                        <a:ext cx="57023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E71080C-1E52-43C3-BB90-85BE0686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382B0-E012-4C4D-883D-5A3A245F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3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2743200" cy="6096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/>
              <a:t>将其正交化</a:t>
            </a:r>
          </a:p>
        </p:txBody>
      </p:sp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990600" y="1752600"/>
          <a:ext cx="70485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0" name="Equation" r:id="rId3" imgW="7048500" imgH="1600200" progId="Equation.DSMT4">
                  <p:embed/>
                </p:oleObj>
              </mc:Choice>
              <mc:Fallback>
                <p:oleObj name="Equation" r:id="rId3" imgW="7048500" imgH="1600200" progId="Equation.DSMT4">
                  <p:embed/>
                  <p:pic>
                    <p:nvPicPr>
                      <p:cNvPr id="153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52600"/>
                        <a:ext cx="70485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914400" y="3505200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/>
              <a:t>再单位化</a:t>
            </a:r>
          </a:p>
        </p:txBody>
      </p:sp>
      <p:graphicFrame>
        <p:nvGraphicFramePr>
          <p:cNvPr id="15363" name="Object 7"/>
          <p:cNvGraphicFramePr>
            <a:graphicFrameLocks noChangeAspect="1"/>
          </p:cNvGraphicFramePr>
          <p:nvPr/>
        </p:nvGraphicFramePr>
        <p:xfrm>
          <a:off x="2819400" y="3886200"/>
          <a:ext cx="3340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1" name="Equation" r:id="rId5" imgW="3340100" imgH="1066800" progId="Equation.DSMT4">
                  <p:embed/>
                </p:oleObj>
              </mc:Choice>
              <mc:Fallback>
                <p:oleObj name="Equation" r:id="rId5" imgW="3340100" imgH="1066800" progId="Equation.DSMT4">
                  <p:embed/>
                  <p:pic>
                    <p:nvPicPr>
                      <p:cNvPr id="153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86200"/>
                        <a:ext cx="33401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8"/>
          <p:cNvSpPr>
            <a:spLocks noChangeArrowheads="1"/>
          </p:cNvSpPr>
          <p:nvPr/>
        </p:nvSpPr>
        <p:spPr bwMode="auto">
          <a:xfrm>
            <a:off x="1066800" y="5029200"/>
            <a:ext cx="241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可证如下引理</a:t>
            </a:r>
            <a:r>
              <a:rPr lang="en-US" altLang="zh-CN" sz="2800"/>
              <a:t>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611188" y="2420938"/>
            <a:ext cx="2139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ea typeface="楷体_GB2312" pitchFamily="49" charset="-122"/>
              </a:rPr>
              <a:t>2.2 </a:t>
            </a:r>
            <a:r>
              <a:rPr lang="zh-CN" altLang="en-US" sz="2800" dirty="0">
                <a:ea typeface="楷体_GB2312" pitchFamily="49" charset="-122"/>
              </a:rPr>
              <a:t>计算步骤</a:t>
            </a:r>
          </a:p>
        </p:txBody>
      </p:sp>
      <p:graphicFrame>
        <p:nvGraphicFramePr>
          <p:cNvPr id="317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897724"/>
              </p:ext>
            </p:extLst>
          </p:nvPr>
        </p:nvGraphicFramePr>
        <p:xfrm>
          <a:off x="784443" y="3132038"/>
          <a:ext cx="76454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4" name="Equation" r:id="rId3" imgW="7645400" imgH="2730500" progId="Equation.DSMT4">
                  <p:embed/>
                </p:oleObj>
              </mc:Choice>
              <mc:Fallback>
                <p:oleObj name="Equation" r:id="rId3" imgW="7645400" imgH="2730500" progId="Equation.DSMT4">
                  <p:embed/>
                  <p:pic>
                    <p:nvPicPr>
                      <p:cNvPr id="317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443" y="3132038"/>
                        <a:ext cx="76454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B55E8DC-8A7C-430E-BB2D-6164C2BA3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6387" name="Object 1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436301160"/>
              </p:ext>
            </p:extLst>
          </p:nvPr>
        </p:nvGraphicFramePr>
        <p:xfrm>
          <a:off x="596766" y="961825"/>
          <a:ext cx="7848600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5" name="Equation" r:id="rId5" imgW="3949700" imgH="749300" progId="Equation.DSMT4">
                  <p:embed/>
                </p:oleObj>
              </mc:Choice>
              <mc:Fallback>
                <p:oleObj name="Equation" r:id="rId5" imgW="3949700" imgH="749300" progId="Equation.DSMT4">
                  <p:embed/>
                  <p:pic>
                    <p:nvPicPr>
                      <p:cNvPr id="1638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66" y="961825"/>
                        <a:ext cx="7848600" cy="148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077692"/>
              </p:ext>
            </p:extLst>
          </p:nvPr>
        </p:nvGraphicFramePr>
        <p:xfrm>
          <a:off x="2959100" y="1917700"/>
          <a:ext cx="2768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6" name="Equation" r:id="rId3" imgW="2768600" imgH="508000" progId="Equation.DSMT4">
                  <p:embed/>
                </p:oleObj>
              </mc:Choice>
              <mc:Fallback>
                <p:oleObj name="Equation" r:id="rId3" imgW="2768600" imgH="508000" progId="Equation.DSMT4">
                  <p:embed/>
                  <p:pic>
                    <p:nvPicPr>
                      <p:cNvPr id="17411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1917700"/>
                        <a:ext cx="2768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716241"/>
              </p:ext>
            </p:extLst>
          </p:nvPr>
        </p:nvGraphicFramePr>
        <p:xfrm>
          <a:off x="1447800" y="3124200"/>
          <a:ext cx="4686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7" name="Equation" r:id="rId5" imgW="4686300" imgH="508000" progId="Equation.DSMT4">
                  <p:embed/>
                </p:oleObj>
              </mc:Choice>
              <mc:Fallback>
                <p:oleObj name="Equation" r:id="rId5" imgW="4686300" imgH="508000" progId="Equation.DSMT4">
                  <p:embed/>
                  <p:pic>
                    <p:nvPicPr>
                      <p:cNvPr id="17412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124200"/>
                        <a:ext cx="4686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195291"/>
              </p:ext>
            </p:extLst>
          </p:nvPr>
        </p:nvGraphicFramePr>
        <p:xfrm>
          <a:off x="3124200" y="3810000"/>
          <a:ext cx="16129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8" name="Equation" r:id="rId7" imgW="1612900" imgH="1041400" progId="Equation.DSMT4">
                  <p:embed/>
                </p:oleObj>
              </mc:Choice>
              <mc:Fallback>
                <p:oleObj name="Equation" r:id="rId7" imgW="1612900" imgH="1041400" progId="Equation.DSMT4">
                  <p:embed/>
                  <p:pic>
                    <p:nvPicPr>
                      <p:cNvPr id="17413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0"/>
                        <a:ext cx="16129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058200"/>
              </p:ext>
            </p:extLst>
          </p:nvPr>
        </p:nvGraphicFramePr>
        <p:xfrm>
          <a:off x="3200400" y="2362200"/>
          <a:ext cx="1638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9" name="Equation" r:id="rId9" imgW="1638300" imgH="469900" progId="Equation.DSMT4">
                  <p:embed/>
                </p:oleObj>
              </mc:Choice>
              <mc:Fallback>
                <p:oleObj name="Equation" r:id="rId9" imgW="1638300" imgH="469900" progId="Equation.DSMT4">
                  <p:embed/>
                  <p:pic>
                    <p:nvPicPr>
                      <p:cNvPr id="17414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362200"/>
                        <a:ext cx="1638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C497017-77C2-4919-BF93-369B15CB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419" name="Rectangle 13"/>
          <p:cNvSpPr>
            <a:spLocks noGrp="1" noChangeArrowheads="1"/>
          </p:cNvSpPr>
          <p:nvPr>
            <p:ph type="body" idx="4294967295"/>
          </p:nvPr>
        </p:nvSpPr>
        <p:spPr>
          <a:xfrm>
            <a:off x="741144" y="5125452"/>
            <a:ext cx="7729087" cy="697831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j&lt;n,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则置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j:=j+1,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转步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否则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进行步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graphicFrame>
        <p:nvGraphicFramePr>
          <p:cNvPr id="8" name="Object 1024">
            <a:extLst>
              <a:ext uri="{FF2B5EF4-FFF2-40B4-BE49-F238E27FC236}">
                <a16:creationId xmlns:a16="http://schemas.microsoft.com/office/drawing/2014/main" id="{BCABA671-1369-4DAE-AA18-C0D0A965A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066800"/>
          <a:ext cx="5041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0" name="Equation" r:id="rId11" imgW="5041900" imgH="508000" progId="Equation.DSMT4">
                  <p:embed/>
                </p:oleObj>
              </mc:Choice>
              <mc:Fallback>
                <p:oleObj name="Equation" r:id="rId11" imgW="5041900" imgH="508000" progId="Equation.DSMT4">
                  <p:embed/>
                  <p:pic>
                    <p:nvPicPr>
                      <p:cNvPr id="1741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066800"/>
                        <a:ext cx="5041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0"/>
          <p:cNvGraphicFramePr>
            <a:graphicFrameLocks noChangeAspect="1"/>
          </p:cNvGraphicFramePr>
          <p:nvPr/>
        </p:nvGraphicFramePr>
        <p:xfrm>
          <a:off x="850900" y="1143000"/>
          <a:ext cx="393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09" name="Equation" r:id="rId3" imgW="3936960" imgH="457200" progId="Equation.DSMT4">
                  <p:embed/>
                </p:oleObj>
              </mc:Choice>
              <mc:Fallback>
                <p:oleObj name="Equation" r:id="rId3" imgW="3936960" imgH="457200" progId="Equation.DSMT4">
                  <p:embed/>
                  <p:pic>
                    <p:nvPicPr>
                      <p:cNvPr id="1843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1143000"/>
                        <a:ext cx="393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Rectangle 8"/>
          <p:cNvSpPr>
            <a:spLocks noChangeArrowheads="1"/>
          </p:cNvSpPr>
          <p:nvPr/>
        </p:nvSpPr>
        <p:spPr bwMode="auto">
          <a:xfrm>
            <a:off x="914400" y="22098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置</a:t>
            </a:r>
            <a:r>
              <a:rPr lang="en-US" altLang="zh-CN" sz="2800">
                <a:sym typeface="Symbol" panose="05050102010706020507" pitchFamily="18" charset="2"/>
              </a:rPr>
              <a:t>j=1,</a:t>
            </a:r>
            <a:r>
              <a:rPr lang="zh-CN" altLang="en-US" sz="2800">
                <a:sym typeface="Symbol" panose="05050102010706020507" pitchFamily="18" charset="2"/>
              </a:rPr>
              <a:t>转步</a:t>
            </a:r>
            <a:r>
              <a:rPr lang="en-US" altLang="zh-CN" sz="2800">
                <a:sym typeface="Symbol" panose="05050102010706020507" pitchFamily="18" charset="2"/>
              </a:rPr>
              <a:t>2.</a:t>
            </a:r>
            <a:r>
              <a:rPr lang="zh-CN" altLang="en-US" sz="2800">
                <a:sym typeface="Symbol" panose="05050102010706020507" pitchFamily="18" charset="2"/>
              </a:rPr>
              <a:t>若</a:t>
            </a:r>
          </a:p>
        </p:txBody>
      </p:sp>
      <p:sp>
        <p:nvSpPr>
          <p:cNvPr id="18442" name="Rectangle 13"/>
          <p:cNvSpPr>
            <a:spLocks noChangeArrowheads="1"/>
          </p:cNvSpPr>
          <p:nvPr/>
        </p:nvSpPr>
        <p:spPr bwMode="auto">
          <a:xfrm>
            <a:off x="2819400" y="1676400"/>
            <a:ext cx="2278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(1)</a:t>
            </a:r>
            <a:r>
              <a:rPr lang="en-US" altLang="zh-CN" sz="2800"/>
              <a:t>=</a:t>
            </a:r>
            <a:r>
              <a:rPr lang="en-US" altLang="zh-CN" sz="2800" baseline="30000">
                <a:sym typeface="Symbol" panose="05050102010706020507" pitchFamily="18" charset="2"/>
              </a:rPr>
              <a:t> </a:t>
            </a:r>
            <a:r>
              <a:rPr lang="en-US" altLang="zh-CN" sz="3200">
                <a:sym typeface="Symbol" panose="05050102010706020507" pitchFamily="18" charset="2"/>
              </a:rPr>
              <a:t> 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</a:t>
            </a:r>
          </a:p>
        </p:txBody>
      </p:sp>
      <p:graphicFrame>
        <p:nvGraphicFramePr>
          <p:cNvPr id="18435" name="Object 1"/>
          <p:cNvGraphicFramePr>
            <a:graphicFrameLocks noChangeAspect="1"/>
          </p:cNvGraphicFramePr>
          <p:nvPr/>
        </p:nvGraphicFramePr>
        <p:xfrm>
          <a:off x="1752600" y="2743200"/>
          <a:ext cx="436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0" name="Equation" r:id="rId5" imgW="4368800" imgH="457200" progId="Equation.DSMT4">
                  <p:embed/>
                </p:oleObj>
              </mc:Choice>
              <mc:Fallback>
                <p:oleObj name="Equation" r:id="rId5" imgW="4368800" imgH="457200" progId="Equation.DSMT4">
                  <p:embed/>
                  <p:pic>
                    <p:nvPicPr>
                      <p:cNvPr id="1843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743200"/>
                        <a:ext cx="4368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2"/>
          <p:cNvGraphicFramePr>
            <a:graphicFrameLocks noChangeAspect="1"/>
          </p:cNvGraphicFramePr>
          <p:nvPr/>
        </p:nvGraphicFramePr>
        <p:xfrm>
          <a:off x="838200" y="3429000"/>
          <a:ext cx="69850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1" name="Equation" r:id="rId7" imgW="6985000" imgH="2184400" progId="Equation.DSMT4">
                  <p:embed/>
                </p:oleObj>
              </mc:Choice>
              <mc:Fallback>
                <p:oleObj name="Equation" r:id="rId7" imgW="6985000" imgH="2184400" progId="Equation.DSMT4">
                  <p:embed/>
                  <p:pic>
                    <p:nvPicPr>
                      <p:cNvPr id="184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429000"/>
                        <a:ext cx="6985000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9EDC4C1-2805-409E-AC31-C02649DD0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7" name="Rectangle 5"/>
          <p:cNvSpPr>
            <a:spLocks noChangeArrowheads="1"/>
          </p:cNvSpPr>
          <p:nvPr/>
        </p:nvSpPr>
        <p:spPr bwMode="auto">
          <a:xfrm>
            <a:off x="609600" y="2209800"/>
            <a:ext cx="769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/>
              <a:t>则取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(k+1)</a:t>
            </a:r>
            <a:r>
              <a:rPr lang="zh-CN" altLang="en-US" sz="2800">
                <a:sym typeface="Symbol" panose="05050102010706020507" pitchFamily="18" charset="2"/>
              </a:rPr>
              <a:t>作为极小点的估计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zh-CN" altLang="en-US" sz="2800">
                <a:sym typeface="Symbol" panose="05050102010706020507" pitchFamily="18" charset="2"/>
              </a:rPr>
              <a:t>停止计算</a:t>
            </a:r>
            <a:r>
              <a:rPr lang="en-US" altLang="zh-CN" sz="2800">
                <a:sym typeface="Symbol" panose="05050102010706020507" pitchFamily="18" charset="2"/>
              </a:rPr>
              <a:t>;</a:t>
            </a:r>
            <a:r>
              <a:rPr lang="zh-CN" altLang="en-US" sz="2800">
                <a:sym typeface="Symbol" panose="05050102010706020507" pitchFamily="18" charset="2"/>
              </a:rPr>
              <a:t>否则计算</a:t>
            </a:r>
            <a:endParaRPr lang="zh-CN" altLang="en-US" sz="2800" baseline="30000">
              <a:sym typeface="Symbol" panose="05050102010706020507" pitchFamily="18" charset="2"/>
            </a:endParaRPr>
          </a:p>
        </p:txBody>
      </p:sp>
      <p:sp>
        <p:nvSpPr>
          <p:cNvPr id="19468" name="Rectangle 9"/>
          <p:cNvSpPr>
            <a:spLocks noChangeArrowheads="1"/>
          </p:cNvSpPr>
          <p:nvPr/>
        </p:nvSpPr>
        <p:spPr bwMode="auto">
          <a:xfrm>
            <a:off x="914400" y="5791200"/>
            <a:ext cx="523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置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(1)</a:t>
            </a:r>
            <a:r>
              <a:rPr lang="en-US" altLang="zh-CN" sz="2800">
                <a:sym typeface="Symbol" panose="05050102010706020507" pitchFamily="18" charset="2"/>
              </a:rPr>
              <a:t> = 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(k+1)</a:t>
            </a:r>
            <a:r>
              <a:rPr lang="en-US" altLang="zh-CN" sz="2800">
                <a:sym typeface="Symbol" panose="05050102010706020507" pitchFamily="18" charset="2"/>
              </a:rPr>
              <a:t> , </a:t>
            </a:r>
            <a:r>
              <a:rPr lang="en-US" altLang="zh-CN" sz="2800" baseline="30000">
                <a:sym typeface="Symbol" panose="05050102010706020507" pitchFamily="18" charset="2"/>
              </a:rPr>
              <a:t> </a:t>
            </a:r>
            <a:r>
              <a:rPr lang="en-US" altLang="zh-CN" sz="2800" i="1">
                <a:sym typeface="Symbol" panose="05050102010706020507" pitchFamily="18" charset="2"/>
              </a:rPr>
              <a:t>k:=k+1,j=1,</a:t>
            </a:r>
            <a:r>
              <a:rPr lang="zh-CN" altLang="en-US" sz="2800">
                <a:sym typeface="Symbol" panose="05050102010706020507" pitchFamily="18" charset="2"/>
              </a:rPr>
              <a:t>转步</a:t>
            </a:r>
            <a:r>
              <a:rPr lang="en-US" altLang="zh-CN" sz="2800" i="1">
                <a:sym typeface="Symbol" panose="05050102010706020507" pitchFamily="18" charset="2"/>
              </a:rPr>
              <a:t>2.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9469" name="Rectangle 10"/>
          <p:cNvSpPr>
            <a:spLocks noChangeArrowheads="1"/>
          </p:cNvSpPr>
          <p:nvPr/>
        </p:nvSpPr>
        <p:spPr bwMode="auto">
          <a:xfrm>
            <a:off x="609600" y="3276600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利用公式</a:t>
            </a:r>
            <a:r>
              <a:rPr lang="en-US" altLang="zh-CN" sz="2800">
                <a:sym typeface="Symbol" panose="05050102010706020507" pitchFamily="18" charset="2"/>
              </a:rPr>
              <a:t>(2.6)—(2.8)</a:t>
            </a:r>
            <a:r>
              <a:rPr lang="zh-CN" altLang="en-US" sz="2800">
                <a:sym typeface="Symbol" panose="05050102010706020507" pitchFamily="18" charset="2"/>
              </a:rPr>
              <a:t>构造新的正交方向</a:t>
            </a:r>
          </a:p>
        </p:txBody>
      </p:sp>
      <p:sp>
        <p:nvSpPr>
          <p:cNvPr id="19470" name="Rectangle 11"/>
          <p:cNvSpPr>
            <a:spLocks noChangeArrowheads="1"/>
          </p:cNvSpPr>
          <p:nvPr/>
        </p:nvSpPr>
        <p:spPr bwMode="auto">
          <a:xfrm>
            <a:off x="609600" y="1143000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ym typeface="Symbol" panose="05050102010706020507" pitchFamily="18" charset="2"/>
              </a:rPr>
              <a:t>6. </a:t>
            </a:r>
            <a:r>
              <a:rPr lang="zh-CN" altLang="en-US" sz="2800">
                <a:sym typeface="Symbol" panose="05050102010706020507" pitchFamily="18" charset="2"/>
              </a:rPr>
              <a:t>令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sym typeface="Symbol" panose="05050102010706020507" pitchFamily="18" charset="2"/>
              </a:rPr>
              <a:t>(k+1)</a:t>
            </a:r>
            <a:r>
              <a:rPr lang="en-US" altLang="zh-CN" sz="2800">
                <a:sym typeface="Symbol" panose="05050102010706020507" pitchFamily="18" charset="2"/>
              </a:rPr>
              <a:t> = 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 baseline="30000">
                <a:sym typeface="Symbol" panose="05050102010706020507" pitchFamily="18" charset="2"/>
              </a:rPr>
              <a:t>(n+1) </a:t>
            </a:r>
            <a:r>
              <a:rPr lang="zh-CN" altLang="en-US" sz="2800">
                <a:sym typeface="Symbol" panose="05050102010706020507" pitchFamily="18" charset="2"/>
              </a:rPr>
              <a:t>若</a:t>
            </a:r>
          </a:p>
        </p:txBody>
      </p:sp>
      <p:graphicFrame>
        <p:nvGraphicFramePr>
          <p:cNvPr id="19458" name="Object 1024"/>
          <p:cNvGraphicFramePr>
            <a:graphicFrameLocks noChangeAspect="1"/>
          </p:cNvGraphicFramePr>
          <p:nvPr/>
        </p:nvGraphicFramePr>
        <p:xfrm>
          <a:off x="2667000" y="1676400"/>
          <a:ext cx="2235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7" name="Equation" r:id="rId3" imgW="2235200" imgH="584200" progId="Equation.DSMT4">
                  <p:embed/>
                </p:oleObj>
              </mc:Choice>
              <mc:Fallback>
                <p:oleObj name="Equation" r:id="rId3" imgW="2235200" imgH="584200" progId="Equation.DSMT4">
                  <p:embed/>
                  <p:pic>
                    <p:nvPicPr>
                      <p:cNvPr id="19458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676400"/>
                        <a:ext cx="2235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1025"/>
          <p:cNvGraphicFramePr>
            <a:graphicFrameLocks noChangeAspect="1"/>
          </p:cNvGraphicFramePr>
          <p:nvPr/>
        </p:nvGraphicFramePr>
        <p:xfrm>
          <a:off x="2514600" y="2819400"/>
          <a:ext cx="166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8" name="Equation" r:id="rId5" imgW="1663700" imgH="431800" progId="Equation.DSMT4">
                  <p:embed/>
                </p:oleObj>
              </mc:Choice>
              <mc:Fallback>
                <p:oleObj name="Equation" r:id="rId5" imgW="1663700" imgH="431800" progId="Equation.DSMT4">
                  <p:embed/>
                  <p:pic>
                    <p:nvPicPr>
                      <p:cNvPr id="19459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819400"/>
                        <a:ext cx="1663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914400" y="48006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置</a:t>
            </a:r>
          </a:p>
        </p:txBody>
      </p:sp>
      <p:graphicFrame>
        <p:nvGraphicFramePr>
          <p:cNvPr id="19460" name="Object 1026"/>
          <p:cNvGraphicFramePr>
            <a:graphicFrameLocks noChangeAspect="1"/>
          </p:cNvGraphicFramePr>
          <p:nvPr/>
        </p:nvGraphicFramePr>
        <p:xfrm>
          <a:off x="2590800" y="3962400"/>
          <a:ext cx="223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9" name="Equation" r:id="rId7" imgW="2235200" imgH="431800" progId="Equation.DSMT4">
                  <p:embed/>
                </p:oleObj>
              </mc:Choice>
              <mc:Fallback>
                <p:oleObj name="Equation" r:id="rId7" imgW="2235200" imgH="431800" progId="Equation.DSMT4">
                  <p:embed/>
                  <p:pic>
                    <p:nvPicPr>
                      <p:cNvPr id="1946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962400"/>
                        <a:ext cx="2235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Rectangle 18"/>
          <p:cNvSpPr>
            <a:spLocks noChangeArrowheads="1"/>
          </p:cNvSpPr>
          <p:nvPr/>
        </p:nvSpPr>
        <p:spPr bwMode="auto">
          <a:xfrm>
            <a:off x="838200" y="41148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令</a:t>
            </a:r>
          </a:p>
        </p:txBody>
      </p:sp>
      <p:graphicFrame>
        <p:nvGraphicFramePr>
          <p:cNvPr id="19461" name="Object 1027"/>
          <p:cNvGraphicFramePr>
            <a:graphicFrameLocks noChangeAspect="1"/>
          </p:cNvGraphicFramePr>
          <p:nvPr/>
        </p:nvGraphicFramePr>
        <p:xfrm>
          <a:off x="2743200" y="4572000"/>
          <a:ext cx="3238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0" name="Equation" r:id="rId9" imgW="3238500" imgH="457200" progId="Equation.DSMT4">
                  <p:embed/>
                </p:oleObj>
              </mc:Choice>
              <mc:Fallback>
                <p:oleObj name="Equation" r:id="rId9" imgW="3238500" imgH="457200" progId="Equation.DSMT4">
                  <p:embed/>
                  <p:pic>
                    <p:nvPicPr>
                      <p:cNvPr id="19461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72000"/>
                        <a:ext cx="3238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028"/>
          <p:cNvGraphicFramePr>
            <a:graphicFrameLocks noChangeAspect="1"/>
          </p:cNvGraphicFramePr>
          <p:nvPr/>
        </p:nvGraphicFramePr>
        <p:xfrm>
          <a:off x="2514600" y="5181600"/>
          <a:ext cx="2984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1" name="Equation" r:id="rId11" imgW="2984500" imgH="508000" progId="Equation.DSMT4">
                  <p:embed/>
                </p:oleObj>
              </mc:Choice>
              <mc:Fallback>
                <p:oleObj name="Equation" r:id="rId11" imgW="2984500" imgH="508000" progId="Equation.DSMT4">
                  <p:embed/>
                  <p:pic>
                    <p:nvPicPr>
                      <p:cNvPr id="19462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181600"/>
                        <a:ext cx="2984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112BFF8-5DCE-4431-A9EF-F8AD47E4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Rectangle 6"/>
          <p:cNvSpPr>
            <a:spLocks noChangeArrowheads="1"/>
          </p:cNvSpPr>
          <p:nvPr/>
        </p:nvSpPr>
        <p:spPr bwMode="auto">
          <a:xfrm>
            <a:off x="401855" y="1087922"/>
            <a:ext cx="74639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ea typeface="楷体_GB2312" pitchFamily="49" charset="-122"/>
              </a:rPr>
              <a:t>例</a:t>
            </a:r>
            <a:r>
              <a:rPr lang="en-US" altLang="zh-CN" sz="2800" dirty="0">
                <a:ea typeface="楷体_GB2312" pitchFamily="49" charset="-122"/>
              </a:rPr>
              <a:t>1</a:t>
            </a:r>
            <a:r>
              <a:rPr lang="zh-CN" altLang="en-US" sz="2800" dirty="0"/>
              <a:t>：用</a:t>
            </a:r>
            <a:r>
              <a:rPr lang="en-US" altLang="zh-CN" sz="2800" dirty="0" err="1"/>
              <a:t>Rosenbrock</a:t>
            </a:r>
            <a:r>
              <a:rPr lang="zh-CN" altLang="en-US" sz="2800" dirty="0"/>
              <a:t>方法计算下列函数极小值点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20482" name="Object 7"/>
          <p:cNvGraphicFramePr>
            <a:graphicFrameLocks noChangeAspect="1"/>
          </p:cNvGraphicFramePr>
          <p:nvPr/>
        </p:nvGraphicFramePr>
        <p:xfrm>
          <a:off x="685800" y="3124200"/>
          <a:ext cx="5346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1" name="Equation" r:id="rId3" imgW="5346700" imgH="457200" progId="Equation.DSMT4">
                  <p:embed/>
                </p:oleObj>
              </mc:Choice>
              <mc:Fallback>
                <p:oleObj name="Equation" r:id="rId3" imgW="5346700" imgH="457200" progId="Equation.DSMT4">
                  <p:embed/>
                  <p:pic>
                    <p:nvPicPr>
                      <p:cNvPr id="2048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24200"/>
                        <a:ext cx="5346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9"/>
          <p:cNvGraphicFramePr>
            <a:graphicFrameLocks noChangeAspect="1"/>
          </p:cNvGraphicFramePr>
          <p:nvPr/>
        </p:nvGraphicFramePr>
        <p:xfrm>
          <a:off x="3276600" y="18796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2" name="Equation" r:id="rId5" imgW="457677" imgH="793306" progId="Equation.DSMT4">
                  <p:embed/>
                </p:oleObj>
              </mc:Choice>
              <mc:Fallback>
                <p:oleObj name="Equation" r:id="rId5" imgW="457677" imgH="793306" progId="Equation.DSMT4">
                  <p:embed/>
                  <p:pic>
                    <p:nvPicPr>
                      <p:cNvPr id="2048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8796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11"/>
          <p:cNvGraphicFramePr>
            <a:graphicFrameLocks noChangeAspect="1"/>
          </p:cNvGraphicFramePr>
          <p:nvPr/>
        </p:nvGraphicFramePr>
        <p:xfrm>
          <a:off x="800100" y="5105400"/>
          <a:ext cx="5473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3" name="Equation" r:id="rId7" imgW="5473440" imgH="520560" progId="Equation.DSMT4">
                  <p:embed/>
                </p:oleObj>
              </mc:Choice>
              <mc:Fallback>
                <p:oleObj name="Equation" r:id="rId7" imgW="5473440" imgH="520560" progId="Equation.DSMT4">
                  <p:embed/>
                  <p:pic>
                    <p:nvPicPr>
                      <p:cNvPr id="2048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5105400"/>
                        <a:ext cx="5473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12"/>
          <p:cNvGraphicFramePr>
            <a:graphicFrameLocks noChangeAspect="1"/>
          </p:cNvGraphicFramePr>
          <p:nvPr/>
        </p:nvGraphicFramePr>
        <p:xfrm>
          <a:off x="914400" y="1905000"/>
          <a:ext cx="64770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4" name="Equation" r:id="rId9" imgW="5334000" imgH="469900" progId="Equation.DSMT4">
                  <p:embed/>
                </p:oleObj>
              </mc:Choice>
              <mc:Fallback>
                <p:oleObj name="Equation" r:id="rId9" imgW="5334000" imgH="469900" progId="Equation.DSMT4">
                  <p:embed/>
                  <p:pic>
                    <p:nvPicPr>
                      <p:cNvPr id="2048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05000"/>
                        <a:ext cx="64770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4"/>
          <p:cNvGraphicFramePr>
            <a:graphicFrameLocks noChangeAspect="1"/>
          </p:cNvGraphicFramePr>
          <p:nvPr/>
        </p:nvGraphicFramePr>
        <p:xfrm>
          <a:off x="2362200" y="3810000"/>
          <a:ext cx="3086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5" name="Equation" r:id="rId11" imgW="3086100" imgH="1016000" progId="Equation.DSMT4">
                  <p:embed/>
                </p:oleObj>
              </mc:Choice>
              <mc:Fallback>
                <p:oleObj name="Equation" r:id="rId11" imgW="3086100" imgH="1016000" progId="Equation.DSMT4">
                  <p:embed/>
                  <p:pic>
                    <p:nvPicPr>
                      <p:cNvPr id="2048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810000"/>
                        <a:ext cx="3086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3E033CF-67C3-4F5E-A50A-78CE5BB9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88B90-87AB-4818-97BC-81740F37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512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587141" y="1657951"/>
            <a:ext cx="3276600" cy="4572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则第</a:t>
            </a:r>
            <a:r>
              <a:rPr lang="en-US" altLang="zh-CN" sz="2800" dirty="0"/>
              <a:t>1</a:t>
            </a:r>
            <a:r>
              <a:rPr lang="zh-CN" altLang="en-US" sz="2800" dirty="0"/>
              <a:t>次探测时有</a:t>
            </a:r>
          </a:p>
        </p:txBody>
      </p:sp>
      <p:graphicFrame>
        <p:nvGraphicFramePr>
          <p:cNvPr id="21506" name="Object 0"/>
          <p:cNvGraphicFramePr>
            <a:graphicFrameLocks noChangeAspect="1"/>
          </p:cNvGraphicFramePr>
          <p:nvPr/>
        </p:nvGraphicFramePr>
        <p:xfrm>
          <a:off x="533400" y="1066800"/>
          <a:ext cx="6362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4" name="Equation" r:id="rId3" imgW="6362700" imgH="508000" progId="Equation.DSMT4">
                  <p:embed/>
                </p:oleObj>
              </mc:Choice>
              <mc:Fallback>
                <p:oleObj name="Equation" r:id="rId3" imgW="6362700" imgH="508000" progId="Equation.DSMT4">
                  <p:embed/>
                  <p:pic>
                    <p:nvPicPr>
                      <p:cNvPr id="2150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066800"/>
                        <a:ext cx="6362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1"/>
          <p:cNvGraphicFramePr>
            <a:graphicFrameLocks noChangeAspect="1"/>
          </p:cNvGraphicFramePr>
          <p:nvPr/>
        </p:nvGraphicFramePr>
        <p:xfrm>
          <a:off x="3657600" y="1828800"/>
          <a:ext cx="166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5" name="Equation" r:id="rId5" imgW="1663700" imgH="431800" progId="Equation.DSMT4">
                  <p:embed/>
                </p:oleObj>
              </mc:Choice>
              <mc:Fallback>
                <p:oleObj name="Equation" r:id="rId5" imgW="1663700" imgH="431800" progId="Equation.DSMT4">
                  <p:embed/>
                  <p:pic>
                    <p:nvPicPr>
                      <p:cNvPr id="2150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828800"/>
                        <a:ext cx="1663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71" name="Group 55"/>
          <p:cNvGraphicFramePr>
            <a:graphicFrameLocks noGrp="1"/>
          </p:cNvGraphicFramePr>
          <p:nvPr/>
        </p:nvGraphicFramePr>
        <p:xfrm>
          <a:off x="685800" y="2514600"/>
          <a:ext cx="7543800" cy="37338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305839153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86110114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80614667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1465542872"/>
                    </a:ext>
                  </a:extLst>
                </a:gridCol>
              </a:tblGrid>
              <a:tr h="622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方向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经过的点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结果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469626"/>
                  </a:ext>
                </a:extLst>
              </a:tr>
              <a:tr h="622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－－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－－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036359"/>
                  </a:ext>
                </a:extLst>
              </a:tr>
              <a:tr h="622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 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(1,0)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66141"/>
                  </a:ext>
                </a:extLst>
              </a:tr>
              <a:tr h="622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=(0,1)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936964"/>
                  </a:ext>
                </a:extLst>
              </a:tr>
              <a:tr h="622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(4,1)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失败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377323"/>
                  </a:ext>
                </a:extLst>
              </a:tr>
              <a:tr h="622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失败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0754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E3F42-B6C3-454C-806A-C117A344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537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52513"/>
            <a:ext cx="7848600" cy="12192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 dirty="0"/>
              <a:t>   </a:t>
            </a:r>
            <a:r>
              <a:rPr lang="zh-CN" altLang="en-US" sz="2800" b="0" dirty="0"/>
              <a:t>在两个搜索方向都获得一次成功并接着一次失败后。我们就得到一个新的出发点</a:t>
            </a:r>
            <a:r>
              <a:rPr lang="en-US" altLang="zh-CN" sz="2800" b="0" i="1" dirty="0"/>
              <a:t>x</a:t>
            </a:r>
            <a:r>
              <a:rPr lang="en-US" altLang="zh-CN" sz="2800" b="0" baseline="30000" dirty="0"/>
              <a:t>(2)</a:t>
            </a:r>
            <a:r>
              <a:rPr lang="en-US" altLang="zh-CN" sz="2800" b="0" dirty="0"/>
              <a:t> =(1,1) </a:t>
            </a:r>
          </a:p>
          <a:p>
            <a:pPr eaLnBrk="1" hangingPunct="1">
              <a:buFontTx/>
              <a:buNone/>
            </a:pPr>
            <a:endParaRPr lang="en-US" altLang="zh-CN" sz="2800" b="0" dirty="0"/>
          </a:p>
        </p:txBody>
      </p:sp>
      <p:sp>
        <p:nvSpPr>
          <p:cNvPr id="22538" name="Rectangle 8"/>
          <p:cNvSpPr>
            <a:spLocks noChangeArrowheads="1"/>
          </p:cNvSpPr>
          <p:nvPr/>
        </p:nvSpPr>
        <p:spPr bwMode="auto">
          <a:xfrm>
            <a:off x="468313" y="2133600"/>
            <a:ext cx="744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下面构造一组新的单位正交方向</a:t>
            </a:r>
            <a:r>
              <a:rPr lang="en-US" altLang="zh-CN" sz="2800"/>
              <a:t>,</a:t>
            </a:r>
            <a:r>
              <a:rPr lang="zh-CN" altLang="en-US" sz="2800"/>
              <a:t>由</a:t>
            </a:r>
            <a:r>
              <a:rPr lang="en-US" altLang="zh-CN" sz="2800"/>
              <a:t>(2.4</a:t>
            </a:r>
            <a:r>
              <a:rPr lang="zh-CN" altLang="en-US" sz="2800"/>
              <a:t>－</a:t>
            </a:r>
            <a:r>
              <a:rPr lang="en-US" altLang="zh-CN" sz="2800"/>
              <a:t>2.8)</a:t>
            </a:r>
            <a:r>
              <a:rPr lang="zh-CN" altLang="en-US" sz="2800"/>
              <a:t>得</a:t>
            </a:r>
          </a:p>
        </p:txBody>
      </p:sp>
      <p:graphicFrame>
        <p:nvGraphicFramePr>
          <p:cNvPr id="22530" name="Object 0"/>
          <p:cNvGraphicFramePr>
            <a:graphicFrameLocks noChangeAspect="1"/>
          </p:cNvGraphicFramePr>
          <p:nvPr/>
        </p:nvGraphicFramePr>
        <p:xfrm>
          <a:off x="1676400" y="2895600"/>
          <a:ext cx="3403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5" name="Equation" r:id="rId3" imgW="3403600" imgH="2133600" progId="Equation.DSMT4">
                  <p:embed/>
                </p:oleObj>
              </mc:Choice>
              <mc:Fallback>
                <p:oleObj name="Equation" r:id="rId3" imgW="3403600" imgH="2133600" progId="Equation.DSMT4">
                  <p:embed/>
                  <p:pic>
                    <p:nvPicPr>
                      <p:cNvPr id="2253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95600"/>
                        <a:ext cx="34036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Rectangle 10"/>
          <p:cNvSpPr>
            <a:spLocks noChangeArrowheads="1"/>
          </p:cNvSpPr>
          <p:nvPr/>
        </p:nvSpPr>
        <p:spPr bwMode="auto">
          <a:xfrm>
            <a:off x="685800" y="5181600"/>
            <a:ext cx="302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正交化并单位化得</a:t>
            </a:r>
          </a:p>
        </p:txBody>
      </p:sp>
      <p:graphicFrame>
        <p:nvGraphicFramePr>
          <p:cNvPr id="22531" name="Object 1"/>
          <p:cNvGraphicFramePr>
            <a:graphicFrameLocks noChangeAspect="1"/>
          </p:cNvGraphicFramePr>
          <p:nvPr/>
        </p:nvGraphicFramePr>
        <p:xfrm>
          <a:off x="3276600" y="17907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6" name="Equation" r:id="rId5" imgW="457677" imgH="793306" progId="Equation.DSMT4">
                  <p:embed/>
                </p:oleObj>
              </mc:Choice>
              <mc:Fallback>
                <p:oleObj name="Equation" r:id="rId5" imgW="457677" imgH="793306" progId="Equation.DSMT4">
                  <p:embed/>
                  <p:pic>
                    <p:nvPicPr>
                      <p:cNvPr id="2253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7907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2"/>
          <p:cNvGraphicFramePr>
            <a:graphicFrameLocks noChangeAspect="1"/>
          </p:cNvGraphicFramePr>
          <p:nvPr/>
        </p:nvGraphicFramePr>
        <p:xfrm>
          <a:off x="3886200" y="4876800"/>
          <a:ext cx="4470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7" name="Equation" r:id="rId7" imgW="4470400" imgH="1600200" progId="Equation.DSMT4">
                  <p:embed/>
                </p:oleObj>
              </mc:Choice>
              <mc:Fallback>
                <p:oleObj name="Equation" r:id="rId7" imgW="4470400" imgH="1600200" progId="Equation.DSMT4">
                  <p:embed/>
                  <p:pic>
                    <p:nvPicPr>
                      <p:cNvPr id="2253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876800"/>
                        <a:ext cx="44704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74816-D914-4634-899D-CBC70488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158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259882" y="1019476"/>
            <a:ext cx="4495800" cy="4572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/>
              <a:t>由此得下一迭代探测表</a:t>
            </a:r>
          </a:p>
        </p:txBody>
      </p:sp>
      <p:graphicFrame>
        <p:nvGraphicFramePr>
          <p:cNvPr id="36921" name="Group 57"/>
          <p:cNvGraphicFramePr>
            <a:graphicFrameLocks noGrp="1"/>
          </p:cNvGraphicFramePr>
          <p:nvPr/>
        </p:nvGraphicFramePr>
        <p:xfrm>
          <a:off x="685800" y="1676400"/>
          <a:ext cx="7848600" cy="3530609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2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2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方向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经过的点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函数值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结果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－－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－－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 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(1)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(1.7071,1.7071)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0.7929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成功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2.4142)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4.4142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失败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(1)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(3.8284,3.8284)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6.1716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失败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(2)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(2.0606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1.3536)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0.1712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成功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6943" name="Group 79"/>
          <p:cNvGraphicFramePr>
            <a:graphicFrameLocks noGrp="1"/>
          </p:cNvGraphicFramePr>
          <p:nvPr/>
        </p:nvGraphicFramePr>
        <p:xfrm>
          <a:off x="685800" y="5181600"/>
          <a:ext cx="7848600" cy="119538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(1)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0.2929</a:t>
                      </a: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0.7929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失败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(2)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(3.1213,0.2929)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2.5503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失败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40CAF-6B09-4053-9604-AC0EC1AA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4343400" cy="4572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/>
              <a:t>该阶段得到的最好解为</a:t>
            </a:r>
          </a:p>
        </p:txBody>
      </p:sp>
      <p:sp>
        <p:nvSpPr>
          <p:cNvPr id="50183" name="Rectangle 14"/>
          <p:cNvSpPr>
            <a:spLocks noChangeArrowheads="1"/>
          </p:cNvSpPr>
          <p:nvPr/>
        </p:nvSpPr>
        <p:spPr bwMode="auto">
          <a:xfrm>
            <a:off x="2057400" y="18288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/>
              <a:t>x</a:t>
            </a:r>
            <a:r>
              <a:rPr lang="en-US" altLang="zh-CN" sz="2800" baseline="30000"/>
              <a:t>(3) </a:t>
            </a:r>
            <a:r>
              <a:rPr lang="en-US" altLang="zh-CN"/>
              <a:t>=(2.0606</a:t>
            </a:r>
            <a:r>
              <a:rPr lang="zh-CN" altLang="en-US"/>
              <a:t>，</a:t>
            </a:r>
            <a:r>
              <a:rPr lang="en-US" altLang="zh-CN"/>
              <a:t>1.3536)</a:t>
            </a:r>
            <a:endParaRPr lang="en-US" altLang="zh-CN" sz="2800" baseline="30000"/>
          </a:p>
        </p:txBody>
      </p:sp>
      <p:sp>
        <p:nvSpPr>
          <p:cNvPr id="50184" name="Rectangle 15"/>
          <p:cNvSpPr>
            <a:spLocks noChangeArrowheads="1"/>
          </p:cNvSpPr>
          <p:nvPr/>
        </p:nvSpPr>
        <p:spPr bwMode="auto">
          <a:xfrm>
            <a:off x="609600" y="2514600"/>
            <a:ext cx="365601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/>
              <a:t>最优解为 </a:t>
            </a:r>
            <a:r>
              <a:rPr lang="en-US" altLang="zh-CN" sz="2800" i="1"/>
              <a:t>x</a:t>
            </a:r>
            <a:r>
              <a:rPr lang="en-US" altLang="zh-CN" sz="2800"/>
              <a:t>*=(2,1),</a:t>
            </a:r>
            <a:r>
              <a:rPr lang="en-US" altLang="zh-CN" sz="2800" i="1"/>
              <a:t>f</a:t>
            </a:r>
            <a:r>
              <a:rPr lang="en-US" altLang="zh-CN" sz="2800"/>
              <a:t>*=0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600"/>
              <a:t>3.</a:t>
            </a:r>
            <a:r>
              <a:rPr lang="en-US" altLang="zh-CN" sz="3600">
                <a:ea typeface="楷体_GB2312" pitchFamily="49" charset="-122"/>
              </a:rPr>
              <a:t>Powell</a:t>
            </a:r>
            <a:r>
              <a:rPr lang="zh-CN" altLang="en-US" sz="3600">
                <a:ea typeface="楷体_GB2312" pitchFamily="49" charset="-122"/>
              </a:rPr>
              <a:t>法</a:t>
            </a:r>
          </a:p>
        </p:txBody>
      </p:sp>
      <p:sp>
        <p:nvSpPr>
          <p:cNvPr id="235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2388" y="1048352"/>
            <a:ext cx="60960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/>
              <a:t>3.1 Powell </a:t>
            </a:r>
            <a:r>
              <a:rPr lang="zh-CN" altLang="en-US" sz="2800" b="0"/>
              <a:t>基本方法</a:t>
            </a: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468313" y="1700213"/>
            <a:ext cx="8194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基本思想</a:t>
            </a:r>
            <a:r>
              <a:rPr lang="en-US" altLang="zh-CN" sz="2800"/>
              <a:t>:</a:t>
            </a:r>
            <a:r>
              <a:rPr lang="zh-CN" altLang="en-US" sz="2800"/>
              <a:t>把整个计算过程分成若干个阶段</a:t>
            </a:r>
            <a:r>
              <a:rPr lang="en-US" altLang="zh-CN" sz="2800"/>
              <a:t>,</a:t>
            </a:r>
            <a:r>
              <a:rPr lang="zh-CN" altLang="en-US" sz="2800"/>
              <a:t>每一阶段</a:t>
            </a:r>
          </a:p>
          <a:p>
            <a:pPr eaLnBrk="1" hangingPunct="1"/>
            <a:r>
              <a:rPr lang="en-US" altLang="zh-CN" sz="2800"/>
              <a:t>(</a:t>
            </a:r>
            <a:r>
              <a:rPr lang="zh-CN" altLang="en-US" sz="2800"/>
              <a:t>一轮迭代</a:t>
            </a:r>
            <a:r>
              <a:rPr lang="en-US" altLang="zh-CN" sz="2800"/>
              <a:t>)</a:t>
            </a:r>
            <a:r>
              <a:rPr lang="zh-CN" altLang="en-US" sz="2800"/>
              <a:t>由</a:t>
            </a:r>
            <a:r>
              <a:rPr lang="en-US" altLang="zh-CN" sz="2800"/>
              <a:t>n+1</a:t>
            </a:r>
            <a:r>
              <a:rPr lang="zh-CN" altLang="en-US" sz="2800"/>
              <a:t>次一维搜索组成</a:t>
            </a:r>
            <a:r>
              <a:rPr lang="en-US" altLang="zh-CN" sz="2800"/>
              <a:t>.</a:t>
            </a:r>
          </a:p>
        </p:txBody>
      </p:sp>
      <p:graphicFrame>
        <p:nvGraphicFramePr>
          <p:cNvPr id="83968" name="Object 1024"/>
          <p:cNvGraphicFramePr>
            <a:graphicFrameLocks noChangeAspect="1"/>
          </p:cNvGraphicFramePr>
          <p:nvPr/>
        </p:nvGraphicFramePr>
        <p:xfrm>
          <a:off x="838200" y="3352800"/>
          <a:ext cx="56261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2" name="Equation" r:id="rId3" imgW="5626100" imgH="1574800" progId="Equation.DSMT4">
                  <p:embed/>
                </p:oleObj>
              </mc:Choice>
              <mc:Fallback>
                <p:oleObj name="Equation" r:id="rId3" imgW="5626100" imgH="1574800" progId="Equation.DSMT4">
                  <p:embed/>
                  <p:pic>
                    <p:nvPicPr>
                      <p:cNvPr id="83968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352800"/>
                        <a:ext cx="56261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468313" y="2718594"/>
            <a:ext cx="2220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计算步骤</a:t>
            </a:r>
          </a:p>
        </p:txBody>
      </p:sp>
      <p:graphicFrame>
        <p:nvGraphicFramePr>
          <p:cNvPr id="83969" name="Object 1025"/>
          <p:cNvGraphicFramePr>
            <a:graphicFrameLocks noChangeAspect="1"/>
          </p:cNvGraphicFramePr>
          <p:nvPr/>
        </p:nvGraphicFramePr>
        <p:xfrm>
          <a:off x="762000" y="5029200"/>
          <a:ext cx="6096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3" name="Equation" r:id="rId5" imgW="6096000" imgH="1016000" progId="Equation.DSMT4">
                  <p:embed/>
                </p:oleObj>
              </mc:Choice>
              <mc:Fallback>
                <p:oleObj name="Equation" r:id="rId5" imgW="6096000" imgH="1016000" progId="Equation.DSMT4">
                  <p:embed/>
                  <p:pic>
                    <p:nvPicPr>
                      <p:cNvPr id="83969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029200"/>
                        <a:ext cx="6096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3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3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/>
      <p:bldP spid="471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16340-E612-4BCB-9EF8-F63CFB0A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58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4636" y="1000225"/>
            <a:ext cx="34290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/>
              <a:t>进行搜索</a:t>
            </a:r>
            <a:r>
              <a:rPr lang="en-US" altLang="zh-CN" sz="2800" b="0"/>
              <a:t>,</a:t>
            </a:r>
            <a:r>
              <a:rPr lang="zh-CN" altLang="en-US" sz="2800" b="0"/>
              <a:t>得到点</a:t>
            </a:r>
          </a:p>
        </p:txBody>
      </p:sp>
      <p:graphicFrame>
        <p:nvGraphicFramePr>
          <p:cNvPr id="24578" name="Object 0"/>
          <p:cNvGraphicFramePr>
            <a:graphicFrameLocks noChangeAspect="1"/>
          </p:cNvGraphicFramePr>
          <p:nvPr/>
        </p:nvGraphicFramePr>
        <p:xfrm>
          <a:off x="2133600" y="1600200"/>
          <a:ext cx="3416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0" name="Equation" r:id="rId3" imgW="3416300" imgH="419100" progId="Equation.DSMT4">
                  <p:embed/>
                </p:oleObj>
              </mc:Choice>
              <mc:Fallback>
                <p:oleObj name="Equation" r:id="rId3" imgW="3416300" imgH="419100" progId="Equation.DSMT4">
                  <p:embed/>
                  <p:pic>
                    <p:nvPicPr>
                      <p:cNvPr id="2457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600200"/>
                        <a:ext cx="3416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1"/>
          <p:cNvGraphicFramePr>
            <a:graphicFrameLocks noChangeAspect="1"/>
          </p:cNvGraphicFramePr>
          <p:nvPr/>
        </p:nvGraphicFramePr>
        <p:xfrm>
          <a:off x="762000" y="2133600"/>
          <a:ext cx="4241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1" name="Equation" r:id="rId5" imgW="4241800" imgH="965200" progId="Equation.DSMT4">
                  <p:embed/>
                </p:oleObj>
              </mc:Choice>
              <mc:Fallback>
                <p:oleObj name="Equation" r:id="rId5" imgW="4241800" imgH="965200" progId="Equation.DSMT4">
                  <p:embed/>
                  <p:pic>
                    <p:nvPicPr>
                      <p:cNvPr id="2457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133600"/>
                        <a:ext cx="4241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Rectangle 7"/>
          <p:cNvSpPr>
            <a:spLocks noChangeArrowheads="1"/>
          </p:cNvSpPr>
          <p:nvPr/>
        </p:nvSpPr>
        <p:spPr bwMode="auto">
          <a:xfrm>
            <a:off x="762000" y="3429000"/>
            <a:ext cx="4953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/>
              <a:t>作一维搜索</a:t>
            </a:r>
            <a:r>
              <a:rPr lang="en-US" altLang="zh-CN" sz="2800"/>
              <a:t>,</a:t>
            </a:r>
            <a:r>
              <a:rPr lang="zh-CN" altLang="en-US" sz="2800"/>
              <a:t>得到点</a:t>
            </a:r>
            <a:r>
              <a:rPr lang="en-US" altLang="zh-CN" sz="2800" i="1"/>
              <a:t>x</a:t>
            </a:r>
            <a:r>
              <a:rPr lang="en-US" altLang="zh-CN" sz="2800" baseline="30000"/>
              <a:t>(k)</a:t>
            </a:r>
            <a:endParaRPr lang="en-US" altLang="zh-CN" sz="2800"/>
          </a:p>
        </p:txBody>
      </p:sp>
      <p:graphicFrame>
        <p:nvGraphicFramePr>
          <p:cNvPr id="24580" name="Object 2"/>
          <p:cNvGraphicFramePr>
            <a:graphicFrameLocks noChangeAspect="1"/>
          </p:cNvGraphicFramePr>
          <p:nvPr/>
        </p:nvGraphicFramePr>
        <p:xfrm>
          <a:off x="3276600" y="17907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2" name="Equation" r:id="rId7" imgW="457677" imgH="793306" progId="Equation.DSMT4">
                  <p:embed/>
                </p:oleObj>
              </mc:Choice>
              <mc:Fallback>
                <p:oleObj name="Equation" r:id="rId7" imgW="457677" imgH="793306" progId="Equation.DSMT4">
                  <p:embed/>
                  <p:pic>
                    <p:nvPicPr>
                      <p:cNvPr id="2458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7907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3"/>
          <p:cNvGraphicFramePr>
            <a:graphicFrameLocks noChangeAspect="1"/>
          </p:cNvGraphicFramePr>
          <p:nvPr/>
        </p:nvGraphicFramePr>
        <p:xfrm>
          <a:off x="685800" y="4114800"/>
          <a:ext cx="74803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3" name="Equation" r:id="rId9" imgW="7480300" imgH="1689100" progId="Equation.DSMT4">
                  <p:embed/>
                </p:oleObj>
              </mc:Choice>
              <mc:Fallback>
                <p:oleObj name="Equation" r:id="rId9" imgW="7480300" imgH="1689100" progId="Equation.DSMT4">
                  <p:embed/>
                  <p:pic>
                    <p:nvPicPr>
                      <p:cNvPr id="2458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114800"/>
                        <a:ext cx="74803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FB814-FA1E-47D8-B634-211FBE83C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560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490889" y="989798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例</a:t>
            </a:r>
            <a:r>
              <a:rPr lang="en-US" altLang="zh-CN" sz="2800" b="0" dirty="0"/>
              <a:t>1  </a:t>
            </a:r>
            <a:r>
              <a:rPr lang="zh-CN" altLang="en-US" sz="2800" b="0" dirty="0"/>
              <a:t>用</a:t>
            </a:r>
            <a:r>
              <a:rPr lang="en-US" altLang="zh-CN" sz="2800" b="0" dirty="0"/>
              <a:t>Powell</a:t>
            </a:r>
            <a:r>
              <a:rPr lang="zh-CN" altLang="en-US" sz="2800" b="0" dirty="0"/>
              <a:t>方法求解下列问题</a:t>
            </a:r>
          </a:p>
        </p:txBody>
      </p:sp>
      <p:graphicFrame>
        <p:nvGraphicFramePr>
          <p:cNvPr id="25602" name="Object 1029"/>
          <p:cNvGraphicFramePr>
            <a:graphicFrameLocks noChangeAspect="1"/>
          </p:cNvGraphicFramePr>
          <p:nvPr/>
        </p:nvGraphicFramePr>
        <p:xfrm>
          <a:off x="2057400" y="1676400"/>
          <a:ext cx="4394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7" name="Equation" r:id="rId3" imgW="4394200" imgH="469900" progId="Equation.DSMT4">
                  <p:embed/>
                </p:oleObj>
              </mc:Choice>
              <mc:Fallback>
                <p:oleObj name="Equation" r:id="rId3" imgW="4394200" imgH="469900" progId="Equation.DSMT4">
                  <p:embed/>
                  <p:pic>
                    <p:nvPicPr>
                      <p:cNvPr id="25602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76400"/>
                        <a:ext cx="4394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1030"/>
          <p:cNvSpPr>
            <a:spLocks noChangeArrowheads="1"/>
          </p:cNvSpPr>
          <p:nvPr/>
        </p:nvSpPr>
        <p:spPr bwMode="auto">
          <a:xfrm>
            <a:off x="838200" y="2286000"/>
            <a:ext cx="374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/>
              <a:t>取初始点和初始方向为</a:t>
            </a:r>
          </a:p>
        </p:txBody>
      </p:sp>
      <p:graphicFrame>
        <p:nvGraphicFramePr>
          <p:cNvPr id="25603" name="Object 1031"/>
          <p:cNvGraphicFramePr>
            <a:graphicFrameLocks noChangeAspect="1"/>
          </p:cNvGraphicFramePr>
          <p:nvPr/>
        </p:nvGraphicFramePr>
        <p:xfrm>
          <a:off x="1524000" y="3124200"/>
          <a:ext cx="4762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8" name="Equation" r:id="rId5" imgW="4762500" imgH="1016000" progId="Equation.DSMT4">
                  <p:embed/>
                </p:oleObj>
              </mc:Choice>
              <mc:Fallback>
                <p:oleObj name="Equation" r:id="rId5" imgW="4762500" imgH="1016000" progId="Equation.DSMT4">
                  <p:embed/>
                  <p:pic>
                    <p:nvPicPr>
                      <p:cNvPr id="25603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124200"/>
                        <a:ext cx="4762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Rectangle 1032"/>
          <p:cNvSpPr>
            <a:spLocks noChangeArrowheads="1"/>
          </p:cNvSpPr>
          <p:nvPr/>
        </p:nvSpPr>
        <p:spPr bwMode="auto">
          <a:xfrm>
            <a:off x="914400" y="4114800"/>
            <a:ext cx="1784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第</a:t>
            </a:r>
            <a:r>
              <a:rPr lang="en-US" altLang="zh-CN" sz="2800"/>
              <a:t>1</a:t>
            </a:r>
            <a:r>
              <a:rPr lang="zh-CN" altLang="en-US" sz="2800"/>
              <a:t>轮迭代</a:t>
            </a:r>
          </a:p>
        </p:txBody>
      </p:sp>
      <p:graphicFrame>
        <p:nvGraphicFramePr>
          <p:cNvPr id="25604" name="Object 1033"/>
          <p:cNvGraphicFramePr>
            <a:graphicFrameLocks noChangeAspect="1"/>
          </p:cNvGraphicFramePr>
          <p:nvPr/>
        </p:nvGraphicFramePr>
        <p:xfrm>
          <a:off x="2209800" y="4876800"/>
          <a:ext cx="2413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9" name="Equation" r:id="rId7" imgW="2413000" imgH="1016000" progId="Equation.DSMT4">
                  <p:embed/>
                </p:oleObj>
              </mc:Choice>
              <mc:Fallback>
                <p:oleObj name="Equation" r:id="rId7" imgW="2413000" imgH="1016000" progId="Equation.DSMT4">
                  <p:embed/>
                  <p:pic>
                    <p:nvPicPr>
                      <p:cNvPr id="25604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413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" name="Rectangle 1034"/>
          <p:cNvSpPr>
            <a:spLocks noChangeArrowheads="1"/>
          </p:cNvSpPr>
          <p:nvPr/>
        </p:nvSpPr>
        <p:spPr bwMode="auto">
          <a:xfrm>
            <a:off x="1219200" y="46482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6399F-135E-42F1-9245-15962261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6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7634" y="1018673"/>
            <a:ext cx="5486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/>
              <a:t>用解析法求</a:t>
            </a:r>
            <a:r>
              <a:rPr lang="en-US" altLang="zh-CN" sz="2800" b="0" i="1"/>
              <a:t>f</a:t>
            </a:r>
            <a:r>
              <a:rPr lang="en-US" altLang="zh-CN" sz="2800" b="0"/>
              <a:t>(</a:t>
            </a:r>
            <a:r>
              <a:rPr lang="en-US" altLang="zh-CN" sz="2800" b="0" i="1"/>
              <a:t>x</a:t>
            </a:r>
            <a:r>
              <a:rPr lang="en-US" altLang="zh-CN" sz="2800" b="0"/>
              <a:t>)</a:t>
            </a:r>
            <a:r>
              <a:rPr lang="zh-CN" altLang="en-US" sz="2800" b="0"/>
              <a:t>沿直线的极小点</a:t>
            </a:r>
          </a:p>
        </p:txBody>
      </p:sp>
      <p:graphicFrame>
        <p:nvGraphicFramePr>
          <p:cNvPr id="26626" name="Object 5"/>
          <p:cNvGraphicFramePr>
            <a:graphicFrameLocks noChangeAspect="1"/>
          </p:cNvGraphicFramePr>
          <p:nvPr/>
        </p:nvGraphicFramePr>
        <p:xfrm>
          <a:off x="914400" y="1676400"/>
          <a:ext cx="3213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2" name="Equation" r:id="rId3" imgW="3213100" imgH="406400" progId="Equation.DSMT4">
                  <p:embed/>
                </p:oleObj>
              </mc:Choice>
              <mc:Fallback>
                <p:oleObj name="Equation" r:id="rId3" imgW="3213100" imgH="406400" progId="Equation.DSMT4">
                  <p:embed/>
                  <p:pic>
                    <p:nvPicPr>
                      <p:cNvPr id="266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76400"/>
                        <a:ext cx="3213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6"/>
          <p:cNvGraphicFramePr>
            <a:graphicFrameLocks noChangeAspect="1"/>
          </p:cNvGraphicFramePr>
          <p:nvPr/>
        </p:nvGraphicFramePr>
        <p:xfrm>
          <a:off x="2286000" y="2286000"/>
          <a:ext cx="2921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3" name="Equation" r:id="rId5" imgW="2921000" imgH="584200" progId="Equation.DSMT4">
                  <p:embed/>
                </p:oleObj>
              </mc:Choice>
              <mc:Fallback>
                <p:oleObj name="Equation" r:id="rId5" imgW="2921000" imgH="584200" progId="Equation.DSMT4">
                  <p:embed/>
                  <p:pic>
                    <p:nvPicPr>
                      <p:cNvPr id="266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286000"/>
                        <a:ext cx="2921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7"/>
          <p:cNvGraphicFramePr>
            <a:graphicFrameLocks noChangeAspect="1"/>
          </p:cNvGraphicFramePr>
          <p:nvPr/>
        </p:nvGraphicFramePr>
        <p:xfrm>
          <a:off x="1371600" y="2895600"/>
          <a:ext cx="5257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4" name="Equation" r:id="rId7" imgW="5257800" imgH="1015920" progId="Equation.DSMT4">
                  <p:embed/>
                </p:oleObj>
              </mc:Choice>
              <mc:Fallback>
                <p:oleObj name="Equation" r:id="rId7" imgW="5257800" imgH="1015920" progId="Equation.DSMT4">
                  <p:embed/>
                  <p:pic>
                    <p:nvPicPr>
                      <p:cNvPr id="2662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895600"/>
                        <a:ext cx="5257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Rectangle 8"/>
          <p:cNvSpPr>
            <a:spLocks noChangeArrowheads="1"/>
          </p:cNvSpPr>
          <p:nvPr/>
        </p:nvSpPr>
        <p:spPr bwMode="auto">
          <a:xfrm>
            <a:off x="685800" y="35814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令</a:t>
            </a:r>
          </a:p>
        </p:txBody>
      </p:sp>
      <p:graphicFrame>
        <p:nvGraphicFramePr>
          <p:cNvPr id="26629" name="Object 9"/>
          <p:cNvGraphicFramePr>
            <a:graphicFrameLocks noChangeAspect="1"/>
          </p:cNvGraphicFramePr>
          <p:nvPr/>
        </p:nvGraphicFramePr>
        <p:xfrm>
          <a:off x="1143000" y="4114800"/>
          <a:ext cx="6197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5" name="Equation" r:id="rId9" imgW="6197600" imgH="457200" progId="Equation.DSMT4">
                  <p:embed/>
                </p:oleObj>
              </mc:Choice>
              <mc:Fallback>
                <p:oleObj name="Equation" r:id="rId9" imgW="6197600" imgH="457200" progId="Equation.DSMT4">
                  <p:embed/>
                  <p:pic>
                    <p:nvPicPr>
                      <p:cNvPr id="266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14800"/>
                        <a:ext cx="6197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0"/>
          <p:cNvGraphicFramePr>
            <a:graphicFrameLocks noChangeAspect="1"/>
          </p:cNvGraphicFramePr>
          <p:nvPr/>
        </p:nvGraphicFramePr>
        <p:xfrm>
          <a:off x="1371600" y="4724400"/>
          <a:ext cx="3937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6" name="Equation" r:id="rId11" imgW="3937000" imgH="838200" progId="Equation.DSMT4">
                  <p:embed/>
                </p:oleObj>
              </mc:Choice>
              <mc:Fallback>
                <p:oleObj name="Equation" r:id="rId11" imgW="3937000" imgH="838200" progId="Equation.DSMT4">
                  <p:embed/>
                  <p:pic>
                    <p:nvPicPr>
                      <p:cNvPr id="266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24400"/>
                        <a:ext cx="3937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11"/>
          <p:cNvGraphicFramePr>
            <a:graphicFrameLocks noChangeAspect="1"/>
          </p:cNvGraphicFramePr>
          <p:nvPr/>
        </p:nvGraphicFramePr>
        <p:xfrm>
          <a:off x="1447800" y="5562600"/>
          <a:ext cx="335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7" name="Equation" r:id="rId13" imgW="3352800" imgH="469900" progId="Equation.DSMT4">
                  <p:embed/>
                </p:oleObj>
              </mc:Choice>
              <mc:Fallback>
                <p:oleObj name="Equation" r:id="rId13" imgW="3352800" imgH="469900" progId="Equation.DSMT4">
                  <p:embed/>
                  <p:pic>
                    <p:nvPicPr>
                      <p:cNvPr id="266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562600"/>
                        <a:ext cx="3352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5"/>
          <p:cNvGraphicFramePr>
            <a:graphicFrameLocks noChangeAspect="1"/>
          </p:cNvGraphicFramePr>
          <p:nvPr/>
        </p:nvGraphicFramePr>
        <p:xfrm>
          <a:off x="533400" y="1219200"/>
          <a:ext cx="518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76" name="Equation" r:id="rId3" imgW="5181600" imgH="406400" progId="Equation.DSMT4">
                  <p:embed/>
                </p:oleObj>
              </mc:Choice>
              <mc:Fallback>
                <p:oleObj name="Equation" r:id="rId3" imgW="5181600" imgH="406400" progId="Equation.DSMT4">
                  <p:embed/>
                  <p:pic>
                    <p:nvPicPr>
                      <p:cNvPr id="276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5181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6"/>
          <p:cNvGraphicFramePr>
            <a:graphicFrameLocks noChangeAspect="1"/>
          </p:cNvGraphicFramePr>
          <p:nvPr/>
        </p:nvGraphicFramePr>
        <p:xfrm>
          <a:off x="2057400" y="1828800"/>
          <a:ext cx="2921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77" name="Equation" r:id="rId5" imgW="2921000" imgH="584200" progId="Equation.DSMT4">
                  <p:embed/>
                </p:oleObj>
              </mc:Choice>
              <mc:Fallback>
                <p:oleObj name="Equation" r:id="rId5" imgW="2921000" imgH="584200" progId="Equation.DSMT4">
                  <p:embed/>
                  <p:pic>
                    <p:nvPicPr>
                      <p:cNvPr id="2765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828800"/>
                        <a:ext cx="2921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7"/>
          <p:cNvGraphicFramePr>
            <a:graphicFrameLocks noChangeAspect="1"/>
          </p:cNvGraphicFramePr>
          <p:nvPr/>
        </p:nvGraphicFramePr>
        <p:xfrm>
          <a:off x="1250950" y="2514600"/>
          <a:ext cx="5194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78" name="Equation" r:id="rId7" imgW="5194300" imgH="1016000" progId="Equation.DSMT4">
                  <p:embed/>
                </p:oleObj>
              </mc:Choice>
              <mc:Fallback>
                <p:oleObj name="Equation" r:id="rId7" imgW="5194300" imgH="1016000" progId="Equation.DSMT4">
                  <p:embed/>
                  <p:pic>
                    <p:nvPicPr>
                      <p:cNvPr id="2765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2514600"/>
                        <a:ext cx="51943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0" name="Rectangle 8"/>
          <p:cNvSpPr>
            <a:spLocks noChangeArrowheads="1"/>
          </p:cNvSpPr>
          <p:nvPr/>
        </p:nvSpPr>
        <p:spPr bwMode="auto">
          <a:xfrm>
            <a:off x="533400" y="32004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令</a:t>
            </a:r>
          </a:p>
        </p:txBody>
      </p:sp>
      <p:graphicFrame>
        <p:nvGraphicFramePr>
          <p:cNvPr id="27653" name="Object 9"/>
          <p:cNvGraphicFramePr>
            <a:graphicFrameLocks noChangeAspect="1"/>
          </p:cNvGraphicFramePr>
          <p:nvPr/>
        </p:nvGraphicFramePr>
        <p:xfrm>
          <a:off x="1295400" y="3733800"/>
          <a:ext cx="523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79" name="Equation" r:id="rId9" imgW="5232400" imgH="457200" progId="Equation.DSMT4">
                  <p:embed/>
                </p:oleObj>
              </mc:Choice>
              <mc:Fallback>
                <p:oleObj name="Equation" r:id="rId9" imgW="5232400" imgH="457200" progId="Equation.DSMT4">
                  <p:embed/>
                  <p:pic>
                    <p:nvPicPr>
                      <p:cNvPr id="276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733800"/>
                        <a:ext cx="5232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10"/>
          <p:cNvGraphicFramePr>
            <a:graphicFrameLocks noChangeAspect="1"/>
          </p:cNvGraphicFramePr>
          <p:nvPr/>
        </p:nvGraphicFramePr>
        <p:xfrm>
          <a:off x="1752600" y="4343400"/>
          <a:ext cx="250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0" name="Equation" r:id="rId11" imgW="2501900" imgH="838200" progId="Equation.DSMT4">
                  <p:embed/>
                </p:oleObj>
              </mc:Choice>
              <mc:Fallback>
                <p:oleObj name="Equation" r:id="rId11" imgW="2501900" imgH="838200" progId="Equation.DSMT4">
                  <p:embed/>
                  <p:pic>
                    <p:nvPicPr>
                      <p:cNvPr id="276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343400"/>
                        <a:ext cx="250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11"/>
          <p:cNvGraphicFramePr>
            <a:graphicFrameLocks noChangeAspect="1"/>
          </p:cNvGraphicFramePr>
          <p:nvPr/>
        </p:nvGraphicFramePr>
        <p:xfrm>
          <a:off x="1524000" y="5334000"/>
          <a:ext cx="3416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1" name="Equation" r:id="rId13" imgW="3416300" imgH="469900" progId="Equation.DSMT4">
                  <p:embed/>
                </p:oleObj>
              </mc:Choice>
              <mc:Fallback>
                <p:oleObj name="Equation" r:id="rId13" imgW="3416300" imgH="469900" progId="Equation.DSMT4">
                  <p:embed/>
                  <p:pic>
                    <p:nvPicPr>
                      <p:cNvPr id="276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34000"/>
                        <a:ext cx="3416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DA226FE-D9E8-4B48-A8E0-3C866FB2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C87C4-5338-435E-ABD9-E32777D7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86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2013" y="962526"/>
            <a:ext cx="16002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/>
              <a:t>令方向</a:t>
            </a:r>
          </a:p>
        </p:txBody>
      </p:sp>
      <p:graphicFrame>
        <p:nvGraphicFramePr>
          <p:cNvPr id="28674" name="Object 5"/>
          <p:cNvGraphicFramePr>
            <a:graphicFrameLocks noChangeAspect="1"/>
          </p:cNvGraphicFramePr>
          <p:nvPr/>
        </p:nvGraphicFramePr>
        <p:xfrm>
          <a:off x="2667000" y="2514600"/>
          <a:ext cx="2959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17" name="Equation" r:id="rId3" imgW="2959100" imgH="584200" progId="Equation.DSMT4">
                  <p:embed/>
                </p:oleObj>
              </mc:Choice>
              <mc:Fallback>
                <p:oleObj name="Equation" r:id="rId3" imgW="2959100" imgH="584200" progId="Equation.DSMT4">
                  <p:embed/>
                  <p:pic>
                    <p:nvPicPr>
                      <p:cNvPr id="286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14600"/>
                        <a:ext cx="29591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6"/>
          <p:cNvGraphicFramePr>
            <a:graphicFrameLocks noChangeAspect="1"/>
          </p:cNvGraphicFramePr>
          <p:nvPr/>
        </p:nvGraphicFramePr>
        <p:xfrm>
          <a:off x="1524000" y="3124200"/>
          <a:ext cx="5346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18" name="Equation" r:id="rId5" imgW="5346700" imgH="1016000" progId="Equation.DSMT4">
                  <p:embed/>
                </p:oleObj>
              </mc:Choice>
              <mc:Fallback>
                <p:oleObj name="Equation" r:id="rId5" imgW="5346700" imgH="1016000" progId="Equation.DSMT4">
                  <p:embed/>
                  <p:pic>
                    <p:nvPicPr>
                      <p:cNvPr id="286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124200"/>
                        <a:ext cx="53467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Rectangle 7"/>
          <p:cNvSpPr>
            <a:spLocks noChangeArrowheads="1"/>
          </p:cNvSpPr>
          <p:nvPr/>
        </p:nvSpPr>
        <p:spPr bwMode="auto">
          <a:xfrm>
            <a:off x="685800" y="37338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令</a:t>
            </a:r>
          </a:p>
        </p:txBody>
      </p:sp>
      <p:graphicFrame>
        <p:nvGraphicFramePr>
          <p:cNvPr id="28676" name="Object 8"/>
          <p:cNvGraphicFramePr>
            <a:graphicFrameLocks noChangeAspect="1"/>
          </p:cNvGraphicFramePr>
          <p:nvPr/>
        </p:nvGraphicFramePr>
        <p:xfrm>
          <a:off x="1066800" y="4343400"/>
          <a:ext cx="627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19" name="Equation" r:id="rId7" imgW="6273800" imgH="457200" progId="Equation.DSMT4">
                  <p:embed/>
                </p:oleObj>
              </mc:Choice>
              <mc:Fallback>
                <p:oleObj name="Equation" r:id="rId7" imgW="6273800" imgH="457200" progId="Equation.DSMT4">
                  <p:embed/>
                  <p:pic>
                    <p:nvPicPr>
                      <p:cNvPr id="286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343400"/>
                        <a:ext cx="6273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225700"/>
              </p:ext>
            </p:extLst>
          </p:nvPr>
        </p:nvGraphicFramePr>
        <p:xfrm>
          <a:off x="2038350" y="4876800"/>
          <a:ext cx="374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0" name="Equation" r:id="rId9" imgW="3746160" imgH="838080" progId="Equation.DSMT4">
                  <p:embed/>
                </p:oleObj>
              </mc:Choice>
              <mc:Fallback>
                <p:oleObj name="Equation" r:id="rId9" imgW="3746160" imgH="838080" progId="Equation.DSMT4">
                  <p:embed/>
                  <p:pic>
                    <p:nvPicPr>
                      <p:cNvPr id="286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4876800"/>
                        <a:ext cx="3746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10"/>
          <p:cNvGraphicFramePr>
            <a:graphicFrameLocks noChangeAspect="1"/>
          </p:cNvGraphicFramePr>
          <p:nvPr/>
        </p:nvGraphicFramePr>
        <p:xfrm>
          <a:off x="990600" y="5638800"/>
          <a:ext cx="6400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1" name="Equation" r:id="rId11" imgW="6400800" imgH="838080" progId="Equation.DSMT4">
                  <p:embed/>
                </p:oleObj>
              </mc:Choice>
              <mc:Fallback>
                <p:oleObj name="Equation" r:id="rId11" imgW="6400800" imgH="838080" progId="Equation.DSMT4">
                  <p:embed/>
                  <p:pic>
                    <p:nvPicPr>
                      <p:cNvPr id="286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638800"/>
                        <a:ext cx="6400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11"/>
          <p:cNvGraphicFramePr>
            <a:graphicFrameLocks noChangeAspect="1"/>
          </p:cNvGraphicFramePr>
          <p:nvPr/>
        </p:nvGraphicFramePr>
        <p:xfrm>
          <a:off x="2133600" y="1066800"/>
          <a:ext cx="3708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2" name="Equation" r:id="rId13" imgW="3708400" imgH="1016000" progId="Equation.DSMT4">
                  <p:embed/>
                </p:oleObj>
              </mc:Choice>
              <mc:Fallback>
                <p:oleObj name="Equation" r:id="rId13" imgW="3708400" imgH="1016000" progId="Equation.DSMT4">
                  <p:embed/>
                  <p:pic>
                    <p:nvPicPr>
                      <p:cNvPr id="286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066800"/>
                        <a:ext cx="3708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12"/>
          <p:cNvGraphicFramePr>
            <a:graphicFrameLocks noChangeAspect="1"/>
          </p:cNvGraphicFramePr>
          <p:nvPr/>
        </p:nvGraphicFramePr>
        <p:xfrm>
          <a:off x="685800" y="2057400"/>
          <a:ext cx="485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3" name="Equation" r:id="rId15" imgW="4851400" imgH="406400" progId="Equation.DSMT4">
                  <p:embed/>
                </p:oleObj>
              </mc:Choice>
              <mc:Fallback>
                <p:oleObj name="Equation" r:id="rId15" imgW="4851400" imgH="406400" progId="Equation.DSMT4">
                  <p:embed/>
                  <p:pic>
                    <p:nvPicPr>
                      <p:cNvPr id="286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057400"/>
                        <a:ext cx="4851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40DE7-7216-4CEB-B5DD-1FB7CB43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7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5386" y="1001028"/>
            <a:ext cx="5867400" cy="6858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/>
              <a:t>第</a:t>
            </a:r>
            <a:r>
              <a:rPr lang="en-US" altLang="zh-CN" sz="2800" b="0"/>
              <a:t>2</a:t>
            </a:r>
            <a:r>
              <a:rPr lang="zh-CN" altLang="en-US" sz="2800" b="0"/>
              <a:t>轮迭代：由</a:t>
            </a:r>
            <a:r>
              <a:rPr lang="en-US" altLang="zh-CN" sz="2800" b="0"/>
              <a:t>(4.1),</a:t>
            </a:r>
            <a:r>
              <a:rPr lang="zh-CN" altLang="en-US" sz="2800" b="0"/>
              <a:t>搜索方向为</a:t>
            </a:r>
          </a:p>
        </p:txBody>
      </p:sp>
      <p:graphicFrame>
        <p:nvGraphicFramePr>
          <p:cNvPr id="29698" name="Object 5"/>
          <p:cNvGraphicFramePr>
            <a:graphicFrameLocks noChangeAspect="1"/>
          </p:cNvGraphicFramePr>
          <p:nvPr/>
        </p:nvGraphicFramePr>
        <p:xfrm>
          <a:off x="1143000" y="1600200"/>
          <a:ext cx="5575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7" name="Equation" r:id="rId3" imgW="5575300" imgH="1016000" progId="Equation.DSMT4">
                  <p:embed/>
                </p:oleObj>
              </mc:Choice>
              <mc:Fallback>
                <p:oleObj name="Equation" r:id="rId3" imgW="5575300" imgH="1016000" progId="Equation.DSMT4">
                  <p:embed/>
                  <p:pic>
                    <p:nvPicPr>
                      <p:cNvPr id="296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200"/>
                        <a:ext cx="55753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Rectangle 6"/>
          <p:cNvSpPr>
            <a:spLocks noChangeArrowheads="1"/>
          </p:cNvSpPr>
          <p:nvPr/>
        </p:nvSpPr>
        <p:spPr bwMode="auto">
          <a:xfrm>
            <a:off x="685800" y="2514600"/>
            <a:ext cx="1695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初始点为 </a:t>
            </a:r>
          </a:p>
        </p:txBody>
      </p:sp>
      <p:graphicFrame>
        <p:nvGraphicFramePr>
          <p:cNvPr id="29699" name="Object 7"/>
          <p:cNvGraphicFramePr>
            <a:graphicFrameLocks noChangeAspect="1"/>
          </p:cNvGraphicFramePr>
          <p:nvPr/>
        </p:nvGraphicFramePr>
        <p:xfrm>
          <a:off x="2514600" y="2590800"/>
          <a:ext cx="2794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8" name="Equation" r:id="rId5" imgW="2794000" imgH="1397000" progId="Equation.DSMT4">
                  <p:embed/>
                </p:oleObj>
              </mc:Choice>
              <mc:Fallback>
                <p:oleObj name="Equation" r:id="rId5" imgW="2794000" imgH="1397000" progId="Equation.DSMT4">
                  <p:embed/>
                  <p:pic>
                    <p:nvPicPr>
                      <p:cNvPr id="296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590800"/>
                        <a:ext cx="27940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8"/>
          <p:cNvGraphicFramePr>
            <a:graphicFrameLocks noChangeAspect="1"/>
          </p:cNvGraphicFramePr>
          <p:nvPr/>
        </p:nvGraphicFramePr>
        <p:xfrm>
          <a:off x="762000" y="3733800"/>
          <a:ext cx="325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9" name="Equation" r:id="rId7" imgW="3251200" imgH="406400" progId="Equation.DSMT4">
                  <p:embed/>
                </p:oleObj>
              </mc:Choice>
              <mc:Fallback>
                <p:oleObj name="Equation" r:id="rId7" imgW="3251200" imgH="406400" progId="Equation.DSMT4">
                  <p:embed/>
                  <p:pic>
                    <p:nvPicPr>
                      <p:cNvPr id="297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733800"/>
                        <a:ext cx="3251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9"/>
          <p:cNvGraphicFramePr>
            <a:graphicFrameLocks noChangeAspect="1"/>
          </p:cNvGraphicFramePr>
          <p:nvPr/>
        </p:nvGraphicFramePr>
        <p:xfrm>
          <a:off x="1905000" y="4267200"/>
          <a:ext cx="299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0" name="Equation" r:id="rId9" imgW="2997200" imgH="584200" progId="Equation.DSMT4">
                  <p:embed/>
                </p:oleObj>
              </mc:Choice>
              <mc:Fallback>
                <p:oleObj name="Equation" r:id="rId9" imgW="2997200" imgH="584200" progId="Equation.DSMT4">
                  <p:embed/>
                  <p:pic>
                    <p:nvPicPr>
                      <p:cNvPr id="297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267200"/>
                        <a:ext cx="299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14"/>
          <p:cNvGraphicFramePr>
            <a:graphicFrameLocks noChangeAspect="1"/>
          </p:cNvGraphicFramePr>
          <p:nvPr/>
        </p:nvGraphicFramePr>
        <p:xfrm>
          <a:off x="1143000" y="4876800"/>
          <a:ext cx="52832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1" name="Equation" r:id="rId11" imgW="5283200" imgH="1193800" progId="Equation.DSMT4">
                  <p:embed/>
                </p:oleObj>
              </mc:Choice>
              <mc:Fallback>
                <p:oleObj name="Equation" r:id="rId11" imgW="5283200" imgH="1193800" progId="Equation.DSMT4">
                  <p:embed/>
                  <p:pic>
                    <p:nvPicPr>
                      <p:cNvPr id="2970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76800"/>
                        <a:ext cx="52832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E47F8-E90A-4C60-B7B0-5B26A30C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3886" y="3524451"/>
            <a:ext cx="6858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/>
              <a:t>令</a:t>
            </a:r>
          </a:p>
        </p:txBody>
      </p:sp>
      <p:graphicFrame>
        <p:nvGraphicFramePr>
          <p:cNvPr id="30722" name="Object 5"/>
          <p:cNvGraphicFramePr>
            <a:graphicFrameLocks noChangeAspect="1"/>
          </p:cNvGraphicFramePr>
          <p:nvPr/>
        </p:nvGraphicFramePr>
        <p:xfrm>
          <a:off x="762000" y="4724400"/>
          <a:ext cx="4749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8" name="Equation" r:id="rId3" imgW="4749800" imgH="419100" progId="Equation.DSMT4">
                  <p:embed/>
                </p:oleObj>
              </mc:Choice>
              <mc:Fallback>
                <p:oleObj name="Equation" r:id="rId3" imgW="4749800" imgH="419100" progId="Equation.DSMT4">
                  <p:embed/>
                  <p:pic>
                    <p:nvPicPr>
                      <p:cNvPr id="307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24400"/>
                        <a:ext cx="4749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349623"/>
              </p:ext>
            </p:extLst>
          </p:nvPr>
        </p:nvGraphicFramePr>
        <p:xfrm>
          <a:off x="2229050" y="1675597"/>
          <a:ext cx="3009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9" name="Equation" r:id="rId5" imgW="3009900" imgH="584200" progId="Equation.DSMT4">
                  <p:embed/>
                </p:oleObj>
              </mc:Choice>
              <mc:Fallback>
                <p:oleObj name="Equation" r:id="rId5" imgW="3009900" imgH="584200" progId="Equation.DSMT4">
                  <p:embed/>
                  <p:pic>
                    <p:nvPicPr>
                      <p:cNvPr id="307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9050" y="1675597"/>
                        <a:ext cx="30099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8"/>
          <p:cNvGraphicFramePr>
            <a:graphicFrameLocks noChangeAspect="1"/>
          </p:cNvGraphicFramePr>
          <p:nvPr/>
        </p:nvGraphicFramePr>
        <p:xfrm>
          <a:off x="1371600" y="4038600"/>
          <a:ext cx="576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0" name="Equation" r:id="rId7" imgW="5765800" imgH="457200" progId="Equation.DSMT4">
                  <p:embed/>
                </p:oleObj>
              </mc:Choice>
              <mc:Fallback>
                <p:oleObj name="Equation" r:id="rId7" imgW="5765800" imgH="457200" progId="Equation.DSMT4">
                  <p:embed/>
                  <p:pic>
                    <p:nvPicPr>
                      <p:cNvPr id="307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038600"/>
                        <a:ext cx="5765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10"/>
          <p:cNvGraphicFramePr>
            <a:graphicFrameLocks noChangeAspect="1"/>
          </p:cNvGraphicFramePr>
          <p:nvPr/>
        </p:nvGraphicFramePr>
        <p:xfrm>
          <a:off x="762000" y="1219200"/>
          <a:ext cx="293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1" name="Equation" r:id="rId9" imgW="2933700" imgH="406400" progId="Equation.DSMT4">
                  <p:embed/>
                </p:oleObj>
              </mc:Choice>
              <mc:Fallback>
                <p:oleObj name="Equation" r:id="rId9" imgW="2933700" imgH="406400" progId="Equation.DSMT4">
                  <p:embed/>
                  <p:pic>
                    <p:nvPicPr>
                      <p:cNvPr id="3072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2933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11"/>
          <p:cNvGraphicFramePr>
            <a:graphicFrameLocks noChangeAspect="1"/>
          </p:cNvGraphicFramePr>
          <p:nvPr/>
        </p:nvGraphicFramePr>
        <p:xfrm>
          <a:off x="2730500" y="5334000"/>
          <a:ext cx="3035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2" name="Equation" r:id="rId11" imgW="3035300" imgH="584200" progId="Equation.DSMT4">
                  <p:embed/>
                </p:oleObj>
              </mc:Choice>
              <mc:Fallback>
                <p:oleObj name="Equation" r:id="rId11" imgW="3035300" imgH="584200" progId="Equation.DSMT4">
                  <p:embed/>
                  <p:pic>
                    <p:nvPicPr>
                      <p:cNvPr id="3072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5334000"/>
                        <a:ext cx="30353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12"/>
          <p:cNvGraphicFramePr>
            <a:graphicFrameLocks noChangeAspect="1"/>
          </p:cNvGraphicFramePr>
          <p:nvPr/>
        </p:nvGraphicFramePr>
        <p:xfrm>
          <a:off x="1143000" y="2514600"/>
          <a:ext cx="60833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3" name="Equation" r:id="rId13" imgW="6083300" imgH="1193800" progId="Equation.DSMT4">
                  <p:embed/>
                </p:oleObj>
              </mc:Choice>
              <mc:Fallback>
                <p:oleObj name="Equation" r:id="rId13" imgW="6083300" imgH="1193800" progId="Equation.DSMT4">
                  <p:embed/>
                  <p:pic>
                    <p:nvPicPr>
                      <p:cNvPr id="307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14600"/>
                        <a:ext cx="60833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1024"/>
          <p:cNvGraphicFramePr>
            <a:graphicFrameLocks noChangeAspect="1"/>
          </p:cNvGraphicFramePr>
          <p:nvPr/>
        </p:nvGraphicFramePr>
        <p:xfrm>
          <a:off x="1676400" y="1295400"/>
          <a:ext cx="41910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06" name="Equation" r:id="rId3" imgW="4191000" imgH="1193800" progId="Equation.DSMT4">
                  <p:embed/>
                </p:oleObj>
              </mc:Choice>
              <mc:Fallback>
                <p:oleObj name="Equation" r:id="rId3" imgW="4191000" imgH="1193800" progId="Equation.DSMT4">
                  <p:embed/>
                  <p:pic>
                    <p:nvPicPr>
                      <p:cNvPr id="31746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295400"/>
                        <a:ext cx="41910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36AE0CE-1368-4028-B440-4301DA78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758" name="Rectangle 1030"/>
          <p:cNvSpPr>
            <a:spLocks noGrp="1" noChangeArrowheads="1"/>
          </p:cNvSpPr>
          <p:nvPr>
            <p:ph type="body" idx="4294967295"/>
          </p:nvPr>
        </p:nvSpPr>
        <p:spPr>
          <a:xfrm>
            <a:off x="558265" y="2667000"/>
            <a:ext cx="2514600" cy="4572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/>
              <a:t>此为极小点</a:t>
            </a:r>
          </a:p>
        </p:txBody>
      </p:sp>
      <p:grpSp>
        <p:nvGrpSpPr>
          <p:cNvPr id="31759" name="Group 1054"/>
          <p:cNvGrpSpPr>
            <a:grpSpLocks/>
          </p:cNvGrpSpPr>
          <p:nvPr/>
        </p:nvGrpSpPr>
        <p:grpSpPr bwMode="auto">
          <a:xfrm>
            <a:off x="1600200" y="3200400"/>
            <a:ext cx="5181600" cy="2895600"/>
            <a:chOff x="1008" y="2016"/>
            <a:chExt cx="3264" cy="1824"/>
          </a:xfrm>
        </p:grpSpPr>
        <p:grpSp>
          <p:nvGrpSpPr>
            <p:cNvPr id="31760" name="Group 1046"/>
            <p:cNvGrpSpPr>
              <a:grpSpLocks/>
            </p:cNvGrpSpPr>
            <p:nvPr/>
          </p:nvGrpSpPr>
          <p:grpSpPr bwMode="auto">
            <a:xfrm>
              <a:off x="1008" y="2016"/>
              <a:ext cx="3264" cy="1776"/>
              <a:chOff x="1008" y="2016"/>
              <a:chExt cx="3264" cy="1776"/>
            </a:xfrm>
          </p:grpSpPr>
          <p:sp>
            <p:nvSpPr>
              <p:cNvPr id="31761" name="Line 1031"/>
              <p:cNvSpPr>
                <a:spLocks noChangeShapeType="1"/>
              </p:cNvSpPr>
              <p:nvPr/>
            </p:nvSpPr>
            <p:spPr bwMode="auto">
              <a:xfrm>
                <a:off x="1008" y="3024"/>
                <a:ext cx="32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2" name="Line 1032"/>
              <p:cNvSpPr>
                <a:spLocks noChangeShapeType="1"/>
              </p:cNvSpPr>
              <p:nvPr/>
            </p:nvSpPr>
            <p:spPr bwMode="auto">
              <a:xfrm flipV="1">
                <a:off x="1776" y="2016"/>
                <a:ext cx="0" cy="17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3" name="Line 1033"/>
              <p:cNvSpPr>
                <a:spLocks noChangeShapeType="1"/>
              </p:cNvSpPr>
              <p:nvPr/>
            </p:nvSpPr>
            <p:spPr bwMode="auto">
              <a:xfrm>
                <a:off x="1776" y="2448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4" name="Line 1034"/>
              <p:cNvSpPr>
                <a:spLocks noChangeShapeType="1"/>
              </p:cNvSpPr>
              <p:nvPr/>
            </p:nvSpPr>
            <p:spPr bwMode="auto">
              <a:xfrm>
                <a:off x="1776" y="2448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5" name="Line 1035"/>
              <p:cNvSpPr>
                <a:spLocks noChangeShapeType="1"/>
              </p:cNvSpPr>
              <p:nvPr/>
            </p:nvSpPr>
            <p:spPr bwMode="auto">
              <a:xfrm flipV="1">
                <a:off x="1776" y="2928"/>
                <a:ext cx="192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6" name="Line 1036"/>
              <p:cNvSpPr>
                <a:spLocks noChangeShapeType="1"/>
              </p:cNvSpPr>
              <p:nvPr/>
            </p:nvSpPr>
            <p:spPr bwMode="auto">
              <a:xfrm>
                <a:off x="1968" y="2928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7" name="Line 1037"/>
              <p:cNvSpPr>
                <a:spLocks noChangeShapeType="1"/>
              </p:cNvSpPr>
              <p:nvPr/>
            </p:nvSpPr>
            <p:spPr bwMode="auto">
              <a:xfrm flipV="1">
                <a:off x="1968" y="3216"/>
                <a:ext cx="192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8" name="Line 1038"/>
              <p:cNvSpPr>
                <a:spLocks noChangeShapeType="1"/>
              </p:cNvSpPr>
              <p:nvPr/>
            </p:nvSpPr>
            <p:spPr bwMode="auto">
              <a:xfrm>
                <a:off x="2160" y="3216"/>
                <a:ext cx="384" cy="48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9" name="Oval 1039"/>
              <p:cNvSpPr>
                <a:spLocks noChangeArrowheads="1"/>
              </p:cNvSpPr>
              <p:nvPr/>
            </p:nvSpPr>
            <p:spPr bwMode="auto">
              <a:xfrm>
                <a:off x="2544" y="369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70" name="Oval 1040"/>
              <p:cNvSpPr>
                <a:spLocks noChangeArrowheads="1"/>
              </p:cNvSpPr>
              <p:nvPr/>
            </p:nvSpPr>
            <p:spPr bwMode="auto">
              <a:xfrm>
                <a:off x="1920" y="292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71" name="Oval 1041"/>
              <p:cNvSpPr>
                <a:spLocks noChangeArrowheads="1"/>
              </p:cNvSpPr>
              <p:nvPr/>
            </p:nvSpPr>
            <p:spPr bwMode="auto">
              <a:xfrm>
                <a:off x="1728" y="3024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72" name="Oval 1042"/>
              <p:cNvSpPr>
                <a:spLocks noChangeArrowheads="1"/>
              </p:cNvSpPr>
              <p:nvPr/>
            </p:nvSpPr>
            <p:spPr bwMode="auto">
              <a:xfrm>
                <a:off x="1968" y="3264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73" name="Oval 1043"/>
              <p:cNvSpPr>
                <a:spLocks noChangeArrowheads="1"/>
              </p:cNvSpPr>
              <p:nvPr/>
            </p:nvSpPr>
            <p:spPr bwMode="auto">
              <a:xfrm>
                <a:off x="2112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74" name="Oval 1044"/>
              <p:cNvSpPr>
                <a:spLocks noChangeArrowheads="1"/>
              </p:cNvSpPr>
              <p:nvPr/>
            </p:nvSpPr>
            <p:spPr bwMode="auto">
              <a:xfrm>
                <a:off x="3264" y="240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75" name="Oval 1045"/>
              <p:cNvSpPr>
                <a:spLocks noChangeArrowheads="1"/>
              </p:cNvSpPr>
              <p:nvPr/>
            </p:nvSpPr>
            <p:spPr bwMode="auto">
              <a:xfrm>
                <a:off x="1776" y="240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aphicFrame>
          <p:nvGraphicFramePr>
            <p:cNvPr id="31747" name="Object 1025"/>
            <p:cNvGraphicFramePr>
              <a:graphicFrameLocks noChangeAspect="1"/>
            </p:cNvGraphicFramePr>
            <p:nvPr/>
          </p:nvGraphicFramePr>
          <p:xfrm>
            <a:off x="3312" y="2160"/>
            <a:ext cx="31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07" name="Equation" r:id="rId5" imgW="495085" imgH="380835" progId="Equation.DSMT4">
                    <p:embed/>
                  </p:oleObj>
                </mc:Choice>
                <mc:Fallback>
                  <p:oleObj name="Equation" r:id="rId5" imgW="495085" imgH="380835" progId="Equation.DSMT4">
                    <p:embed/>
                    <p:pic>
                      <p:nvPicPr>
                        <p:cNvPr id="31747" name="Object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160"/>
                          <a:ext cx="31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48" name="Object 1026"/>
            <p:cNvGraphicFramePr>
              <a:graphicFrameLocks noChangeAspect="1"/>
            </p:cNvGraphicFramePr>
            <p:nvPr/>
          </p:nvGraphicFramePr>
          <p:xfrm>
            <a:off x="1344" y="2352"/>
            <a:ext cx="3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08" name="Equation" r:id="rId7" imgW="596900" imgH="381000" progId="Equation.DSMT4">
                    <p:embed/>
                  </p:oleObj>
                </mc:Choice>
                <mc:Fallback>
                  <p:oleObj name="Equation" r:id="rId7" imgW="596900" imgH="381000" progId="Equation.DSMT4">
                    <p:embed/>
                    <p:pic>
                      <p:nvPicPr>
                        <p:cNvPr id="31748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352"/>
                          <a:ext cx="37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49" name="Object 1027"/>
            <p:cNvGraphicFramePr>
              <a:graphicFrameLocks noChangeAspect="1"/>
            </p:cNvGraphicFramePr>
            <p:nvPr/>
          </p:nvGraphicFramePr>
          <p:xfrm>
            <a:off x="1344" y="3024"/>
            <a:ext cx="4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09" name="Equation" r:id="rId9" imgW="634725" imgH="380835" progId="Equation.DSMT4">
                    <p:embed/>
                  </p:oleObj>
                </mc:Choice>
                <mc:Fallback>
                  <p:oleObj name="Equation" r:id="rId9" imgW="634725" imgH="380835" progId="Equation.DSMT4">
                    <p:embed/>
                    <p:pic>
                      <p:nvPicPr>
                        <p:cNvPr id="31749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024"/>
                          <a:ext cx="40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0" name="Object 1028"/>
            <p:cNvGraphicFramePr>
              <a:graphicFrameLocks noChangeAspect="1"/>
            </p:cNvGraphicFramePr>
            <p:nvPr/>
          </p:nvGraphicFramePr>
          <p:xfrm>
            <a:off x="1976" y="2736"/>
            <a:ext cx="29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10" name="Equation" r:id="rId11" imgW="469696" imgH="380835" progId="Equation.DSMT4">
                    <p:embed/>
                  </p:oleObj>
                </mc:Choice>
                <mc:Fallback>
                  <p:oleObj name="Equation" r:id="rId11" imgW="469696" imgH="380835" progId="Equation.DSMT4">
                    <p:embed/>
                    <p:pic>
                      <p:nvPicPr>
                        <p:cNvPr id="3175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" y="2736"/>
                          <a:ext cx="29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1" name="Object 1029"/>
            <p:cNvGraphicFramePr>
              <a:graphicFrameLocks noChangeAspect="1"/>
            </p:cNvGraphicFramePr>
            <p:nvPr/>
          </p:nvGraphicFramePr>
          <p:xfrm>
            <a:off x="1732" y="3312"/>
            <a:ext cx="4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11" name="Equation" r:id="rId13" imgW="634725" imgH="380835" progId="Equation.DSMT4">
                    <p:embed/>
                  </p:oleObj>
                </mc:Choice>
                <mc:Fallback>
                  <p:oleObj name="Equation" r:id="rId13" imgW="634725" imgH="380835" progId="Equation.DSMT4">
                    <p:embed/>
                    <p:pic>
                      <p:nvPicPr>
                        <p:cNvPr id="31751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2" y="3312"/>
                          <a:ext cx="40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2" name="Object 1030"/>
            <p:cNvGraphicFramePr>
              <a:graphicFrameLocks noChangeAspect="1"/>
            </p:cNvGraphicFramePr>
            <p:nvPr/>
          </p:nvGraphicFramePr>
          <p:xfrm>
            <a:off x="2152" y="3072"/>
            <a:ext cx="42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12" name="Equation" r:id="rId15" imgW="672808" imgH="380835" progId="Equation.DSMT4">
                    <p:embed/>
                  </p:oleObj>
                </mc:Choice>
                <mc:Fallback>
                  <p:oleObj name="Equation" r:id="rId15" imgW="672808" imgH="380835" progId="Equation.DSMT4">
                    <p:embed/>
                    <p:pic>
                      <p:nvPicPr>
                        <p:cNvPr id="31752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2" y="3072"/>
                          <a:ext cx="42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3" name="Object 1031"/>
            <p:cNvGraphicFramePr>
              <a:graphicFrameLocks noChangeAspect="1"/>
            </p:cNvGraphicFramePr>
            <p:nvPr/>
          </p:nvGraphicFramePr>
          <p:xfrm>
            <a:off x="2592" y="3600"/>
            <a:ext cx="32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13" name="Equation" r:id="rId17" imgW="508000" imgH="381000" progId="Equation.DSMT4">
                    <p:embed/>
                  </p:oleObj>
                </mc:Choice>
                <mc:Fallback>
                  <p:oleObj name="Equation" r:id="rId17" imgW="508000" imgH="381000" progId="Equation.DSMT4">
                    <p:embed/>
                    <p:pic>
                      <p:nvPicPr>
                        <p:cNvPr id="31753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3600"/>
                          <a:ext cx="32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26752-95DD-4340-B5AB-62236FD1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27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7259" y="999423"/>
            <a:ext cx="40386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 dirty="0"/>
              <a:t>3.2 </a:t>
            </a:r>
            <a:r>
              <a:rPr lang="zh-CN" altLang="en-US" sz="2800" b="0" dirty="0"/>
              <a:t>二次终止性</a:t>
            </a:r>
          </a:p>
        </p:txBody>
      </p:sp>
      <p:graphicFrame>
        <p:nvGraphicFramePr>
          <p:cNvPr id="327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42837"/>
              </p:ext>
            </p:extLst>
          </p:nvPr>
        </p:nvGraphicFramePr>
        <p:xfrm>
          <a:off x="610402" y="1340318"/>
          <a:ext cx="79756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5" name="Equation" r:id="rId3" imgW="7975440" imgH="2539800" progId="Equation.DSMT4">
                  <p:embed/>
                </p:oleObj>
              </mc:Choice>
              <mc:Fallback>
                <p:oleObj name="Equation" r:id="rId3" imgW="7975440" imgH="2539800" progId="Equation.DSMT4">
                  <p:embed/>
                  <p:pic>
                    <p:nvPicPr>
                      <p:cNvPr id="327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402" y="1340318"/>
                        <a:ext cx="79756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894276"/>
              </p:ext>
            </p:extLst>
          </p:nvPr>
        </p:nvGraphicFramePr>
        <p:xfrm>
          <a:off x="2431181" y="4626543"/>
          <a:ext cx="4572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6" name="Equation" r:id="rId5" imgW="4572000" imgH="457200" progId="Equation.DSMT4">
                  <p:embed/>
                </p:oleObj>
              </mc:Choice>
              <mc:Fallback>
                <p:oleObj name="Equation" r:id="rId5" imgW="4572000" imgH="457200" progId="Equation.DSMT4">
                  <p:embed/>
                  <p:pic>
                    <p:nvPicPr>
                      <p:cNvPr id="327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181" y="4626543"/>
                        <a:ext cx="4572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Rectangle 8"/>
          <p:cNvSpPr>
            <a:spLocks noChangeArrowheads="1"/>
          </p:cNvSpPr>
          <p:nvPr/>
        </p:nvSpPr>
        <p:spPr bwMode="auto">
          <a:xfrm>
            <a:off x="434741" y="4036194"/>
            <a:ext cx="374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证明：根据假设，必有</a:t>
            </a:r>
          </a:p>
        </p:txBody>
      </p:sp>
      <p:sp>
        <p:nvSpPr>
          <p:cNvPr id="32779" name="Rectangle 9"/>
          <p:cNvSpPr>
            <a:spLocks noChangeArrowheads="1"/>
          </p:cNvSpPr>
          <p:nvPr/>
        </p:nvSpPr>
        <p:spPr bwMode="auto">
          <a:xfrm>
            <a:off x="838200" y="4835893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及</a:t>
            </a:r>
          </a:p>
        </p:txBody>
      </p:sp>
      <p:graphicFrame>
        <p:nvGraphicFramePr>
          <p:cNvPr id="327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553451"/>
              </p:ext>
            </p:extLst>
          </p:nvPr>
        </p:nvGraphicFramePr>
        <p:xfrm>
          <a:off x="2353377" y="5187214"/>
          <a:ext cx="4559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7" name="Equation" r:id="rId7" imgW="4559300" imgH="457200" progId="Equation.DSMT4">
                  <p:embed/>
                </p:oleObj>
              </mc:Choice>
              <mc:Fallback>
                <p:oleObj name="Equation" r:id="rId7" imgW="4559300" imgH="457200" progId="Equation.DSMT4">
                  <p:embed/>
                  <p:pic>
                    <p:nvPicPr>
                      <p:cNvPr id="3277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377" y="5187214"/>
                        <a:ext cx="4559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EFC56A83-F8E7-4A90-9D70-B51162EE7A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51371"/>
              </p:ext>
            </p:extLst>
          </p:nvPr>
        </p:nvGraphicFramePr>
        <p:xfrm>
          <a:off x="2143125" y="5770563"/>
          <a:ext cx="3327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8" name="Equation" r:id="rId9" imgW="3327120" imgH="457200" progId="Equation.DSMT4">
                  <p:embed/>
                </p:oleObj>
              </mc:Choice>
              <mc:Fallback>
                <p:oleObj name="Equation" r:id="rId9" imgW="3327120" imgH="457200" progId="Equation.DSMT4">
                  <p:embed/>
                  <p:pic>
                    <p:nvPicPr>
                      <p:cNvPr id="3379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5770563"/>
                        <a:ext cx="3327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5" name="Object 6"/>
          <p:cNvGraphicFramePr>
            <a:graphicFrameLocks noChangeAspect="1"/>
          </p:cNvGraphicFramePr>
          <p:nvPr/>
        </p:nvGraphicFramePr>
        <p:xfrm>
          <a:off x="3276600" y="17907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9" name="Equation" r:id="rId3" imgW="457677" imgH="793306" progId="Equation.DSMT4">
                  <p:embed/>
                </p:oleObj>
              </mc:Choice>
              <mc:Fallback>
                <p:oleObj name="Equation" r:id="rId3" imgW="457677" imgH="793306" progId="Equation.DSMT4">
                  <p:embed/>
                  <p:pic>
                    <p:nvPicPr>
                      <p:cNvPr id="3379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7907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032350"/>
              </p:ext>
            </p:extLst>
          </p:nvPr>
        </p:nvGraphicFramePr>
        <p:xfrm>
          <a:off x="417897" y="1174282"/>
          <a:ext cx="8242300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60" name="Equation" r:id="rId5" imgW="8242300" imgH="4330700" progId="Equation.DSMT4">
                  <p:embed/>
                </p:oleObj>
              </mc:Choice>
              <mc:Fallback>
                <p:oleObj name="Equation" r:id="rId5" imgW="8242300" imgH="4330700" progId="Equation.DSMT4">
                  <p:embed/>
                  <p:pic>
                    <p:nvPicPr>
                      <p:cNvPr id="3379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97" y="1174282"/>
                        <a:ext cx="8242300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921E451-F089-4BF3-8BDA-B2D5FBB9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AD09F-2B47-457D-AA9C-E37C40AD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482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2065" y="1018674"/>
            <a:ext cx="8305800" cy="1676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利用上述定理易证：</a:t>
            </a:r>
            <a:r>
              <a:rPr lang="zh-CN" altLang="en-US" sz="2800" b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当极小化正定二次函数时，</a:t>
            </a:r>
          </a:p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如果每轮迭代中前</a:t>
            </a:r>
            <a:r>
              <a:rPr lang="en-US" altLang="zh-CN" sz="2800" b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个方向均线性无关，那么</a:t>
            </a:r>
            <a:r>
              <a:rPr lang="en-US" altLang="zh-CN" sz="2800" b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Powell</a:t>
            </a:r>
          </a:p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方法至多经</a:t>
            </a:r>
            <a:r>
              <a:rPr lang="en-US" altLang="zh-CN" sz="2800" b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轮迭代达到极小点。</a:t>
            </a:r>
          </a:p>
          <a:p>
            <a:pPr eaLnBrk="1" hangingPunct="1">
              <a:buFontTx/>
              <a:buNone/>
            </a:pP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818" name="Object 5"/>
          <p:cNvGraphicFramePr>
            <a:graphicFrameLocks noChangeAspect="1"/>
          </p:cNvGraphicFramePr>
          <p:nvPr/>
        </p:nvGraphicFramePr>
        <p:xfrm>
          <a:off x="1371600" y="3352800"/>
          <a:ext cx="57912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7" name="Equation" r:id="rId3" imgW="5549900" imgH="431800" progId="Equation.DSMT4">
                  <p:embed/>
                </p:oleObj>
              </mc:Choice>
              <mc:Fallback>
                <p:oleObj name="Equation" r:id="rId3" imgW="5549900" imgH="431800" progId="Equation.DSMT4">
                  <p:embed/>
                  <p:pic>
                    <p:nvPicPr>
                      <p:cNvPr id="348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352800"/>
                        <a:ext cx="57912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6"/>
          <p:cNvGraphicFramePr>
            <a:graphicFrameLocks noChangeAspect="1"/>
          </p:cNvGraphicFramePr>
          <p:nvPr/>
        </p:nvGraphicFramePr>
        <p:xfrm>
          <a:off x="762000" y="2743200"/>
          <a:ext cx="633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8" name="Equation" r:id="rId5" imgW="6337300" imgH="431800" progId="Equation.DSMT4">
                  <p:embed/>
                </p:oleObj>
              </mc:Choice>
              <mc:Fallback>
                <p:oleObj name="Equation" r:id="rId5" imgW="6337300" imgH="431800" progId="Equation.DSMT4">
                  <p:embed/>
                  <p:pic>
                    <p:nvPicPr>
                      <p:cNvPr id="348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743200"/>
                        <a:ext cx="6337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7"/>
          <p:cNvGraphicFramePr>
            <a:graphicFrameLocks noChangeAspect="1"/>
          </p:cNvGraphicFramePr>
          <p:nvPr/>
        </p:nvGraphicFramePr>
        <p:xfrm>
          <a:off x="685800" y="3886200"/>
          <a:ext cx="7899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9" name="Equation" r:id="rId7" imgW="7899400" imgH="965200" progId="Equation.DSMT4">
                  <p:embed/>
                </p:oleObj>
              </mc:Choice>
              <mc:Fallback>
                <p:oleObj name="Equation" r:id="rId7" imgW="7899400" imgH="965200" progId="Equation.DSMT4">
                  <p:embed/>
                  <p:pic>
                    <p:nvPicPr>
                      <p:cNvPr id="3482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86200"/>
                        <a:ext cx="7899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8"/>
          <p:cNvGraphicFramePr>
            <a:graphicFrameLocks noChangeAspect="1"/>
          </p:cNvGraphicFramePr>
          <p:nvPr/>
        </p:nvGraphicFramePr>
        <p:xfrm>
          <a:off x="1524000" y="5486400"/>
          <a:ext cx="59896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0" name="Equation" r:id="rId9" imgW="5740400" imgH="431800" progId="Equation.DSMT4">
                  <p:embed/>
                </p:oleObj>
              </mc:Choice>
              <mc:Fallback>
                <p:oleObj name="Equation" r:id="rId9" imgW="5740400" imgH="431800" progId="Equation.DSMT4">
                  <p:embed/>
                  <p:pic>
                    <p:nvPicPr>
                      <p:cNvPr id="3482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486400"/>
                        <a:ext cx="59896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9"/>
          <p:cNvGraphicFramePr>
            <a:graphicFrameLocks noChangeAspect="1"/>
          </p:cNvGraphicFramePr>
          <p:nvPr/>
        </p:nvGraphicFramePr>
        <p:xfrm>
          <a:off x="838200" y="4876800"/>
          <a:ext cx="640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1" name="Equation" r:id="rId11" imgW="6400800" imgH="431640" progId="Equation.DSMT4">
                  <p:embed/>
                </p:oleObj>
              </mc:Choice>
              <mc:Fallback>
                <p:oleObj name="Equation" r:id="rId11" imgW="6400800" imgH="431640" progId="Equation.DSMT4">
                  <p:embed/>
                  <p:pic>
                    <p:nvPicPr>
                      <p:cNvPr id="3482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76800"/>
                        <a:ext cx="6400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29548-1EAD-415F-A6B4-C5A862E5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8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29390" y="4572000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现在假设第</a:t>
            </a:r>
            <a:r>
              <a:rPr lang="en-US" altLang="zh-CN" sz="2800" b="0" dirty="0"/>
              <a:t>k</a:t>
            </a:r>
            <a:r>
              <a:rPr lang="zh-CN" altLang="en-US" sz="2800" b="0" dirty="0"/>
              <a:t>轮迭代的搜索方向为</a:t>
            </a:r>
          </a:p>
        </p:txBody>
      </p:sp>
      <p:graphicFrame>
        <p:nvGraphicFramePr>
          <p:cNvPr id="35842" name="Object 5"/>
          <p:cNvGraphicFramePr>
            <a:graphicFrameLocks noChangeAspect="1"/>
          </p:cNvGraphicFramePr>
          <p:nvPr/>
        </p:nvGraphicFramePr>
        <p:xfrm>
          <a:off x="762000" y="1143000"/>
          <a:ext cx="62103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17" name="Equation" r:id="rId3" imgW="6210300" imgH="1549400" progId="Equation.DSMT4">
                  <p:embed/>
                </p:oleObj>
              </mc:Choice>
              <mc:Fallback>
                <p:oleObj name="Equation" r:id="rId3" imgW="6210300" imgH="1549400" progId="Equation.DSMT4">
                  <p:embed/>
                  <p:pic>
                    <p:nvPicPr>
                      <p:cNvPr id="3584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143000"/>
                        <a:ext cx="6210300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6"/>
          <p:cNvGraphicFramePr>
            <a:graphicFrameLocks noChangeAspect="1"/>
          </p:cNvGraphicFramePr>
          <p:nvPr/>
        </p:nvGraphicFramePr>
        <p:xfrm>
          <a:off x="609600" y="2819400"/>
          <a:ext cx="74803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18" name="Equation" r:id="rId5" imgW="7480300" imgH="1574800" progId="Equation.DSMT4">
                  <p:embed/>
                </p:oleObj>
              </mc:Choice>
              <mc:Fallback>
                <p:oleObj name="Equation" r:id="rId5" imgW="7480300" imgH="1574800" progId="Equation.DSMT4">
                  <p:embed/>
                  <p:pic>
                    <p:nvPicPr>
                      <p:cNvPr id="3584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19400"/>
                        <a:ext cx="74803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7"/>
          <p:cNvGraphicFramePr>
            <a:graphicFrameLocks noChangeAspect="1"/>
          </p:cNvGraphicFramePr>
          <p:nvPr/>
        </p:nvGraphicFramePr>
        <p:xfrm>
          <a:off x="1371600" y="5257800"/>
          <a:ext cx="60690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19" name="Equation" r:id="rId7" imgW="5816600" imgH="431800" progId="Equation.DSMT4">
                  <p:embed/>
                </p:oleObj>
              </mc:Choice>
              <mc:Fallback>
                <p:oleObj name="Equation" r:id="rId7" imgW="5816600" imgH="431800" progId="Equation.DSMT4">
                  <p:embed/>
                  <p:pic>
                    <p:nvPicPr>
                      <p:cNvPr id="3584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257800"/>
                        <a:ext cx="60690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C41AB-7A03-417C-AC81-3398D3D1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687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2387" y="1047550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个方向线性无关，且后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个方向</a:t>
            </a:r>
          </a:p>
        </p:txBody>
      </p:sp>
      <p:graphicFrame>
        <p:nvGraphicFramePr>
          <p:cNvPr id="36866" name="Object 5"/>
          <p:cNvGraphicFramePr>
            <a:graphicFrameLocks noChangeAspect="1"/>
          </p:cNvGraphicFramePr>
          <p:nvPr/>
        </p:nvGraphicFramePr>
        <p:xfrm>
          <a:off x="1752600" y="1828800"/>
          <a:ext cx="3524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58" name="Equation" r:id="rId3" imgW="3378200" imgH="431800" progId="Equation.DSMT4">
                  <p:embed/>
                </p:oleObj>
              </mc:Choice>
              <mc:Fallback>
                <p:oleObj name="Equation" r:id="rId3" imgW="3378200" imgH="431800" progId="Equation.DSMT4">
                  <p:embed/>
                  <p:pic>
                    <p:nvPicPr>
                      <p:cNvPr id="368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828800"/>
                        <a:ext cx="35242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Rectangle 6"/>
          <p:cNvSpPr>
            <a:spLocks noChangeArrowheads="1"/>
          </p:cNvSpPr>
          <p:nvPr/>
        </p:nvSpPr>
        <p:spPr bwMode="auto">
          <a:xfrm>
            <a:off x="838200" y="2667000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/>
              <a:t>是</a:t>
            </a:r>
            <a:r>
              <a:rPr lang="en-US" altLang="zh-CN" sz="2800"/>
              <a:t>A</a:t>
            </a:r>
            <a:r>
              <a:rPr lang="zh-CN" altLang="en-US" sz="2800"/>
              <a:t>共轭的。经过这轮迭代，得到点</a:t>
            </a:r>
            <a:r>
              <a:rPr lang="en-US" altLang="zh-CN" sz="2800" i="1"/>
              <a:t>x</a:t>
            </a:r>
            <a:r>
              <a:rPr lang="en-US" altLang="zh-CN" sz="2800" baseline="30000"/>
              <a:t>(k)</a:t>
            </a:r>
            <a:r>
              <a:rPr lang="en-US" altLang="zh-CN" sz="2800"/>
              <a:t> </a:t>
            </a:r>
          </a:p>
        </p:txBody>
      </p:sp>
      <p:graphicFrame>
        <p:nvGraphicFramePr>
          <p:cNvPr id="36867" name="Object 7"/>
          <p:cNvGraphicFramePr>
            <a:graphicFrameLocks noChangeAspect="1"/>
          </p:cNvGraphicFramePr>
          <p:nvPr/>
        </p:nvGraphicFramePr>
        <p:xfrm>
          <a:off x="2419350" y="3886200"/>
          <a:ext cx="36576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59" name="Equation" r:id="rId5" imgW="3505200" imgH="431800" progId="Equation.DSMT4">
                  <p:embed/>
                </p:oleObj>
              </mc:Choice>
              <mc:Fallback>
                <p:oleObj name="Equation" r:id="rId5" imgW="3505200" imgH="431800" progId="Equation.DSMT4">
                  <p:embed/>
                  <p:pic>
                    <p:nvPicPr>
                      <p:cNvPr id="368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3886200"/>
                        <a:ext cx="36576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8"/>
          <p:cNvGraphicFramePr>
            <a:graphicFrameLocks noChangeAspect="1"/>
          </p:cNvGraphicFramePr>
          <p:nvPr/>
        </p:nvGraphicFramePr>
        <p:xfrm>
          <a:off x="685800" y="3352800"/>
          <a:ext cx="711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60" name="Equation" r:id="rId7" imgW="7112000" imgH="431800" progId="Equation.DSMT4">
                  <p:embed/>
                </p:oleObj>
              </mc:Choice>
              <mc:Fallback>
                <p:oleObj name="Equation" r:id="rId7" imgW="7112000" imgH="431800" progId="Equation.DSMT4">
                  <p:embed/>
                  <p:pic>
                    <p:nvPicPr>
                      <p:cNvPr id="368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352800"/>
                        <a:ext cx="711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10"/>
          <p:cNvGraphicFramePr>
            <a:graphicFrameLocks noChangeAspect="1"/>
          </p:cNvGraphicFramePr>
          <p:nvPr/>
        </p:nvGraphicFramePr>
        <p:xfrm>
          <a:off x="1219200" y="4953000"/>
          <a:ext cx="60436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61" name="Equation" r:id="rId9" imgW="5791200" imgH="431800" progId="Equation.DSMT4">
                  <p:embed/>
                </p:oleObj>
              </mc:Choice>
              <mc:Fallback>
                <p:oleObj name="Equation" r:id="rId9" imgW="5791200" imgH="431800" progId="Equation.DSMT4">
                  <p:embed/>
                  <p:pic>
                    <p:nvPicPr>
                      <p:cNvPr id="3686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953000"/>
                        <a:ext cx="60436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685800" y="4343400"/>
            <a:ext cx="231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它们分别等于</a:t>
            </a:r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838200" y="5562600"/>
            <a:ext cx="3206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前</a:t>
            </a:r>
            <a:r>
              <a:rPr lang="en-US" altLang="zh-CN" sz="2800"/>
              <a:t>n</a:t>
            </a:r>
            <a:r>
              <a:rPr lang="zh-CN" altLang="en-US" sz="2800"/>
              <a:t>个方向线性无关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FD5FD-97D7-47B8-A702-26807359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1638" y="3125805"/>
            <a:ext cx="7848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由此可知，完成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个阶段的迭代之后，必能得到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－共轭的方向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,Powell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方向具二次终止性。</a:t>
            </a:r>
          </a:p>
        </p:txBody>
      </p:sp>
      <p:graphicFrame>
        <p:nvGraphicFramePr>
          <p:cNvPr id="37890" name="Object 5"/>
          <p:cNvGraphicFramePr>
            <a:graphicFrameLocks noChangeAspect="1"/>
          </p:cNvGraphicFramePr>
          <p:nvPr/>
        </p:nvGraphicFramePr>
        <p:xfrm>
          <a:off x="457200" y="1143000"/>
          <a:ext cx="77724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31" name="Equation" r:id="rId3" imgW="7772400" imgH="1574640" progId="Equation.DSMT4">
                  <p:embed/>
                </p:oleObj>
              </mc:Choice>
              <mc:Fallback>
                <p:oleObj name="Equation" r:id="rId3" imgW="7772400" imgH="1574640" progId="Equation.DSMT4">
                  <p:embed/>
                  <p:pic>
                    <p:nvPicPr>
                      <p:cNvPr id="3789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77724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72952A-7E15-42FB-AE8E-268FD0D2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18147" y="1137670"/>
            <a:ext cx="7345363" cy="4845050"/>
          </a:xfrm>
          <a:prstGeom prst="rect">
            <a:avLst/>
          </a:prstGeo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Powell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算法也是一种共轭方向法，由于它仅仅需要计算目标函数值而不必求导数值。因此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Powell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算法比普通的共轭方向法（共轭梯度法）更具实用性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Powell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算法可用于求解一般无约束优化问题。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Powell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算法中，必须保持每次迭代中前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搜索方向线性无关，否则将永远得不到问题的最优解。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Powell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法缺陷当某一循环方向组中的矢量系出现线性相关的情况（退化，病态）时，搜索过程在降维的空间进行，致使计算不能收敛而失败。</a:t>
            </a:r>
          </a:p>
        </p:txBody>
      </p:sp>
    </p:spTree>
    <p:extLst>
      <p:ext uri="{BB962C8B-B14F-4D97-AF65-F5344CB8AC3E}">
        <p14:creationId xmlns:p14="http://schemas.microsoft.com/office/powerpoint/2010/main" val="3541467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B5B11-8C1E-41DC-BF37-B1F25A6D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89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2762" y="999423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改进的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Powell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(Sargent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形式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389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851849"/>
              </p:ext>
            </p:extLst>
          </p:nvPr>
        </p:nvGraphicFramePr>
        <p:xfrm>
          <a:off x="830981" y="1738964"/>
          <a:ext cx="56261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89" name="Equation" r:id="rId3" imgW="5626100" imgH="1574800" progId="Equation.DSMT4">
                  <p:embed/>
                </p:oleObj>
              </mc:Choice>
              <mc:Fallback>
                <p:oleObj name="Equation" r:id="rId3" imgW="5626100" imgH="1574800" progId="Equation.DSMT4">
                  <p:embed/>
                  <p:pic>
                    <p:nvPicPr>
                      <p:cNvPr id="389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981" y="1738964"/>
                        <a:ext cx="56261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14344"/>
              </p:ext>
            </p:extLst>
          </p:nvPr>
        </p:nvGraphicFramePr>
        <p:xfrm>
          <a:off x="791678" y="3713748"/>
          <a:ext cx="6096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0" name="Equation" r:id="rId5" imgW="6096000" imgH="1016000" progId="Equation.DSMT4">
                  <p:embed/>
                </p:oleObj>
              </mc:Choice>
              <mc:Fallback>
                <p:oleObj name="Equation" r:id="rId5" imgW="6096000" imgH="1016000" progId="Equation.DSMT4">
                  <p:embed/>
                  <p:pic>
                    <p:nvPicPr>
                      <p:cNvPr id="389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678" y="3713748"/>
                        <a:ext cx="6096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2" name="Rectangle 7"/>
          <p:cNvSpPr>
            <a:spLocks noChangeArrowheads="1"/>
          </p:cNvSpPr>
          <p:nvPr/>
        </p:nvSpPr>
        <p:spPr bwMode="auto">
          <a:xfrm>
            <a:off x="1066800" y="4953000"/>
            <a:ext cx="342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/>
              <a:t>作一维搜索</a:t>
            </a:r>
            <a:r>
              <a:rPr lang="en-US" altLang="zh-CN" sz="2800"/>
              <a:t>,</a:t>
            </a:r>
            <a:r>
              <a:rPr lang="zh-CN" altLang="en-US" sz="2800"/>
              <a:t>得到点</a:t>
            </a:r>
          </a:p>
        </p:txBody>
      </p:sp>
      <p:graphicFrame>
        <p:nvGraphicFramePr>
          <p:cNvPr id="38916" name="Object 8"/>
          <p:cNvGraphicFramePr>
            <a:graphicFrameLocks noChangeAspect="1"/>
          </p:cNvGraphicFramePr>
          <p:nvPr/>
        </p:nvGraphicFramePr>
        <p:xfrm>
          <a:off x="2438400" y="5562600"/>
          <a:ext cx="3416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1" name="Equation" r:id="rId7" imgW="3416300" imgH="419100" progId="Equation.DSMT4">
                  <p:embed/>
                </p:oleObj>
              </mc:Choice>
              <mc:Fallback>
                <p:oleObj name="Equation" r:id="rId7" imgW="3416300" imgH="419100" progId="Equation.DSMT4">
                  <p:embed/>
                  <p:pic>
                    <p:nvPicPr>
                      <p:cNvPr id="389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562600"/>
                        <a:ext cx="3416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7"/>
          <p:cNvGraphicFramePr>
            <a:graphicFrameLocks noChangeAspect="1"/>
          </p:cNvGraphicFramePr>
          <p:nvPr/>
        </p:nvGraphicFramePr>
        <p:xfrm>
          <a:off x="609600" y="2438400"/>
          <a:ext cx="4584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4" name="Equation" r:id="rId3" imgW="4584700" imgH="419100" progId="Equation.DSMT4">
                  <p:embed/>
                </p:oleObj>
              </mc:Choice>
              <mc:Fallback>
                <p:oleObj name="Equation" r:id="rId3" imgW="4584700" imgH="419100" progId="Equation.DSMT4">
                  <p:embed/>
                  <p:pic>
                    <p:nvPicPr>
                      <p:cNvPr id="3993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438400"/>
                        <a:ext cx="4584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10"/>
          <p:cNvGraphicFramePr>
            <a:graphicFrameLocks noChangeAspect="1"/>
          </p:cNvGraphicFramePr>
          <p:nvPr/>
        </p:nvGraphicFramePr>
        <p:xfrm>
          <a:off x="762000" y="3733800"/>
          <a:ext cx="6527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" name="Equation" r:id="rId5" imgW="6527800" imgH="1143000" progId="Equation.DSMT4">
                  <p:embed/>
                </p:oleObj>
              </mc:Choice>
              <mc:Fallback>
                <p:oleObj name="Equation" r:id="rId5" imgW="6527800" imgH="1143000" progId="Equation.DSMT4">
                  <p:embed/>
                  <p:pic>
                    <p:nvPicPr>
                      <p:cNvPr id="3993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733800"/>
                        <a:ext cx="6527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Rectangle 12"/>
          <p:cNvSpPr>
            <a:spLocks noChangeArrowheads="1"/>
          </p:cNvSpPr>
          <p:nvPr/>
        </p:nvSpPr>
        <p:spPr bwMode="auto">
          <a:xfrm>
            <a:off x="533400" y="990600"/>
            <a:ext cx="2308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求指标</a:t>
            </a:r>
            <a:r>
              <a:rPr lang="en-US" altLang="zh-CN" sz="2800" i="1"/>
              <a:t>m</a:t>
            </a:r>
            <a:r>
              <a:rPr lang="en-US" altLang="zh-CN" sz="2800"/>
              <a:t>,</a:t>
            </a:r>
            <a:r>
              <a:rPr lang="zh-CN" altLang="en-US" sz="2800"/>
              <a:t>使得</a:t>
            </a:r>
          </a:p>
        </p:txBody>
      </p:sp>
      <p:graphicFrame>
        <p:nvGraphicFramePr>
          <p:cNvPr id="39940" name="Object 13"/>
          <p:cNvGraphicFramePr>
            <a:graphicFrameLocks noChangeAspect="1"/>
          </p:cNvGraphicFramePr>
          <p:nvPr/>
        </p:nvGraphicFramePr>
        <p:xfrm>
          <a:off x="1066800" y="1676400"/>
          <a:ext cx="6616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6" name="Equation" r:id="rId7" imgW="6616700" imgH="635000" progId="Equation.DSMT4">
                  <p:embed/>
                </p:oleObj>
              </mc:Choice>
              <mc:Fallback>
                <p:oleObj name="Equation" r:id="rId7" imgW="6616700" imgH="635000" progId="Equation.DSMT4">
                  <p:embed/>
                  <p:pic>
                    <p:nvPicPr>
                      <p:cNvPr id="3994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676400"/>
                        <a:ext cx="6616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14"/>
          <p:cNvGraphicFramePr>
            <a:graphicFrameLocks noChangeAspect="1"/>
          </p:cNvGraphicFramePr>
          <p:nvPr/>
        </p:nvGraphicFramePr>
        <p:xfrm>
          <a:off x="1219200" y="3048000"/>
          <a:ext cx="6692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7" name="Equation" r:id="rId9" imgW="6692900" imgH="584200" progId="Equation.DSMT4">
                  <p:embed/>
                </p:oleObj>
              </mc:Choice>
              <mc:Fallback>
                <p:oleObj name="Equation" r:id="rId9" imgW="6692900" imgH="584200" progId="Equation.DSMT4">
                  <p:embed/>
                  <p:pic>
                    <p:nvPicPr>
                      <p:cNvPr id="3994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048000"/>
                        <a:ext cx="66929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15"/>
          <p:cNvGraphicFramePr>
            <a:graphicFrameLocks noChangeAspect="1"/>
          </p:cNvGraphicFramePr>
          <p:nvPr/>
        </p:nvGraphicFramePr>
        <p:xfrm>
          <a:off x="914400" y="5029200"/>
          <a:ext cx="5956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8" name="Equation" r:id="rId11" imgW="5956300" imgH="469900" progId="Equation.DSMT4">
                  <p:embed/>
                </p:oleObj>
              </mc:Choice>
              <mc:Fallback>
                <p:oleObj name="Equation" r:id="rId11" imgW="5956300" imgH="469900" progId="Equation.DSMT4">
                  <p:embed/>
                  <p:pic>
                    <p:nvPicPr>
                      <p:cNvPr id="3994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5956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16"/>
          <p:cNvGraphicFramePr>
            <a:graphicFrameLocks noChangeAspect="1"/>
          </p:cNvGraphicFramePr>
          <p:nvPr/>
        </p:nvGraphicFramePr>
        <p:xfrm>
          <a:off x="685800" y="5562600"/>
          <a:ext cx="7924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9" name="Equation" r:id="rId13" imgW="7924800" imgH="584200" progId="Equation.DSMT4">
                  <p:embed/>
                </p:oleObj>
              </mc:Choice>
              <mc:Fallback>
                <p:oleObj name="Equation" r:id="rId13" imgW="7924800" imgH="584200" progId="Equation.DSMT4">
                  <p:embed/>
                  <p:pic>
                    <p:nvPicPr>
                      <p:cNvPr id="3994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562600"/>
                        <a:ext cx="7924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855402-0A5F-407E-8F8F-4E140101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175168"/>
              </p:ext>
            </p:extLst>
          </p:nvPr>
        </p:nvGraphicFramePr>
        <p:xfrm>
          <a:off x="685800" y="1036638"/>
          <a:ext cx="6029325" cy="421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3" name="Equation" r:id="rId3" imgW="5778360" imgH="4038480" progId="Equation.DSMT4">
                  <p:embed/>
                </p:oleObj>
              </mc:Choice>
              <mc:Fallback>
                <p:oleObj name="Equation" r:id="rId3" imgW="5778360" imgH="4038480" progId="Equation.DSMT4">
                  <p:embed/>
                  <p:pic>
                    <p:nvPicPr>
                      <p:cNvPr id="409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036638"/>
                        <a:ext cx="6029325" cy="421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49DE957-10AD-4144-B4D0-62F52CCE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D36CA-E44B-45DD-B4E3-9CB2F82DD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885" y="198154"/>
            <a:ext cx="6745572" cy="754747"/>
          </a:xfrm>
        </p:spPr>
        <p:txBody>
          <a:bodyPr/>
          <a:lstStyle/>
          <a:p>
            <a:r>
              <a:rPr lang="en-US" altLang="zh-CN" dirty="0"/>
              <a:t>4. </a:t>
            </a:r>
            <a:r>
              <a:rPr lang="en-US" altLang="zh-CN" dirty="0" err="1"/>
              <a:t>Nelder</a:t>
            </a:r>
            <a:r>
              <a:rPr lang="en-US" altLang="zh-CN" dirty="0"/>
              <a:t>-Mead </a:t>
            </a:r>
            <a:r>
              <a:rPr lang="zh-CN" altLang="en-US" dirty="0"/>
              <a:t>单纯形法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4CB3A9-0FE6-45B0-AC0B-762AF4E2D521}"/>
              </a:ext>
            </a:extLst>
          </p:cNvPr>
          <p:cNvSpPr txBox="1"/>
          <p:nvPr/>
        </p:nvSpPr>
        <p:spPr>
          <a:xfrm>
            <a:off x="613317" y="1201802"/>
            <a:ext cx="827792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一、基本思想 </a:t>
            </a:r>
            <a:endParaRPr lang="en-US" altLang="zh-CN" sz="2800" dirty="0"/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所谓</a:t>
            </a:r>
            <a:r>
              <a:rPr lang="en-US" altLang="zh-CN" sz="2800" dirty="0"/>
              <a:t>n</a:t>
            </a:r>
            <a:r>
              <a:rPr lang="zh-CN" altLang="en-US" sz="2800" dirty="0"/>
              <a:t>维欧氏空间中的单纯形，是指在</a:t>
            </a:r>
            <a:r>
              <a:rPr lang="en-US" altLang="zh-CN" sz="2800" dirty="0"/>
              <a:t>n</a:t>
            </a:r>
            <a:r>
              <a:rPr lang="zh-CN" altLang="en-US" sz="2800" dirty="0"/>
              <a:t>维空间中由</a:t>
            </a:r>
            <a:r>
              <a:rPr lang="en-US" altLang="zh-CN" sz="2800" dirty="0"/>
              <a:t>n+1</a:t>
            </a:r>
            <a:r>
              <a:rPr lang="zh-CN" altLang="en-US" sz="2800" dirty="0"/>
              <a:t>个顶点构成的简单图形或多面体。例如，在二维平面中的单纯形应具有三个顶点，即三角形。在三维空间中的单纯形应具有四个顶点，即四面体。当各顶点之间的距离相等时，这种几何图形就称为正规单纯形。 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580569727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39F87-B7C0-4CA8-82E1-F46BF264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3A80F5-86A5-4D98-BF37-72B06D6ECFBA}"/>
              </a:ext>
            </a:extLst>
          </p:cNvPr>
          <p:cNvSpPr txBox="1"/>
          <p:nvPr/>
        </p:nvSpPr>
        <p:spPr>
          <a:xfrm>
            <a:off x="576146" y="1164324"/>
            <a:ext cx="77426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单纯形法的基本思想：</a:t>
            </a:r>
            <a:endParaRPr lang="en-US" altLang="zh-CN" sz="2800" dirty="0"/>
          </a:p>
          <a:p>
            <a:r>
              <a:rPr lang="zh-CN" altLang="en-US" sz="2800" dirty="0"/>
              <a:t>选</a:t>
            </a:r>
            <a:r>
              <a:rPr lang="en-US" altLang="zh-CN" sz="2800" dirty="0"/>
              <a:t>n+1</a:t>
            </a:r>
            <a:r>
              <a:rPr lang="zh-CN" altLang="en-US" sz="2800" dirty="0"/>
              <a:t>个顶点构成初始单纯形，计算并比较各顶点目标函数值的大小，确定它们当中函数值大的顶点及函数值的下降方向，再设法找到一个函数值较小的新点替换函数值最大的顶点，从而构成新的单纯形。随着这种取代过程不断进行，新的单纯形向着极小值点收缩逼近，从而求得极小值点。 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迭代过程的主要步骤：反射、延伸、压缩。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62406134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9C095-43DE-4A45-8FBB-E544CD80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BEE9E8-9AA4-41CB-BA54-65AE2D725E51}"/>
              </a:ext>
            </a:extLst>
          </p:cNvPr>
          <p:cNvSpPr txBox="1"/>
          <p:nvPr/>
        </p:nvSpPr>
        <p:spPr>
          <a:xfrm>
            <a:off x="490926" y="1028041"/>
            <a:ext cx="8508382" cy="1842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下面，以极小化二元函数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₁,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₂)为例，说明怎样实现单纯形的转换.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首先，在平面上取不共线的三点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,构成初始单纯形.设最高点为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,最低点为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,即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BE2AE9-4AE4-43B3-910A-CCF5530D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456" y="3544893"/>
            <a:ext cx="4134706" cy="22928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F41D43B-9CB2-4F09-8802-A6F32C8C0AFB}"/>
                  </a:ext>
                </a:extLst>
              </p:cNvPr>
              <p:cNvSpPr txBox="1"/>
              <p:nvPr/>
            </p:nvSpPr>
            <p:spPr>
              <a:xfrm>
                <a:off x="2214979" y="2913221"/>
                <a:ext cx="4572000" cy="516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F41D43B-9CB2-4F09-8802-A6F32C8C0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979" y="2913221"/>
                <a:ext cx="4572000" cy="5162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591692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8C770-7AE0-4134-9BFB-EAA77BCC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C3367CA-D5F4-4109-B2AD-9635550DBB7B}"/>
                  </a:ext>
                </a:extLst>
              </p:cNvPr>
              <p:cNvSpPr txBox="1"/>
              <p:nvPr/>
            </p:nvSpPr>
            <p:spPr>
              <a:xfrm>
                <a:off x="733923" y="935419"/>
                <a:ext cx="7021552" cy="1891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现在进行反射步骤.将最高点经过其余点的形心进行反射，运用单纯形搜索法时，总是如此.对于本问题，就是将x</a:t>
                </a:r>
                <a:r>
                  <a:rPr lang="zh-CN" altLang="en-US" sz="2400" baseline="30000" dirty="0"/>
                  <a:t>(3)</a:t>
                </a:r>
                <a:r>
                  <a:rPr lang="zh-CN" altLang="en-US" sz="2400" dirty="0"/>
                  <a:t>经过线段x</a:t>
                </a:r>
                <a:r>
                  <a:rPr lang="zh-CN" altLang="en-US" sz="2400" baseline="30000" dirty="0"/>
                  <a:t> (</a:t>
                </a:r>
                <a:r>
                  <a:rPr lang="en-US" altLang="zh-CN" sz="2400" baseline="30000" dirty="0"/>
                  <a:t>1</a:t>
                </a:r>
                <a:r>
                  <a:rPr lang="zh-CN" altLang="en-US" sz="2400" baseline="30000" dirty="0"/>
                  <a:t>) </a:t>
                </a:r>
                <a:r>
                  <a:rPr lang="zh-CN" altLang="en-US" sz="2400" dirty="0"/>
                  <a:t>x</a:t>
                </a:r>
                <a:r>
                  <a:rPr lang="zh-CN" altLang="en-US" sz="2400" baseline="30000" dirty="0"/>
                  <a:t> (</a:t>
                </a:r>
                <a:r>
                  <a:rPr lang="en-US" altLang="zh-CN" sz="2400" baseline="30000" dirty="0"/>
                  <a:t>2</a:t>
                </a:r>
                <a:r>
                  <a:rPr lang="zh-CN" altLang="en-US" sz="2400" baseline="30000" dirty="0"/>
                  <a:t>)</a:t>
                </a:r>
                <a:r>
                  <a:rPr lang="zh-CN" altLang="en-US" sz="2400" dirty="0"/>
                  <a:t>的中点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altLang="zh-CN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t-BR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pt-BR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pt-BR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C3367CA-D5F4-4109-B2AD-9635550DB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23" y="935419"/>
                <a:ext cx="7021552" cy="1891800"/>
              </a:xfrm>
              <a:prstGeom prst="rect">
                <a:avLst/>
              </a:prstGeom>
              <a:blipFill>
                <a:blip r:embed="rId2"/>
                <a:stretch>
                  <a:fillRect l="-1302" t="-3537" r="-5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A6EA7F-9F45-422C-99B4-DE79A982FF5A}"/>
                  </a:ext>
                </a:extLst>
              </p:cNvPr>
              <p:cNvSpPr txBox="1"/>
              <p:nvPr/>
            </p:nvSpPr>
            <p:spPr>
              <a:xfrm>
                <a:off x="848262" y="2848700"/>
                <a:ext cx="4572000" cy="856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进行反射.得到反射点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4)</m:t>
                          </m:r>
                        </m:sup>
                      </m:sSup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pt-BR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A6EA7F-9F45-422C-99B4-DE79A982F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62" y="2848700"/>
                <a:ext cx="4572000" cy="856004"/>
              </a:xfrm>
              <a:prstGeom prst="rect">
                <a:avLst/>
              </a:prstGeom>
              <a:blipFill>
                <a:blip r:embed="rId3"/>
                <a:stretch>
                  <a:fillRect l="-2000" t="-7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CD7E5A6-BA61-4E71-88C0-4C72DD055EA3}"/>
                  </a:ext>
                </a:extLst>
              </p:cNvPr>
              <p:cNvSpPr txBox="1"/>
              <p:nvPr/>
            </p:nvSpPr>
            <p:spPr>
              <a:xfrm>
                <a:off x="753359" y="3850723"/>
                <a:ext cx="61081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正数</a:t>
                </a:r>
                <a14:m>
                  <m:oMath xmlns:m="http://schemas.openxmlformats.org/officeDocument/2006/math">
                    <m:r>
                      <a:rPr lang="el-GR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400" dirty="0"/>
                  <a:t>称为反射系数，一般取</a:t>
                </a:r>
                <a14:m>
                  <m:oMath xmlns:m="http://schemas.openxmlformats.org/officeDocument/2006/math">
                    <m:r>
                      <a:rPr lang="el-GR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2400" dirty="0"/>
                  <a:t>=1</a:t>
                </a:r>
                <a:r>
                  <a:rPr lang="zh-CN" altLang="en-US" sz="2400" dirty="0"/>
                  <a:t>.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CD7E5A6-BA61-4E71-88C0-4C72DD055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59" y="3850723"/>
                <a:ext cx="6108192" cy="461665"/>
              </a:xfrm>
              <a:prstGeom prst="rect">
                <a:avLst/>
              </a:prstGeom>
              <a:blipFill>
                <a:blip r:embed="rId4"/>
                <a:stretch>
                  <a:fillRect l="-1597" t="-14667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F8932D6-D21C-4A46-AF01-F68B4838C7D2}"/>
                  </a:ext>
                </a:extLst>
              </p:cNvPr>
              <p:cNvSpPr txBox="1"/>
              <p:nvPr/>
            </p:nvSpPr>
            <p:spPr>
              <a:xfrm>
                <a:off x="714652" y="4532853"/>
                <a:ext cx="7863840" cy="1232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反射后有三种可能的情形：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)&lt;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则表明方向 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d=x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对于函数值的减小是有利的，于是沿此方向进行扩展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令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F8932D6-D21C-4A46-AF01-F68B4838C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52" y="4532853"/>
                <a:ext cx="7863840" cy="1232966"/>
              </a:xfrm>
              <a:prstGeom prst="rect">
                <a:avLst/>
              </a:prstGeom>
              <a:blipFill>
                <a:blip r:embed="rId5"/>
                <a:stretch>
                  <a:fillRect l="-1163" t="-5446" b="-8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151346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F412E-F8E4-43D0-A9F6-34E8AABBD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F797B68-C5EF-42EC-B164-7111DB11B409}"/>
                  </a:ext>
                </a:extLst>
              </p:cNvPr>
              <p:cNvSpPr txBox="1"/>
              <p:nvPr/>
            </p:nvSpPr>
            <p:spPr>
              <a:xfrm>
                <a:off x="514952" y="1674078"/>
                <a:ext cx="7945654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称为扩展系数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STSong-Light"/>
                  </a:rPr>
                  <a:t>。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 若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(4)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F797B68-C5EF-42EC-B164-7111DB11B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52" y="1674078"/>
                <a:ext cx="7945654" cy="541110"/>
              </a:xfrm>
              <a:prstGeom prst="rect">
                <a:avLst/>
              </a:prstGeom>
              <a:blipFill>
                <a:blip r:embed="rId2"/>
                <a:stretch>
                  <a:fillRect l="-1534" t="-1590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BD27883-A31F-4919-BEBC-E67957F2948E}"/>
                  </a:ext>
                </a:extLst>
              </p:cNvPr>
              <p:cNvSpPr txBox="1"/>
              <p:nvPr/>
            </p:nvSpPr>
            <p:spPr>
              <a:xfrm>
                <a:off x="1977991" y="1036816"/>
                <a:ext cx="4572000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(5)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BD27883-A31F-4919-BEBC-E67957F29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991" y="1036816"/>
                <a:ext cx="4572000" cy="541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FB541AE-AAE9-4058-A746-5CB0DC51C579}"/>
                  </a:ext>
                </a:extLst>
              </p:cNvPr>
              <p:cNvSpPr txBox="1"/>
              <p:nvPr/>
            </p:nvSpPr>
            <p:spPr>
              <a:xfrm>
                <a:off x="428324" y="2371131"/>
                <a:ext cx="7425890" cy="1001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则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STSong-Light"/>
                  </a:rPr>
                  <a:t>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(5)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取代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，得到以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(5)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为顶点的新的单纯形。若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FB541AE-AAE9-4058-A746-5CB0DC51C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24" y="2371131"/>
                <a:ext cx="7425890" cy="1001043"/>
              </a:xfrm>
              <a:prstGeom prst="rect">
                <a:avLst/>
              </a:prstGeom>
              <a:blipFill>
                <a:blip r:embed="rId4"/>
                <a:stretch>
                  <a:fillRect l="-1642" t="-6707" r="-82" b="-12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91643BD-469B-4937-9F36-4EBFDC299375}"/>
                  </a:ext>
                </a:extLst>
              </p:cNvPr>
              <p:cNvSpPr txBox="1"/>
              <p:nvPr/>
            </p:nvSpPr>
            <p:spPr>
              <a:xfrm>
                <a:off x="539015" y="3472935"/>
                <a:ext cx="7315200" cy="989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则扩展失败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STSong-Light"/>
                  </a:rPr>
                  <a:t>.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STSong-Light"/>
                  </a:rPr>
                  <a:t>这时用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(4)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取代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，得到以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为顶点的新的单纯形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91643BD-469B-4937-9F36-4EBFDC299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15" y="3472935"/>
                <a:ext cx="7315200" cy="989886"/>
              </a:xfrm>
              <a:prstGeom prst="rect">
                <a:avLst/>
              </a:prstGeom>
              <a:blipFill>
                <a:blip r:embed="rId5"/>
                <a:stretch>
                  <a:fillRect l="-1667" t="-8642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710526F-8CED-4C14-A3C9-681443194659}"/>
                  </a:ext>
                </a:extLst>
              </p:cNvPr>
              <p:cNvSpPr txBox="1"/>
              <p:nvPr/>
            </p:nvSpPr>
            <p:spPr>
              <a:xfrm>
                <a:off x="495702" y="4363273"/>
                <a:ext cx="8244038" cy="1898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(2) 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(4)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不小于最低点处的函数值，不大于次高点处的函数值，则用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(4)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取代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，得到以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为顶点的新的单纯形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STSong-Light"/>
                  </a:rPr>
                  <a:t>。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710526F-8CED-4C14-A3C9-681443194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02" y="4363273"/>
                <a:ext cx="8244038" cy="1898597"/>
              </a:xfrm>
              <a:prstGeom prst="rect">
                <a:avLst/>
              </a:prstGeom>
              <a:blipFill>
                <a:blip r:embed="rId6"/>
                <a:stretch>
                  <a:fillRect l="-1478" t="-3859" r="-222" b="-54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15578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D9C03-83FB-43C2-AD4B-2E3C20B1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2A5899-7385-4C6D-889D-D386F339B35D}"/>
                  </a:ext>
                </a:extLst>
              </p:cNvPr>
              <p:cNvSpPr txBox="1"/>
              <p:nvPr/>
            </p:nvSpPr>
            <p:spPr>
              <a:xfrm>
                <a:off x="437950" y="1138811"/>
                <a:ext cx="8244038" cy="3967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(3) 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(4)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大于次高点处的函数值，则进行压缩步骤。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STSong-Light"/>
                  </a:rPr>
                  <a:t>为</a:t>
                </a:r>
                <a:r>
                  <a:rPr lang="zh-CN" altLang="en-US" sz="2800" dirty="0"/>
                  <a:t>此，在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(4)</m:t>
                        </m:r>
                      </m:sup>
                    </m:sSup>
                    <m:r>
                      <m:rPr>
                        <m:nor/>
                      </m:rPr>
                      <a:rPr lang="zh-CN" altLang="en-US" sz="2800" dirty="0"/>
                      <m:t>和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p>
                  </m:oMath>
                </a14:m>
                <a:r>
                  <a:rPr lang="zh-CN" altLang="en-US" sz="2800" dirty="0"/>
                  <a:t>中选择函数值最小的点，令</a:t>
                </a:r>
              </a:p>
              <a:p>
                <a:r>
                  <a:rPr lang="en-US" altLang="zh-CN" sz="2800" dirty="0"/>
                  <a:t>        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800" dirty="0"/>
              </a:p>
              <a:p>
                <a:r>
                  <a:rPr lang="zh-CN" altLang="en-US" sz="2800" dirty="0"/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dirty="0"/>
                  <a:t>，令</a:t>
                </a:r>
                <a:endParaRPr lang="en-US" altLang="zh-CN" sz="2800" dirty="0"/>
              </a:p>
              <a:p>
                <a:r>
                  <a:rPr lang="zh-CN" altLang="en-US" sz="2800" dirty="0"/>
                  <a:t> </a:t>
                </a:r>
              </a:p>
              <a:p>
                <a:r>
                  <a:rPr lang="zh-CN" altLang="en-US" sz="2800" dirty="0"/>
                  <a:t> </a:t>
                </a:r>
              </a:p>
              <a:p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∈(0,1)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800" dirty="0"/>
                  <a:t>压缩系数。这样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(6)</m:t>
                        </m:r>
                      </m:sup>
                    </m:sSup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位于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之间</m:t>
                    </m:r>
                  </m:oMath>
                </a14:m>
                <a:r>
                  <a:rPr lang="zh-CN" altLang="en-US" sz="2800" dirty="0"/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2A5899-7385-4C6D-889D-D386F339B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50" y="1138811"/>
                <a:ext cx="8244038" cy="3967368"/>
              </a:xfrm>
              <a:prstGeom prst="rect">
                <a:avLst/>
              </a:prstGeom>
              <a:blipFill>
                <a:blip r:embed="rId2"/>
                <a:stretch>
                  <a:fillRect l="-1553" t="-1382" r="-518" b="-2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0CC9A03-50DA-42DC-8BF8-32C94BBD2270}"/>
                  </a:ext>
                </a:extLst>
              </p:cNvPr>
              <p:cNvSpPr txBox="1"/>
              <p:nvPr/>
            </p:nvSpPr>
            <p:spPr>
              <a:xfrm>
                <a:off x="2199371" y="3780017"/>
                <a:ext cx="4572000" cy="589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(6)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0CC9A03-50DA-42DC-8BF8-32C94BBD2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371" y="3780017"/>
                <a:ext cx="4572000" cy="589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432657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1957D-23DF-498D-8390-12F236C3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F4EBDA5-D994-45C3-B647-C815FC5D22C3}"/>
                  </a:ext>
                </a:extLst>
              </p:cNvPr>
              <p:cNvSpPr txBox="1"/>
              <p:nvPr/>
            </p:nvSpPr>
            <p:spPr>
              <a:xfrm>
                <a:off x="572702" y="1144688"/>
                <a:ext cx="7656897" cy="1037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≤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，则用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(6)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取代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，得到以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为顶点的新的单纯形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.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F4EBDA5-D994-45C3-B647-C815FC5D2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02" y="1144688"/>
                <a:ext cx="7656897" cy="1037976"/>
              </a:xfrm>
              <a:prstGeom prst="rect">
                <a:avLst/>
              </a:prstGeom>
              <a:blipFill>
                <a:blip r:embed="rId2"/>
                <a:stretch>
                  <a:fillRect l="-1672" t="-3529" b="-1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5C24ED-14AE-45AC-AC34-A9D433332858}"/>
                  </a:ext>
                </a:extLst>
              </p:cNvPr>
              <p:cNvSpPr txBox="1"/>
              <p:nvPr/>
            </p:nvSpPr>
            <p:spPr>
              <a:xfrm>
                <a:off x="649704" y="2214929"/>
                <a:ext cx="7791651" cy="3565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,</a:t>
                </a:r>
                <a:r>
                  <a:rPr lang="zh-CN" altLang="en-US" sz="2800" dirty="0"/>
                  <a:t>则进行收缩。最低点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sz="2800" dirty="0"/>
                  <a:t>不动，其余两点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zh-CN" altLang="en-US" sz="2800" dirty="0"/>
                      <m:t>和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p>
                  </m:oMath>
                </a14:m>
                <a:r>
                  <a:rPr lang="zh-CN" altLang="en-US" sz="2800" dirty="0"/>
                  <a:t>均向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移近一半距离，令</a:t>
                </a:r>
                <a:endParaRPr lang="en-US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得到以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为顶点的新的单纯形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5C24ED-14AE-45AC-AC34-A9D433332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04" y="2214929"/>
                <a:ext cx="7791651" cy="3565463"/>
              </a:xfrm>
              <a:prstGeom prst="rect">
                <a:avLst/>
              </a:prstGeom>
              <a:blipFill>
                <a:blip r:embed="rId3"/>
                <a:stretch>
                  <a:fillRect l="-1643" t="-342" r="-626" b="-3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346994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E9841-5996-4E0D-8DC7-AD0EC3738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33" y="198154"/>
            <a:ext cx="6225808" cy="706621"/>
          </a:xfrm>
        </p:spPr>
        <p:txBody>
          <a:bodyPr/>
          <a:lstStyle/>
          <a:p>
            <a:r>
              <a:rPr lang="zh-CN" altLang="en-US" sz="3200" dirty="0">
                <a:solidFill>
                  <a:srgbClr val="000000"/>
                </a:solidFill>
                <a:effectLst/>
                <a:latin typeface="STSong-Light"/>
              </a:rPr>
              <a:t>计算步骤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5A853BD-462C-4D16-98ED-1E088C6992E4}"/>
                  </a:ext>
                </a:extLst>
              </p:cNvPr>
              <p:cNvSpPr txBox="1"/>
              <p:nvPr/>
            </p:nvSpPr>
            <p:spPr>
              <a:xfrm>
                <a:off x="765207" y="1221689"/>
                <a:ext cx="7445141" cy="402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单纯形搜索法计算步骤如下： </a:t>
                </a:r>
                <a:endParaRPr lang="zh-CN" altLang="en-US" sz="2800" dirty="0"/>
              </a:p>
              <a:p>
                <a:pPr marL="514350" indent="-514350">
                  <a:buAutoNum type="arabicParenBoth"/>
                </a:pP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给定初始单纯形，其顶点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effectLst/>
                  <a:latin typeface="STSong-Light"/>
                </a:endParaRPr>
              </a:p>
              <a:p>
                <a:r>
                  <a:rPr lang="en-US" altLang="zh-CN" sz="2800" dirty="0">
                    <a:solidFill>
                      <a:srgbClr val="000000"/>
                    </a:solidFill>
                    <a:latin typeface="STSong-Light"/>
                  </a:rPr>
                  <a:t>    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反射系数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扩展系数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压缩系数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允许误差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.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计算函数值</a:t>
                </a:r>
                <a:endParaRPr lang="en-US" altLang="zh-CN" sz="2800" dirty="0">
                  <a:solidFill>
                    <a:srgbClr val="000000"/>
                  </a:solidFill>
                  <a:effectLst/>
                  <a:latin typeface="STSong-Light"/>
                </a:endParaRPr>
              </a:p>
              <a:p>
                <a:r>
                  <a:rPr lang="en-US" altLang="zh-CN" sz="2800" dirty="0">
                    <a:solidFill>
                      <a:srgbClr val="000000"/>
                    </a:solidFill>
                    <a:latin typeface="STSong-Light"/>
                  </a:rPr>
                  <a:t>    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effectLst/>
                  <a:latin typeface="STSong-Light"/>
                </a:endParaRPr>
              </a:p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置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k=1</a:t>
                </a:r>
              </a:p>
              <a:p>
                <a:pPr marL="514350" indent="-514350">
                  <a:buAutoNum type="arabicParenBoth"/>
                </a:pP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确定最高点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,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次高点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，最低点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，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使得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5A853BD-462C-4D16-98ED-1E088C699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07" y="1221689"/>
                <a:ext cx="7445141" cy="4023987"/>
              </a:xfrm>
              <a:prstGeom prst="rect">
                <a:avLst/>
              </a:prstGeom>
              <a:blipFill>
                <a:blip r:embed="rId2"/>
                <a:stretch>
                  <a:fillRect l="-1720" t="-2269" b="-27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53364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B6995-3DEA-4DE1-AECC-CEC58484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5B4BE79-F96C-4286-A742-30C695F32183}"/>
                  </a:ext>
                </a:extLst>
              </p:cNvPr>
              <p:cNvSpPr txBox="1"/>
              <p:nvPr/>
            </p:nvSpPr>
            <p:spPr>
              <a:xfrm>
                <a:off x="678581" y="2495970"/>
                <a:ext cx="7454766" cy="2182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计算除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外的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n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个点的形心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 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:</a:t>
                </a:r>
                <a:endParaRPr lang="zh-CN" altLang="en-US" sz="2800" dirty="0"/>
              </a:p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令</a:t>
                </a:r>
                <a:endParaRPr lang="en-US" altLang="zh-CN" sz="2800" dirty="0">
                  <a:solidFill>
                    <a:srgbClr val="000000"/>
                  </a:solidFill>
                  <a:effectLst/>
                  <a:latin typeface="STSong-Ligh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altLang="zh-CN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t-BR" altLang="zh-CN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altLang="zh-CN" sz="2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altLang="zh-CN" sz="28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p>
                            <m:sSupPr>
                              <m:ctrlPr>
                                <a:rPr lang="pt-BR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zh-CN" sz="28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5B4BE79-F96C-4286-A742-30C695F32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81" y="2495970"/>
                <a:ext cx="7454766" cy="2182392"/>
              </a:xfrm>
              <a:prstGeom prst="rect">
                <a:avLst/>
              </a:prstGeom>
              <a:blipFill>
                <a:blip r:embed="rId2"/>
                <a:stretch>
                  <a:fillRect l="-1635" t="-36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0B5BE20-DE2D-4431-BDA2-786436CC8D86}"/>
                  </a:ext>
                </a:extLst>
              </p:cNvPr>
              <p:cNvSpPr txBox="1"/>
              <p:nvPr/>
            </p:nvSpPr>
            <p:spPr>
              <a:xfrm>
                <a:off x="1198345" y="5114041"/>
                <a:ext cx="457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计算出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0B5BE20-DE2D-4431-BDA2-786436CC8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345" y="5114041"/>
                <a:ext cx="4572000" cy="523220"/>
              </a:xfrm>
              <a:prstGeom prst="rect">
                <a:avLst/>
              </a:prstGeom>
              <a:blipFill>
                <a:blip r:embed="rId3"/>
                <a:stretch>
                  <a:fillRect l="-2800" t="-18605" b="-25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44A7927-3680-45C5-93F4-EE8C56E0E385}"/>
                  </a:ext>
                </a:extLst>
              </p:cNvPr>
              <p:cNvSpPr txBox="1"/>
              <p:nvPr/>
            </p:nvSpPr>
            <p:spPr>
              <a:xfrm>
                <a:off x="1082841" y="1021913"/>
                <a:ext cx="7368139" cy="1364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altLang="zh-CN" sz="2400" dirty="0"/>
                  <a:t>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44A7927-3680-45C5-93F4-EE8C56E0E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41" y="1021913"/>
                <a:ext cx="7368139" cy="1364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112266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720BC-284E-4127-A15A-EC05FF5DA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650293-900D-45C4-A770-900D43E01B9F}"/>
              </a:ext>
            </a:extLst>
          </p:cNvPr>
          <p:cNvSpPr txBox="1"/>
          <p:nvPr/>
        </p:nvSpPr>
        <p:spPr>
          <a:xfrm>
            <a:off x="534203" y="103292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ffectLst/>
                <a:latin typeface="STSong-Light"/>
              </a:rPr>
              <a:t>(3) 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STSong-Light"/>
              </a:rPr>
              <a:t>进行反射，令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BC4A0C0-E63D-4BEC-8C81-0C7AECCB63F3}"/>
                  </a:ext>
                </a:extLst>
              </p:cNvPr>
              <p:cNvSpPr txBox="1"/>
              <p:nvPr/>
            </p:nvSpPr>
            <p:spPr>
              <a:xfrm>
                <a:off x="842210" y="2730862"/>
                <a:ext cx="4572000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+2)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BC4A0C0-E63D-4BEC-8C81-0C7AECCB6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10" y="2730862"/>
                <a:ext cx="4572000" cy="541110"/>
              </a:xfrm>
              <a:prstGeom prst="rect">
                <a:avLst/>
              </a:prstGeom>
              <a:blipFill>
                <a:blip r:embed="rId3"/>
                <a:stretch>
                  <a:fillRect l="-2667" t="-12360" b="-26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67F7335-6788-4D8B-9535-C274AF32BB67}"/>
                  </a:ext>
                </a:extLst>
              </p:cNvPr>
              <p:cNvSpPr txBox="1"/>
              <p:nvPr/>
            </p:nvSpPr>
            <p:spPr>
              <a:xfrm>
                <a:off x="466824" y="3618717"/>
                <a:ext cx="7474017" cy="586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(4) 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,</a:t>
                </a:r>
                <a:r>
                  <a:rPr lang="zh-CN" altLang="en-US" sz="2800" dirty="0"/>
                  <a:t>则进行扩展，令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67F7335-6788-4D8B-9535-C274AF32B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24" y="3618717"/>
                <a:ext cx="7474017" cy="586827"/>
              </a:xfrm>
              <a:prstGeom prst="rect">
                <a:avLst/>
              </a:prstGeom>
              <a:blipFill>
                <a:blip r:embed="rId5"/>
                <a:stretch>
                  <a:fillRect l="-1713" t="-9375" b="-26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E809340-1043-48F4-AEB3-E6207ECE6169}"/>
                  </a:ext>
                </a:extLst>
              </p:cNvPr>
              <p:cNvSpPr txBox="1"/>
              <p:nvPr/>
            </p:nvSpPr>
            <p:spPr>
              <a:xfrm>
                <a:off x="630454" y="5306546"/>
                <a:ext cx="4572000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+3)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转步骤（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5</a:t>
                </a:r>
                <a:r>
                  <a:rPr lang="zh-CN" altLang="en-US" sz="2800" dirty="0">
                    <a:solidFill>
                      <a:srgbClr val="000000"/>
                    </a:solidFill>
                    <a:effectLst/>
                    <a:latin typeface="STSong-Light"/>
                  </a:rPr>
                  <a:t>）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E809340-1043-48F4-AEB3-E6207ECE6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54" y="5306546"/>
                <a:ext cx="4572000" cy="541110"/>
              </a:xfrm>
              <a:prstGeom prst="rect">
                <a:avLst/>
              </a:prstGeom>
              <a:blipFill>
                <a:blip r:embed="rId6"/>
                <a:stretch>
                  <a:fillRect l="-2667" t="-14607" b="-30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FE67DC0-4DC0-429A-8EF2-159AB8F5862A}"/>
                  </a:ext>
                </a:extLst>
              </p:cNvPr>
              <p:cNvSpPr txBox="1"/>
              <p:nvPr/>
            </p:nvSpPr>
            <p:spPr>
              <a:xfrm>
                <a:off x="1766234" y="1759149"/>
                <a:ext cx="4846321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</m:t>
                          </m:r>
                        </m:sup>
                      </m:sSup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altLang="zh-CN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pt-BR" altLang="zh-CN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3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p>
                      <m:r>
                        <a:rPr lang="en-US" altLang="zh-CN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FE67DC0-4DC0-429A-8EF2-159AB8F58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234" y="1759149"/>
                <a:ext cx="4846321" cy="6182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E3EFC91-3E0A-4F65-BFCA-174C73F75C63}"/>
                  </a:ext>
                </a:extLst>
              </p:cNvPr>
              <p:cNvSpPr txBox="1"/>
              <p:nvPr/>
            </p:nvSpPr>
            <p:spPr>
              <a:xfrm>
                <a:off x="1745380" y="4462244"/>
                <a:ext cx="5646822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+3)</m:t>
                          </m:r>
                        </m:sup>
                      </m:sSup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altLang="zh-CN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3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en-US" altLang="zh-C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pt-BR" altLang="zh-CN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E3EFC91-3E0A-4F65-BFCA-174C73F75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380" y="4462244"/>
                <a:ext cx="5646822" cy="6182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555957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D2992-E929-4C70-9E17-42AD21C9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4605104-8209-476D-8E3E-E4F0B4ADBDD0}"/>
                  </a:ext>
                </a:extLst>
              </p:cNvPr>
              <p:cNvSpPr txBox="1"/>
              <p:nvPr/>
            </p:nvSpPr>
            <p:spPr>
              <a:xfrm>
                <a:off x="1194045" y="1102177"/>
                <a:ext cx="6636059" cy="1309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则</m:t>
                    </m:r>
                  </m:oMath>
                </a14:m>
                <a:r>
                  <a:rPr lang="zh-CN" altLang="en-US" sz="2400" dirty="0"/>
                  <a:t>置</a:t>
                </a:r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转步骤</a:t>
                </a:r>
                <a:r>
                  <a:rPr lang="en-US" altLang="zh-CN" sz="2400" dirty="0"/>
                  <a:t>(7);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4605104-8209-476D-8E3E-E4F0B4ADB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045" y="1102177"/>
                <a:ext cx="6636059" cy="1309589"/>
              </a:xfrm>
              <a:prstGeom prst="rect">
                <a:avLst/>
              </a:prstGeom>
              <a:blipFill>
                <a:blip r:embed="rId2"/>
                <a:stretch>
                  <a:fillRect l="-1471" t="-3256" b="-1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E9C4906-9883-4F3E-AE00-0387AB57B2CF}"/>
                  </a:ext>
                </a:extLst>
              </p:cNvPr>
              <p:cNvSpPr txBox="1"/>
              <p:nvPr/>
            </p:nvSpPr>
            <p:spPr>
              <a:xfrm>
                <a:off x="1088993" y="2781536"/>
                <a:ext cx="6636059" cy="2166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则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进行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压缩，令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′∈{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+2}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令</a:t>
                </a:r>
                <a:endParaRPr lang="en-US" altLang="zh-CN" sz="2400" dirty="0"/>
              </a:p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+4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pt-B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pt-B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+4</m:t>
                            </m:r>
                          </m:e>
                        </m:d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转步骤</a:t>
                </a:r>
                <a:r>
                  <a:rPr lang="en-US" altLang="zh-CN" sz="2400" dirty="0"/>
                  <a:t>(6)</a:t>
                </a:r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E9C4906-9883-4F3E-AE00-0387AB57B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93" y="2781536"/>
                <a:ext cx="6636059" cy="2166427"/>
              </a:xfrm>
              <a:prstGeom prst="rect">
                <a:avLst/>
              </a:prstGeom>
              <a:blipFill>
                <a:blip r:embed="rId3"/>
                <a:stretch>
                  <a:fillRect l="-1471" t="-1966" b="-5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435520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BFBE0-6965-4522-9941-41DA38C9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E68D008-FC8B-4F8C-86AF-D4A8A91B5E3C}"/>
                  </a:ext>
                </a:extLst>
              </p:cNvPr>
              <p:cNvSpPr txBox="1"/>
              <p:nvPr/>
            </p:nvSpPr>
            <p:spPr>
              <a:xfrm>
                <a:off x="1123023" y="1137687"/>
                <a:ext cx="6636059" cy="2127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(5)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则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置</a:t>
                </a:r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sup>
                      </m:sSup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转步骤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(7);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否则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，置</a:t>
                </a:r>
                <a:endPara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转步骤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(7)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E68D008-FC8B-4F8C-86AF-D4A8A91B5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023" y="1137687"/>
                <a:ext cx="6636059" cy="2127890"/>
              </a:xfrm>
              <a:prstGeom prst="rect">
                <a:avLst/>
              </a:prstGeom>
              <a:blipFill>
                <a:blip r:embed="rId2"/>
                <a:stretch>
                  <a:fillRect l="-1377" t="-2006" b="-4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20649EE-783E-4E68-AE6E-C007976E6981}"/>
                  </a:ext>
                </a:extLst>
              </p:cNvPr>
              <p:cNvSpPr txBox="1"/>
              <p:nvPr/>
            </p:nvSpPr>
            <p:spPr>
              <a:xfrm>
                <a:off x="1114146" y="3073019"/>
                <a:ext cx="6636059" cy="2553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则</m:t>
                    </m:r>
                  </m:oMath>
                </a14:m>
                <a:r>
                  <a:rPr lang="zh-CN" altLang="en-US" sz="2400" dirty="0"/>
                  <a:t>置</a:t>
                </a:r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sup>
                      </m:sSup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转步骤</a:t>
                </a:r>
                <a:r>
                  <a:rPr lang="en-US" altLang="zh-CN" sz="2400" dirty="0"/>
                  <a:t>(7);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否则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进行</m:t>
                    </m:r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收缩</m:t>
                    </m:r>
                    <m:r>
                      <a:rPr lang="zh-CN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令</m:t>
                    </m:r>
                  </m:oMath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/>
                  <a:t>进行步骤</a:t>
                </a:r>
                <a:r>
                  <a:rPr lang="en-US" altLang="zh-CN" sz="2400" dirty="0"/>
                  <a:t>(7)</a:t>
                </a:r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20649EE-783E-4E68-AE6E-C007976E6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146" y="3073019"/>
                <a:ext cx="6636059" cy="2553776"/>
              </a:xfrm>
              <a:prstGeom prst="rect">
                <a:avLst/>
              </a:prstGeom>
              <a:blipFill>
                <a:blip r:embed="rId3"/>
                <a:stretch>
                  <a:fillRect l="-1471" b="-3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466669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E5270-BC05-4D2F-8E71-796B58B75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DF9AF1-C18C-4DC9-A9B2-B0FB3E5A4E01}"/>
              </a:ext>
            </a:extLst>
          </p:cNvPr>
          <p:cNvSpPr txBox="1"/>
          <p:nvPr/>
        </p:nvSpPr>
        <p:spPr>
          <a:xfrm>
            <a:off x="972664" y="1638924"/>
            <a:ext cx="720450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检验是否满足收敛准则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则停止计算，现行最好点可作为极小点的近似；否则，置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k:=k+1,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返回步骤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D6C9116-2F74-4437-9473-EC33AE44DA9A}"/>
                  </a:ext>
                </a:extLst>
              </p:cNvPr>
              <p:cNvSpPr txBox="1"/>
              <p:nvPr/>
            </p:nvSpPr>
            <p:spPr>
              <a:xfrm>
                <a:off x="1314690" y="2099576"/>
                <a:ext cx="6763990" cy="1475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t-BR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pt-BR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altLang="zh-CN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pt-BR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pt-BR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pt-BR" altLang="zh-CN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zh-CN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p>
                                            </m:e>
                                          </m:d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D6C9116-2F74-4437-9473-EC33AE44D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690" y="2099576"/>
                <a:ext cx="6763990" cy="14751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10506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2985</Words>
  <Application>Microsoft Office PowerPoint</Application>
  <PresentationFormat>全屏显示(4:3)</PresentationFormat>
  <Paragraphs>306</Paragraphs>
  <Slides>63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86" baseType="lpstr">
      <vt:lpstr>STSong-Light</vt:lpstr>
      <vt:lpstr>黑体</vt:lpstr>
      <vt:lpstr>华文楷体</vt:lpstr>
      <vt:lpstr>楷体_GB2312</vt:lpstr>
      <vt:lpstr>隶书</vt:lpstr>
      <vt:lpstr>宋体</vt:lpstr>
      <vt:lpstr>Arial</vt:lpstr>
      <vt:lpstr>Arial Black</vt:lpstr>
      <vt:lpstr>Calibri</vt:lpstr>
      <vt:lpstr>Calibri Light</vt:lpstr>
      <vt:lpstr>Cambria Math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Equation</vt:lpstr>
      <vt:lpstr>PowerPoint 演示文稿</vt:lpstr>
      <vt:lpstr>11 无约束最优化的直接方法</vt:lpstr>
      <vt:lpstr>1.模式搜索法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2.Rosenbrock算法(转轴法)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3.Powell法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Nelder-Mead 单纯形法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计算步骤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1703</cp:revision>
  <dcterms:created xsi:type="dcterms:W3CDTF">2012-04-20T06:02:00Z</dcterms:created>
  <dcterms:modified xsi:type="dcterms:W3CDTF">2026-05-18T13:47:59Z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9CF86C79608144ADBEF3A26E5FD9A904</vt:lpwstr>
  </property>
</Properties>
</file>