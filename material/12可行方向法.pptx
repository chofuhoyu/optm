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4" r:id="rId3"/>
    <p:sldMasterId id="2147483710" r:id="rId4"/>
    <p:sldMasterId id="2147483686" r:id="rId5"/>
    <p:sldMasterId id="2147483698" r:id="rId6"/>
    <p:sldMasterId id="2147483722" r:id="rId7"/>
  </p:sldMasterIdLst>
  <p:notesMasterIdLst>
    <p:notesMasterId r:id="rId74"/>
  </p:notesMasterIdLst>
  <p:handoutMasterIdLst>
    <p:handoutMasterId r:id="rId75"/>
  </p:handoutMasterIdLst>
  <p:sldIdLst>
    <p:sldId id="377" r:id="rId8"/>
    <p:sldId id="257" r:id="rId9"/>
    <p:sldId id="258" r:id="rId10"/>
    <p:sldId id="259" r:id="rId11"/>
    <p:sldId id="260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9" r:id="rId38"/>
    <p:sldId id="290" r:id="rId39"/>
    <p:sldId id="291" r:id="rId40"/>
    <p:sldId id="292" r:id="rId41"/>
    <p:sldId id="288" r:id="rId42"/>
    <p:sldId id="293" r:id="rId43"/>
    <p:sldId id="294" r:id="rId44"/>
    <p:sldId id="295" r:id="rId45"/>
    <p:sldId id="296" r:id="rId46"/>
    <p:sldId id="303" r:id="rId47"/>
    <p:sldId id="304" r:id="rId48"/>
    <p:sldId id="310" r:id="rId49"/>
    <p:sldId id="311" r:id="rId50"/>
    <p:sldId id="312" r:id="rId51"/>
    <p:sldId id="313" r:id="rId52"/>
    <p:sldId id="314" r:id="rId53"/>
    <p:sldId id="317" r:id="rId54"/>
    <p:sldId id="318" r:id="rId55"/>
    <p:sldId id="319" r:id="rId56"/>
    <p:sldId id="320" r:id="rId57"/>
    <p:sldId id="322" r:id="rId58"/>
    <p:sldId id="323" r:id="rId59"/>
    <p:sldId id="325" r:id="rId60"/>
    <p:sldId id="297" r:id="rId61"/>
    <p:sldId id="298" r:id="rId62"/>
    <p:sldId id="299" r:id="rId63"/>
    <p:sldId id="301" r:id="rId64"/>
    <p:sldId id="302" r:id="rId65"/>
    <p:sldId id="305" r:id="rId66"/>
    <p:sldId id="306" r:id="rId67"/>
    <p:sldId id="307" r:id="rId68"/>
    <p:sldId id="308" r:id="rId69"/>
    <p:sldId id="327" r:id="rId70"/>
    <p:sldId id="328" r:id="rId71"/>
    <p:sldId id="329" r:id="rId72"/>
    <p:sldId id="330" r:id="rId73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5">
          <p15:clr>
            <a:srgbClr val="A4A3A4"/>
          </p15:clr>
        </p15:guide>
        <p15:guide id="2" pos="291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86">
          <p15:clr>
            <a:srgbClr val="A4A3A4"/>
          </p15:clr>
        </p15:guide>
        <p15:guide id="2" pos="226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3DF5"/>
    <a:srgbClr val="FF9933"/>
    <a:srgbClr val="FF6600"/>
    <a:srgbClr val="CC6600"/>
    <a:srgbClr val="990000"/>
    <a:srgbClr val="336699"/>
    <a:srgbClr val="CC3300"/>
    <a:srgbClr val="008080"/>
    <a:srgbClr val="0099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27" autoAdjust="0"/>
    <p:restoredTop sz="92552" autoAdjust="0"/>
  </p:normalViewPr>
  <p:slideViewPr>
    <p:cSldViewPr snapToGrid="0">
      <p:cViewPr varScale="1">
        <p:scale>
          <a:sx n="66" d="100"/>
          <a:sy n="66" d="100"/>
        </p:scale>
        <p:origin x="1196" y="52"/>
      </p:cViewPr>
      <p:guideLst>
        <p:guide orient="horz" pos="2135"/>
        <p:guide pos="291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3006" y="-96"/>
      </p:cViewPr>
      <p:guideLst>
        <p:guide orient="horz" pos="3186"/>
        <p:guide pos="226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4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4" Type="http://schemas.openxmlformats.org/officeDocument/2006/relationships/image" Target="../media/image52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4" Type="http://schemas.openxmlformats.org/officeDocument/2006/relationships/image" Target="../media/image67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0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wmf"/><Relationship Id="rId1" Type="http://schemas.openxmlformats.org/officeDocument/2006/relationships/image" Target="../media/image81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4" Type="http://schemas.openxmlformats.org/officeDocument/2006/relationships/image" Target="../media/image8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1.wmf"/><Relationship Id="rId1" Type="http://schemas.openxmlformats.org/officeDocument/2006/relationships/image" Target="../media/image90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92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4" Type="http://schemas.openxmlformats.org/officeDocument/2006/relationships/image" Target="../media/image97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4" Type="http://schemas.openxmlformats.org/officeDocument/2006/relationships/image" Target="../media/image113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59.wmf"/><Relationship Id="rId4" Type="http://schemas.openxmlformats.org/officeDocument/2006/relationships/image" Target="../media/image117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7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8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9.w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0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wmf"/><Relationship Id="rId1" Type="http://schemas.openxmlformats.org/officeDocument/2006/relationships/image" Target="../media/image134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wmf"/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5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wmf"/><Relationship Id="rId1" Type="http://schemas.openxmlformats.org/officeDocument/2006/relationships/image" Target="../media/image151.w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wmf"/><Relationship Id="rId1" Type="http://schemas.openxmlformats.org/officeDocument/2006/relationships/image" Target="../media/image153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4" Type="http://schemas.openxmlformats.org/officeDocument/2006/relationships/image" Target="../media/image158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image" Target="../media/image160.wmf"/><Relationship Id="rId1" Type="http://schemas.openxmlformats.org/officeDocument/2006/relationships/image" Target="../media/image159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wmf"/><Relationship Id="rId2" Type="http://schemas.openxmlformats.org/officeDocument/2006/relationships/image" Target="../media/image163.wmf"/><Relationship Id="rId1" Type="http://schemas.openxmlformats.org/officeDocument/2006/relationships/image" Target="../media/image162.w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wmf"/><Relationship Id="rId1" Type="http://schemas.openxmlformats.org/officeDocument/2006/relationships/image" Target="../media/image168.wmf"/></Relationships>
</file>

<file path=ppt/drawings/_rels/vmlDrawing5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wmf"/><Relationship Id="rId1" Type="http://schemas.openxmlformats.org/officeDocument/2006/relationships/image" Target="../media/image170.wmf"/></Relationships>
</file>

<file path=ppt/drawings/_rels/vmlDrawing5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wmf"/><Relationship Id="rId1" Type="http://schemas.openxmlformats.org/officeDocument/2006/relationships/image" Target="../media/image172.w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4.w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5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/Relationships>
</file>

<file path=ppt/drawings/_rels/vmlDrawing6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6A960A1-D56F-4C4A-97CF-4735240BD62C}" type="datetimeFigureOut">
              <a:rPr lang="zh-CN" altLang="en-US"/>
              <a:t>2026/5/30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4F66F81-A0D2-4A7E-BBC3-CD5E44C9F6A2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5EE2498-8568-4830-BB85-C81475419C18}" type="datetimeFigureOut">
              <a:rPr lang="zh-CN" altLang="en-US"/>
              <a:t>2026/5/30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  <a:endParaRPr lang="zh-CN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defRPr sz="13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00F46F3-D1E1-4E94-ABE0-1F205FAA8D8A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11" Type="http://schemas.microsoft.com/office/2007/relationships/hdphoto" Target="../media/hdphoto1.wdp"/><Relationship Id="rId5" Type="http://schemas.openxmlformats.org/officeDocument/2006/relationships/image" Target="../media/image6.jpeg"/><Relationship Id="rId10" Type="http://schemas.openxmlformats.org/officeDocument/2006/relationships/image" Target="../media/image12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19200"/>
            <a:ext cx="381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304800"/>
            <a:ext cx="19431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3048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C:\Users\luye\Desktop\未标题-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6067645"/>
            <a:ext cx="3428992" cy="790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EE6A2-48DB-4B37-98E7-8F8161FF65C3}" type="datetime1">
              <a:rPr lang="zh-CN" altLang="en-US"/>
              <a:pPr>
                <a:defRPr/>
              </a:pPr>
              <a:t>2026/5/30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TP SHUAI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98CEBF-3123-4E70-85E7-0162E280A3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34522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7DB113E-BF83-4AB5-AA65-136593C28F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412805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98436364"/>
      </p:ext>
    </p:extLst>
  </p:cSld>
  <p:clrMapOvr>
    <a:masterClrMapping/>
  </p:clrMapOvr>
  <p:transition spd="slow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0147829"/>
      </p:ext>
    </p:extLst>
  </p:cSld>
  <p:clrMapOvr>
    <a:masterClrMapping/>
  </p:clrMapOvr>
  <p:transition spd="slow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59965225"/>
      </p:ext>
    </p:extLst>
  </p:cSld>
  <p:clrMapOvr>
    <a:masterClrMapping/>
  </p:clrMapOvr>
  <p:transition spd="slow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209829"/>
      </p:ext>
    </p:extLst>
  </p:cSld>
  <p:clrMapOvr>
    <a:masterClrMapping/>
  </p:clrMapOvr>
  <p:transition spd="slow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90358073"/>
      </p:ext>
    </p:extLst>
  </p:cSld>
  <p:clrMapOvr>
    <a:masterClrMapping/>
  </p:clrMapOvr>
  <p:transition spd="slow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520366111"/>
      </p:ext>
    </p:extLst>
  </p:cSld>
  <p:clrMapOvr>
    <a:masterClrMapping/>
  </p:clrMapOvr>
  <p:transition spd="slow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0089745"/>
      </p:ext>
    </p:extLst>
  </p:cSld>
  <p:clrMapOvr>
    <a:masterClrMapping/>
  </p:clrMapOvr>
  <p:transition spd="slow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05439786"/>
      </p:ext>
    </p:extLst>
  </p:cSld>
  <p:clrMapOvr>
    <a:masterClrMapping/>
  </p:clrMapOvr>
  <p:transition spd="slow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75652015"/>
      </p:ext>
    </p:extLst>
  </p:cSld>
  <p:clrMapOvr>
    <a:masterClrMapping/>
  </p:clrMapOvr>
  <p:transition spd="slow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03216887"/>
      </p:ext>
    </p:extLst>
  </p:cSld>
  <p:clrMapOvr>
    <a:masterClrMapping/>
  </p:clrMapOvr>
  <p:transition spd="slow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597677"/>
      </p:ext>
    </p:extLst>
  </p:cSld>
  <p:clrMapOvr>
    <a:masterClrMapping/>
  </p:clrMapOvr>
  <p:transition spd="slow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85134-EB9D-4805-ABEB-F863D88A05E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AFBB6-D49A-43F4-87D9-D7681947FD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7C021B-CAAC-47EF-8662-3E778FCEF6CC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750BEE-AE29-4505-92DA-41C676A7136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00548-8CF3-4B09-ACBA-0F38896D9169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478A-3558-426B-BC99-7BF29E2A8A0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B2B9A6-6288-44F7-B172-15E1AB0493F7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892A0-0C0A-4500-900B-D87ECC80B772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E2F2B1-744B-4D4E-8150-2AF0605125AE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AACB4-BC2C-4235-93CB-4858018529EB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3B03A7-9B61-4EE4-AC29-3E0A59EB3FB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  <p:transition spd="slow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530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</p:cSld>
  <p:clrMapOvr>
    <a:masterClrMapping/>
  </p:clrMapOvr>
  <p:transition spd="slow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  <p:transition spd="slow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4500" y="73025"/>
            <a:ext cx="8229600" cy="757238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0"/>
            <a:ext cx="8229600" cy="4530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6225" y="73025"/>
            <a:ext cx="2060575" cy="59817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4500" y="73025"/>
            <a:ext cx="6029325" cy="5981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 spd="slow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3CD01DB-5A89-46E1-9C62-8DE24968FCB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74472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EA0A3D38-FDC0-4B4B-A494-56099C1B91F0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60187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BDD1DE16-6030-4296-AA83-243A5EBDEF6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8103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CDADCE3F-3FF9-425C-B635-BDEE2469475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40255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9D263FCC-0E9E-4DE0-9191-3A9805C5D772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10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3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251939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A882C6C2-D35D-4B29-9880-EB532D47EA8C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9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48682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F1B72FF5-3C7F-4A3E-A69E-E6308AC08448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5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54" y="764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51306" y="952229"/>
            <a:ext cx="9072059" cy="526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2"/>
          <p:cNvSpPr>
            <a:spLocks noChangeArrowheads="1"/>
          </p:cNvSpPr>
          <p:nvPr userDrawn="1"/>
        </p:nvSpPr>
        <p:spPr bwMode="auto">
          <a:xfrm>
            <a:off x="16281" y="2867954"/>
            <a:ext cx="9102730" cy="158795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ffectLst>
            <a:glow rad="12700">
              <a:srgbClr val="002060">
                <a:alpha val="40000"/>
              </a:srgbClr>
            </a:glo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8" name="Picture 31"/>
          <p:cNvPicPr>
            <a:picLocks noChangeAspect="1" noChangeArrowheads="1"/>
          </p:cNvPicPr>
          <p:nvPr userDrawn="1"/>
        </p:nvPicPr>
        <p:blipFill>
          <a:blip r:embed="rId10">
            <a:clrChange>
              <a:clrFrom>
                <a:srgbClr val="EBFFFF"/>
              </a:clrFrom>
              <a:clrTo>
                <a:srgbClr val="EB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4987" y="299936"/>
            <a:ext cx="4552551" cy="812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526871" y="1830688"/>
            <a:ext cx="8268785" cy="979376"/>
          </a:xfrm>
        </p:spPr>
        <p:txBody>
          <a:bodyPr>
            <a:normAutofit/>
          </a:bodyPr>
          <a:lstStyle>
            <a:lvl1pPr algn="ctr">
              <a:defRPr sz="5400" baseline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0526469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58C92BF-141B-405B-B9C3-41F21423E6DD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027683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9B0ED30-E3F2-4215-ADC5-126CA2DD31D4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1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6107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0B5D371D-92C2-44A4-BE04-ECAB734F093F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14524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6726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13" Type="http://schemas.openxmlformats.org/officeDocument/2006/relationships/image" Target="../media/image3.png"/><Relationship Id="rId18" Type="http://schemas.openxmlformats.org/officeDocument/2006/relationships/image" Target="../media/image8.jpeg"/><Relationship Id="rId3" Type="http://schemas.openxmlformats.org/officeDocument/2006/relationships/slideLayout" Target="../slideLayouts/slideLayout72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7.xml"/><Relationship Id="rId17" Type="http://schemas.openxmlformats.org/officeDocument/2006/relationships/image" Target="../media/image7.jpeg"/><Relationship Id="rId2" Type="http://schemas.openxmlformats.org/officeDocument/2006/relationships/slideLayout" Target="../slideLayouts/slideLayout71.xml"/><Relationship Id="rId16" Type="http://schemas.openxmlformats.org/officeDocument/2006/relationships/image" Target="../media/image6.jpeg"/><Relationship Id="rId20" Type="http://schemas.openxmlformats.org/officeDocument/2006/relationships/image" Target="../media/image10.jpeg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79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155257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Freeform 3"/>
          <p:cNvSpPr/>
          <p:nvPr/>
        </p:nvSpPr>
        <p:spPr bwMode="auto">
          <a:xfrm>
            <a:off x="1588" y="914400"/>
            <a:ext cx="1219200" cy="4838700"/>
          </a:xfrm>
          <a:custGeom>
            <a:avLst/>
            <a:gdLst>
              <a:gd name="T0" fmla="*/ 2147483647 w 768"/>
              <a:gd name="T1" fmla="*/ 2147483647 h 2856"/>
              <a:gd name="T2" fmla="*/ 2147483647 w 768"/>
              <a:gd name="T3" fmla="*/ 2147483647 h 2856"/>
              <a:gd name="T4" fmla="*/ 0 w 768"/>
              <a:gd name="T5" fmla="*/ 2147483647 h 2856"/>
              <a:gd name="T6" fmla="*/ 0 w 768"/>
              <a:gd name="T7" fmla="*/ 2147483647 h 2856"/>
              <a:gd name="T8" fmla="*/ 2147483647 w 768"/>
              <a:gd name="T9" fmla="*/ 0 h 2856"/>
              <a:gd name="T10" fmla="*/ 2147483647 w 768"/>
              <a:gd name="T11" fmla="*/ 2147483647 h 285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768" h="2856">
                <a:moveTo>
                  <a:pt x="619" y="1461"/>
                </a:moveTo>
                <a:cubicBezTo>
                  <a:pt x="635" y="2144"/>
                  <a:pt x="683" y="2331"/>
                  <a:pt x="760" y="2856"/>
                </a:cubicBezTo>
                <a:lnTo>
                  <a:pt x="0" y="2856"/>
                </a:lnTo>
                <a:lnTo>
                  <a:pt x="0" y="1"/>
                </a:lnTo>
                <a:lnTo>
                  <a:pt x="768" y="0"/>
                </a:lnTo>
                <a:cubicBezTo>
                  <a:pt x="736" y="196"/>
                  <a:pt x="635" y="672"/>
                  <a:pt x="619" y="1461"/>
                </a:cubicBezTo>
                <a:close/>
              </a:path>
            </a:pathLst>
          </a:custGeom>
          <a:gradFill rotWithShape="0">
            <a:gsLst>
              <a:gs pos="0">
                <a:srgbClr val="7C7EAC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304800"/>
            <a:ext cx="7772400" cy="68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219200"/>
            <a:ext cx="7772400" cy="4876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2000" b="1">
          <a:solidFill>
            <a:srgbClr val="3366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b="1">
          <a:solidFill>
            <a:srgbClr val="3366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600" b="1">
          <a:solidFill>
            <a:srgbClr val="3366CC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 b="1">
          <a:solidFill>
            <a:srgbClr val="3366CC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1200" b="1">
          <a:solidFill>
            <a:srgbClr val="3366C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734" r:id="rId12"/>
    <p:sldLayoutId id="2147483735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049B564E-0B73-4E53-9544-126FC7B95D79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87333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44414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8" name="Picture 7" descr="C:\Users\luye\Desktop\未标题-1.jpg">
            <a:extLst>
              <a:ext uri="{FF2B5EF4-FFF2-40B4-BE49-F238E27FC236}">
                <a16:creationId xmlns:a16="http://schemas.microsoft.com/office/drawing/2014/main" id="{96445CF5-7F4F-413B-8541-AD9A799353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5745565" y="6023291"/>
            <a:ext cx="3146188" cy="725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4327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n-ea"/>
          <a:ea typeface="+mn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4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21"/>
          <p:cNvSpPr txBox="1">
            <a:spLocks noChangeArrowheads="1"/>
          </p:cNvSpPr>
          <p:nvPr/>
        </p:nvSpPr>
        <p:spPr bwMode="auto">
          <a:xfrm>
            <a:off x="4329113" y="6465888"/>
            <a:ext cx="436562" cy="290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  <a:lvl2pPr marL="742950" indent="-28575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2pPr>
            <a:lvl3pPr marL="11430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3pPr>
            <a:lvl4pPr marL="16002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4pPr>
            <a:lvl5pPr marL="2057400" indent="-228600" eaLnBrk="0" hangingPunct="0"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 b="1">
                <a:solidFill>
                  <a:schemeClr val="folHlink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9pPr>
          </a:lstStyle>
          <a:p>
            <a:pPr eaLnBrk="1" hangingPunct="1">
              <a:defRPr/>
            </a:pPr>
            <a:fld id="{32057243-54D8-446D-9769-A38AE30FAB60}" type="slidenum">
              <a:rPr lang="en-US" altLang="zh-CN" sz="1300" smtClean="0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en-US" altLang="zh-CN" sz="1300">
              <a:solidFill>
                <a:srgbClr val="0099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674849" y="215308"/>
            <a:ext cx="1216904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>
              <a:defRPr/>
            </a:pPr>
            <a:r>
              <a:rPr kumimoji="1" lang="en-US" altLang="zh-CN" sz="3200" b="1" i="1" dirty="0">
                <a:ln w="10541" cmpd="sng">
                  <a:noFill/>
                  <a:prstDash val="solid"/>
                </a:ln>
                <a:gradFill flip="none" rotWithShape="1">
                  <a:gsLst>
                    <a:gs pos="0">
                      <a:srgbClr val="A603AB"/>
                    </a:gs>
                    <a:gs pos="21001">
                      <a:srgbClr val="0819FB"/>
                    </a:gs>
                    <a:gs pos="35001">
                      <a:srgbClr val="1A8D48"/>
                    </a:gs>
                    <a:gs pos="52000">
                      <a:srgbClr val="FFFF00"/>
                    </a:gs>
                    <a:gs pos="73000">
                      <a:srgbClr val="EE3F17"/>
                    </a:gs>
                    <a:gs pos="88000">
                      <a:srgbClr val="E81766"/>
                    </a:gs>
                    <a:gs pos="100000">
                      <a:srgbClr val="A603AB"/>
                    </a:gs>
                  </a:gsLst>
                  <a:lin ang="0" scaled="1"/>
                  <a:tileRect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Arial Black" panose="020B0A04020102020204" pitchFamily="34" charset="0"/>
                <a:ea typeface="黑体" panose="02010609060101010101" pitchFamily="2" charset="-122"/>
              </a:rPr>
              <a:t>SBN</a:t>
            </a:r>
            <a:endParaRPr kumimoji="1" lang="zh-CN" altLang="en-US" sz="3200" b="1" i="1" dirty="0">
              <a:ln w="10541" cmpd="sng">
                <a:noFill/>
                <a:prstDash val="solid"/>
              </a:ln>
              <a:gradFill flip="none" rotWithShape="1">
                <a:gsLst>
                  <a:gs pos="0">
                    <a:srgbClr val="A603AB"/>
                  </a:gs>
                  <a:gs pos="21001">
                    <a:srgbClr val="0819FB"/>
                  </a:gs>
                  <a:gs pos="35001">
                    <a:srgbClr val="1A8D48"/>
                  </a:gs>
                  <a:gs pos="52000">
                    <a:srgbClr val="FFFF00"/>
                  </a:gs>
                  <a:gs pos="73000">
                    <a:srgbClr val="EE3F17"/>
                  </a:gs>
                  <a:gs pos="88000">
                    <a:srgbClr val="E81766"/>
                  </a:gs>
                  <a:gs pos="100000">
                    <a:srgbClr val="A603AB"/>
                  </a:gs>
                </a:gsLst>
                <a:lin ang="0" scaled="1"/>
                <a:tileRect/>
              </a:gra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Arial Black" panose="020B0A04020102020204" pitchFamily="34" charset="0"/>
              <a:ea typeface="黑体" panose="02010609060101010101" pitchFamily="2" charset="-122"/>
            </a:endParaRP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44500" y="73025"/>
            <a:ext cx="8229600" cy="757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53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3124200" y="64770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 kumimoji="1" sz="1600" b="1">
                <a:solidFill>
                  <a:schemeClr val="folHlink"/>
                </a:solidFill>
                <a:latin typeface="+mj-ea"/>
                <a:ea typeface="+mj-ea"/>
              </a:defRPr>
            </a:lvl1pPr>
          </a:lstStyle>
          <a:p>
            <a:pPr>
              <a:defRPr/>
            </a:pPr>
            <a:fld id="{56ED39A5-D7E9-45ED-9C73-9E366D6A377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8"/>
          <p:cNvSpPr>
            <a:spLocks noChangeShapeType="1"/>
          </p:cNvSpPr>
          <p:nvPr/>
        </p:nvSpPr>
        <p:spPr bwMode="auto">
          <a:xfrm>
            <a:off x="457200" y="92075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p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n"/>
        <a:defRPr sz="2800">
          <a:solidFill>
            <a:srgbClr val="336600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p"/>
        <a:defRPr sz="2400">
          <a:solidFill>
            <a:schemeClr val="folHlink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第</a:t>
            </a:r>
            <a:r>
              <a:rPr lang="en-US" altLang="x-none">
                <a:solidFill>
                  <a:srgbClr val="000000"/>
                </a:solidFill>
              </a:rPr>
              <a:t>1</a:t>
            </a:r>
            <a:r>
              <a:rPr lang="zh-CN" altLang="en-US">
                <a:solidFill>
                  <a:srgbClr val="000000"/>
                </a:solidFill>
              </a:rPr>
              <a:t>页</a:t>
            </a:r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783" fontAlgn="base">
              <a:spcBef>
                <a:spcPct val="0"/>
              </a:spcBef>
              <a:spcAft>
                <a:spcPct val="0"/>
              </a:spcAft>
              <a:defRPr/>
            </a:pPr>
            <a:fld id="{39866882-FADF-42D6-8B18-8E28A5DD326B}" type="slidenum">
              <a:rPr lang="en-US" altLang="x-none" smtClean="0">
                <a:solidFill>
                  <a:srgbClr val="000000"/>
                </a:solidFill>
              </a:rPr>
              <a:pPr defTabSz="685783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x-none">
              <a:solidFill>
                <a:srgbClr val="000000"/>
              </a:solidFill>
              <a:latin typeface="Arial" pitchFamily="34" charset="0"/>
              <a:ea typeface="宋体" pitchFamily="2" charset="-122"/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 descr="a_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"/>
          <a:stretch>
            <a:fillRect/>
          </a:stretch>
        </p:blipFill>
        <p:spPr bwMode="auto">
          <a:xfrm>
            <a:off x="0" y="0"/>
            <a:ext cx="9144000" cy="530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2"/>
          <p:cNvSpPr>
            <a:spLocks noChangeArrowheads="1"/>
          </p:cNvSpPr>
          <p:nvPr userDrawn="1"/>
        </p:nvSpPr>
        <p:spPr bwMode="auto">
          <a:xfrm>
            <a:off x="0" y="2590800"/>
            <a:ext cx="9144000" cy="1066800"/>
          </a:xfrm>
          <a:prstGeom prst="rect">
            <a:avLst/>
          </a:prstGeom>
          <a:gradFill rotWithShape="1">
            <a:gsLst>
              <a:gs pos="0">
                <a:srgbClr val="3191D3"/>
              </a:gs>
              <a:gs pos="100000">
                <a:srgbClr val="17436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Rectangle 14" descr="mao1-1"/>
          <p:cNvSpPr>
            <a:spLocks noChangeAspect="1" noChangeArrowheads="1"/>
          </p:cNvSpPr>
          <p:nvPr userDrawn="1"/>
        </p:nvSpPr>
        <p:spPr bwMode="auto">
          <a:xfrm>
            <a:off x="8153402" y="4967288"/>
            <a:ext cx="969963" cy="900112"/>
          </a:xfrm>
          <a:prstGeom prst="rect">
            <a:avLst/>
          </a:prstGeom>
          <a:blipFill dpi="0" rotWithShape="1">
            <a:blip r:embed="rId15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15" descr="xmy2-1"/>
          <p:cNvSpPr>
            <a:spLocks noChangeAspect="1" noChangeArrowheads="1"/>
          </p:cNvSpPr>
          <p:nvPr userDrawn="1"/>
        </p:nvSpPr>
        <p:spPr bwMode="auto">
          <a:xfrm>
            <a:off x="8153402" y="3976688"/>
            <a:ext cx="969963" cy="900112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16" descr="xm-1"/>
          <p:cNvSpPr>
            <a:spLocks noChangeArrowheads="1"/>
          </p:cNvSpPr>
          <p:nvPr userDrawn="1"/>
        </p:nvSpPr>
        <p:spPr bwMode="auto">
          <a:xfrm>
            <a:off x="6019800" y="5957888"/>
            <a:ext cx="1066800" cy="900112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Rectangle 17" descr="xue2-1"/>
          <p:cNvSpPr>
            <a:spLocks noChangeAspect="1" noChangeArrowheads="1"/>
          </p:cNvSpPr>
          <p:nvPr userDrawn="1"/>
        </p:nvSpPr>
        <p:spPr bwMode="auto">
          <a:xfrm>
            <a:off x="7134227" y="5943608"/>
            <a:ext cx="969963" cy="900113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18" descr="mao-1"/>
          <p:cNvSpPr>
            <a:spLocks noChangeAspect="1" noChangeArrowheads="1"/>
          </p:cNvSpPr>
          <p:nvPr userDrawn="1"/>
        </p:nvSpPr>
        <p:spPr bwMode="auto">
          <a:xfrm>
            <a:off x="7107238" y="4967288"/>
            <a:ext cx="969962" cy="900112"/>
          </a:xfrm>
          <a:prstGeom prst="rect">
            <a:avLst/>
          </a:prstGeom>
          <a:blipFill dpi="0" rotWithShape="1">
            <a:blip r:embed="rId19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9" descr="xiaoxun-1"/>
          <p:cNvSpPr>
            <a:spLocks noChangeAspect="1" noChangeArrowheads="1"/>
          </p:cNvSpPr>
          <p:nvPr userDrawn="1"/>
        </p:nvSpPr>
        <p:spPr bwMode="auto">
          <a:xfrm>
            <a:off x="8153402" y="5943608"/>
            <a:ext cx="969963" cy="900113"/>
          </a:xfrm>
          <a:prstGeom prst="rect">
            <a:avLst/>
          </a:prstGeom>
          <a:blipFill dpi="0" rotWithShape="1">
            <a:blip r:embed="rId20"/>
            <a:srcRect/>
            <a:stretch>
              <a:fillRect/>
            </a:stretch>
          </a:blipFill>
          <a:ln w="222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Line 26"/>
          <p:cNvSpPr>
            <a:spLocks noChangeShapeType="1"/>
          </p:cNvSpPr>
          <p:nvPr userDrawn="1"/>
        </p:nvSpPr>
        <p:spPr bwMode="auto">
          <a:xfrm>
            <a:off x="0" y="36576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Line 27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29"/>
          <p:cNvSpPr>
            <a:spLocks noChangeArrowheads="1"/>
          </p:cNvSpPr>
          <p:nvPr userDrawn="1"/>
        </p:nvSpPr>
        <p:spPr bwMode="auto">
          <a:xfrm>
            <a:off x="2" y="0"/>
            <a:ext cx="9142413" cy="1447800"/>
          </a:xfrm>
          <a:prstGeom prst="rect">
            <a:avLst/>
          </a:prstGeom>
          <a:gradFill rotWithShape="1">
            <a:gsLst>
              <a:gs pos="0">
                <a:srgbClr val="81CFEB">
                  <a:alpha val="18999"/>
                </a:srgbClr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33"/>
          <p:cNvSpPr>
            <a:spLocks noChangeArrowheads="1"/>
          </p:cNvSpPr>
          <p:nvPr userDrawn="1"/>
        </p:nvSpPr>
        <p:spPr bwMode="auto">
          <a:xfrm>
            <a:off x="0" y="1447800"/>
            <a:ext cx="9144000" cy="1143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" name="Picture 31"/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5626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Line 34"/>
          <p:cNvSpPr>
            <a:spLocks noChangeShapeType="1"/>
          </p:cNvSpPr>
          <p:nvPr userDrawn="1"/>
        </p:nvSpPr>
        <p:spPr bwMode="auto">
          <a:xfrm>
            <a:off x="0" y="2590800"/>
            <a:ext cx="9144000" cy="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6857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73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8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7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19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5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3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0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52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40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5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7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51.bin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62.wmf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6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55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8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73.wmf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1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72.wmf"/><Relationship Id="rId4" Type="http://schemas.openxmlformats.org/officeDocument/2006/relationships/image" Target="../media/image70.wmf"/><Relationship Id="rId9" Type="http://schemas.openxmlformats.org/officeDocument/2006/relationships/oleObject" Target="../embeddings/oleObject6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7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77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80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8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73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7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88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8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91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9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92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93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97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88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101.wmf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99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100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92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95.bin"/><Relationship Id="rId4" Type="http://schemas.openxmlformats.org/officeDocument/2006/relationships/image" Target="../media/image102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08.wmf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09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03.bin"/><Relationship Id="rId10" Type="http://schemas.openxmlformats.org/officeDocument/2006/relationships/image" Target="../media/image113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0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15.wmf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1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9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7.vml"/><Relationship Id="rId4" Type="http://schemas.openxmlformats.org/officeDocument/2006/relationships/image" Target="../media/image11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110.bin"/><Relationship Id="rId7" Type="http://schemas.openxmlformats.org/officeDocument/2006/relationships/oleObject" Target="../embeddings/oleObject112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11.bin"/><Relationship Id="rId10" Type="http://schemas.openxmlformats.org/officeDocument/2006/relationships/image" Target="../media/image117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11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117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9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25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1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1.vml"/><Relationship Id="rId4" Type="http://schemas.openxmlformats.org/officeDocument/2006/relationships/image" Target="../media/image127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2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28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3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12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4.vml"/><Relationship Id="rId4" Type="http://schemas.openxmlformats.org/officeDocument/2006/relationships/image" Target="../media/image130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31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35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34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36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39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143.wmf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42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46.wmf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45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48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5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51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7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54.wmf"/><Relationship Id="rId5" Type="http://schemas.openxmlformats.org/officeDocument/2006/relationships/oleObject" Target="../embeddings/oleObject148.bin"/><Relationship Id="rId4" Type="http://schemas.openxmlformats.org/officeDocument/2006/relationships/image" Target="../media/image153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1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50.bin"/><Relationship Id="rId10" Type="http://schemas.openxmlformats.org/officeDocument/2006/relationships/image" Target="../media/image158.w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52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5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160.wmf"/><Relationship Id="rId5" Type="http://schemas.openxmlformats.org/officeDocument/2006/relationships/oleObject" Target="../embeddings/oleObject154.bin"/><Relationship Id="rId4" Type="http://schemas.openxmlformats.org/officeDocument/2006/relationships/image" Target="../media/image159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66.wmf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163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65.wmf"/><Relationship Id="rId4" Type="http://schemas.openxmlformats.org/officeDocument/2006/relationships/image" Target="../media/image162.w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67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2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69.wmf"/><Relationship Id="rId5" Type="http://schemas.openxmlformats.org/officeDocument/2006/relationships/oleObject" Target="../embeddings/oleObject163.bin"/><Relationship Id="rId4" Type="http://schemas.openxmlformats.org/officeDocument/2006/relationships/image" Target="../media/image168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4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171.wmf"/><Relationship Id="rId5" Type="http://schemas.openxmlformats.org/officeDocument/2006/relationships/oleObject" Target="../embeddings/oleObject165.bin"/><Relationship Id="rId4" Type="http://schemas.openxmlformats.org/officeDocument/2006/relationships/image" Target="../media/image170.w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6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173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72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8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60.vml"/><Relationship Id="rId4" Type="http://schemas.openxmlformats.org/officeDocument/2006/relationships/image" Target="../media/image174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9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61.vml"/><Relationship Id="rId4" Type="http://schemas.openxmlformats.org/officeDocument/2006/relationships/image" Target="../media/image175.wmf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170.bin"/><Relationship Id="rId7" Type="http://schemas.openxmlformats.org/officeDocument/2006/relationships/oleObject" Target="../embeddings/oleObject172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62.v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171.bin"/><Relationship Id="rId4" Type="http://schemas.openxmlformats.org/officeDocument/2006/relationships/image" Target="../media/image176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180.wmf"/><Relationship Id="rId5" Type="http://schemas.openxmlformats.org/officeDocument/2006/relationships/oleObject" Target="../embeddings/oleObject174.bin"/><Relationship Id="rId4" Type="http://schemas.openxmlformats.org/officeDocument/2006/relationships/image" Target="../media/image179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wmf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65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183.wmf"/><Relationship Id="rId5" Type="http://schemas.openxmlformats.org/officeDocument/2006/relationships/oleObject" Target="../embeddings/oleObject177.bin"/><Relationship Id="rId4" Type="http://schemas.openxmlformats.org/officeDocument/2006/relationships/image" Target="../media/image18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2547197" y="3493316"/>
            <a:ext cx="4322226" cy="203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帅天平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数学科学学院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BE0E3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tpshuai@bupt.edu.cn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03416" y="1667211"/>
            <a:ext cx="65319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783" rtl="0" eaLnBrk="0" fontAlgn="ctr" latinLnBrk="0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BBE0E3"/>
              </a:buClr>
              <a:buSzPct val="60000"/>
              <a:buFontTx/>
              <a:buNone/>
              <a:tabLst/>
              <a:defRPr/>
            </a:pPr>
            <a:r>
              <a:rPr lang="zh-CN" altLang="en-US" sz="6000" dirty="0">
                <a:solidFill>
                  <a:prstClr val="black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最优化理论与算法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95285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42875"/>
            <a:ext cx="4495800" cy="838200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600" dirty="0"/>
              <a:t>12 </a:t>
            </a:r>
            <a:r>
              <a:rPr lang="en-US" altLang="zh-CN" sz="3600" dirty="0">
                <a:ea typeface="楷体_GB2312" pitchFamily="49" charset="-122"/>
              </a:rPr>
              <a:t> </a:t>
            </a:r>
            <a:r>
              <a:rPr lang="zh-CN" altLang="en-US" sz="3600" dirty="0">
                <a:ea typeface="楷体_GB2312" pitchFamily="49" charset="-122"/>
              </a:rPr>
              <a:t>可行方向法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4982" y="3798904"/>
            <a:ext cx="8064500" cy="1655763"/>
          </a:xfrm>
          <a:prstGeom prst="rect">
            <a:avLst/>
          </a:prstGeom>
          <a:solidFill>
            <a:srgbClr val="CCFFFF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dirty="0"/>
              <a:t>解约束问题的可行方向法与求解无约束问题的下降算法类似：可行方向法从问题的可行点出发，在该点的可行方向中，寻找使目标函数下降的方向，然后沿该方向进行线性搜索，得到一个新的可行点。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323850" y="981075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SzPct val="80000"/>
              <a:buFontTx/>
              <a:buNone/>
            </a:pPr>
            <a:r>
              <a:rPr lang="zh-CN" altLang="en-US" sz="2800">
                <a:solidFill>
                  <a:srgbClr val="000000"/>
                </a:solidFill>
                <a:latin typeface="Arial" panose="020B0604020202020204" pitchFamily="34" charset="0"/>
              </a:rPr>
              <a:t>求解无约束问题下降算法的过程是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11188" y="1628775"/>
            <a:ext cx="7920037" cy="1728788"/>
            <a:chOff x="431" y="1026"/>
            <a:chExt cx="4989" cy="1089"/>
          </a:xfrm>
        </p:grpSpPr>
        <p:sp>
          <p:nvSpPr>
            <p:cNvPr id="5129" name="Rectangle 13"/>
            <p:cNvSpPr>
              <a:spLocks noChangeArrowheads="1"/>
            </p:cNvSpPr>
            <p:nvPr/>
          </p:nvSpPr>
          <p:spPr bwMode="auto">
            <a:xfrm>
              <a:off x="431" y="1026"/>
              <a:ext cx="4989" cy="1089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graphicFrame>
          <p:nvGraphicFramePr>
            <p:cNvPr id="5130" name="Object 11"/>
            <p:cNvGraphicFramePr>
              <a:graphicFrameLocks noChangeAspect="1"/>
            </p:cNvGraphicFramePr>
            <p:nvPr/>
          </p:nvGraphicFramePr>
          <p:xfrm>
            <a:off x="521" y="1071"/>
            <a:ext cx="4880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0" name="Equation" r:id="rId3" imgW="7747000" imgH="914400" progId="Equation.DSMT4">
                    <p:embed/>
                  </p:oleObj>
                </mc:Choice>
                <mc:Fallback>
                  <p:oleObj name="Equation" r:id="rId3" imgW="7747000" imgH="914400" progId="Equation.DSMT4">
                    <p:embed/>
                    <p:pic>
                      <p:nvPicPr>
                        <p:cNvPr id="513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1071"/>
                          <a:ext cx="4880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" name="Object 12"/>
            <p:cNvGraphicFramePr>
              <a:graphicFrameLocks noChangeAspect="1"/>
            </p:cNvGraphicFramePr>
            <p:nvPr/>
          </p:nvGraphicFramePr>
          <p:xfrm>
            <a:off x="1519" y="1706"/>
            <a:ext cx="2232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1" name="Equation" r:id="rId5" imgW="2565400" imgH="419100" progId="Equation.DSMT4">
                    <p:embed/>
                  </p:oleObj>
                </mc:Choice>
                <mc:Fallback>
                  <p:oleObj name="Equation" r:id="rId5" imgW="2565400" imgH="419100" progId="Equation.DSMT4">
                    <p:embed/>
                    <p:pic>
                      <p:nvPicPr>
                        <p:cNvPr id="513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1706"/>
                          <a:ext cx="2232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 animBg="1"/>
      <p:bldP spid="30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98383" y="173255"/>
            <a:ext cx="5410200" cy="838200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600" dirty="0"/>
              <a:t>1. </a:t>
            </a:r>
            <a:r>
              <a:rPr lang="en-US" altLang="zh-CN" sz="3200" dirty="0" err="1">
                <a:ea typeface="楷体_GB2312" pitchFamily="49" charset="-122"/>
              </a:rPr>
              <a:t>Zoutendijk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可行方向法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9507" y="1164039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/>
              <a:t>1.1 </a:t>
            </a:r>
            <a:r>
              <a:rPr lang="zh-CN" altLang="en-US" sz="2800" dirty="0"/>
              <a:t>线性约束情形</a:t>
            </a: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468313" y="1858963"/>
            <a:ext cx="2279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考虑</a:t>
            </a:r>
            <a:r>
              <a:rPr lang="en-US" altLang="zh-CN" sz="2800"/>
              <a:t>NLP</a:t>
            </a:r>
            <a:r>
              <a:rPr lang="zh-CN" altLang="en-US" sz="2800"/>
              <a:t>问题</a:t>
            </a:r>
          </a:p>
        </p:txBody>
      </p:sp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906463" y="2435225"/>
          <a:ext cx="6502400" cy="257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" name="Equation" r:id="rId3" imgW="6502400" imgH="2578100" progId="Equation.DSMT4">
                  <p:embed/>
                </p:oleObj>
              </mc:Choice>
              <mc:Fallback>
                <p:oleObj name="Equation" r:id="rId3" imgW="6502400" imgH="2578100" progId="Equation.DSMT4">
                  <p:embed/>
                  <p:pic>
                    <p:nvPicPr>
                      <p:cNvPr id="41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2435225"/>
                        <a:ext cx="6502400" cy="257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  <p:bldP spid="410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17634" y="1000325"/>
            <a:ext cx="42672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/>
              <a:t>怎样选择下降可行方向？</a:t>
            </a:r>
          </a:p>
        </p:txBody>
      </p:sp>
      <p:graphicFrame>
        <p:nvGraphicFramePr>
          <p:cNvPr id="51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637777"/>
              </p:ext>
            </p:extLst>
          </p:nvPr>
        </p:nvGraphicFramePr>
        <p:xfrm>
          <a:off x="610001" y="1874069"/>
          <a:ext cx="7162800" cy="321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3" imgW="7162800" imgH="3213100" progId="Equation.DSMT4">
                  <p:embed/>
                </p:oleObj>
              </mc:Choice>
              <mc:Fallback>
                <p:oleObj name="Equation" r:id="rId3" imgW="7162800" imgH="3213100" progId="Equation.DSMT4">
                  <p:embed/>
                  <p:pic>
                    <p:nvPicPr>
                      <p:cNvPr id="51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001" y="1874069"/>
                        <a:ext cx="7162800" cy="32131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4004" y="1071563"/>
            <a:ext cx="8429625" cy="11430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(1)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必要性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设非零向量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   处的可行方向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于是存在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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0,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使得对每个，有</a:t>
            </a:r>
            <a:endParaRPr lang="zh-CN" altLang="en-US" sz="2800" b="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2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171661"/>
              </p:ext>
            </p:extLst>
          </p:nvPr>
        </p:nvGraphicFramePr>
        <p:xfrm>
          <a:off x="4988961" y="1179822"/>
          <a:ext cx="215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" name="Equation" r:id="rId3" imgW="215806" imgH="330057" progId="Equation.DSMT4">
                  <p:embed/>
                </p:oleObj>
              </mc:Choice>
              <mc:Fallback>
                <p:oleObj name="Equation" r:id="rId3" imgW="215806" imgH="330057" progId="Equation.DSMT4">
                  <p:embed/>
                  <p:pic>
                    <p:nvPicPr>
                      <p:cNvPr id="922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8961" y="1179822"/>
                        <a:ext cx="2159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288044"/>
              </p:ext>
            </p:extLst>
          </p:nvPr>
        </p:nvGraphicFramePr>
        <p:xfrm>
          <a:off x="5649561" y="1578878"/>
          <a:ext cx="2489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" name="Equation" r:id="rId5" imgW="2489200" imgH="393700" progId="Equation.DSMT4">
                  <p:embed/>
                </p:oleObj>
              </mc:Choice>
              <mc:Fallback>
                <p:oleObj name="Equation" r:id="rId5" imgW="2489200" imgH="393700" progId="Equation.DSMT4">
                  <p:embed/>
                  <p:pic>
                    <p:nvPicPr>
                      <p:cNvPr id="92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561" y="1578878"/>
                        <a:ext cx="2489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9"/>
          <p:cNvGraphicFramePr>
            <a:graphicFrameLocks noChangeAspect="1"/>
          </p:cNvGraphicFramePr>
          <p:nvPr/>
        </p:nvGraphicFramePr>
        <p:xfrm>
          <a:off x="285750" y="2000250"/>
          <a:ext cx="58547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0" name="Equation" r:id="rId7" imgW="5854700" imgH="1485900" progId="Equation.DSMT4">
                  <p:embed/>
                </p:oleObj>
              </mc:Choice>
              <mc:Fallback>
                <p:oleObj name="Equation" r:id="rId7" imgW="5854700" imgH="1485900" progId="Equation.DSMT4">
                  <p:embed/>
                  <p:pic>
                    <p:nvPicPr>
                      <p:cNvPr id="61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" y="2000250"/>
                        <a:ext cx="5854700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285750" y="342900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由于</a:t>
            </a:r>
          </a:p>
        </p:txBody>
      </p:sp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1500188" y="3857625"/>
          <a:ext cx="6019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1" name="Equation" r:id="rId9" imgW="6019800" imgH="1016000" progId="Equation.DSMT4">
                  <p:embed/>
                </p:oleObj>
              </mc:Choice>
              <mc:Fallback>
                <p:oleObj name="Equation" r:id="rId9" imgW="6019800" imgH="1016000" progId="Equation.DSMT4">
                  <p:embed/>
                  <p:pic>
                    <p:nvPicPr>
                      <p:cNvPr id="61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3857625"/>
                        <a:ext cx="6019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500063" y="457200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因此</a:t>
            </a:r>
          </a:p>
        </p:txBody>
      </p:sp>
      <p:graphicFrame>
        <p:nvGraphicFramePr>
          <p:cNvPr id="6157" name="Object 13"/>
          <p:cNvGraphicFramePr>
            <a:graphicFrameLocks noChangeAspect="1"/>
          </p:cNvGraphicFramePr>
          <p:nvPr/>
        </p:nvGraphicFramePr>
        <p:xfrm>
          <a:off x="2057400" y="5029200"/>
          <a:ext cx="4902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" name="Equation" r:id="rId11" imgW="4902200" imgH="1016000" progId="Equation.DSMT4">
                  <p:embed/>
                </p:oleObj>
              </mc:Choice>
              <mc:Fallback>
                <p:oleObj name="Equation" r:id="rId11" imgW="4902200" imgH="1016000" progId="Equation.DSMT4">
                  <p:embed/>
                  <p:pic>
                    <p:nvPicPr>
                      <p:cNvPr id="615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029200"/>
                        <a:ext cx="4902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6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6154" grpId="0"/>
      <p:bldP spid="61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96766" y="1057174"/>
            <a:ext cx="5154613" cy="530225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注意到</a:t>
            </a:r>
            <a:r>
              <a:rPr lang="zh-CN" altLang="en-US" sz="2800" b="0" dirty="0">
                <a:sym typeface="Symbol" panose="05050102010706020507" pitchFamily="18" charset="2"/>
              </a:rPr>
              <a:t></a:t>
            </a:r>
            <a:r>
              <a:rPr lang="en-US" altLang="zh-CN" sz="2800" b="0" dirty="0">
                <a:sym typeface="Symbol" panose="05050102010706020507" pitchFamily="18" charset="2"/>
              </a:rPr>
              <a:t>&gt;0,</a:t>
            </a:r>
            <a:r>
              <a:rPr lang="zh-CN" altLang="en-US" sz="2800" b="0" dirty="0">
                <a:sym typeface="Symbol" panose="05050102010706020507" pitchFamily="18" charset="2"/>
              </a:rPr>
              <a:t>故有</a:t>
            </a:r>
            <a:endParaRPr lang="zh-CN" altLang="en-US" sz="2800" b="0" dirty="0"/>
          </a:p>
        </p:txBody>
      </p:sp>
      <p:graphicFrame>
        <p:nvGraphicFramePr>
          <p:cNvPr id="81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423281"/>
              </p:ext>
            </p:extLst>
          </p:nvPr>
        </p:nvGraphicFramePr>
        <p:xfrm>
          <a:off x="4016943" y="1133375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" name="Equation" r:id="rId3" imgW="1079032" imgH="431613" progId="Equation.DSMT4">
                  <p:embed/>
                </p:oleObj>
              </mc:Choice>
              <mc:Fallback>
                <p:oleObj name="Equation" r:id="rId3" imgW="1079032" imgH="431613" progId="Equation.DSMT4">
                  <p:embed/>
                  <p:pic>
                    <p:nvPicPr>
                      <p:cNvPr id="81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6943" y="1133375"/>
                        <a:ext cx="107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554941" y="1700213"/>
            <a:ext cx="3240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 dirty="0">
                <a:sym typeface="Symbol" panose="05050102010706020507" pitchFamily="18" charset="2"/>
              </a:rPr>
              <a:t>又由</a:t>
            </a:r>
            <a:r>
              <a:rPr lang="en-US" altLang="zh-CN" sz="2800" dirty="0">
                <a:sym typeface="Symbol" panose="05050102010706020507" pitchFamily="18" charset="2"/>
              </a:rPr>
              <a:t>(12.1.3)</a:t>
            </a:r>
            <a:r>
              <a:rPr lang="zh-CN" altLang="en-US" sz="2800" dirty="0">
                <a:sym typeface="Symbol" panose="05050102010706020507" pitchFamily="18" charset="2"/>
              </a:rPr>
              <a:t>得 </a:t>
            </a:r>
            <a:r>
              <a:rPr lang="en-US" altLang="zh-CN" sz="2800" i="1" dirty="0">
                <a:sym typeface="Symbol" panose="05050102010706020507" pitchFamily="18" charset="2"/>
              </a:rPr>
              <a:t>Ed</a:t>
            </a:r>
            <a:r>
              <a:rPr lang="en-US" altLang="zh-CN" sz="2800" dirty="0">
                <a:sym typeface="Symbol" panose="05050102010706020507" pitchFamily="18" charset="2"/>
              </a:rPr>
              <a:t>=0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285750" y="2357438"/>
            <a:ext cx="25193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（</a:t>
            </a:r>
            <a:r>
              <a:rPr lang="en-US" altLang="zh-CN" sz="2800">
                <a:sym typeface="Symbol" panose="05050102010706020507" pitchFamily="18" charset="2"/>
              </a:rPr>
              <a:t>2</a:t>
            </a:r>
            <a:r>
              <a:rPr lang="zh-CN" altLang="en-US" sz="2800">
                <a:sym typeface="Symbol" panose="05050102010706020507" pitchFamily="18" charset="2"/>
              </a:rPr>
              <a:t>）充分性。</a:t>
            </a:r>
          </a:p>
        </p:txBody>
      </p: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2362200" y="2971800"/>
          <a:ext cx="411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" name="Equation" r:id="rId5" imgW="4114800" imgH="431800" progId="Equation.DSMT4">
                  <p:embed/>
                </p:oleObj>
              </mc:Choice>
              <mc:Fallback>
                <p:oleObj name="Equation" r:id="rId5" imgW="4114800" imgH="431800" progId="Equation.DSMT4">
                  <p:embed/>
                  <p:pic>
                    <p:nvPicPr>
                      <p:cNvPr id="8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971800"/>
                        <a:ext cx="4114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609600" y="3657600"/>
          <a:ext cx="754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" name="Equation" r:id="rId7" imgW="7543800" imgH="457200" progId="Equation.DSMT4">
                  <p:embed/>
                </p:oleObj>
              </mc:Choice>
              <mc:Fallback>
                <p:oleObj name="Equation" r:id="rId7" imgW="7543800" imgH="457200" progId="Equation.DSMT4">
                  <p:embed/>
                  <p:pic>
                    <p:nvPicPr>
                      <p:cNvPr id="8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657600"/>
                        <a:ext cx="7543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2209800" y="4267200"/>
          <a:ext cx="452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7" name="Equation" r:id="rId9" imgW="4521200" imgH="431800" progId="Equation.DSMT4">
                  <p:embed/>
                </p:oleObj>
              </mc:Choice>
              <mc:Fallback>
                <p:oleObj name="Equation" r:id="rId9" imgW="4521200" imgH="431800" progId="Equation.DSMT4">
                  <p:embed/>
                  <p:pic>
                    <p:nvPicPr>
                      <p:cNvPr id="820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267200"/>
                        <a:ext cx="4521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533400" y="4876800"/>
          <a:ext cx="4483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8" name="Equation" r:id="rId11" imgW="4483100" imgH="444500" progId="Equation.DSMT4">
                  <p:embed/>
                </p:oleObj>
              </mc:Choice>
              <mc:Fallback>
                <p:oleObj name="Equation" r:id="rId11" imgW="4483100" imgH="444500" progId="Equation.DSMT4">
                  <p:embed/>
                  <p:pic>
                    <p:nvPicPr>
                      <p:cNvPr id="82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876800"/>
                        <a:ext cx="4483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4" name="Object 12"/>
          <p:cNvGraphicFramePr>
            <a:graphicFrameLocks noChangeAspect="1"/>
          </p:cNvGraphicFramePr>
          <p:nvPr/>
        </p:nvGraphicFramePr>
        <p:xfrm>
          <a:off x="2057400" y="5486400"/>
          <a:ext cx="4089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9" name="Equation" r:id="rId13" imgW="4089400" imgH="431800" progId="Equation.DSMT4">
                  <p:embed/>
                </p:oleObj>
              </mc:Choice>
              <mc:Fallback>
                <p:oleObj name="Equation" r:id="rId13" imgW="4089400" imgH="431800" progId="Equation.DSMT4">
                  <p:embed/>
                  <p:pic>
                    <p:nvPicPr>
                      <p:cNvPr id="820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486400"/>
                        <a:ext cx="4089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Rectangle 13"/>
          <p:cNvSpPr>
            <a:spLocks noChangeArrowheads="1"/>
          </p:cNvSpPr>
          <p:nvPr/>
        </p:nvSpPr>
        <p:spPr bwMode="auto">
          <a:xfrm>
            <a:off x="2700338" y="2349500"/>
            <a:ext cx="636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ym typeface="Symbol" panose="05050102010706020507" pitchFamily="18" charset="2"/>
              </a:rPr>
              <a:t>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  <p:bldP spid="8198" grpId="0"/>
      <p:bldP spid="8199" grpId="0"/>
      <p:bldP spid="820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5760" y="1066800"/>
            <a:ext cx="7561263" cy="4445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(12.1.6)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(12.1.7)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9221" name="Object 5"/>
          <p:cNvGraphicFramePr>
            <a:graphicFrameLocks noChangeAspect="1"/>
          </p:cNvGraphicFramePr>
          <p:nvPr/>
        </p:nvGraphicFramePr>
        <p:xfrm>
          <a:off x="2057400" y="1676400"/>
          <a:ext cx="3937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name="Equation" r:id="rId3" imgW="3937000" imgH="406400" progId="Equation.DSMT4">
                  <p:embed/>
                </p:oleObj>
              </mc:Choice>
              <mc:Fallback>
                <p:oleObj name="Equation" r:id="rId3" imgW="3937000" imgH="406400" progId="Equation.DSMT4">
                  <p:embed/>
                  <p:pic>
                    <p:nvPicPr>
                      <p:cNvPr id="9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1676400"/>
                        <a:ext cx="3937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6"/>
          <p:cNvGraphicFramePr>
            <a:graphicFrameLocks noChangeAspect="1"/>
          </p:cNvGraphicFramePr>
          <p:nvPr/>
        </p:nvGraphicFramePr>
        <p:xfrm>
          <a:off x="762000" y="2133600"/>
          <a:ext cx="50927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name="Equation" r:id="rId5" imgW="5092700" imgH="965200" progId="Equation.DSMT4">
                  <p:embed/>
                </p:oleObj>
              </mc:Choice>
              <mc:Fallback>
                <p:oleObj name="Equation" r:id="rId5" imgW="5092700" imgH="965200" progId="Equation.DSMT4">
                  <p:embed/>
                  <p:pic>
                    <p:nvPicPr>
                      <p:cNvPr id="922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133600"/>
                        <a:ext cx="50927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886310"/>
              </p:ext>
            </p:extLst>
          </p:nvPr>
        </p:nvGraphicFramePr>
        <p:xfrm>
          <a:off x="410678" y="3317775"/>
          <a:ext cx="8153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6" name="Equation" r:id="rId7" imgW="8153280" imgH="444240" progId="Equation.DSMT4">
                  <p:embed/>
                </p:oleObj>
              </mc:Choice>
              <mc:Fallback>
                <p:oleObj name="Equation" r:id="rId7" imgW="8153280" imgH="444240" progId="Equation.DSMT4">
                  <p:embed/>
                  <p:pic>
                    <p:nvPicPr>
                      <p:cNvPr id="92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678" y="3317775"/>
                        <a:ext cx="8153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5466715"/>
              </p:ext>
            </p:extLst>
          </p:nvPr>
        </p:nvGraphicFramePr>
        <p:xfrm>
          <a:off x="705853" y="4106177"/>
          <a:ext cx="5080000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7" name="Equation" r:id="rId9" imgW="5079960" imgH="1574640" progId="Equation.DSMT4">
                  <p:embed/>
                </p:oleObj>
              </mc:Choice>
              <mc:Fallback>
                <p:oleObj name="Equation" r:id="rId9" imgW="5079960" imgH="1574640" progId="Equation.DSMT4">
                  <p:embed/>
                  <p:pic>
                    <p:nvPicPr>
                      <p:cNvPr id="92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853" y="4106177"/>
                        <a:ext cx="5080000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9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90888" y="917759"/>
            <a:ext cx="7315200" cy="6096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Zoutendijk</a:t>
            </a: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法把确定搜索方向归结为求解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LP:</a:t>
            </a:r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611188" y="1628775"/>
          <a:ext cx="7150100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2" name="Equation" r:id="rId3" imgW="7150100" imgH="2235200" progId="Equation.DSMT4">
                  <p:embed/>
                </p:oleObj>
              </mc:Choice>
              <mc:Fallback>
                <p:oleObj name="Equation" r:id="rId3" imgW="7150100" imgH="2235200" progId="Equation.DSMT4">
                  <p:embed/>
                  <p:pic>
                    <p:nvPicPr>
                      <p:cNvPr id="102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7150100" cy="22352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762000" y="4191000"/>
            <a:ext cx="7315200" cy="1373188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显然</a:t>
            </a:r>
            <a:r>
              <a:rPr lang="en-US" altLang="zh-CN" sz="2800" i="1"/>
              <a:t>d</a:t>
            </a:r>
            <a:r>
              <a:rPr lang="en-US" altLang="zh-CN" sz="2800"/>
              <a:t>=0</a:t>
            </a:r>
            <a:r>
              <a:rPr lang="zh-CN" altLang="en-US" sz="2800"/>
              <a:t>是可行解。由此可知</a:t>
            </a:r>
            <a:r>
              <a:rPr lang="en-US" altLang="zh-CN" sz="2800"/>
              <a:t>,</a:t>
            </a:r>
            <a:r>
              <a:rPr lang="zh-CN" altLang="en-US" sz="2800"/>
              <a:t>目标函数的最优值必小于等于</a:t>
            </a:r>
            <a:r>
              <a:rPr lang="en-US" altLang="zh-CN" sz="2800"/>
              <a:t>0</a:t>
            </a:r>
            <a:r>
              <a:rPr lang="zh-CN" altLang="en-US" sz="2800"/>
              <a:t>。若最优值小于</a:t>
            </a:r>
            <a:r>
              <a:rPr lang="en-US" altLang="zh-CN" sz="2800"/>
              <a:t>0</a:t>
            </a:r>
            <a:r>
              <a:rPr lang="zh-CN" altLang="en-US" sz="2800"/>
              <a:t>，则可得下降可行方向</a:t>
            </a:r>
            <a:r>
              <a:rPr lang="en-US" altLang="zh-CN" sz="2800" i="1"/>
              <a:t>d,</a:t>
            </a:r>
            <a:r>
              <a:rPr lang="zh-CN" altLang="en-US" sz="2800"/>
              <a:t>否则我们可证</a:t>
            </a:r>
            <a:r>
              <a:rPr lang="en-US" altLang="zh-CN" sz="2800" i="1"/>
              <a:t>x</a:t>
            </a:r>
            <a:r>
              <a:rPr lang="zh-CN" altLang="en-US" sz="2800"/>
              <a:t>是</a:t>
            </a:r>
            <a:r>
              <a:rPr lang="en-US" altLang="zh-CN" sz="2800"/>
              <a:t>KKT</a:t>
            </a:r>
            <a:r>
              <a:rPr lang="zh-CN" altLang="en-US" sz="2800"/>
              <a:t>点</a:t>
            </a:r>
            <a:r>
              <a:rPr lang="en-US" altLang="zh-CN" sz="28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102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41960" y="4497405"/>
            <a:ext cx="8153400" cy="9906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根据定义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KKT</a:t>
            </a: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点的充要条件是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b="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</a:t>
            </a: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和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endParaRPr lang="zh-CN" altLang="en-US" sz="28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269" name="Object 5"/>
          <p:cNvGraphicFramePr>
            <a:graphicFrameLocks noChangeAspect="1"/>
          </p:cNvGraphicFramePr>
          <p:nvPr/>
        </p:nvGraphicFramePr>
        <p:xfrm>
          <a:off x="539750" y="981075"/>
          <a:ext cx="7785100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8" name="Equation" r:id="rId3" imgW="7785100" imgH="3200400" progId="Equation.DSMT4">
                  <p:embed/>
                </p:oleObj>
              </mc:Choice>
              <mc:Fallback>
                <p:oleObj name="Equation" r:id="rId3" imgW="7785100" imgH="3200400" progId="Equation.DSMT4">
                  <p:embed/>
                  <p:pic>
                    <p:nvPicPr>
                      <p:cNvPr id="11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981075"/>
                        <a:ext cx="7785100" cy="320040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247016"/>
              </p:ext>
            </p:extLst>
          </p:nvPr>
        </p:nvGraphicFramePr>
        <p:xfrm>
          <a:off x="1973179" y="5317155"/>
          <a:ext cx="5308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9" name="Equation" r:id="rId5" imgW="5308600" imgH="469900" progId="Equation.DSMT4">
                  <p:embed/>
                </p:oleObj>
              </mc:Choice>
              <mc:Fallback>
                <p:oleObj name="Equation" r:id="rId5" imgW="5308600" imgH="469900" progId="Equation.DSMT4">
                  <p:embed/>
                  <p:pic>
                    <p:nvPicPr>
                      <p:cNvPr id="11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179" y="5317155"/>
                        <a:ext cx="5308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3512" y="856649"/>
            <a:ext cx="5715000" cy="8382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令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b="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zh-CN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. 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(12.1.11)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写成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2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052395"/>
              </p:ext>
            </p:extLst>
          </p:nvPr>
        </p:nvGraphicFramePr>
        <p:xfrm>
          <a:off x="1286577" y="1524000"/>
          <a:ext cx="60706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2" name="Equation" r:id="rId3" imgW="6070600" imgH="2133600" progId="Equation.DSMT4">
                  <p:embed/>
                </p:oleObj>
              </mc:Choice>
              <mc:Fallback>
                <p:oleObj name="Equation" r:id="rId3" imgW="6070600" imgH="2133600" progId="Equation.DSMT4">
                  <p:embed/>
                  <p:pic>
                    <p:nvPicPr>
                      <p:cNvPr id="122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6577" y="1524000"/>
                        <a:ext cx="60706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838200" y="3962400"/>
            <a:ext cx="7296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根据</a:t>
            </a:r>
            <a:r>
              <a:rPr lang="en-US" altLang="zh-CN" sz="2800">
                <a:sym typeface="Symbol" panose="05050102010706020507" pitchFamily="18" charset="2"/>
              </a:rPr>
              <a:t>Farkars</a:t>
            </a:r>
            <a:r>
              <a:rPr lang="zh-CN" altLang="en-US" sz="2800">
                <a:sym typeface="Symbol" panose="05050102010706020507" pitchFamily="18" charset="2"/>
              </a:rPr>
              <a:t>定理，上述方程有解的充要条件是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1752600" y="4724400"/>
            <a:ext cx="5527675" cy="1052513"/>
            <a:chOff x="1104" y="2976"/>
            <a:chExt cx="3482" cy="663"/>
          </a:xfrm>
        </p:grpSpPr>
        <p:graphicFrame>
          <p:nvGraphicFramePr>
            <p:cNvPr id="14347" name="Object 9"/>
            <p:cNvGraphicFramePr>
              <a:graphicFrameLocks noChangeAspect="1"/>
            </p:cNvGraphicFramePr>
            <p:nvPr/>
          </p:nvGraphicFramePr>
          <p:xfrm>
            <a:off x="1104" y="2976"/>
            <a:ext cx="3016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63" name="Equation" r:id="rId5" imgW="4787900" imgH="469900" progId="Equation.DSMT4">
                    <p:embed/>
                  </p:oleObj>
                </mc:Choice>
                <mc:Fallback>
                  <p:oleObj name="Equation" r:id="rId5" imgW="4787900" imgH="469900" progId="Equation.DSMT4">
                    <p:embed/>
                    <p:pic>
                      <p:nvPicPr>
                        <p:cNvPr id="1434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2976"/>
                          <a:ext cx="3016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8" name="Rectangle 10"/>
            <p:cNvSpPr>
              <a:spLocks noChangeArrowheads="1"/>
            </p:cNvSpPr>
            <p:nvPr/>
          </p:nvSpPr>
          <p:spPr bwMode="auto">
            <a:xfrm>
              <a:off x="3648" y="3312"/>
              <a:ext cx="93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ym typeface="Symbol" panose="05050102010706020507" pitchFamily="18" charset="2"/>
                </a:rPr>
                <a:t>(12.1.13)</a:t>
              </a:r>
            </a:p>
          </p:txBody>
        </p:sp>
      </p:grp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762000" y="5334000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无解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  <p:bldP spid="12295" grpId="0"/>
      <p:bldP spid="1230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04261" y="946551"/>
            <a:ext cx="914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即</a:t>
            </a:r>
          </a:p>
        </p:txBody>
      </p:sp>
      <p:graphicFrame>
        <p:nvGraphicFramePr>
          <p:cNvPr id="13318" name="Object 6"/>
          <p:cNvGraphicFramePr>
            <a:graphicFrameLocks noChangeAspect="1"/>
          </p:cNvGraphicFramePr>
          <p:nvPr/>
        </p:nvGraphicFramePr>
        <p:xfrm>
          <a:off x="1692275" y="1196975"/>
          <a:ext cx="46085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name="Equation" r:id="rId3" imgW="4787900" imgH="469900" progId="Equation.DSMT4">
                  <p:embed/>
                </p:oleObj>
              </mc:Choice>
              <mc:Fallback>
                <p:oleObj name="Equation" r:id="rId3" imgW="4787900" imgH="469900" progId="Equation.DSMT4">
                  <p:embed/>
                  <p:pic>
                    <p:nvPicPr>
                      <p:cNvPr id="1331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196975"/>
                        <a:ext cx="460851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468313" y="1844675"/>
            <a:ext cx="77120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所以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zh-CN" altLang="en-US" sz="2800">
                <a:sym typeface="Symbol" panose="05050102010706020507" pitchFamily="18" charset="2"/>
              </a:rPr>
              <a:t>为</a:t>
            </a:r>
            <a:r>
              <a:rPr lang="en-US" altLang="zh-CN" sz="2800">
                <a:sym typeface="Symbol" panose="05050102010706020507" pitchFamily="18" charset="2"/>
              </a:rPr>
              <a:t>KKT</a:t>
            </a:r>
            <a:r>
              <a:rPr lang="zh-CN" altLang="en-US" sz="2800">
                <a:sym typeface="Symbol" panose="05050102010706020507" pitchFamily="18" charset="2"/>
              </a:rPr>
              <a:t>点的充要条件是问题</a:t>
            </a:r>
            <a:r>
              <a:rPr lang="en-US" altLang="zh-CN" sz="2800">
                <a:sym typeface="Symbol" panose="05050102010706020507" pitchFamily="18" charset="2"/>
              </a:rPr>
              <a:t>(12.1.10)</a:t>
            </a:r>
            <a:r>
              <a:rPr lang="zh-CN" altLang="en-US" sz="2800">
                <a:sym typeface="Symbol" panose="05050102010706020507" pitchFamily="18" charset="2"/>
              </a:rPr>
              <a:t>的目标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函数最优值为</a:t>
            </a:r>
            <a:r>
              <a:rPr lang="en-US" altLang="zh-CN" sz="2800">
                <a:sym typeface="Symbol" panose="05050102010706020507" pitchFamily="18" charset="2"/>
              </a:rPr>
              <a:t>0</a:t>
            </a:r>
            <a:r>
              <a:rPr lang="zh-CN" altLang="en-US" sz="280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39750" y="2852738"/>
            <a:ext cx="7534275" cy="946150"/>
          </a:xfrm>
          <a:prstGeom prst="rect">
            <a:avLst/>
          </a:prstGeom>
          <a:solidFill>
            <a:srgbClr val="CC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根据上述定理，求解问题</a:t>
            </a:r>
            <a:r>
              <a:rPr lang="en-US" altLang="zh-CN" sz="2800"/>
              <a:t>(12.1.10)</a:t>
            </a:r>
            <a:r>
              <a:rPr lang="zh-CN" altLang="en-US" sz="2800"/>
              <a:t>的结果或者是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得到下降可行方向，或者得到</a:t>
            </a:r>
            <a:r>
              <a:rPr lang="en-US" altLang="zh-CN" sz="2800"/>
              <a:t>KKT</a:t>
            </a:r>
            <a:r>
              <a:rPr lang="zh-CN" altLang="en-US" sz="2800"/>
              <a:t>点。</a:t>
            </a:r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539750" y="3860800"/>
            <a:ext cx="447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怎样确定一维搜索的步长？</a:t>
            </a:r>
          </a:p>
        </p:txBody>
      </p:sp>
      <p:graphicFrame>
        <p:nvGraphicFramePr>
          <p:cNvPr id="13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095857"/>
              </p:ext>
            </p:extLst>
          </p:nvPr>
        </p:nvGraphicFramePr>
        <p:xfrm>
          <a:off x="442327" y="4408187"/>
          <a:ext cx="8378825" cy="159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Equation" r:id="rId5" imgW="8610480" imgH="1638000" progId="Equation.DSMT4">
                  <p:embed/>
                </p:oleObj>
              </mc:Choice>
              <mc:Fallback>
                <p:oleObj name="Equation" r:id="rId5" imgW="8610480" imgH="1638000" progId="Equation.DSMT4">
                  <p:embed/>
                  <p:pic>
                    <p:nvPicPr>
                      <p:cNvPr id="133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327" y="4408187"/>
                        <a:ext cx="8378825" cy="159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3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3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  <p:bldP spid="13319" grpId="0"/>
      <p:bldP spid="13320" grpId="0" animBg="1"/>
      <p:bldP spid="133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8523" y="2143225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第二，使目标函数值尽可能减小。</a:t>
            </a: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395288" y="1052513"/>
          <a:ext cx="53086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name="Equation" r:id="rId3" imgW="5207000" imgH="444500" progId="Equation.DSMT4">
                  <p:embed/>
                </p:oleObj>
              </mc:Choice>
              <mc:Fallback>
                <p:oleObj name="Equation" r:id="rId3" imgW="5207000" imgH="444500" progId="Equation.DSMT4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052513"/>
                        <a:ext cx="53086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2218877"/>
              </p:ext>
            </p:extLst>
          </p:nvPr>
        </p:nvGraphicFramePr>
        <p:xfrm>
          <a:off x="920750" y="1557338"/>
          <a:ext cx="6108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3" name="Equation" r:id="rId5" imgW="6108480" imgH="469800" progId="Equation.DSMT4">
                  <p:embed/>
                </p:oleObj>
              </mc:Choice>
              <mc:Fallback>
                <p:oleObj name="Equation" r:id="rId5" imgW="6108480" imgH="469800" progId="Equation.DSMT4">
                  <p:embed/>
                  <p:pic>
                    <p:nvPicPr>
                      <p:cNvPr id="1434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1557338"/>
                        <a:ext cx="6108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Rectangle 8"/>
          <p:cNvSpPr>
            <a:spLocks noChangeArrowheads="1"/>
          </p:cNvSpPr>
          <p:nvPr/>
        </p:nvSpPr>
        <p:spPr bwMode="auto">
          <a:xfrm>
            <a:off x="323850" y="2708275"/>
            <a:ext cx="82819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/>
              <a:t>根据上述原则</a:t>
            </a:r>
            <a:r>
              <a:rPr lang="en-US" altLang="zh-CN" sz="2800"/>
              <a:t>,</a:t>
            </a:r>
            <a:r>
              <a:rPr lang="zh-CN" altLang="en-US" sz="2800"/>
              <a:t>可以通过求解下列一维搜索问题来确定步长：</a:t>
            </a:r>
          </a:p>
        </p:txBody>
      </p:sp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1619250" y="3357563"/>
          <a:ext cx="6096000" cy="20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4" name="Equation" r:id="rId7" imgW="6096000" imgH="2082800" progId="Equation.DSMT4">
                  <p:embed/>
                </p:oleObj>
              </mc:Choice>
              <mc:Fallback>
                <p:oleObj name="Equation" r:id="rId7" imgW="6096000" imgH="2082800" progId="Equation.DSMT4">
                  <p:embed/>
                  <p:pic>
                    <p:nvPicPr>
                      <p:cNvPr id="1434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357563"/>
                        <a:ext cx="6096000" cy="208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4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  <p:bldP spid="143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5760" y="956177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问题</a:t>
            </a:r>
            <a:r>
              <a:rPr lang="en-US" altLang="zh-CN" sz="2800" b="0" dirty="0"/>
              <a:t>(12.1.15)</a:t>
            </a:r>
            <a:r>
              <a:rPr lang="zh-CN" altLang="en-US" sz="2800" b="0" dirty="0"/>
              <a:t>可作进一步简化。</a:t>
            </a:r>
          </a:p>
        </p:txBody>
      </p:sp>
      <p:graphicFrame>
        <p:nvGraphicFramePr>
          <p:cNvPr id="15365" name="Object 5"/>
          <p:cNvGraphicFramePr>
            <a:graphicFrameLocks noChangeAspect="1"/>
          </p:cNvGraphicFramePr>
          <p:nvPr/>
        </p:nvGraphicFramePr>
        <p:xfrm>
          <a:off x="611188" y="1484313"/>
          <a:ext cx="4000500" cy="153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6" name="Equation" r:id="rId3" imgW="4000500" imgH="1536700" progId="Equation.DSMT4">
                  <p:embed/>
                </p:oleObj>
              </mc:Choice>
              <mc:Fallback>
                <p:oleObj name="Equation" r:id="rId3" imgW="4000500" imgH="1536700" progId="Equation.DSMT4">
                  <p:embed/>
                  <p:pic>
                    <p:nvPicPr>
                      <p:cNvPr id="1536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484313"/>
                        <a:ext cx="4000500" cy="153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323850" y="2997200"/>
            <a:ext cx="5667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因此</a:t>
            </a:r>
            <a:r>
              <a:rPr lang="en-US" altLang="zh-CN" sz="2800"/>
              <a:t>,(12.1.15)</a:t>
            </a:r>
            <a:r>
              <a:rPr lang="zh-CN" altLang="en-US" sz="2800"/>
              <a:t>中第</a:t>
            </a:r>
            <a:r>
              <a:rPr lang="en-US" altLang="zh-CN" sz="2800"/>
              <a:t>2</a:t>
            </a:r>
            <a:r>
              <a:rPr lang="zh-CN" altLang="en-US" sz="2800"/>
              <a:t>个约束是多余的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39750" y="3716338"/>
            <a:ext cx="7429500" cy="1931987"/>
            <a:chOff x="340" y="2341"/>
            <a:chExt cx="4680" cy="1217"/>
          </a:xfrm>
        </p:grpSpPr>
        <p:graphicFrame>
          <p:nvGraphicFramePr>
            <p:cNvPr id="17418" name="Object 8"/>
            <p:cNvGraphicFramePr>
              <a:graphicFrameLocks noChangeAspect="1"/>
            </p:cNvGraphicFramePr>
            <p:nvPr/>
          </p:nvGraphicFramePr>
          <p:xfrm>
            <a:off x="340" y="2341"/>
            <a:ext cx="4680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7" name="Equation" r:id="rId5" imgW="7429500" imgH="1066800" progId="Equation.DSMT4">
                    <p:embed/>
                  </p:oleObj>
                </mc:Choice>
                <mc:Fallback>
                  <p:oleObj name="Equation" r:id="rId5" imgW="7429500" imgH="1066800" progId="Equation.DSMT4">
                    <p:embed/>
                    <p:pic>
                      <p:nvPicPr>
                        <p:cNvPr id="17418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" y="2341"/>
                          <a:ext cx="4680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9" name="Object 10"/>
            <p:cNvGraphicFramePr>
              <a:graphicFrameLocks noChangeAspect="1"/>
            </p:cNvGraphicFramePr>
            <p:nvPr/>
          </p:nvGraphicFramePr>
          <p:xfrm>
            <a:off x="1927" y="2886"/>
            <a:ext cx="2528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58" name="Equation" r:id="rId7" imgW="4013200" imgH="1066800" progId="Equation.DSMT4">
                    <p:embed/>
                  </p:oleObj>
                </mc:Choice>
                <mc:Fallback>
                  <p:oleObj name="Equation" r:id="rId7" imgW="4013200" imgH="1066800" progId="Equation.DSMT4">
                    <p:embed/>
                    <p:pic>
                      <p:nvPicPr>
                        <p:cNvPr id="1741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2886"/>
                          <a:ext cx="2528" cy="6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1536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-1" y="908050"/>
            <a:ext cx="7036067" cy="612742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于是</a:t>
            </a:r>
            <a:r>
              <a:rPr lang="en-US" altLang="zh-CN" sz="2800" b="0" dirty="0"/>
              <a:t>,(12.1.15)</a:t>
            </a:r>
            <a:r>
              <a:rPr lang="zh-CN" altLang="en-US" sz="2800" b="0" dirty="0"/>
              <a:t>中第</a:t>
            </a:r>
            <a:r>
              <a:rPr lang="en-US" altLang="zh-CN" sz="2800" b="0" dirty="0"/>
              <a:t>1</a:t>
            </a:r>
            <a:r>
              <a:rPr lang="zh-CN" altLang="en-US" sz="2800" b="0" dirty="0"/>
              <a:t>个约束可写成：</a:t>
            </a:r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1619250" y="1412875"/>
          <a:ext cx="59817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2" name="Equation" r:id="rId3" imgW="5981700" imgH="1066800" progId="Equation.DSMT4">
                  <p:embed/>
                </p:oleObj>
              </mc:Choice>
              <mc:Fallback>
                <p:oleObj name="Equation" r:id="rId3" imgW="5981700" imgH="1066800" progId="Equation.DSMT4">
                  <p:embed/>
                  <p:pic>
                    <p:nvPicPr>
                      <p:cNvPr id="163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412875"/>
                        <a:ext cx="59817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539750" y="2636838"/>
          <a:ext cx="7175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3" name="Equation" r:id="rId5" imgW="7175500" imgH="469900" progId="Equation.DSMT4">
                  <p:embed/>
                </p:oleObj>
              </mc:Choice>
              <mc:Fallback>
                <p:oleObj name="Equation" r:id="rId5" imgW="7175500" imgH="469900" progId="Equation.DSMT4">
                  <p:embed/>
                  <p:pic>
                    <p:nvPicPr>
                      <p:cNvPr id="1639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636838"/>
                        <a:ext cx="7175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468313" y="3429000"/>
          <a:ext cx="2781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4" name="Equation" r:id="rId7" imgW="2781300" imgH="469900" progId="Equation.DSMT4">
                  <p:embed/>
                </p:oleObj>
              </mc:Choice>
              <mc:Fallback>
                <p:oleObj name="Equation" r:id="rId7" imgW="2781300" imgH="469900" progId="Equation.DSMT4">
                  <p:embed/>
                  <p:pic>
                    <p:nvPicPr>
                      <p:cNvPr id="163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429000"/>
                        <a:ext cx="2781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3419475" y="3500438"/>
            <a:ext cx="244792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800"/>
              <a:t>自然成立。</a:t>
            </a:r>
          </a:p>
        </p:txBody>
      </p:sp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2195513" y="4868863"/>
          <a:ext cx="4864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5" name="Equation" r:id="rId9" imgW="4864100" imgH="469900" progId="Equation.DSMT4">
                  <p:embed/>
                </p:oleObj>
              </mc:Choice>
              <mc:Fallback>
                <p:oleObj name="Equation" r:id="rId9" imgW="4864100" imgH="469900" progId="Equation.DSMT4">
                  <p:embed/>
                  <p:pic>
                    <p:nvPicPr>
                      <p:cNvPr id="163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868863"/>
                        <a:ext cx="4864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611188" y="4221163"/>
            <a:ext cx="2520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约束</a:t>
            </a:r>
            <a:r>
              <a:rPr lang="en-US" altLang="zh-CN" sz="2400"/>
              <a:t>(12.1.19)</a:t>
            </a:r>
            <a:r>
              <a:rPr lang="zh-CN" altLang="en-US" sz="2400"/>
              <a:t>化为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16392" grpId="0"/>
      <p:bldP spid="163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27258" y="990699"/>
            <a:ext cx="6410425" cy="587843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0" dirty="0"/>
              <a:t>这样</a:t>
            </a:r>
            <a:r>
              <a:rPr lang="en-US" altLang="zh-CN" sz="2400" b="0" dirty="0"/>
              <a:t>,</a:t>
            </a:r>
            <a:r>
              <a:rPr lang="zh-CN" altLang="en-US" sz="2400" b="0" dirty="0"/>
              <a:t>问题</a:t>
            </a:r>
            <a:r>
              <a:rPr lang="en-US" altLang="zh-CN" sz="2400" b="0" dirty="0"/>
              <a:t>(12.1.15)</a:t>
            </a:r>
            <a:r>
              <a:rPr lang="zh-CN" altLang="en-US" sz="2400" b="0" dirty="0"/>
              <a:t>化简为</a:t>
            </a: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0238607"/>
              </p:ext>
            </p:extLst>
          </p:nvPr>
        </p:nvGraphicFramePr>
        <p:xfrm>
          <a:off x="2110306" y="1297371"/>
          <a:ext cx="59944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6" name="Equation" r:id="rId3" imgW="5994400" imgH="1511300" progId="Equation.DSMT4">
                  <p:embed/>
                </p:oleObj>
              </mc:Choice>
              <mc:Fallback>
                <p:oleObj name="Equation" r:id="rId3" imgW="5994400" imgH="1511300" progId="Equation.DSMT4">
                  <p:embed/>
                  <p:pic>
                    <p:nvPicPr>
                      <p:cNvPr id="174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0306" y="1297371"/>
                        <a:ext cx="59944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323850" y="2852738"/>
            <a:ext cx="7107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 dirty="0"/>
              <a:t>根据</a:t>
            </a:r>
            <a:r>
              <a:rPr lang="en-US" altLang="zh-CN" sz="2400" dirty="0"/>
              <a:t>(12.1.21)</a:t>
            </a:r>
            <a:r>
              <a:rPr lang="zh-CN" altLang="en-US" sz="2400" dirty="0"/>
              <a:t>的约束条件，易求出</a:t>
            </a:r>
            <a:r>
              <a:rPr lang="zh-CN" altLang="en-US" sz="2400" dirty="0">
                <a:sym typeface="Symbol" panose="05050102010706020507" pitchFamily="18" charset="2"/>
              </a:rPr>
              <a:t></a:t>
            </a:r>
            <a:r>
              <a:rPr lang="zh-CN" altLang="en-US" sz="2400" dirty="0"/>
              <a:t>的上限</a:t>
            </a:r>
            <a:r>
              <a:rPr lang="en-US" altLang="zh-CN" sz="2400" dirty="0"/>
              <a:t>,</a:t>
            </a:r>
            <a:r>
              <a:rPr lang="zh-CN" altLang="en-US" sz="2400" dirty="0"/>
              <a:t>令</a:t>
            </a: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241143"/>
              </p:ext>
            </p:extLst>
          </p:nvPr>
        </p:nvGraphicFramePr>
        <p:xfrm>
          <a:off x="2397726" y="3573379"/>
          <a:ext cx="38608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7" name="Equation" r:id="rId5" imgW="3860800" imgH="1143000" progId="Equation.DSMT4">
                  <p:embed/>
                </p:oleObj>
              </mc:Choice>
              <mc:Fallback>
                <p:oleObj name="Equation" r:id="rId5" imgW="3860800" imgH="1143000" progId="Equation.DSMT4">
                  <p:embed/>
                  <p:pic>
                    <p:nvPicPr>
                      <p:cNvPr id="174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7726" y="3573379"/>
                        <a:ext cx="38608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3067" y="4816593"/>
            <a:ext cx="7013575" cy="1092200"/>
            <a:chOff x="295" y="2931"/>
            <a:chExt cx="4418" cy="688"/>
          </a:xfrm>
        </p:grpSpPr>
        <p:graphicFrame>
          <p:nvGraphicFramePr>
            <p:cNvPr id="19467" name="Object 8"/>
            <p:cNvGraphicFramePr>
              <a:graphicFrameLocks noChangeAspect="1"/>
            </p:cNvGraphicFramePr>
            <p:nvPr/>
          </p:nvGraphicFramePr>
          <p:xfrm>
            <a:off x="295" y="2931"/>
            <a:ext cx="3628" cy="2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8" name="Equation" r:id="rId7" imgW="6108700" imgH="495300" progId="Equation.DSMT4">
                    <p:embed/>
                  </p:oleObj>
                </mc:Choice>
                <mc:Fallback>
                  <p:oleObj name="Equation" r:id="rId7" imgW="6108700" imgH="495300" progId="Equation.DSMT4">
                    <p:embed/>
                    <p:pic>
                      <p:nvPicPr>
                        <p:cNvPr id="1946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931"/>
                          <a:ext cx="3628" cy="2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8" name="Object 9"/>
            <p:cNvGraphicFramePr>
              <a:graphicFrameLocks noChangeAspect="1"/>
            </p:cNvGraphicFramePr>
            <p:nvPr/>
          </p:nvGraphicFramePr>
          <p:xfrm>
            <a:off x="3969" y="2931"/>
            <a:ext cx="744" cy="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29" name="Equation" r:id="rId9" imgW="1180588" imgH="1091726" progId="Equation.DSMT4">
                    <p:embed/>
                  </p:oleObj>
                </mc:Choice>
                <mc:Fallback>
                  <p:oleObj name="Equation" r:id="rId9" imgW="1180588" imgH="1091726" progId="Equation.DSMT4">
                    <p:embed/>
                    <p:pic>
                      <p:nvPicPr>
                        <p:cNvPr id="1946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2931"/>
                          <a:ext cx="744" cy="6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174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981075"/>
            <a:ext cx="3200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/>
              <a:t>由此得到</a:t>
            </a:r>
            <a:r>
              <a:rPr lang="zh-CN" altLang="en-US" sz="2400">
                <a:sym typeface="Symbol" panose="05050102010706020507" pitchFamily="18" charset="2"/>
              </a:rPr>
              <a:t>的上限</a:t>
            </a:r>
            <a:endParaRPr lang="zh-CN" altLang="en-US" sz="2400"/>
          </a:p>
        </p:txBody>
      </p:sp>
      <p:graphicFrame>
        <p:nvGraphicFramePr>
          <p:cNvPr id="18438" name="Object 6"/>
          <p:cNvGraphicFramePr>
            <a:graphicFrameLocks noChangeAspect="1"/>
          </p:cNvGraphicFramePr>
          <p:nvPr/>
        </p:nvGraphicFramePr>
        <p:xfrm>
          <a:off x="1979613" y="1125538"/>
          <a:ext cx="4537075" cy="171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6" name="Equation" r:id="rId3" imgW="4711700" imgH="1778000" progId="Equation.DSMT4">
                  <p:embed/>
                </p:oleObj>
              </mc:Choice>
              <mc:Fallback>
                <p:oleObj name="Equation" r:id="rId3" imgW="4711700" imgH="1778000" progId="Equation.DSMT4">
                  <p:embed/>
                  <p:pic>
                    <p:nvPicPr>
                      <p:cNvPr id="1843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125538"/>
                        <a:ext cx="4537075" cy="171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7380288" y="1773238"/>
            <a:ext cx="1301750" cy="420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>
                <a:sym typeface="Symbol" panose="05050102010706020507" pitchFamily="18" charset="2"/>
              </a:rPr>
              <a:t>(12.1.24)</a:t>
            </a:r>
          </a:p>
        </p:txBody>
      </p: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250825" y="2997200"/>
            <a:ext cx="5867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/>
              <a:t>问题</a:t>
            </a:r>
            <a:r>
              <a:rPr lang="en-US" altLang="zh-CN" sz="2800"/>
              <a:t>(12.1.15)</a:t>
            </a:r>
            <a:r>
              <a:rPr lang="zh-CN" altLang="en-US" sz="2800"/>
              <a:t>于是化为：</a:t>
            </a:r>
          </a:p>
        </p:txBody>
      </p:sp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2051050" y="3500438"/>
          <a:ext cx="6146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7" name="Equation" r:id="rId5" imgW="6146800" imgH="1016000" progId="Equation.DSMT4">
                  <p:embed/>
                </p:oleObj>
              </mc:Choice>
              <mc:Fallback>
                <p:oleObj name="Equation" r:id="rId5" imgW="6146800" imgH="1016000" progId="Equation.DSMT4">
                  <p:embed/>
                  <p:pic>
                    <p:nvPicPr>
                      <p:cNvPr id="184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500438"/>
                        <a:ext cx="6146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10"/>
          <p:cNvSpPr>
            <a:spLocks noChangeArrowheads="1"/>
          </p:cNvSpPr>
          <p:nvPr/>
        </p:nvSpPr>
        <p:spPr bwMode="auto">
          <a:xfrm>
            <a:off x="468313" y="4581525"/>
            <a:ext cx="813593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/>
              <a:t>于是，给定问题</a:t>
            </a:r>
            <a:r>
              <a:rPr lang="en-US" altLang="zh-CN" sz="2400"/>
              <a:t>(12.1.1)</a:t>
            </a:r>
            <a:r>
              <a:rPr lang="zh-CN" altLang="en-US" sz="2400"/>
              <a:t>和一个可行点，可以通过求解问题</a:t>
            </a:r>
            <a:r>
              <a:rPr lang="en-US" altLang="zh-CN" sz="2400"/>
              <a:t>(12.1.10)</a:t>
            </a:r>
            <a:r>
              <a:rPr lang="zh-CN" altLang="en-US" sz="2400"/>
              <a:t>得到下降可行方向，通过求解问题</a:t>
            </a:r>
            <a:r>
              <a:rPr lang="en-US" altLang="zh-CN" sz="2400"/>
              <a:t>(12.1.25)</a:t>
            </a:r>
            <a:r>
              <a:rPr lang="zh-CN" altLang="en-US" sz="2400"/>
              <a:t>确定沿此方向进行一维搜索的步长</a:t>
            </a:r>
            <a:r>
              <a:rPr lang="en-US" altLang="zh-CN" sz="24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9" grpId="0"/>
      <p:bldP spid="18440" grpId="0"/>
      <p:bldP spid="184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468313" y="1196975"/>
            <a:ext cx="7889875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/>
              <a:t>于是，给定问题</a:t>
            </a:r>
            <a:r>
              <a:rPr lang="en-US" altLang="zh-CN" sz="2800"/>
              <a:t>(12.1.1)</a:t>
            </a:r>
            <a:r>
              <a:rPr lang="zh-CN" altLang="en-US" sz="2800"/>
              <a:t>和一个可行点，可以通过</a:t>
            </a:r>
          </a:p>
          <a:p>
            <a:pPr eaLnBrk="1" hangingPunct="1">
              <a:buFontTx/>
              <a:buNone/>
            </a:pPr>
            <a:r>
              <a:rPr lang="zh-CN" altLang="en-US" sz="2800"/>
              <a:t>求解问题</a:t>
            </a:r>
            <a:r>
              <a:rPr lang="en-US" altLang="zh-CN" sz="2800"/>
              <a:t>(12.1.10)</a:t>
            </a:r>
            <a:r>
              <a:rPr lang="zh-CN" altLang="en-US" sz="2800"/>
              <a:t>得到下降可行方向，通过求解问</a:t>
            </a:r>
          </a:p>
          <a:p>
            <a:pPr eaLnBrk="1" hangingPunct="1">
              <a:buFontTx/>
              <a:buNone/>
            </a:pPr>
            <a:r>
              <a:rPr lang="zh-CN" altLang="en-US" sz="2800"/>
              <a:t>题</a:t>
            </a:r>
            <a:r>
              <a:rPr lang="en-US" altLang="zh-CN" sz="2800"/>
              <a:t>(12.1.25)</a:t>
            </a:r>
            <a:r>
              <a:rPr lang="zh-CN" altLang="en-US" sz="2800"/>
              <a:t>确定沿此方向进行一维搜索的步长</a:t>
            </a:r>
            <a:r>
              <a:rPr lang="en-US" altLang="zh-CN" sz="2800"/>
              <a:t>.</a:t>
            </a:r>
          </a:p>
        </p:txBody>
      </p:sp>
      <p:sp>
        <p:nvSpPr>
          <p:cNvPr id="21511" name="Rectangle 7"/>
          <p:cNvSpPr>
            <a:spLocks noChangeArrowheads="1"/>
          </p:cNvSpPr>
          <p:nvPr/>
        </p:nvSpPr>
        <p:spPr bwMode="auto">
          <a:xfrm>
            <a:off x="323850" y="2924175"/>
            <a:ext cx="5578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可以通过解辅助</a:t>
            </a:r>
            <a:r>
              <a:rPr lang="en-US" altLang="zh-CN" sz="2800"/>
              <a:t>LP</a:t>
            </a:r>
            <a:r>
              <a:rPr lang="zh-CN" altLang="en-US" sz="2800"/>
              <a:t>得到一可行点：</a:t>
            </a:r>
          </a:p>
        </p:txBody>
      </p:sp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1258888" y="3644900"/>
          <a:ext cx="4394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Equation" r:id="rId3" imgW="4394200" imgH="914400" progId="Equation.DSMT4">
                  <p:embed/>
                </p:oleObj>
              </mc:Choice>
              <mc:Fallback>
                <p:oleObj name="Equation" r:id="rId3" imgW="4394200" imgH="914400" progId="Equation.DSMT4">
                  <p:embed/>
                  <p:pic>
                    <p:nvPicPr>
                      <p:cNvPr id="215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644900"/>
                        <a:ext cx="4394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08522" y="4404126"/>
            <a:ext cx="6351588" cy="398463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若</a:t>
            </a:r>
            <a:r>
              <a:rPr lang="en-US" altLang="zh-CN" sz="2800" b="0" dirty="0"/>
              <a:t>(12.1.26)</a:t>
            </a:r>
            <a:r>
              <a:rPr lang="zh-CN" altLang="en-US" sz="2800" b="0" dirty="0"/>
              <a:t>的最优解为</a:t>
            </a: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193884"/>
              </p:ext>
            </p:extLst>
          </p:nvPr>
        </p:nvGraphicFramePr>
        <p:xfrm>
          <a:off x="3062088" y="4960888"/>
          <a:ext cx="287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4" name="Equation" r:id="rId3" imgW="2870200" imgH="457200" progId="Equation.DSMT4">
                  <p:embed/>
                </p:oleObj>
              </mc:Choice>
              <mc:Fallback>
                <p:oleObj name="Equation" r:id="rId3" imgW="2870200" imgH="457200" progId="Equation.DSMT4">
                  <p:embed/>
                  <p:pic>
                    <p:nvPicPr>
                      <p:cNvPr id="20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088" y="4960888"/>
                        <a:ext cx="287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7"/>
          <p:cNvSpPr>
            <a:spLocks noChangeArrowheads="1"/>
          </p:cNvSpPr>
          <p:nvPr/>
        </p:nvSpPr>
        <p:spPr bwMode="auto">
          <a:xfrm>
            <a:off x="736400" y="5489107"/>
            <a:ext cx="4491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则</a:t>
            </a:r>
            <a:r>
              <a:rPr lang="en-US" altLang="zh-CN" sz="2800" i="1" dirty="0"/>
              <a:t>x</a:t>
            </a:r>
            <a:r>
              <a:rPr lang="en-US" altLang="zh-CN" sz="2800" dirty="0"/>
              <a:t>*</a:t>
            </a:r>
            <a:r>
              <a:rPr lang="zh-CN" altLang="en-US" sz="2800" dirty="0"/>
              <a:t>是</a:t>
            </a:r>
            <a:r>
              <a:rPr lang="en-US" altLang="zh-CN" sz="2800" dirty="0"/>
              <a:t>(12.1.1)</a:t>
            </a:r>
            <a:r>
              <a:rPr lang="zh-CN" altLang="en-US" sz="2800" dirty="0"/>
              <a:t>的一个可行解</a:t>
            </a: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auto">
          <a:xfrm>
            <a:off x="457200" y="965200"/>
            <a:ext cx="5578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可以通过解辅助</a:t>
            </a:r>
            <a:r>
              <a:rPr lang="en-US" altLang="zh-CN" sz="2800"/>
              <a:t>LP</a:t>
            </a:r>
            <a:r>
              <a:rPr lang="zh-CN" altLang="en-US" sz="2800"/>
              <a:t>得到一可行点：</a:t>
            </a:r>
          </a:p>
        </p:txBody>
      </p:sp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2124075" y="1557338"/>
          <a:ext cx="60833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55" name="Equation" r:id="rId5" imgW="6083300" imgH="2514600" progId="Equation.DSMT4">
                  <p:embed/>
                </p:oleObj>
              </mc:Choice>
              <mc:Fallback>
                <p:oleObj name="Equation" r:id="rId5" imgW="6083300" imgH="2514600" progId="Equation.DSMT4">
                  <p:embed/>
                  <p:pic>
                    <p:nvPicPr>
                      <p:cNvPr id="204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557338"/>
                        <a:ext cx="6083300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7" grpId="0"/>
      <p:bldP spid="2048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67891" y="936925"/>
            <a:ext cx="3810000" cy="41148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/>
              <a:t>计算步骤</a:t>
            </a:r>
          </a:p>
        </p:txBody>
      </p:sp>
      <p:graphicFrame>
        <p:nvGraphicFramePr>
          <p:cNvPr id="21517" name="Object 1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4133355448"/>
              </p:ext>
            </p:extLst>
          </p:nvPr>
        </p:nvGraphicFramePr>
        <p:xfrm>
          <a:off x="1443790" y="5830302"/>
          <a:ext cx="238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6" name="Equation" r:id="rId3" imgW="2387600" imgH="419100" progId="Equation.DSMT4">
                  <p:embed/>
                </p:oleObj>
              </mc:Choice>
              <mc:Fallback>
                <p:oleObj name="Equation" r:id="rId3" imgW="2387600" imgH="419100" progId="Equation.DSMT4">
                  <p:embed/>
                  <p:pic>
                    <p:nvPicPr>
                      <p:cNvPr id="215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790" y="5830302"/>
                        <a:ext cx="2387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762000" y="1447800"/>
          <a:ext cx="441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7" name="Equation" r:id="rId5" imgW="4419600" imgH="431800" progId="Equation.DSMT4">
                  <p:embed/>
                </p:oleObj>
              </mc:Choice>
              <mc:Fallback>
                <p:oleObj name="Equation" r:id="rId5" imgW="4419600" imgH="431800" progId="Equation.DSMT4">
                  <p:embed/>
                  <p:pic>
                    <p:nvPicPr>
                      <p:cNvPr id="215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447800"/>
                        <a:ext cx="4419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1403350" y="2997200"/>
          <a:ext cx="3797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8" name="Equation" r:id="rId7" imgW="3797300" imgH="469900" progId="Equation.DSMT4">
                  <p:embed/>
                </p:oleObj>
              </mc:Choice>
              <mc:Fallback>
                <p:oleObj name="Equation" r:id="rId7" imgW="3797300" imgH="469900" progId="Equation.DSMT4">
                  <p:embed/>
                  <p:pic>
                    <p:nvPicPr>
                      <p:cNvPr id="215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997200"/>
                        <a:ext cx="3797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5292725" y="2060575"/>
          <a:ext cx="1714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9" name="Equation" r:id="rId9" imgW="1714500" imgH="1016000" progId="Equation.DSMT4">
                  <p:embed/>
                </p:oleObj>
              </mc:Choice>
              <mc:Fallback>
                <p:oleObj name="Equation" r:id="rId9" imgW="1714500" imgH="1016000" progId="Equation.DSMT4">
                  <p:embed/>
                  <p:pic>
                    <p:nvPicPr>
                      <p:cNvPr id="215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060575"/>
                        <a:ext cx="1714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684213" y="3500438"/>
            <a:ext cx="2200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/>
              <a:t>3</a:t>
            </a:r>
            <a:r>
              <a:rPr lang="zh-CN" altLang="en-US" sz="2800"/>
              <a:t>，求解</a:t>
            </a:r>
            <a:r>
              <a:rPr lang="en-US" altLang="zh-CN" sz="2800"/>
              <a:t>LP</a:t>
            </a:r>
            <a:r>
              <a:rPr lang="zh-CN" altLang="en-US" sz="2800"/>
              <a:t>：</a:t>
            </a:r>
          </a:p>
        </p:txBody>
      </p:sp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827088" y="1916113"/>
          <a:ext cx="4432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0" name="Equation" r:id="rId11" imgW="4432300" imgH="431800" progId="Equation.DSMT4">
                  <p:embed/>
                </p:oleObj>
              </mc:Choice>
              <mc:Fallback>
                <p:oleObj name="Equation" r:id="rId11" imgW="4432300" imgH="431800" progId="Equation.DSMT4">
                  <p:embed/>
                  <p:pic>
                    <p:nvPicPr>
                      <p:cNvPr id="215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16113"/>
                        <a:ext cx="4432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/>
          <p:cNvGraphicFramePr>
            <a:graphicFrameLocks noChangeAspect="1"/>
          </p:cNvGraphicFramePr>
          <p:nvPr/>
        </p:nvGraphicFramePr>
        <p:xfrm>
          <a:off x="2987675" y="3644900"/>
          <a:ext cx="34671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1" name="Equation" r:id="rId13" imgW="3467100" imgH="2133600" progId="Equation.DSMT4">
                  <p:embed/>
                </p:oleObj>
              </mc:Choice>
              <mc:Fallback>
                <p:oleObj name="Equation" r:id="rId13" imgW="3467100" imgH="2133600" progId="Equation.DSMT4">
                  <p:embed/>
                  <p:pic>
                    <p:nvPicPr>
                      <p:cNvPr id="2151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644900"/>
                        <a:ext cx="34671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5003699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 dirty="0"/>
              <a:t>6,</a:t>
            </a:r>
            <a:r>
              <a:rPr lang="zh-CN" altLang="en-US" sz="2800" b="0" dirty="0"/>
              <a:t>置</a:t>
            </a:r>
            <a:r>
              <a:rPr lang="en-US" altLang="zh-CN" sz="2800" b="0" dirty="0"/>
              <a:t>k:=k+1,</a:t>
            </a:r>
            <a:r>
              <a:rPr lang="zh-CN" altLang="en-US" sz="2800" b="0" dirty="0"/>
              <a:t>转</a:t>
            </a:r>
            <a:r>
              <a:rPr lang="en-US" altLang="zh-CN" sz="2800" b="0" dirty="0"/>
              <a:t>2</a:t>
            </a:r>
            <a:r>
              <a:rPr lang="zh-CN" altLang="en-US" sz="2800" b="0" dirty="0"/>
              <a:t>。</a:t>
            </a:r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838200" y="1125538"/>
          <a:ext cx="65151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6" name="Equation" r:id="rId3" imgW="6515100" imgH="965200" progId="Equation.DSMT4">
                  <p:embed/>
                </p:oleObj>
              </mc:Choice>
              <mc:Fallback>
                <p:oleObj name="Equation" r:id="rId3" imgW="6515100" imgH="965200" progId="Equation.DSMT4">
                  <p:embed/>
                  <p:pic>
                    <p:nvPicPr>
                      <p:cNvPr id="225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125538"/>
                        <a:ext cx="65151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914400" y="2192338"/>
          <a:ext cx="7086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7" name="Equation" r:id="rId5" imgW="7086600" imgH="965200" progId="Equation.DSMT4">
                  <p:embed/>
                </p:oleObj>
              </mc:Choice>
              <mc:Fallback>
                <p:oleObj name="Equation" r:id="rId5" imgW="7086600" imgH="965200" progId="Equation.DSMT4">
                  <p:embed/>
                  <p:pic>
                    <p:nvPicPr>
                      <p:cNvPr id="225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192338"/>
                        <a:ext cx="70866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1752600" y="3182938"/>
          <a:ext cx="4775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8" name="Equation" r:id="rId7" imgW="4775200" imgH="1016000" progId="Equation.DSMT4">
                  <p:embed/>
                </p:oleObj>
              </mc:Choice>
              <mc:Fallback>
                <p:oleObj name="Equation" r:id="rId7" imgW="4775200" imgH="1016000" progId="Equation.DSMT4">
                  <p:embed/>
                  <p:pic>
                    <p:nvPicPr>
                      <p:cNvPr id="225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182938"/>
                        <a:ext cx="4775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1371600" y="4325938"/>
          <a:ext cx="5372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9" name="Equation" r:id="rId9" imgW="5372100" imgH="469900" progId="Equation.DSMT4">
                  <p:embed/>
                </p:oleObj>
              </mc:Choice>
              <mc:Fallback>
                <p:oleObj name="Equation" r:id="rId9" imgW="5372100" imgH="469900" progId="Equation.DSMT4">
                  <p:embed/>
                  <p:pic>
                    <p:nvPicPr>
                      <p:cNvPr id="2253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325938"/>
                        <a:ext cx="5372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10139" y="1086051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例</a:t>
            </a:r>
            <a:r>
              <a:rPr lang="en-US" altLang="zh-CN" sz="2800" b="0" dirty="0"/>
              <a:t>1</a:t>
            </a:r>
            <a:r>
              <a:rPr lang="zh-CN" altLang="en-US" sz="2800" b="0" dirty="0"/>
              <a:t> 用</a:t>
            </a:r>
            <a:r>
              <a:rPr lang="en-US" altLang="zh-CN" sz="2800" b="0" dirty="0" err="1"/>
              <a:t>Zoutendijk</a:t>
            </a:r>
            <a:r>
              <a:rPr lang="zh-CN" altLang="en-US" sz="2800" b="0" dirty="0"/>
              <a:t>法求解下列问题</a:t>
            </a:r>
          </a:p>
        </p:txBody>
      </p:sp>
      <p:graphicFrame>
        <p:nvGraphicFramePr>
          <p:cNvPr id="25607" name="Object 5"/>
          <p:cNvGraphicFramePr>
            <a:graphicFrameLocks noChangeAspect="1"/>
          </p:cNvGraphicFramePr>
          <p:nvPr/>
        </p:nvGraphicFramePr>
        <p:xfrm>
          <a:off x="1828800" y="1752600"/>
          <a:ext cx="3898900" cy="264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6" name="Equation" r:id="rId3" imgW="3898900" imgH="2641600" progId="Equation.DSMT4">
                  <p:embed/>
                </p:oleObj>
              </mc:Choice>
              <mc:Fallback>
                <p:oleObj name="Equation" r:id="rId3" imgW="3898900" imgH="2641600" progId="Equation.DSMT4">
                  <p:embed/>
                  <p:pic>
                    <p:nvPicPr>
                      <p:cNvPr id="2560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752600"/>
                        <a:ext cx="3898900" cy="264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6"/>
          <p:cNvGraphicFramePr>
            <a:graphicFrameLocks noChangeAspect="1"/>
          </p:cNvGraphicFramePr>
          <p:nvPr/>
        </p:nvGraphicFramePr>
        <p:xfrm>
          <a:off x="1828800" y="4648200"/>
          <a:ext cx="2387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7" name="Equation" r:id="rId5" imgW="2387600" imgH="457200" progId="Equation.DSMT4">
                  <p:embed/>
                </p:oleObj>
              </mc:Choice>
              <mc:Fallback>
                <p:oleObj name="Equation" r:id="rId5" imgW="2387600" imgH="457200" progId="Equation.DSMT4">
                  <p:embed/>
                  <p:pic>
                    <p:nvPicPr>
                      <p:cNvPr id="2560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648200"/>
                        <a:ext cx="2387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7415254"/>
              </p:ext>
            </p:extLst>
          </p:nvPr>
        </p:nvGraphicFramePr>
        <p:xfrm>
          <a:off x="572687" y="1070427"/>
          <a:ext cx="76708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6" name="Equation" r:id="rId3" imgW="7670800" imgH="2133600" progId="Equation.DSMT4">
                  <p:embed/>
                </p:oleObj>
              </mc:Choice>
              <mc:Fallback>
                <p:oleObj name="Equation" r:id="rId3" imgW="7670800" imgH="2133600" progId="Equation.DSMT4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687" y="1070427"/>
                        <a:ext cx="76708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5498"/>
              </p:ext>
            </p:extLst>
          </p:nvPr>
        </p:nvGraphicFramePr>
        <p:xfrm>
          <a:off x="676977" y="3520440"/>
          <a:ext cx="560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7" name="Equation" r:id="rId5" imgW="5600700" imgH="419100" progId="Equation.DSMT4">
                  <p:embed/>
                </p:oleObj>
              </mc:Choice>
              <mc:Fallback>
                <p:oleObj name="Equation" r:id="rId5" imgW="5600700" imgH="419100" progId="Equation.DSMT4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77" y="3520440"/>
                        <a:ext cx="5600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685800" y="4419600"/>
          <a:ext cx="34671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8" name="Equation" r:id="rId7" imgW="3467100" imgH="2133600" progId="Equation.DSMT4">
                  <p:embed/>
                </p:oleObj>
              </mc:Choice>
              <mc:Fallback>
                <p:oleObj name="Equation" r:id="rId7" imgW="3467100" imgH="2133600" progId="Equation.DSMT4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419600"/>
                        <a:ext cx="34671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5029200" y="4419600"/>
          <a:ext cx="30861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9" name="Equation" r:id="rId9" imgW="3086100" imgH="2108200" progId="Equation.DSMT4">
                  <p:embed/>
                </p:oleObj>
              </mc:Choice>
              <mc:Fallback>
                <p:oleObj name="Equation" r:id="rId9" imgW="3086100" imgH="2108200" progId="Equation.DSMT4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419600"/>
                        <a:ext cx="3086100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3733800" y="5105400"/>
          <a:ext cx="68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20" name="Equation" r:id="rId11" imgW="380835" imgH="253890" progId="Equation.DSMT4">
                  <p:embed/>
                </p:oleObj>
              </mc:Choice>
              <mc:Fallback>
                <p:oleObj name="Equation" r:id="rId11" imgW="380835" imgH="253890" progId="Equation.DSMT4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105400"/>
                        <a:ext cx="685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23512" y="999423"/>
            <a:ext cx="3962400" cy="6096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/>
              <a:t>用单纯形法求得最优解</a:t>
            </a:r>
          </a:p>
        </p:txBody>
      </p:sp>
      <p:graphicFrame>
        <p:nvGraphicFramePr>
          <p:cNvPr id="27655" name="Object 5"/>
          <p:cNvGraphicFramePr>
            <a:graphicFrameLocks noChangeAspect="1"/>
          </p:cNvGraphicFramePr>
          <p:nvPr/>
        </p:nvGraphicFramePr>
        <p:xfrm>
          <a:off x="3276600" y="1676400"/>
          <a:ext cx="1625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6" name="Equation" r:id="rId3" imgW="1625600" imgH="457200" progId="Equation.DSMT4">
                  <p:embed/>
                </p:oleObj>
              </mc:Choice>
              <mc:Fallback>
                <p:oleObj name="Equation" r:id="rId3" imgW="1625600" imgH="457200" progId="Equation.DSMT4">
                  <p:embed/>
                  <p:pic>
                    <p:nvPicPr>
                      <p:cNvPr id="2765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676400"/>
                        <a:ext cx="1625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6"/>
          <p:cNvGraphicFramePr>
            <a:graphicFrameLocks noChangeAspect="1"/>
          </p:cNvGraphicFramePr>
          <p:nvPr/>
        </p:nvGraphicFramePr>
        <p:xfrm>
          <a:off x="685800" y="2209800"/>
          <a:ext cx="170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7" name="Equation" r:id="rId5" imgW="1701800" imgH="457200" progId="Equation.DSMT4">
                  <p:embed/>
                </p:oleObj>
              </mc:Choice>
              <mc:Fallback>
                <p:oleObj name="Equation" r:id="rId5" imgW="1701800" imgH="457200" progId="Equation.DSMT4">
                  <p:embed/>
                  <p:pic>
                    <p:nvPicPr>
                      <p:cNvPr id="2765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209800"/>
                        <a:ext cx="1701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8"/>
          <p:cNvGraphicFramePr>
            <a:graphicFrameLocks noChangeAspect="1"/>
          </p:cNvGraphicFramePr>
          <p:nvPr/>
        </p:nvGraphicFramePr>
        <p:xfrm>
          <a:off x="1219200" y="2743200"/>
          <a:ext cx="6324600" cy="307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8" name="Equation" r:id="rId7" imgW="6324600" imgH="3073400" progId="Equation.DSMT4">
                  <p:embed/>
                </p:oleObj>
              </mc:Choice>
              <mc:Fallback>
                <p:oleObj name="Equation" r:id="rId7" imgW="6324600" imgH="3073400" progId="Equation.DSMT4">
                  <p:embed/>
                  <p:pic>
                    <p:nvPicPr>
                      <p:cNvPr id="2765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743200"/>
                        <a:ext cx="6324600" cy="307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5010" y="990700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dirty="0"/>
              <a:t>解一维搜索：</a:t>
            </a:r>
          </a:p>
        </p:txBody>
      </p:sp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2700338" y="1341438"/>
          <a:ext cx="4762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0" name="Equation" r:id="rId3" imgW="4762500" imgH="914400" progId="Equation.DSMT4">
                  <p:embed/>
                </p:oleObj>
              </mc:Choice>
              <mc:Fallback>
                <p:oleObj name="Equation" r:id="rId3" imgW="4762500" imgH="914400" progId="Equation.DSMT4">
                  <p:embed/>
                  <p:pic>
                    <p:nvPicPr>
                      <p:cNvPr id="2765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341438"/>
                        <a:ext cx="4762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827088" y="2133600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得</a:t>
            </a:r>
          </a:p>
        </p:txBody>
      </p:sp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1692275" y="2565400"/>
          <a:ext cx="80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1" name="Equation" r:id="rId5" imgW="799753" imgH="431613" progId="Equation.DSMT4">
                  <p:embed/>
                </p:oleObj>
              </mc:Choice>
              <mc:Fallback>
                <p:oleObj name="Equation" r:id="rId5" imgW="799753" imgH="431613" progId="Equation.DSMT4">
                  <p:embed/>
                  <p:pic>
                    <p:nvPicPr>
                      <p:cNvPr id="276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565400"/>
                        <a:ext cx="800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900113" y="2924175"/>
            <a:ext cx="539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令</a:t>
            </a:r>
          </a:p>
        </p:txBody>
      </p:sp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1835150" y="3213100"/>
          <a:ext cx="3238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2" name="Equation" r:id="rId7" imgW="3238500" imgH="1016000" progId="Equation.DSMT4">
                  <p:embed/>
                </p:oleObj>
              </mc:Choice>
              <mc:Fallback>
                <p:oleObj name="Equation" r:id="rId7" imgW="3238500" imgH="1016000" progId="Equation.DSMT4">
                  <p:embed/>
                  <p:pic>
                    <p:nvPicPr>
                      <p:cNvPr id="276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213100"/>
                        <a:ext cx="3238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611188" y="4437063"/>
            <a:ext cx="5886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/>
              <a:t>重复迭代最后可得最优解</a:t>
            </a:r>
            <a:r>
              <a:rPr lang="en-US" altLang="zh-CN" sz="2800"/>
              <a:t>x*=(1/2,3/2)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27656" grpId="0"/>
      <p:bldP spid="2765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8008" y="1018673"/>
            <a:ext cx="41148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/>
              <a:t>1.2 </a:t>
            </a:r>
            <a:r>
              <a:rPr lang="zh-CN" altLang="en-US" sz="2800"/>
              <a:t>非线性约束</a:t>
            </a: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914400" y="1676400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考虑不等式约束问题</a:t>
            </a:r>
          </a:p>
        </p:txBody>
      </p:sp>
      <p:graphicFrame>
        <p:nvGraphicFramePr>
          <p:cNvPr id="86016" name="Object 1024"/>
          <p:cNvGraphicFramePr>
            <a:graphicFrameLocks noChangeAspect="1"/>
          </p:cNvGraphicFramePr>
          <p:nvPr/>
        </p:nvGraphicFramePr>
        <p:xfrm>
          <a:off x="990600" y="2514600"/>
          <a:ext cx="6883400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0" name="Equation" r:id="rId3" imgW="6883400" imgH="1524000" progId="Equation.DSMT4">
                  <p:embed/>
                </p:oleObj>
              </mc:Choice>
              <mc:Fallback>
                <p:oleObj name="Equation" r:id="rId3" imgW="6883400" imgH="1524000" progId="Equation.DSMT4">
                  <p:embed/>
                  <p:pic>
                    <p:nvPicPr>
                      <p:cNvPr id="86016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514600"/>
                        <a:ext cx="6883400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Rectangle 8"/>
          <p:cNvSpPr>
            <a:spLocks noChangeArrowheads="1"/>
          </p:cNvSpPr>
          <p:nvPr/>
        </p:nvSpPr>
        <p:spPr bwMode="auto">
          <a:xfrm>
            <a:off x="684213" y="4508500"/>
            <a:ext cx="4267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/>
              <a:t>1)</a:t>
            </a:r>
            <a:r>
              <a:rPr lang="zh-CN" altLang="en-US" sz="2800"/>
              <a:t>选择下降可行方向</a:t>
            </a:r>
            <a:r>
              <a:rPr lang="en-US" altLang="zh-CN" sz="28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6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6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868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7202942"/>
              </p:ext>
            </p:extLst>
          </p:nvPr>
        </p:nvGraphicFramePr>
        <p:xfrm>
          <a:off x="491456" y="994677"/>
          <a:ext cx="8277225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6" name="Equation" r:id="rId3" imgW="8343900" imgH="3302000" progId="Equation.DSMT4">
                  <p:embed/>
                </p:oleObj>
              </mc:Choice>
              <mc:Fallback>
                <p:oleObj name="Equation" r:id="rId3" imgW="8343900" imgH="3302000" progId="Equation.DSMT4">
                  <p:embed/>
                  <p:pic>
                    <p:nvPicPr>
                      <p:cNvPr id="8704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56" y="994677"/>
                        <a:ext cx="8277225" cy="32766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4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356446"/>
              </p:ext>
            </p:extLst>
          </p:nvPr>
        </p:nvGraphicFramePr>
        <p:xfrm>
          <a:off x="606960" y="4966369"/>
          <a:ext cx="632618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47" name="Equation" r:id="rId5" imgW="6375400" imgH="1016000" progId="Equation.DSMT4">
                  <p:embed/>
                </p:oleObj>
              </mc:Choice>
              <mc:Fallback>
                <p:oleObj name="Equation" r:id="rId5" imgW="6375400" imgH="1016000" progId="Equation.DSMT4">
                  <p:embed/>
                  <p:pic>
                    <p:nvPicPr>
                      <p:cNvPr id="8704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960" y="4966369"/>
                        <a:ext cx="6326188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611188" y="981075"/>
          <a:ext cx="71120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4" name="Equation" r:id="rId3" imgW="7112000" imgH="1549400" progId="Equation.DSMT4">
                  <p:embed/>
                </p:oleObj>
              </mc:Choice>
              <mc:Fallback>
                <p:oleObj name="Equation" r:id="rId3" imgW="7112000" imgH="1549400" progId="Equation.DSMT4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981075"/>
                        <a:ext cx="7112000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/>
        </p:nvGraphicFramePr>
        <p:xfrm>
          <a:off x="539750" y="2708275"/>
          <a:ext cx="72136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5" name="Equation" r:id="rId5" imgW="7213600" imgH="1612900" progId="Equation.DSMT4">
                  <p:embed/>
                </p:oleObj>
              </mc:Choice>
              <mc:Fallback>
                <p:oleObj name="Equation" r:id="rId5" imgW="7213600" imgH="1612900" progId="Equation.DSMT4">
                  <p:embed/>
                  <p:pic>
                    <p:nvPicPr>
                      <p:cNvPr id="3072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708275"/>
                        <a:ext cx="72136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281639"/>
              </p:ext>
            </p:extLst>
          </p:nvPr>
        </p:nvGraphicFramePr>
        <p:xfrm>
          <a:off x="843699" y="4527750"/>
          <a:ext cx="701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6" name="Equation" r:id="rId7" imgW="7010400" imgH="838200" progId="Equation.DSMT4">
                  <p:embed/>
                </p:oleObj>
              </mc:Choice>
              <mc:Fallback>
                <p:oleObj name="Equation" r:id="rId7" imgW="7010400" imgH="838200" progId="Equation.DSMT4">
                  <p:embed/>
                  <p:pic>
                    <p:nvPicPr>
                      <p:cNvPr id="307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699" y="4527750"/>
                        <a:ext cx="7010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/>
          <p:cNvGraphicFramePr>
            <a:graphicFrameLocks noChangeAspect="1"/>
          </p:cNvGraphicFramePr>
          <p:nvPr/>
        </p:nvGraphicFramePr>
        <p:xfrm>
          <a:off x="6156325" y="5373688"/>
          <a:ext cx="160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7" name="Equation" r:id="rId9" imgW="1600200" imgH="393700" progId="Equation.DSMT4">
                  <p:embed/>
                </p:oleObj>
              </mc:Choice>
              <mc:Fallback>
                <p:oleObj name="Equation" r:id="rId9" imgW="1600200" imgH="393700" progId="Equation.DSMT4">
                  <p:embed/>
                  <p:pic>
                    <p:nvPicPr>
                      <p:cNvPr id="307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5373688"/>
                        <a:ext cx="1600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79133" y="2669774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由上分析</a:t>
            </a:r>
            <a:r>
              <a:rPr lang="en-US" altLang="zh-CN" sz="2800" b="0" dirty="0"/>
              <a:t>,</a:t>
            </a:r>
            <a:r>
              <a:rPr lang="zh-CN" altLang="en-US" sz="2800" b="0" dirty="0"/>
              <a:t>知对充分小的</a:t>
            </a:r>
            <a:r>
              <a:rPr lang="zh-CN" altLang="en-US" sz="2800" b="0" dirty="0">
                <a:sym typeface="Symbol" panose="05050102010706020507" pitchFamily="18" charset="2"/>
              </a:rPr>
              <a:t>有</a:t>
            </a:r>
            <a:endParaRPr lang="zh-CN" altLang="en-US" sz="2800" b="0" dirty="0"/>
          </a:p>
        </p:txBody>
      </p:sp>
      <p:graphicFrame>
        <p:nvGraphicFramePr>
          <p:cNvPr id="31749" name="Object 5"/>
          <p:cNvGraphicFramePr>
            <a:graphicFrameLocks noChangeAspect="1"/>
          </p:cNvGraphicFramePr>
          <p:nvPr/>
        </p:nvGraphicFramePr>
        <p:xfrm>
          <a:off x="468313" y="981075"/>
          <a:ext cx="7915275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6" name="Equation" r:id="rId3" imgW="7975600" imgH="1587500" progId="Equation.DSMT4">
                  <p:embed/>
                </p:oleObj>
              </mc:Choice>
              <mc:Fallback>
                <p:oleObj name="Equation" r:id="rId3" imgW="7975600" imgH="1587500" progId="Equation.DSMT4">
                  <p:embed/>
                  <p:pic>
                    <p:nvPicPr>
                      <p:cNvPr id="317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981075"/>
                        <a:ext cx="7915275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1" name="Object 7"/>
          <p:cNvGraphicFramePr>
            <a:graphicFrameLocks noChangeAspect="1"/>
          </p:cNvGraphicFramePr>
          <p:nvPr/>
        </p:nvGraphicFramePr>
        <p:xfrm>
          <a:off x="1476375" y="3284538"/>
          <a:ext cx="5791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7" name="Equation" r:id="rId5" imgW="5791200" imgH="431800" progId="Equation.DSMT4">
                  <p:embed/>
                </p:oleObj>
              </mc:Choice>
              <mc:Fallback>
                <p:oleObj name="Equation" r:id="rId5" imgW="5791200" imgH="431800" progId="Equation.DSMT4">
                  <p:embed/>
                  <p:pic>
                    <p:nvPicPr>
                      <p:cNvPr id="317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284538"/>
                        <a:ext cx="5791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Rectangle 8"/>
          <p:cNvSpPr>
            <a:spLocks noChangeArrowheads="1"/>
          </p:cNvSpPr>
          <p:nvPr/>
        </p:nvSpPr>
        <p:spPr bwMode="auto">
          <a:xfrm>
            <a:off x="539750" y="4005263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因此</a:t>
            </a:r>
            <a:r>
              <a:rPr lang="en-US" altLang="zh-CN" sz="2800" i="1">
                <a:sym typeface="Symbol" panose="05050102010706020507" pitchFamily="18" charset="2"/>
              </a:rPr>
              <a:t>d</a:t>
            </a:r>
            <a:r>
              <a:rPr lang="zh-CN" altLang="en-US" sz="2800">
                <a:sym typeface="Symbol" panose="05050102010706020507" pitchFamily="18" charset="2"/>
              </a:rPr>
              <a:t>为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zh-CN" altLang="en-US" sz="2800">
                <a:sym typeface="Symbol" panose="05050102010706020507" pitchFamily="18" charset="2"/>
              </a:rPr>
              <a:t>处的可行方向。</a:t>
            </a:r>
          </a:p>
        </p:txBody>
      </p:sp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900113" y="4581525"/>
          <a:ext cx="5091112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8" name="Equation" r:id="rId7" imgW="5130800" imgH="457200" progId="Equation.DSMT4">
                  <p:embed/>
                </p:oleObj>
              </mc:Choice>
              <mc:Fallback>
                <p:oleObj name="Equation" r:id="rId7" imgW="5130800" imgH="457200" progId="Equation.DSMT4">
                  <p:embed/>
                  <p:pic>
                    <p:nvPicPr>
                      <p:cNvPr id="317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81525"/>
                        <a:ext cx="5091112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755650" y="5300663"/>
            <a:ext cx="4786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因此</a:t>
            </a:r>
            <a:r>
              <a:rPr lang="en-US" altLang="zh-CN" sz="2800" i="1">
                <a:sym typeface="Symbol" panose="05050102010706020507" pitchFamily="18" charset="2"/>
              </a:rPr>
              <a:t>d</a:t>
            </a:r>
            <a:r>
              <a:rPr lang="zh-CN" altLang="en-US" sz="2800">
                <a:sym typeface="Symbol" panose="05050102010706020507" pitchFamily="18" charset="2"/>
              </a:rPr>
              <a:t>为</a:t>
            </a:r>
            <a:r>
              <a:rPr lang="en-US" altLang="zh-CN" sz="2800" i="1">
                <a:sym typeface="Symbol" panose="05050102010706020507" pitchFamily="18" charset="2"/>
              </a:rPr>
              <a:t>x</a:t>
            </a:r>
            <a:r>
              <a:rPr lang="zh-CN" altLang="en-US" sz="2800">
                <a:sym typeface="Symbol" panose="05050102010706020507" pitchFamily="18" charset="2"/>
              </a:rPr>
              <a:t>处的下降可行方向。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1752" grpId="0"/>
      <p:bldP spid="3175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98897" y="2761649"/>
            <a:ext cx="35052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/>
              <a:t>进而归结为求解</a:t>
            </a:r>
            <a:r>
              <a:rPr lang="en-US" altLang="zh-CN" sz="2800" b="0"/>
              <a:t>LP</a:t>
            </a:r>
            <a:r>
              <a:rPr lang="en-US" altLang="zh-CN" sz="2800" b="0">
                <a:sym typeface="Wingdings" panose="05000000000000000000" pitchFamily="2" charset="2"/>
              </a:rPr>
              <a:t>:</a:t>
            </a:r>
            <a:endParaRPr lang="en-US" altLang="zh-CN" sz="2800" b="0"/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533400" y="1066800"/>
            <a:ext cx="7473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Symbol" panose="05050102010706020507" pitchFamily="18" charset="2"/>
              </a:rPr>
              <a:t>因此求下降可行方向即求满足下述方程组的</a:t>
            </a:r>
            <a:r>
              <a:rPr lang="en-US" altLang="zh-CN" sz="2800" i="1">
                <a:sym typeface="Symbol" panose="05050102010706020507" pitchFamily="18" charset="2"/>
              </a:rPr>
              <a:t>d</a:t>
            </a:r>
            <a:r>
              <a:rPr lang="zh-CN" altLang="en-US" sz="2800" i="1">
                <a:sym typeface="Symbol" panose="05050102010706020507" pitchFamily="18" charset="2"/>
              </a:rPr>
              <a:t>。</a:t>
            </a:r>
            <a:endParaRPr lang="zh-CN" altLang="en-US" sz="2800">
              <a:sym typeface="Symbol" panose="05050102010706020507" pitchFamily="18" charset="2"/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2209800" y="1600200"/>
          <a:ext cx="407035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8" name="Equation" r:id="rId3" imgW="4102100" imgH="1066800" progId="Equation.DSMT4">
                  <p:embed/>
                </p:oleObj>
              </mc:Choice>
              <mc:Fallback>
                <p:oleObj name="Equation" r:id="rId3" imgW="4102100" imgH="1066800" progId="Equation.DSMT4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600200"/>
                        <a:ext cx="4070350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/>
          <p:cNvGraphicFramePr>
            <a:graphicFrameLocks noChangeAspect="1"/>
          </p:cNvGraphicFramePr>
          <p:nvPr/>
        </p:nvGraphicFramePr>
        <p:xfrm>
          <a:off x="1981200" y="3429000"/>
          <a:ext cx="4410075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9" name="Equation" r:id="rId5" imgW="4445000" imgH="2260600" progId="Equation.DSMT4">
                  <p:embed/>
                </p:oleObj>
              </mc:Choice>
              <mc:Fallback>
                <p:oleObj name="Equation" r:id="rId5" imgW="4445000" imgH="2260600" progId="Equation.DSMT4">
                  <p:embed/>
                  <p:pic>
                    <p:nvPicPr>
                      <p:cNvPr id="32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29000"/>
                        <a:ext cx="4410075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2" name="Rectangle 8"/>
          <p:cNvSpPr>
            <a:spLocks noChangeArrowheads="1"/>
          </p:cNvSpPr>
          <p:nvPr/>
        </p:nvSpPr>
        <p:spPr bwMode="auto">
          <a:xfrm>
            <a:off x="7162800" y="4495800"/>
            <a:ext cx="1301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ym typeface="Wingdings" panose="05000000000000000000" pitchFamily="2" charset="2"/>
              </a:rPr>
              <a:t>(12.1.31)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277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8965" y="1004300"/>
            <a:ext cx="8280400" cy="1655763"/>
          </a:xfrm>
          <a:prstGeom prst="rect">
            <a:avLst/>
          </a:prstGeom>
          <a:solidFill>
            <a:srgbClr val="CCFFCC"/>
          </a:solidFill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(12.1.31)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的最优解为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*,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*).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z*&lt;0,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是在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处的下降可行方向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z*=0,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则我们可以证明相应</a:t>
            </a:r>
          </a:p>
          <a:p>
            <a:pPr eaLnBrk="1" hangingPunct="1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必为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Fritz John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468313" y="2852738"/>
          <a:ext cx="80899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2" name="Equation" r:id="rId3" imgW="8089900" imgH="990600" progId="Equation.DSMT4">
                  <p:embed/>
                </p:oleObj>
              </mc:Choice>
              <mc:Fallback>
                <p:oleObj name="Equation" r:id="rId3" imgW="8089900" imgH="990600" progId="Equation.DSMT4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852738"/>
                        <a:ext cx="8089900" cy="9906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457200" y="3962400"/>
            <a:ext cx="81661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证明</a:t>
            </a:r>
            <a:r>
              <a:rPr lang="en-US" altLang="zh-CN" sz="2800">
                <a:sym typeface="Wingdings" panose="05000000000000000000" pitchFamily="2" charset="2"/>
              </a:rPr>
              <a:t>:</a:t>
            </a:r>
            <a:r>
              <a:rPr lang="zh-CN" altLang="en-US" sz="2800">
                <a:sym typeface="Wingdings" panose="05000000000000000000" pitchFamily="2" charset="2"/>
              </a:rPr>
              <a:t>问题</a:t>
            </a:r>
            <a:r>
              <a:rPr lang="en-US" altLang="zh-CN" sz="2800">
                <a:sym typeface="Wingdings" panose="05000000000000000000" pitchFamily="2" charset="2"/>
              </a:rPr>
              <a:t>(12.1.31)</a:t>
            </a:r>
            <a:r>
              <a:rPr lang="zh-CN" altLang="en-US" sz="2800">
                <a:sym typeface="Wingdings" panose="05000000000000000000" pitchFamily="2" charset="2"/>
              </a:rPr>
              <a:t>的目标函数最优值为</a:t>
            </a:r>
            <a:r>
              <a:rPr lang="en-US" altLang="zh-CN" sz="2800">
                <a:sym typeface="Wingdings" panose="05000000000000000000" pitchFamily="2" charset="2"/>
              </a:rPr>
              <a:t>0</a:t>
            </a:r>
            <a:r>
              <a:rPr lang="zh-CN" altLang="en-US" sz="2800">
                <a:sym typeface="Wingdings" panose="05000000000000000000" pitchFamily="2" charset="2"/>
              </a:rPr>
              <a:t>的充要条件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Wingdings" panose="05000000000000000000" pitchFamily="2" charset="2"/>
              </a:rPr>
              <a:t>是不等式组</a:t>
            </a:r>
            <a:endParaRPr lang="zh-CN" altLang="en-US" sz="2800"/>
          </a:p>
        </p:txBody>
      </p:sp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2195513" y="4508500"/>
          <a:ext cx="4070350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3" name="Equation" r:id="rId5" imgW="4102100" imgH="1066800" progId="Equation.DSMT4">
                  <p:embed/>
                </p:oleObj>
              </mc:Choice>
              <mc:Fallback>
                <p:oleObj name="Equation" r:id="rId5" imgW="4102100" imgH="1066800" progId="Equation.DSMT4">
                  <p:embed/>
                  <p:pic>
                    <p:nvPicPr>
                      <p:cNvPr id="3379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508500"/>
                        <a:ext cx="4070350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0" name="Rectangle 8"/>
          <p:cNvSpPr>
            <a:spLocks noChangeArrowheads="1"/>
          </p:cNvSpPr>
          <p:nvPr/>
        </p:nvSpPr>
        <p:spPr bwMode="auto">
          <a:xfrm>
            <a:off x="684213" y="5516563"/>
            <a:ext cx="895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ym typeface="Wingdings" panose="05000000000000000000" pitchFamily="2" charset="2"/>
              </a:rPr>
              <a:t>无解</a:t>
            </a:r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6804025" y="4868863"/>
            <a:ext cx="1489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ym typeface="Wingdings" panose="05000000000000000000" pitchFamily="2" charset="2"/>
              </a:rPr>
              <a:t>(12.1.32)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  <p:bldP spid="3" grpId="0"/>
      <p:bldP spid="33800" grpId="0"/>
      <p:bldP spid="3380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4635" y="961825"/>
            <a:ext cx="2590800" cy="6096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0" dirty="0"/>
              <a:t>即</a:t>
            </a:r>
          </a:p>
        </p:txBody>
      </p:sp>
      <p:graphicFrame>
        <p:nvGraphicFramePr>
          <p:cNvPr id="35845" name="Object 5"/>
          <p:cNvGraphicFramePr>
            <a:graphicFrameLocks noChangeAspect="1"/>
          </p:cNvGraphicFramePr>
          <p:nvPr/>
        </p:nvGraphicFramePr>
        <p:xfrm>
          <a:off x="1420813" y="1196975"/>
          <a:ext cx="4360862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6" name="Equation" r:id="rId3" imgW="4394160" imgH="1066680" progId="Equation.DSMT4">
                  <p:embed/>
                </p:oleObj>
              </mc:Choice>
              <mc:Fallback>
                <p:oleObj name="Equation" r:id="rId3" imgW="4394160" imgH="1066680" progId="Equation.DSMT4">
                  <p:embed/>
                  <p:pic>
                    <p:nvPicPr>
                      <p:cNvPr id="358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0813" y="1196975"/>
                        <a:ext cx="4360862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8" name="Rectangle 6"/>
          <p:cNvSpPr>
            <a:spLocks noChangeArrowheads="1"/>
          </p:cNvSpPr>
          <p:nvPr/>
        </p:nvSpPr>
        <p:spPr bwMode="auto">
          <a:xfrm>
            <a:off x="5943600" y="1752600"/>
            <a:ext cx="1489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/>
              <a:t>(12.1.33)</a:t>
            </a:r>
          </a:p>
        </p:txBody>
      </p:sp>
      <p:sp>
        <p:nvSpPr>
          <p:cNvPr id="35847" name="Rectangle 7"/>
          <p:cNvSpPr>
            <a:spLocks noChangeArrowheads="1"/>
          </p:cNvSpPr>
          <p:nvPr/>
        </p:nvSpPr>
        <p:spPr bwMode="auto">
          <a:xfrm>
            <a:off x="971550" y="2205038"/>
            <a:ext cx="882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无解</a:t>
            </a:r>
            <a:r>
              <a:rPr lang="en-US" altLang="zh-CN" sz="2800"/>
              <a:t>.</a:t>
            </a: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771236"/>
              </p:ext>
            </p:extLst>
          </p:nvPr>
        </p:nvGraphicFramePr>
        <p:xfrm>
          <a:off x="1219200" y="3410551"/>
          <a:ext cx="6061075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7" name="Equation" r:id="rId5" imgW="6108700" imgH="1346200" progId="Equation.DSMT4">
                  <p:embed/>
                </p:oleObj>
              </mc:Choice>
              <mc:Fallback>
                <p:oleObj name="Equation" r:id="rId5" imgW="6108700" imgH="1346200" progId="Equation.DSMT4">
                  <p:embed/>
                  <p:pic>
                    <p:nvPicPr>
                      <p:cNvPr id="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410551"/>
                        <a:ext cx="6061075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762000" y="4724400"/>
            <a:ext cx="3017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即 </a:t>
            </a:r>
            <a:r>
              <a:rPr lang="en-US" altLang="zh-CN" sz="2800" i="1"/>
              <a:t>x</a:t>
            </a:r>
            <a:r>
              <a:rPr lang="zh-CN" altLang="en-US" sz="2800"/>
              <a:t>是</a:t>
            </a:r>
            <a:r>
              <a:rPr lang="en-US" altLang="zh-CN" sz="2800"/>
              <a:t>Fritz John</a:t>
            </a:r>
            <a:r>
              <a:rPr lang="zh-CN" altLang="en-US" sz="2800"/>
              <a:t>点</a:t>
            </a:r>
            <a:r>
              <a:rPr lang="en-US" altLang="zh-CN" sz="2800"/>
              <a:t>.</a:t>
            </a:r>
          </a:p>
        </p:txBody>
      </p:sp>
      <p:sp>
        <p:nvSpPr>
          <p:cNvPr id="35850" name="Rectangle 10"/>
          <p:cNvSpPr>
            <a:spLocks noChangeArrowheads="1"/>
          </p:cNvSpPr>
          <p:nvPr/>
        </p:nvSpPr>
        <p:spPr bwMode="auto">
          <a:xfrm>
            <a:off x="755650" y="2781300"/>
            <a:ext cx="4832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由</a:t>
            </a:r>
            <a:r>
              <a:rPr lang="en-US" altLang="zh-CN" sz="2400" dirty="0"/>
              <a:t>Gordan</a:t>
            </a:r>
            <a:r>
              <a:rPr lang="zh-CN" altLang="en-US" sz="2400" dirty="0"/>
              <a:t>定理</a:t>
            </a:r>
            <a:r>
              <a:rPr lang="en-US" altLang="zh-CN" sz="2400" dirty="0"/>
              <a:t>,</a:t>
            </a:r>
            <a:r>
              <a:rPr lang="zh-CN" altLang="en-US" sz="2400" dirty="0"/>
              <a:t>其无解的充要条件为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5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5848" grpId="0"/>
      <p:bldP spid="35847" grpId="0"/>
      <p:bldP spid="35849" grpId="0"/>
      <p:bldP spid="3585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33137" y="971449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/>
              <a:t>为求步长</a:t>
            </a:r>
            <a:r>
              <a:rPr lang="en-US" altLang="zh-CN" sz="2800" b="0"/>
              <a:t>,</a:t>
            </a:r>
            <a:r>
              <a:rPr lang="zh-CN" altLang="en-US" sz="2800" b="0"/>
              <a:t>求解一维搜索问题</a:t>
            </a:r>
            <a:r>
              <a:rPr lang="en-US" altLang="zh-CN" sz="2800" b="0"/>
              <a:t>:</a:t>
            </a:r>
          </a:p>
        </p:txBody>
      </p:sp>
      <p:graphicFrame>
        <p:nvGraphicFramePr>
          <p:cNvPr id="36869" name="Object 5"/>
          <p:cNvGraphicFramePr>
            <a:graphicFrameLocks noChangeAspect="1"/>
          </p:cNvGraphicFramePr>
          <p:nvPr/>
        </p:nvGraphicFramePr>
        <p:xfrm>
          <a:off x="2133600" y="1676400"/>
          <a:ext cx="5003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4" name="Equation" r:id="rId3" imgW="5003800" imgH="1016000" progId="Equation.DSMT4">
                  <p:embed/>
                </p:oleObj>
              </mc:Choice>
              <mc:Fallback>
                <p:oleObj name="Equation" r:id="rId3" imgW="5003800" imgH="1016000" progId="Equation.DSMT4">
                  <p:embed/>
                  <p:pic>
                    <p:nvPicPr>
                      <p:cNvPr id="368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676400"/>
                        <a:ext cx="5003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611188" y="2924175"/>
          <a:ext cx="74803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5" name="Equation" r:id="rId5" imgW="7480300" imgH="1092200" progId="Equation.DSMT4">
                  <p:embed/>
                </p:oleObj>
              </mc:Choice>
              <mc:Fallback>
                <p:oleObj name="Equation" r:id="rId5" imgW="7480300" imgH="1092200" progId="Equation.DSMT4">
                  <p:embed/>
                  <p:pic>
                    <p:nvPicPr>
                      <p:cNvPr id="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924175"/>
                        <a:ext cx="74803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1" name="Rectangle 7"/>
          <p:cNvSpPr>
            <a:spLocks noChangeArrowheads="1"/>
          </p:cNvSpPr>
          <p:nvPr/>
        </p:nvSpPr>
        <p:spPr bwMode="auto">
          <a:xfrm>
            <a:off x="609600" y="39624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800">
                <a:solidFill>
                  <a:srgbClr val="463DF5"/>
                </a:solidFill>
              </a:rPr>
              <a:t>计算步骤</a:t>
            </a:r>
          </a:p>
        </p:txBody>
      </p:sp>
      <p:graphicFrame>
        <p:nvGraphicFramePr>
          <p:cNvPr id="36872" name="Object 8"/>
          <p:cNvGraphicFramePr>
            <a:graphicFrameLocks noChangeAspect="1"/>
          </p:cNvGraphicFramePr>
          <p:nvPr/>
        </p:nvGraphicFramePr>
        <p:xfrm>
          <a:off x="762000" y="4648200"/>
          <a:ext cx="441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6" name="Equation" r:id="rId7" imgW="4419600" imgH="431800" progId="Equation.DSMT4">
                  <p:embed/>
                </p:oleObj>
              </mc:Choice>
              <mc:Fallback>
                <p:oleObj name="Equation" r:id="rId7" imgW="4419600" imgH="431800" progId="Equation.DSMT4">
                  <p:embed/>
                  <p:pic>
                    <p:nvPicPr>
                      <p:cNvPr id="368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648200"/>
                        <a:ext cx="4419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8" name="Object 14"/>
          <p:cNvGraphicFramePr>
            <a:graphicFrameLocks noChangeAspect="1"/>
          </p:cNvGraphicFramePr>
          <p:nvPr/>
        </p:nvGraphicFramePr>
        <p:xfrm>
          <a:off x="838200" y="5334000"/>
          <a:ext cx="4406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7" name="Equation" r:id="rId9" imgW="4406900" imgH="469900" progId="Equation.DSMT4">
                  <p:embed/>
                </p:oleObj>
              </mc:Choice>
              <mc:Fallback>
                <p:oleObj name="Equation" r:id="rId9" imgW="4406900" imgH="469900" progId="Equation.DSMT4">
                  <p:embed/>
                  <p:pic>
                    <p:nvPicPr>
                      <p:cNvPr id="368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334000"/>
                        <a:ext cx="4406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8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553262"/>
              </p:ext>
            </p:extLst>
          </p:nvPr>
        </p:nvGraphicFramePr>
        <p:xfrm>
          <a:off x="2403041" y="980908"/>
          <a:ext cx="3680126" cy="1870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0" name="Equation" r:id="rId3" imgW="4445000" imgH="2260600" progId="Equation.DSMT4">
                  <p:embed/>
                </p:oleObj>
              </mc:Choice>
              <mc:Fallback>
                <p:oleObj name="Equation" r:id="rId3" imgW="4445000" imgH="2260600" progId="Equation.DSMT4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041" y="980908"/>
                        <a:ext cx="3680126" cy="18705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4" name="Object 6"/>
          <p:cNvGraphicFramePr>
            <a:graphicFrameLocks noChangeAspect="1"/>
          </p:cNvGraphicFramePr>
          <p:nvPr/>
        </p:nvGraphicFramePr>
        <p:xfrm>
          <a:off x="468313" y="2997200"/>
          <a:ext cx="792003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1" name="Equation" r:id="rId5" imgW="9080500" imgH="469900" progId="Equation.DSMT4">
                  <p:embed/>
                </p:oleObj>
              </mc:Choice>
              <mc:Fallback>
                <p:oleObj name="Equation" r:id="rId5" imgW="9080500" imgH="469900" progId="Equation.DSMT4">
                  <p:embed/>
                  <p:pic>
                    <p:nvPicPr>
                      <p:cNvPr id="378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997200"/>
                        <a:ext cx="792003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6295623"/>
              </p:ext>
            </p:extLst>
          </p:nvPr>
        </p:nvGraphicFramePr>
        <p:xfrm>
          <a:off x="2925779" y="3972243"/>
          <a:ext cx="50038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2" name="Equation" r:id="rId7" imgW="5003800" imgH="1016000" progId="Equation.DSMT4">
                  <p:embed/>
                </p:oleObj>
              </mc:Choice>
              <mc:Fallback>
                <p:oleObj name="Equation" r:id="rId7" imgW="5003800" imgH="1016000" progId="Equation.DSMT4">
                  <p:embed/>
                  <p:pic>
                    <p:nvPicPr>
                      <p:cNvPr id="37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5779" y="3972243"/>
                        <a:ext cx="50038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5585730"/>
              </p:ext>
            </p:extLst>
          </p:nvPr>
        </p:nvGraphicFramePr>
        <p:xfrm>
          <a:off x="593442" y="5070994"/>
          <a:ext cx="50403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3" name="Equation" r:id="rId9" imgW="5829300" imgH="444500" progId="Equation.DSMT4">
                  <p:embed/>
                </p:oleObj>
              </mc:Choice>
              <mc:Fallback>
                <p:oleObj name="Equation" r:id="rId9" imgW="5829300" imgH="444500" progId="Equation.DSMT4">
                  <p:embed/>
                  <p:pic>
                    <p:nvPicPr>
                      <p:cNvPr id="378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42" y="5070994"/>
                        <a:ext cx="5040312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9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902909116"/>
              </p:ext>
            </p:extLst>
          </p:nvPr>
        </p:nvGraphicFramePr>
        <p:xfrm>
          <a:off x="616017" y="5753218"/>
          <a:ext cx="54610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4" name="Equation" r:id="rId11" imgW="5626100" imgH="469900" progId="Equation.DSMT4">
                  <p:embed/>
                </p:oleObj>
              </mc:Choice>
              <mc:Fallback>
                <p:oleObj name="Equation" r:id="rId11" imgW="5626100" imgH="469900" progId="Equation.DSMT4">
                  <p:embed/>
                  <p:pic>
                    <p:nvPicPr>
                      <p:cNvPr id="378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017" y="5753218"/>
                        <a:ext cx="5461000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Rectangle 11"/>
          <p:cNvSpPr>
            <a:spLocks noChangeArrowheads="1"/>
          </p:cNvSpPr>
          <p:nvPr/>
        </p:nvSpPr>
        <p:spPr bwMode="auto">
          <a:xfrm>
            <a:off x="424080" y="3500438"/>
            <a:ext cx="2851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3,</a:t>
            </a:r>
            <a:r>
              <a:rPr lang="zh-CN" altLang="en-US" sz="2400" dirty="0"/>
              <a:t>求解一维搜索问题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8008" y="889401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463D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 </a:t>
            </a:r>
            <a:r>
              <a:rPr lang="en-US" altLang="zh-CN" sz="2800" dirty="0" err="1">
                <a:solidFill>
                  <a:srgbClr val="463D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Zoutendijk</a:t>
            </a:r>
            <a:r>
              <a:rPr lang="zh-CN" altLang="en-US" sz="2800" dirty="0">
                <a:solidFill>
                  <a:srgbClr val="463DF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算法的收敛问题</a:t>
            </a:r>
          </a:p>
        </p:txBody>
      </p:sp>
      <p:sp>
        <p:nvSpPr>
          <p:cNvPr id="38920" name="Rectangle 8"/>
          <p:cNvSpPr>
            <a:spLocks noChangeArrowheads="1"/>
          </p:cNvSpPr>
          <p:nvPr/>
        </p:nvSpPr>
        <p:spPr bwMode="auto">
          <a:xfrm>
            <a:off x="646112" y="1407323"/>
            <a:ext cx="5661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Zoutendijk</a:t>
            </a:r>
            <a:r>
              <a:rPr lang="zh-CN" altLang="en-US" sz="2400"/>
              <a:t>算法映射</a:t>
            </a:r>
            <a:r>
              <a:rPr lang="en-US" altLang="zh-CN" sz="2400"/>
              <a:t>A</a:t>
            </a:r>
            <a:r>
              <a:rPr lang="zh-CN" altLang="en-US" sz="2400"/>
              <a:t>是</a:t>
            </a:r>
            <a:r>
              <a:rPr lang="en-US" altLang="zh-CN" sz="2400"/>
              <a:t>M</a:t>
            </a:r>
            <a:r>
              <a:rPr lang="zh-CN" altLang="en-US" sz="2400"/>
              <a:t>和</a:t>
            </a:r>
            <a:r>
              <a:rPr lang="en-US" altLang="zh-CN" sz="2400"/>
              <a:t>D</a:t>
            </a:r>
            <a:r>
              <a:rPr lang="zh-CN" altLang="en-US" sz="2400"/>
              <a:t>的合成映射</a:t>
            </a:r>
            <a:r>
              <a:rPr lang="en-US" altLang="zh-CN" sz="2400"/>
              <a:t>.</a:t>
            </a:r>
          </a:p>
        </p:txBody>
      </p:sp>
      <p:sp>
        <p:nvSpPr>
          <p:cNvPr id="38921" name="Rectangle 9"/>
          <p:cNvSpPr>
            <a:spLocks noChangeArrowheads="1"/>
          </p:cNvSpPr>
          <p:nvPr/>
        </p:nvSpPr>
        <p:spPr bwMode="auto">
          <a:xfrm>
            <a:off x="755650" y="1844675"/>
            <a:ext cx="544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/>
              <a:t>其中</a:t>
            </a:r>
            <a:r>
              <a:rPr lang="en-US" altLang="zh-CN" sz="2400"/>
              <a:t>D</a:t>
            </a:r>
            <a:r>
              <a:rPr lang="zh-CN" altLang="en-US" sz="2400"/>
              <a:t>是确定搜索方向的映射</a:t>
            </a:r>
            <a:r>
              <a:rPr lang="en-US" altLang="zh-CN" sz="2400"/>
              <a:t>,</a:t>
            </a:r>
            <a:r>
              <a:rPr lang="zh-CN" altLang="en-US" sz="2400"/>
              <a:t>它定义为</a:t>
            </a:r>
            <a:r>
              <a:rPr lang="en-US" altLang="zh-CN" sz="2400"/>
              <a:t>:</a:t>
            </a:r>
          </a:p>
        </p:txBody>
      </p:sp>
      <p:sp>
        <p:nvSpPr>
          <p:cNvPr id="38922" name="Rectangle 10"/>
          <p:cNvSpPr>
            <a:spLocks noChangeArrowheads="1"/>
          </p:cNvSpPr>
          <p:nvPr/>
        </p:nvSpPr>
        <p:spPr bwMode="auto">
          <a:xfrm>
            <a:off x="971550" y="2327275"/>
            <a:ext cx="72009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solidFill>
                  <a:srgbClr val="463DF5"/>
                </a:solidFill>
              </a:rPr>
              <a:t>每给定一个可行点</a:t>
            </a:r>
            <a:r>
              <a:rPr lang="en-US" altLang="zh-CN" sz="2400" i="1" dirty="0">
                <a:solidFill>
                  <a:srgbClr val="463DF5"/>
                </a:solidFill>
              </a:rPr>
              <a:t>x</a:t>
            </a:r>
            <a:r>
              <a:rPr lang="en-US" altLang="zh-CN" sz="2400" dirty="0">
                <a:solidFill>
                  <a:srgbClr val="463DF5"/>
                </a:solidFill>
              </a:rPr>
              <a:t>,</a:t>
            </a:r>
            <a:r>
              <a:rPr lang="zh-CN" altLang="en-US" sz="2400" dirty="0">
                <a:solidFill>
                  <a:srgbClr val="463DF5"/>
                </a:solidFill>
              </a:rPr>
              <a:t>通过解</a:t>
            </a:r>
            <a:r>
              <a:rPr lang="en-US" altLang="zh-CN" sz="2400" dirty="0">
                <a:solidFill>
                  <a:srgbClr val="463DF5"/>
                </a:solidFill>
              </a:rPr>
              <a:t>(12.1.10),</a:t>
            </a:r>
            <a:r>
              <a:rPr lang="zh-CN" altLang="en-US" sz="2400" dirty="0">
                <a:solidFill>
                  <a:srgbClr val="463DF5"/>
                </a:solidFill>
              </a:rPr>
              <a:t>确定下降可行方向</a:t>
            </a:r>
            <a:r>
              <a:rPr lang="en-US" altLang="zh-CN" sz="2400" i="1" dirty="0">
                <a:solidFill>
                  <a:srgbClr val="463DF5"/>
                </a:solidFill>
              </a:rPr>
              <a:t>d</a:t>
            </a:r>
            <a:r>
              <a:rPr lang="en-US" altLang="zh-CN" sz="2400" dirty="0">
                <a:solidFill>
                  <a:srgbClr val="463DF5"/>
                </a:solidFill>
              </a:rPr>
              <a:t>,</a:t>
            </a:r>
            <a:r>
              <a:rPr lang="zh-CN" altLang="en-US" sz="2400" dirty="0">
                <a:solidFill>
                  <a:srgbClr val="463DF5"/>
                </a:solidFill>
              </a:rPr>
              <a:t>从而得到</a:t>
            </a:r>
            <a:r>
              <a:rPr lang="en-US" altLang="zh-CN" sz="2400" dirty="0">
                <a:solidFill>
                  <a:srgbClr val="463DF5"/>
                </a:solidFill>
              </a:rPr>
              <a:t>(</a:t>
            </a:r>
            <a:r>
              <a:rPr lang="en-US" altLang="zh-CN" sz="2400" i="1" dirty="0" err="1">
                <a:solidFill>
                  <a:srgbClr val="463DF5"/>
                </a:solidFill>
              </a:rPr>
              <a:t>x</a:t>
            </a:r>
            <a:r>
              <a:rPr lang="en-US" altLang="zh-CN" sz="2400" dirty="0" err="1">
                <a:solidFill>
                  <a:srgbClr val="463DF5"/>
                </a:solidFill>
              </a:rPr>
              <a:t>,</a:t>
            </a:r>
            <a:r>
              <a:rPr lang="en-US" altLang="zh-CN" sz="2400" i="1" dirty="0" err="1">
                <a:solidFill>
                  <a:srgbClr val="463DF5"/>
                </a:solidFill>
              </a:rPr>
              <a:t>d</a:t>
            </a:r>
            <a:r>
              <a:rPr lang="en-US" altLang="zh-CN" sz="2400" dirty="0">
                <a:solidFill>
                  <a:srgbClr val="463DF5"/>
                </a:solidFill>
              </a:rPr>
              <a:t>),</a:t>
            </a:r>
            <a:r>
              <a:rPr lang="zh-CN" altLang="en-US" sz="2400" dirty="0">
                <a:solidFill>
                  <a:srgbClr val="463DF5"/>
                </a:solidFill>
              </a:rPr>
              <a:t>即 </a:t>
            </a:r>
            <a:r>
              <a:rPr lang="en-US" altLang="zh-CN" sz="2400" dirty="0">
                <a:solidFill>
                  <a:srgbClr val="463DF5"/>
                </a:solidFill>
              </a:rPr>
              <a:t>(</a:t>
            </a:r>
            <a:r>
              <a:rPr lang="en-US" altLang="zh-CN" sz="2400" i="1" dirty="0" err="1">
                <a:solidFill>
                  <a:srgbClr val="463DF5"/>
                </a:solidFill>
              </a:rPr>
              <a:t>x</a:t>
            </a:r>
            <a:r>
              <a:rPr lang="en-US" altLang="zh-CN" sz="2400" dirty="0" err="1">
                <a:solidFill>
                  <a:srgbClr val="463DF5"/>
                </a:solidFill>
              </a:rPr>
              <a:t>,</a:t>
            </a:r>
            <a:r>
              <a:rPr lang="en-US" altLang="zh-CN" sz="2400" i="1" dirty="0" err="1">
                <a:solidFill>
                  <a:srgbClr val="463DF5"/>
                </a:solidFill>
              </a:rPr>
              <a:t>d</a:t>
            </a:r>
            <a:r>
              <a:rPr lang="en-US" altLang="zh-CN" sz="2400" dirty="0">
                <a:solidFill>
                  <a:srgbClr val="463DF5"/>
                </a:solidFill>
              </a:rPr>
              <a:t>)</a:t>
            </a:r>
            <a:r>
              <a:rPr lang="en-US" altLang="zh-CN" sz="2400" dirty="0">
                <a:solidFill>
                  <a:srgbClr val="463DF5"/>
                </a:solidFill>
                <a:sym typeface="Symbol" panose="05050102010706020507" pitchFamily="18" charset="2"/>
              </a:rPr>
              <a:t>D(</a:t>
            </a:r>
            <a:r>
              <a:rPr lang="en-US" altLang="zh-CN" sz="2400" i="1" dirty="0">
                <a:solidFill>
                  <a:srgbClr val="463DF5"/>
                </a:solidFill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olidFill>
                  <a:srgbClr val="463DF5"/>
                </a:solidFill>
                <a:sym typeface="Symbol" panose="05050102010706020507" pitchFamily="18" charset="2"/>
              </a:rPr>
              <a:t>)</a:t>
            </a:r>
            <a:endParaRPr lang="en-US" altLang="zh-CN" sz="2400" dirty="0">
              <a:solidFill>
                <a:srgbClr val="463DF5"/>
              </a:solidFill>
            </a:endParaRPr>
          </a:p>
        </p:txBody>
      </p:sp>
      <p:sp>
        <p:nvSpPr>
          <p:cNvPr id="38923" name="Rectangle 11"/>
          <p:cNvSpPr>
            <a:spLocks noChangeArrowheads="1"/>
          </p:cNvSpPr>
          <p:nvPr/>
        </p:nvSpPr>
        <p:spPr bwMode="auto">
          <a:xfrm>
            <a:off x="539750" y="3213100"/>
            <a:ext cx="8135938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2400"/>
              <a:t>因此</a:t>
            </a:r>
            <a:r>
              <a:rPr lang="en-US" altLang="zh-CN" sz="2400"/>
              <a:t>,D</a:t>
            </a:r>
            <a:r>
              <a:rPr lang="zh-CN" altLang="en-US" sz="2400"/>
              <a:t>是</a:t>
            </a:r>
            <a:r>
              <a:rPr lang="en-US" altLang="zh-CN" sz="2400"/>
              <a:t>E</a:t>
            </a:r>
            <a:r>
              <a:rPr lang="en-US" altLang="zh-CN" sz="2400" baseline="30000"/>
              <a:t>n</a:t>
            </a:r>
            <a:r>
              <a:rPr lang="zh-CN" altLang="en-US" sz="2400"/>
              <a:t>到</a:t>
            </a:r>
            <a:r>
              <a:rPr lang="en-US" altLang="zh-CN" sz="2400"/>
              <a:t>E</a:t>
            </a:r>
            <a:r>
              <a:rPr lang="en-US" altLang="zh-CN" sz="2400" baseline="30000"/>
              <a:t>n</a:t>
            </a:r>
            <a:r>
              <a:rPr lang="en-US" altLang="zh-CN" sz="2400"/>
              <a:t>×E</a:t>
            </a:r>
            <a:r>
              <a:rPr lang="en-US" altLang="zh-CN" sz="2400" baseline="30000"/>
              <a:t>n</a:t>
            </a:r>
            <a:r>
              <a:rPr lang="zh-CN" altLang="en-US" sz="2400"/>
              <a:t>的映射</a:t>
            </a:r>
            <a:r>
              <a:rPr lang="en-US" altLang="zh-CN" sz="2400"/>
              <a:t>.M</a:t>
            </a:r>
            <a:r>
              <a:rPr lang="zh-CN" altLang="en-US" sz="2400"/>
              <a:t>是一维搜索的映射</a:t>
            </a:r>
            <a:r>
              <a:rPr lang="en-US" altLang="zh-CN" sz="2400"/>
              <a:t>,</a:t>
            </a:r>
            <a:r>
              <a:rPr lang="zh-CN" altLang="en-US" sz="2400"/>
              <a:t>它是</a:t>
            </a:r>
            <a:r>
              <a:rPr lang="en-US" altLang="zh-CN" sz="2400"/>
              <a:t>E</a:t>
            </a:r>
            <a:r>
              <a:rPr lang="en-US" altLang="zh-CN" sz="2400" baseline="30000"/>
              <a:t>n</a:t>
            </a:r>
            <a:r>
              <a:rPr lang="en-US" altLang="zh-CN" sz="2400"/>
              <a:t>×E</a:t>
            </a:r>
            <a:r>
              <a:rPr lang="en-US" altLang="zh-CN" sz="2400" baseline="30000"/>
              <a:t>n</a:t>
            </a:r>
          </a:p>
          <a:p>
            <a:pPr eaLnBrk="1" hangingPunct="1">
              <a:buFontTx/>
              <a:buNone/>
            </a:pPr>
            <a:r>
              <a:rPr lang="zh-CN" altLang="en-US" sz="2400"/>
              <a:t>到</a:t>
            </a:r>
            <a:r>
              <a:rPr lang="en-US" altLang="zh-CN" sz="2400"/>
              <a:t>E</a:t>
            </a:r>
            <a:r>
              <a:rPr lang="en-US" altLang="zh-CN" sz="2400" baseline="30000"/>
              <a:t>n</a:t>
            </a:r>
            <a:r>
              <a:rPr lang="zh-CN" altLang="en-US" sz="2400"/>
              <a:t>的映射</a:t>
            </a:r>
            <a:r>
              <a:rPr lang="en-US" altLang="zh-CN" sz="2400"/>
              <a:t>,</a:t>
            </a:r>
            <a:r>
              <a:rPr lang="zh-CN" altLang="en-US" sz="2400"/>
              <a:t>即每一个点</a:t>
            </a:r>
            <a:r>
              <a:rPr lang="en-US" altLang="zh-CN" sz="2400" i="1"/>
              <a:t>x</a:t>
            </a:r>
            <a:r>
              <a:rPr lang="zh-CN" altLang="en-US" sz="2400"/>
              <a:t>和一下降可行方向</a:t>
            </a:r>
            <a:r>
              <a:rPr lang="en-US" altLang="zh-CN" sz="2400" i="1"/>
              <a:t>d</a:t>
            </a:r>
            <a:r>
              <a:rPr lang="en-US" altLang="zh-CN" sz="2400"/>
              <a:t>,</a:t>
            </a:r>
            <a:r>
              <a:rPr lang="zh-CN" altLang="en-US" sz="2400"/>
              <a:t>通过求解问题</a:t>
            </a:r>
          </a:p>
        </p:txBody>
      </p:sp>
      <p:sp>
        <p:nvSpPr>
          <p:cNvPr id="38924" name="Rectangle 12"/>
          <p:cNvSpPr>
            <a:spLocks noChangeArrowheads="1"/>
          </p:cNvSpPr>
          <p:nvPr/>
        </p:nvSpPr>
        <p:spPr bwMode="auto">
          <a:xfrm>
            <a:off x="3276600" y="4076700"/>
            <a:ext cx="439102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400"/>
              <a:t>Min </a:t>
            </a:r>
            <a:r>
              <a:rPr lang="en-US" altLang="zh-CN" sz="2400" i="1"/>
              <a:t>f</a:t>
            </a:r>
            <a:r>
              <a:rPr lang="en-US" altLang="zh-CN" sz="2400"/>
              <a:t>(</a:t>
            </a:r>
            <a:r>
              <a:rPr lang="en-US" altLang="zh-CN" sz="2400" i="1"/>
              <a:t>x</a:t>
            </a:r>
            <a:r>
              <a:rPr lang="en-US" altLang="zh-CN" sz="2400"/>
              <a:t>+ </a:t>
            </a:r>
            <a:r>
              <a:rPr lang="en-US" altLang="zh-CN" sz="2400">
                <a:sym typeface="Symbol" panose="05050102010706020507" pitchFamily="18" charset="2"/>
              </a:rPr>
              <a:t></a:t>
            </a:r>
            <a:r>
              <a:rPr lang="en-US" altLang="zh-CN" sz="2400" i="1"/>
              <a:t>d </a:t>
            </a:r>
            <a:r>
              <a:rPr lang="en-US" altLang="zh-CN" sz="2400"/>
              <a:t>)</a:t>
            </a:r>
          </a:p>
          <a:p>
            <a:pPr eaLnBrk="1" hangingPunct="1">
              <a:buFontTx/>
              <a:buNone/>
            </a:pPr>
            <a:r>
              <a:rPr lang="en-US" altLang="zh-CN" sz="2400"/>
              <a:t>s.t. </a:t>
            </a:r>
            <a:r>
              <a:rPr lang="en-US" altLang="zh-CN" sz="2400" i="1"/>
              <a:t>x</a:t>
            </a:r>
            <a:r>
              <a:rPr lang="en-US" altLang="zh-CN" sz="2400"/>
              <a:t>+ </a:t>
            </a:r>
            <a:r>
              <a:rPr lang="en-US" altLang="zh-CN" sz="2400">
                <a:sym typeface="Symbol" panose="05050102010706020507" pitchFamily="18" charset="2"/>
              </a:rPr>
              <a:t></a:t>
            </a:r>
            <a:r>
              <a:rPr lang="en-US" altLang="zh-CN" sz="2400"/>
              <a:t> </a:t>
            </a:r>
            <a:r>
              <a:rPr lang="en-US" altLang="zh-CN" sz="2400" i="1"/>
              <a:t>d </a:t>
            </a:r>
            <a:r>
              <a:rPr lang="en-US" altLang="zh-CN" sz="2400">
                <a:sym typeface="Symbol" panose="05050102010706020507" pitchFamily="18" charset="2"/>
              </a:rPr>
              <a:t></a:t>
            </a:r>
            <a:r>
              <a:rPr lang="en-US" altLang="zh-CN" sz="2400" i="1">
                <a:sym typeface="Symbol" panose="05050102010706020507" pitchFamily="18" charset="2"/>
              </a:rPr>
              <a:t>S</a:t>
            </a:r>
            <a:endParaRPr lang="en-US" altLang="zh-CN" sz="2400" i="1"/>
          </a:p>
          <a:p>
            <a:pPr eaLnBrk="1" hangingPunct="1">
              <a:buFontTx/>
              <a:buNone/>
            </a:pPr>
            <a:r>
              <a:rPr lang="en-US" altLang="zh-CN" sz="2400"/>
              <a:t>     </a:t>
            </a:r>
            <a:r>
              <a:rPr lang="en-US" altLang="zh-CN" sz="2400">
                <a:sym typeface="Symbol" panose="05050102010706020507" pitchFamily="18" charset="2"/>
              </a:rPr>
              <a:t>         </a:t>
            </a:r>
            <a:r>
              <a:rPr lang="en-US" altLang="zh-CN" sz="2400">
                <a:sym typeface="Wingdings" panose="05000000000000000000" pitchFamily="2" charset="2"/>
              </a:rPr>
              <a:t>(S</a:t>
            </a:r>
            <a:r>
              <a:rPr lang="zh-CN" altLang="en-US" sz="2400">
                <a:sym typeface="Wingdings" panose="05000000000000000000" pitchFamily="2" charset="2"/>
              </a:rPr>
              <a:t>为可行域</a:t>
            </a:r>
            <a:r>
              <a:rPr lang="en-US" altLang="zh-CN" sz="2400">
                <a:sym typeface="Wingdings" panose="05000000000000000000" pitchFamily="2" charset="2"/>
              </a:rPr>
              <a:t>),</a:t>
            </a:r>
          </a:p>
        </p:txBody>
      </p:sp>
      <p:sp>
        <p:nvSpPr>
          <p:cNvPr id="38925" name="Rectangle 13"/>
          <p:cNvSpPr>
            <a:spLocks noChangeArrowheads="1"/>
          </p:cNvSpPr>
          <p:nvPr/>
        </p:nvSpPr>
        <p:spPr bwMode="auto">
          <a:xfrm>
            <a:off x="684213" y="5949950"/>
            <a:ext cx="3808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ym typeface="Symbol" panose="05050102010706020507" pitchFamily="18" charset="2"/>
              </a:rPr>
              <a:t>注意</a:t>
            </a:r>
            <a:r>
              <a:rPr lang="en-US" altLang="zh-CN" sz="2400">
                <a:sym typeface="Symbol" panose="05050102010706020507" pitchFamily="18" charset="2"/>
              </a:rPr>
              <a:t>:D</a:t>
            </a:r>
            <a:r>
              <a:rPr lang="zh-CN" altLang="en-US" sz="2400">
                <a:sym typeface="Symbol" panose="05050102010706020507" pitchFamily="18" charset="2"/>
              </a:rPr>
              <a:t>和</a:t>
            </a:r>
            <a:r>
              <a:rPr lang="en-US" altLang="zh-CN" sz="2400">
                <a:sym typeface="Symbol" panose="05050102010706020507" pitchFamily="18" charset="2"/>
              </a:rPr>
              <a:t>M</a:t>
            </a:r>
            <a:r>
              <a:rPr lang="zh-CN" altLang="en-US" sz="2400">
                <a:sym typeface="Symbol" panose="05050102010706020507" pitchFamily="18" charset="2"/>
              </a:rPr>
              <a:t>不一定是闭映射</a:t>
            </a:r>
          </a:p>
        </p:txBody>
      </p:sp>
      <p:sp>
        <p:nvSpPr>
          <p:cNvPr id="38926" name="Rectangle 14"/>
          <p:cNvSpPr>
            <a:spLocks noChangeArrowheads="1"/>
          </p:cNvSpPr>
          <p:nvPr/>
        </p:nvSpPr>
        <p:spPr bwMode="auto">
          <a:xfrm>
            <a:off x="685800" y="5445125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>
                <a:sym typeface="Wingdings" panose="05000000000000000000" pitchFamily="2" charset="2"/>
              </a:rPr>
              <a:t>确定最优解</a:t>
            </a:r>
            <a:r>
              <a:rPr lang="en-US" altLang="zh-CN" sz="2400" i="1">
                <a:sym typeface="Wingdings" panose="05000000000000000000" pitchFamily="2" charset="2"/>
              </a:rPr>
              <a:t>y</a:t>
            </a:r>
            <a:r>
              <a:rPr lang="en-US" altLang="zh-CN" sz="2400">
                <a:sym typeface="Wingdings" panose="05000000000000000000" pitchFamily="2" charset="2"/>
              </a:rPr>
              <a:t>(</a:t>
            </a:r>
            <a:r>
              <a:rPr lang="zh-CN" altLang="en-US" sz="2400">
                <a:sym typeface="Wingdings" panose="05000000000000000000" pitchFamily="2" charset="2"/>
              </a:rPr>
              <a:t>在连接</a:t>
            </a:r>
            <a:r>
              <a:rPr lang="en-US" altLang="zh-CN" sz="2400" i="1">
                <a:sym typeface="Wingdings" panose="05000000000000000000" pitchFamily="2" charset="2"/>
              </a:rPr>
              <a:t>x</a:t>
            </a:r>
            <a:r>
              <a:rPr lang="zh-CN" altLang="en-US" sz="2400">
                <a:sym typeface="Wingdings" panose="05000000000000000000" pitchFamily="2" charset="2"/>
              </a:rPr>
              <a:t>和</a:t>
            </a:r>
            <a:r>
              <a:rPr lang="en-US" altLang="zh-CN" sz="2400" i="1">
                <a:sym typeface="Wingdings" panose="05000000000000000000" pitchFamily="2" charset="2"/>
              </a:rPr>
              <a:t>x</a:t>
            </a:r>
            <a:r>
              <a:rPr lang="en-US" altLang="zh-CN" sz="2400">
                <a:sym typeface="Wingdings" panose="05000000000000000000" pitchFamily="2" charset="2"/>
              </a:rPr>
              <a:t>+</a:t>
            </a:r>
            <a:r>
              <a:rPr lang="en-US" altLang="zh-CN" sz="2400">
                <a:sym typeface="Symbol" panose="05050102010706020507" pitchFamily="18" charset="2"/>
              </a:rPr>
              <a:t></a:t>
            </a:r>
            <a:r>
              <a:rPr lang="en-US" altLang="zh-CN" sz="1800">
                <a:sym typeface="Symbol" panose="05050102010706020507" pitchFamily="18" charset="2"/>
              </a:rPr>
              <a:t>max </a:t>
            </a:r>
            <a:r>
              <a:rPr lang="en-US" altLang="zh-CN" sz="2400" i="1">
                <a:sym typeface="Wingdings" panose="05000000000000000000" pitchFamily="2" charset="2"/>
              </a:rPr>
              <a:t>d</a:t>
            </a:r>
            <a:r>
              <a:rPr lang="zh-CN" altLang="en-US" sz="2400">
                <a:sym typeface="Wingdings" panose="05000000000000000000" pitchFamily="2" charset="2"/>
              </a:rPr>
              <a:t>的线段上</a:t>
            </a:r>
            <a:r>
              <a:rPr lang="en-US" altLang="zh-CN" sz="2400">
                <a:sym typeface="Wingdings" panose="05000000000000000000" pitchFamily="2" charset="2"/>
              </a:rPr>
              <a:t>),</a:t>
            </a:r>
            <a:r>
              <a:rPr lang="en-US" altLang="zh-CN" sz="2400" i="1">
                <a:sym typeface="Wingdings" panose="05000000000000000000" pitchFamily="2" charset="2"/>
              </a:rPr>
              <a:t>y</a:t>
            </a:r>
            <a:r>
              <a:rPr lang="en-US" altLang="zh-CN" sz="2400">
                <a:sym typeface="Symbol" panose="05050102010706020507" pitchFamily="18" charset="2"/>
              </a:rPr>
              <a:t>M(</a:t>
            </a:r>
            <a:r>
              <a:rPr lang="en-US" altLang="zh-CN" sz="2400" i="1">
                <a:sym typeface="Symbol" panose="05050102010706020507" pitchFamily="18" charset="2"/>
              </a:rPr>
              <a:t>x</a:t>
            </a:r>
            <a:r>
              <a:rPr lang="en-US" altLang="zh-CN" sz="2400">
                <a:sym typeface="Symbol" panose="05050102010706020507" pitchFamily="18" charset="2"/>
              </a:rPr>
              <a:t>,</a:t>
            </a:r>
            <a:r>
              <a:rPr lang="en-US" altLang="zh-CN" sz="2400" i="1">
                <a:sym typeface="Symbol" panose="05050102010706020507" pitchFamily="18" charset="2"/>
              </a:rPr>
              <a:t>d</a:t>
            </a:r>
            <a:r>
              <a:rPr lang="en-US" altLang="zh-CN" sz="2400">
                <a:sym typeface="Symbol" panose="05050102010706020507" pitchFamily="18" charset="2"/>
              </a:rPr>
              <a:t>).</a:t>
            </a:r>
            <a:endParaRPr lang="en-US" altLang="zh-CN" sz="240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8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0" grpId="0"/>
      <p:bldP spid="38921" grpId="0"/>
      <p:bldP spid="38922" grpId="0"/>
      <p:bldP spid="38923" grpId="0"/>
      <p:bldP spid="38924" grpId="0"/>
      <p:bldP spid="38925" grpId="0"/>
      <p:bldP spid="389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92506" y="981075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 dirty="0"/>
              <a:t>例</a:t>
            </a:r>
            <a:r>
              <a:rPr lang="en-US" altLang="zh-CN" sz="2800" b="0" dirty="0"/>
              <a:t>1:</a:t>
            </a:r>
            <a:r>
              <a:rPr lang="zh-CN" altLang="en-US" sz="2800" b="0" dirty="0"/>
              <a:t>考虑下列问题</a:t>
            </a:r>
          </a:p>
        </p:txBody>
      </p:sp>
      <p:graphicFrame>
        <p:nvGraphicFramePr>
          <p:cNvPr id="39943" name="Object 5"/>
          <p:cNvGraphicFramePr>
            <a:graphicFrameLocks noChangeAspect="1"/>
          </p:cNvGraphicFramePr>
          <p:nvPr/>
        </p:nvGraphicFramePr>
        <p:xfrm>
          <a:off x="3419475" y="1125538"/>
          <a:ext cx="32004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8" name="Equation" r:id="rId3" imgW="3200400" imgH="2057400" progId="Equation.DSMT4">
                  <p:embed/>
                </p:oleObj>
              </mc:Choice>
              <mc:Fallback>
                <p:oleObj name="Equation" r:id="rId3" imgW="3200400" imgH="2057400" progId="Equation.DSMT4">
                  <p:embed/>
                  <p:pic>
                    <p:nvPicPr>
                      <p:cNvPr id="3994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1125538"/>
                        <a:ext cx="32004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Line 6"/>
          <p:cNvSpPr>
            <a:spLocks noChangeShapeType="1"/>
          </p:cNvSpPr>
          <p:nvPr/>
        </p:nvSpPr>
        <p:spPr bwMode="auto">
          <a:xfrm>
            <a:off x="5410200" y="5486400"/>
            <a:ext cx="3352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3" name="Line 7"/>
          <p:cNvSpPr>
            <a:spLocks noChangeShapeType="1"/>
          </p:cNvSpPr>
          <p:nvPr/>
        </p:nvSpPr>
        <p:spPr bwMode="auto">
          <a:xfrm flipV="1">
            <a:off x="6477000" y="3581400"/>
            <a:ext cx="0" cy="266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6477000" y="44196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395288" y="3429000"/>
          <a:ext cx="5753100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39" name="Equation" r:id="rId5" imgW="5753100" imgH="2095500" progId="Equation.DSMT4">
                  <p:embed/>
                </p:oleObj>
              </mc:Choice>
              <mc:Fallback>
                <p:oleObj name="Equation" r:id="rId5" imgW="5753100" imgH="2095500" progId="Equation.DSMT4">
                  <p:embed/>
                  <p:pic>
                    <p:nvPicPr>
                      <p:cNvPr id="3482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429000"/>
                        <a:ext cx="5753100" cy="209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064" name="Object 1024"/>
          <p:cNvGraphicFramePr>
            <a:graphicFrameLocks noChangeAspect="1"/>
          </p:cNvGraphicFramePr>
          <p:nvPr/>
        </p:nvGraphicFramePr>
        <p:xfrm>
          <a:off x="3924300" y="1412875"/>
          <a:ext cx="23622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0" name="Equation" r:id="rId3" imgW="2362200" imgH="1511300" progId="Equation.DSMT4">
                  <p:embed/>
                </p:oleObj>
              </mc:Choice>
              <mc:Fallback>
                <p:oleObj name="Equation" r:id="rId3" imgW="2362200" imgH="1511300" progId="Equation.DSMT4">
                  <p:embed/>
                  <p:pic>
                    <p:nvPicPr>
                      <p:cNvPr id="88064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412875"/>
                        <a:ext cx="23622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5" name="Object 1025"/>
          <p:cNvGraphicFramePr>
            <a:graphicFrameLocks noChangeAspect="1"/>
          </p:cNvGraphicFramePr>
          <p:nvPr/>
        </p:nvGraphicFramePr>
        <p:xfrm>
          <a:off x="250825" y="981075"/>
          <a:ext cx="5334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1" name="Equation" r:id="rId5" imgW="5334000" imgH="393700" progId="Equation.DSMT4">
                  <p:embed/>
                </p:oleObj>
              </mc:Choice>
              <mc:Fallback>
                <p:oleObj name="Equation" r:id="rId5" imgW="5334000" imgH="393700" progId="Equation.DSMT4">
                  <p:embed/>
                  <p:pic>
                    <p:nvPicPr>
                      <p:cNvPr id="88065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981075"/>
                        <a:ext cx="5334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6" name="Object 1026"/>
          <p:cNvGraphicFramePr>
            <a:graphicFrameLocks noChangeAspect="1"/>
          </p:cNvGraphicFramePr>
          <p:nvPr/>
        </p:nvGraphicFramePr>
        <p:xfrm>
          <a:off x="468313" y="2565400"/>
          <a:ext cx="2870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2" name="Equation" r:id="rId7" imgW="2870200" imgH="393700" progId="Equation.DSMT4">
                  <p:embed/>
                </p:oleObj>
              </mc:Choice>
              <mc:Fallback>
                <p:oleObj name="Equation" r:id="rId7" imgW="2870200" imgH="393700" progId="Equation.DSMT4">
                  <p:embed/>
                  <p:pic>
                    <p:nvPicPr>
                      <p:cNvPr id="88066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2565400"/>
                        <a:ext cx="2870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7" name="Object 1027"/>
          <p:cNvGraphicFramePr>
            <a:graphicFrameLocks noChangeAspect="1"/>
          </p:cNvGraphicFramePr>
          <p:nvPr/>
        </p:nvGraphicFramePr>
        <p:xfrm>
          <a:off x="2916238" y="2997200"/>
          <a:ext cx="13716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3" name="Equation" r:id="rId9" imgW="1371600" imgH="1016000" progId="Equation.DSMT4">
                  <p:embed/>
                </p:oleObj>
              </mc:Choice>
              <mc:Fallback>
                <p:oleObj name="Equation" r:id="rId9" imgW="1371600" imgH="1016000" progId="Equation.DSMT4">
                  <p:embed/>
                  <p:pic>
                    <p:nvPicPr>
                      <p:cNvPr id="88067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997200"/>
                        <a:ext cx="13716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68" name="Object 1028"/>
          <p:cNvGraphicFramePr>
            <a:graphicFrameLocks noChangeAspect="1"/>
          </p:cNvGraphicFramePr>
          <p:nvPr/>
        </p:nvGraphicFramePr>
        <p:xfrm>
          <a:off x="468313" y="4076700"/>
          <a:ext cx="760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4" name="Equation" r:id="rId11" imgW="7607300" imgH="508000" progId="Equation.DSMT4">
                  <p:embed/>
                </p:oleObj>
              </mc:Choice>
              <mc:Fallback>
                <p:oleObj name="Equation" r:id="rId11" imgW="7607300" imgH="508000" progId="Equation.DSMT4">
                  <p:embed/>
                  <p:pic>
                    <p:nvPicPr>
                      <p:cNvPr id="88068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4076700"/>
                        <a:ext cx="7607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029"/>
          <p:cNvGraphicFramePr>
            <a:graphicFrameLocks noChangeAspect="1"/>
          </p:cNvGraphicFramePr>
          <p:nvPr/>
        </p:nvGraphicFramePr>
        <p:xfrm>
          <a:off x="2700338" y="4652963"/>
          <a:ext cx="26924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55" name="Equation" r:id="rId13" imgW="2692400" imgH="965200" progId="Equation.DSMT4">
                  <p:embed/>
                </p:oleObj>
              </mc:Choice>
              <mc:Fallback>
                <p:oleObj name="Equation" r:id="rId13" imgW="2692400" imgH="965200" progId="Equation.DSMT4">
                  <p:embed/>
                  <p:pic>
                    <p:nvPicPr>
                      <p:cNvPr id="40971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652963"/>
                        <a:ext cx="26924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8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8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88" name="Object 1024"/>
          <p:cNvGraphicFramePr>
            <a:graphicFrameLocks noChangeAspect="1"/>
          </p:cNvGraphicFramePr>
          <p:nvPr/>
        </p:nvGraphicFramePr>
        <p:xfrm>
          <a:off x="604838" y="1052513"/>
          <a:ext cx="4000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0" name="Equation" r:id="rId3" imgW="4000500" imgH="508000" progId="Equation.DSMT4">
                  <p:embed/>
                </p:oleObj>
              </mc:Choice>
              <mc:Fallback>
                <p:oleObj name="Equation" r:id="rId3" imgW="4000500" imgH="508000" progId="Equation.DSMT4">
                  <p:embed/>
                  <p:pic>
                    <p:nvPicPr>
                      <p:cNvPr id="89088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1052513"/>
                        <a:ext cx="4000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89" name="Object 1025"/>
          <p:cNvGraphicFramePr>
            <a:graphicFrameLocks noChangeAspect="1"/>
          </p:cNvGraphicFramePr>
          <p:nvPr/>
        </p:nvGraphicFramePr>
        <p:xfrm>
          <a:off x="2771775" y="1484313"/>
          <a:ext cx="23749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1" name="Equation" r:id="rId5" imgW="2374900" imgH="2057400" progId="Equation.DSMT4">
                  <p:embed/>
                </p:oleObj>
              </mc:Choice>
              <mc:Fallback>
                <p:oleObj name="Equation" r:id="rId5" imgW="2374900" imgH="2057400" progId="Equation.DSMT4">
                  <p:embed/>
                  <p:pic>
                    <p:nvPicPr>
                      <p:cNvPr id="89089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484313"/>
                        <a:ext cx="23749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0" name="Object 1026"/>
          <p:cNvGraphicFramePr>
            <a:graphicFrameLocks noChangeAspect="1"/>
          </p:cNvGraphicFramePr>
          <p:nvPr/>
        </p:nvGraphicFramePr>
        <p:xfrm>
          <a:off x="468313" y="3716338"/>
          <a:ext cx="5003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2" name="Equation" r:id="rId7" imgW="5003800" imgH="406400" progId="Equation.DSMT4">
                  <p:embed/>
                </p:oleObj>
              </mc:Choice>
              <mc:Fallback>
                <p:oleObj name="Equation" r:id="rId7" imgW="5003800" imgH="406400" progId="Equation.DSMT4">
                  <p:embed/>
                  <p:pic>
                    <p:nvPicPr>
                      <p:cNvPr id="8909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716338"/>
                        <a:ext cx="5003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1" name="Object 1027"/>
          <p:cNvGraphicFramePr>
            <a:graphicFrameLocks noChangeAspect="1"/>
          </p:cNvGraphicFramePr>
          <p:nvPr/>
        </p:nvGraphicFramePr>
        <p:xfrm>
          <a:off x="3059113" y="4249738"/>
          <a:ext cx="1282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33" name="Equation" r:id="rId9" imgW="1282700" imgH="1016000" progId="Equation.DSMT4">
                  <p:embed/>
                </p:oleObj>
              </mc:Choice>
              <mc:Fallback>
                <p:oleObj name="Equation" r:id="rId9" imgW="1282700" imgH="1016000" progId="Equation.DSMT4">
                  <p:embed/>
                  <p:pic>
                    <p:nvPicPr>
                      <p:cNvPr id="89091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249738"/>
                        <a:ext cx="12827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9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0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9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611188" y="1019175"/>
          <a:ext cx="3479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2" name="Equation" r:id="rId3" imgW="3479800" imgH="660400" progId="Equation.DSMT4">
                  <p:embed/>
                </p:oleObj>
              </mc:Choice>
              <mc:Fallback>
                <p:oleObj name="Equation" r:id="rId3" imgW="3479800" imgH="660400" progId="Equation.DSMT4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019175"/>
                        <a:ext cx="3479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/>
        </p:nvGraphicFramePr>
        <p:xfrm>
          <a:off x="611188" y="1628775"/>
          <a:ext cx="67945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3" name="Equation" r:id="rId5" imgW="6794500" imgH="1625600" progId="Equation.DSMT4">
                  <p:embed/>
                </p:oleObj>
              </mc:Choice>
              <mc:Fallback>
                <p:oleObj name="Equation" r:id="rId5" imgW="6794500" imgH="1625600" progId="Equation.DSMT4">
                  <p:embed/>
                  <p:pic>
                    <p:nvPicPr>
                      <p:cNvPr id="419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628775"/>
                        <a:ext cx="679450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/>
        </p:nvGraphicFramePr>
        <p:xfrm>
          <a:off x="684213" y="3644900"/>
          <a:ext cx="76708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4" name="Equation" r:id="rId7" imgW="7670800" imgH="1511300" progId="Equation.DSMT4">
                  <p:embed/>
                </p:oleObj>
              </mc:Choice>
              <mc:Fallback>
                <p:oleObj name="Equation" r:id="rId7" imgW="7670800" imgH="1511300" progId="Equation.DSMT4">
                  <p:embed/>
                  <p:pic>
                    <p:nvPicPr>
                      <p:cNvPr id="419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3644900"/>
                        <a:ext cx="76708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56135" y="1052513"/>
            <a:ext cx="5776913" cy="700087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dirty="0"/>
              <a:t>1.4 </a:t>
            </a:r>
            <a:r>
              <a:rPr lang="en-US" altLang="zh-CN" sz="2800" dirty="0" err="1"/>
              <a:t>Topkis-Veinott</a:t>
            </a:r>
            <a:r>
              <a:rPr lang="zh-CN" altLang="en-US" sz="2800" dirty="0"/>
              <a:t>修正</a:t>
            </a:r>
          </a:p>
        </p:txBody>
      </p:sp>
      <p:sp>
        <p:nvSpPr>
          <p:cNvPr id="44039" name="Rectangle 6"/>
          <p:cNvSpPr>
            <a:spLocks noChangeArrowheads="1"/>
          </p:cNvSpPr>
          <p:nvPr/>
        </p:nvSpPr>
        <p:spPr bwMode="auto">
          <a:xfrm>
            <a:off x="762000" y="1752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/>
              <a:t>Topkis</a:t>
            </a:r>
            <a:r>
              <a:rPr lang="zh-CN" altLang="en-US" sz="2800"/>
              <a:t>和</a:t>
            </a:r>
            <a:r>
              <a:rPr lang="en-US" altLang="zh-CN" sz="2800"/>
              <a:t>Veinott</a:t>
            </a:r>
            <a:r>
              <a:rPr lang="zh-CN" altLang="en-US" sz="2800"/>
              <a:t>对</a:t>
            </a:r>
            <a:r>
              <a:rPr lang="en-US" altLang="zh-CN" sz="2800"/>
              <a:t>Zoutendijk</a:t>
            </a:r>
            <a:r>
              <a:rPr lang="zh-CN" altLang="en-US" sz="2800"/>
              <a:t>算法进行了修正</a:t>
            </a:r>
            <a:r>
              <a:rPr lang="en-US" altLang="zh-CN" sz="2800"/>
              <a:t>.</a:t>
            </a:r>
            <a:r>
              <a:rPr lang="zh-CN" altLang="en-US" sz="2800"/>
              <a:t>把</a:t>
            </a:r>
          </a:p>
          <a:p>
            <a:pPr eaLnBrk="1" hangingPunct="1">
              <a:buFontTx/>
              <a:buNone/>
            </a:pPr>
            <a:r>
              <a:rPr lang="zh-CN" altLang="en-US" sz="2800"/>
              <a:t>求方向的</a:t>
            </a:r>
            <a:r>
              <a:rPr lang="en-US" altLang="zh-CN" sz="2800"/>
              <a:t>LP</a:t>
            </a:r>
            <a:r>
              <a:rPr lang="zh-CN" altLang="en-US" sz="2800"/>
              <a:t>换为</a:t>
            </a:r>
            <a:r>
              <a:rPr lang="en-US" altLang="zh-CN" sz="2800"/>
              <a:t>:</a:t>
            </a:r>
          </a:p>
        </p:txBody>
      </p:sp>
      <p:graphicFrame>
        <p:nvGraphicFramePr>
          <p:cNvPr id="44040" name="Object 7"/>
          <p:cNvGraphicFramePr>
            <a:graphicFrameLocks noChangeAspect="1"/>
          </p:cNvGraphicFramePr>
          <p:nvPr/>
        </p:nvGraphicFramePr>
        <p:xfrm>
          <a:off x="1835150" y="2636838"/>
          <a:ext cx="623728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2" name="Equation" r:id="rId3" imgW="6286500" imgH="2260600" progId="Equation.DSMT4">
                  <p:embed/>
                </p:oleObj>
              </mc:Choice>
              <mc:Fallback>
                <p:oleObj name="Equation" r:id="rId3" imgW="6286500" imgH="2260600" progId="Equation.DSMT4">
                  <p:embed/>
                  <p:pic>
                    <p:nvPicPr>
                      <p:cNvPr id="4404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636838"/>
                        <a:ext cx="6237288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5010" y="272783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Topkis-Veinott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修正算法</a:t>
            </a:r>
          </a:p>
        </p:txBody>
      </p:sp>
      <p:graphicFrame>
        <p:nvGraphicFramePr>
          <p:cNvPr id="450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418142"/>
              </p:ext>
            </p:extLst>
          </p:nvPr>
        </p:nvGraphicFramePr>
        <p:xfrm>
          <a:off x="723499" y="1116531"/>
          <a:ext cx="4419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2" name="Equation" r:id="rId3" imgW="4419600" imgH="431800" progId="Equation.DSMT4">
                  <p:embed/>
                </p:oleObj>
              </mc:Choice>
              <mc:Fallback>
                <p:oleObj name="Equation" r:id="rId3" imgW="4419600" imgH="431800" progId="Equation.DSMT4">
                  <p:embed/>
                  <p:pic>
                    <p:nvPicPr>
                      <p:cNvPr id="4506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499" y="1116531"/>
                        <a:ext cx="4419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0476981"/>
              </p:ext>
            </p:extLst>
          </p:nvPr>
        </p:nvGraphicFramePr>
        <p:xfrm>
          <a:off x="704248" y="1745381"/>
          <a:ext cx="123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3" name="Equation" r:id="rId5" imgW="1231366" imgH="406224" progId="Equation.DSMT4">
                  <p:embed/>
                </p:oleObj>
              </mc:Choice>
              <mc:Fallback>
                <p:oleObj name="Equation" r:id="rId5" imgW="1231366" imgH="406224" progId="Equation.DSMT4">
                  <p:embed/>
                  <p:pic>
                    <p:nvPicPr>
                      <p:cNvPr id="4506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48" y="1745381"/>
                        <a:ext cx="12319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300307"/>
              </p:ext>
            </p:extLst>
          </p:nvPr>
        </p:nvGraphicFramePr>
        <p:xfrm>
          <a:off x="731520" y="4730014"/>
          <a:ext cx="6705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4" name="Equation" r:id="rId7" imgW="6705600" imgH="1066800" progId="Equation.DSMT4">
                  <p:embed/>
                </p:oleObj>
              </mc:Choice>
              <mc:Fallback>
                <p:oleObj name="Equation" r:id="rId7" imgW="6705600" imgH="1066800" progId="Equation.DSMT4">
                  <p:embed/>
                  <p:pic>
                    <p:nvPicPr>
                      <p:cNvPr id="4506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" y="4730014"/>
                        <a:ext cx="6705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804863"/>
              </p:ext>
            </p:extLst>
          </p:nvPr>
        </p:nvGraphicFramePr>
        <p:xfrm>
          <a:off x="1141396" y="2213008"/>
          <a:ext cx="6237288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5" name="Equation" r:id="rId9" imgW="6286500" imgH="2260600" progId="Equation.DSMT4">
                  <p:embed/>
                </p:oleObj>
              </mc:Choice>
              <mc:Fallback>
                <p:oleObj name="Equation" r:id="rId9" imgW="6286500" imgH="2260600" progId="Equation.DSMT4">
                  <p:embed/>
                  <p:pic>
                    <p:nvPicPr>
                      <p:cNvPr id="4506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1396" y="2213008"/>
                        <a:ext cx="6237288" cy="224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3137" y="173254"/>
            <a:ext cx="5410200" cy="838200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600" dirty="0"/>
              <a:t>1. </a:t>
            </a:r>
            <a:r>
              <a:rPr lang="en-US" altLang="zh-CN" sz="3200" dirty="0" err="1">
                <a:ea typeface="楷体_GB2312" pitchFamily="49" charset="-122"/>
              </a:rPr>
              <a:t>Zoutendijk</a:t>
            </a:r>
            <a:r>
              <a:rPr lang="zh-CN" altLang="en-US" sz="3200" dirty="0">
                <a:latin typeface="楷体_GB2312" pitchFamily="49" charset="-122"/>
                <a:ea typeface="楷体_GB2312" pitchFamily="49" charset="-122"/>
              </a:rPr>
              <a:t>可行方向法</a:t>
            </a:r>
          </a:p>
        </p:txBody>
      </p:sp>
      <p:graphicFrame>
        <p:nvGraphicFramePr>
          <p:cNvPr id="46086" name="Object 5"/>
          <p:cNvGraphicFramePr>
            <a:graphicFrameLocks noChangeAspect="1"/>
          </p:cNvGraphicFramePr>
          <p:nvPr/>
        </p:nvGraphicFramePr>
        <p:xfrm>
          <a:off x="4648200" y="2743200"/>
          <a:ext cx="1752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8" name="Equation" r:id="rId3" imgW="1752600" imgH="444500" progId="Equation.DSMT4">
                  <p:embed/>
                </p:oleObj>
              </mc:Choice>
              <mc:Fallback>
                <p:oleObj name="Equation" r:id="rId3" imgW="1752600" imgH="444500" progId="Equation.DSMT4">
                  <p:embed/>
                  <p:pic>
                    <p:nvPicPr>
                      <p:cNvPr id="4608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2743200"/>
                        <a:ext cx="1752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6"/>
          <p:cNvGraphicFramePr>
            <a:graphicFrameLocks noChangeAspect="1"/>
          </p:cNvGraphicFramePr>
          <p:nvPr/>
        </p:nvGraphicFramePr>
        <p:xfrm>
          <a:off x="609600" y="3276600"/>
          <a:ext cx="5613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49" name="Equation" r:id="rId5" imgW="5613400" imgH="469900" progId="Equation.DSMT4">
                  <p:embed/>
                </p:oleObj>
              </mc:Choice>
              <mc:Fallback>
                <p:oleObj name="Equation" r:id="rId5" imgW="5613400" imgH="469900" progId="Equation.DSMT4">
                  <p:embed/>
                  <p:pic>
                    <p:nvPicPr>
                      <p:cNvPr id="4608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276600"/>
                        <a:ext cx="5613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Rectangle 11"/>
          <p:cNvSpPr>
            <a:spLocks noChangeArrowheads="1"/>
          </p:cNvSpPr>
          <p:nvPr/>
        </p:nvSpPr>
        <p:spPr bwMode="auto">
          <a:xfrm>
            <a:off x="381000" y="1066800"/>
            <a:ext cx="5867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sz="2800"/>
              <a:t>4,</a:t>
            </a:r>
            <a:r>
              <a:rPr lang="zh-CN" altLang="en-US" sz="2800"/>
              <a:t>求解一维搜索问题</a:t>
            </a:r>
          </a:p>
        </p:txBody>
      </p:sp>
      <p:graphicFrame>
        <p:nvGraphicFramePr>
          <p:cNvPr id="46089" name="Object 12"/>
          <p:cNvGraphicFramePr>
            <a:graphicFrameLocks noChangeAspect="1"/>
          </p:cNvGraphicFramePr>
          <p:nvPr/>
        </p:nvGraphicFramePr>
        <p:xfrm>
          <a:off x="2667000" y="1600200"/>
          <a:ext cx="3263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0" name="Equation" r:id="rId7" imgW="3263900" imgH="1016000" progId="Equation.DSMT4">
                  <p:embed/>
                </p:oleObj>
              </mc:Choice>
              <mc:Fallback>
                <p:oleObj name="Equation" r:id="rId7" imgW="3263900" imgH="1016000" progId="Equation.DSMT4">
                  <p:embed/>
                  <p:pic>
                    <p:nvPicPr>
                      <p:cNvPr id="4608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600200"/>
                        <a:ext cx="3263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0" name="Object 13"/>
          <p:cNvGraphicFramePr>
            <a:graphicFrameLocks noChangeAspect="1"/>
          </p:cNvGraphicFramePr>
          <p:nvPr/>
        </p:nvGraphicFramePr>
        <p:xfrm>
          <a:off x="685800" y="2743200"/>
          <a:ext cx="3911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1" name="Equation" r:id="rId9" imgW="3911600" imgH="444500" progId="Equation.DSMT4">
                  <p:embed/>
                </p:oleObj>
              </mc:Choice>
              <mc:Fallback>
                <p:oleObj name="Equation" r:id="rId9" imgW="3911600" imgH="444500" progId="Equation.DSMT4">
                  <p:embed/>
                  <p:pic>
                    <p:nvPicPr>
                      <p:cNvPr id="4609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743200"/>
                        <a:ext cx="39116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466019"/>
              </p:ext>
            </p:extLst>
          </p:nvPr>
        </p:nvGraphicFramePr>
        <p:xfrm>
          <a:off x="486075" y="4443663"/>
          <a:ext cx="82677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52" name="Equation" r:id="rId11" imgW="8267700" imgH="1600200" progId="Equation.DSMT4">
                  <p:embed/>
                </p:oleObj>
              </mc:Choice>
              <mc:Fallback>
                <p:oleObj name="Equation" r:id="rId11" imgW="8267700" imgH="1600200" progId="Equation.DSMT4">
                  <p:embed/>
                  <p:pic>
                    <p:nvPicPr>
                      <p:cNvPr id="5121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75" y="4443663"/>
                        <a:ext cx="82677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88913"/>
            <a:ext cx="7127875" cy="720725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600" b="1" dirty="0">
                <a:latin typeface="楷体_GB2312" pitchFamily="49" charset="-122"/>
                <a:ea typeface="楷体_GB2312" pitchFamily="49" charset="-122"/>
              </a:rPr>
              <a:t>2. Rosen</a:t>
            </a:r>
            <a:r>
              <a:rPr lang="zh-CN" altLang="en-US" sz="3600" b="1" dirty="0">
                <a:latin typeface="楷体_GB2312" pitchFamily="49" charset="-122"/>
                <a:ea typeface="楷体_GB2312" pitchFamily="49" charset="-122"/>
              </a:rPr>
              <a:t>梯度投影法</a:t>
            </a:r>
          </a:p>
        </p:txBody>
      </p:sp>
      <p:graphicFrame>
        <p:nvGraphicFramePr>
          <p:cNvPr id="73731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540934967"/>
              </p:ext>
            </p:extLst>
          </p:nvPr>
        </p:nvGraphicFramePr>
        <p:xfrm>
          <a:off x="635000" y="1082675"/>
          <a:ext cx="7559675" cy="236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6" name="Equation" r:id="rId3" imgW="3771720" imgH="1180800" progId="Equation.DSMT4">
                  <p:embed/>
                </p:oleObj>
              </mc:Choice>
              <mc:Fallback>
                <p:oleObj name="Equation" r:id="rId3" imgW="3771720" imgH="1180800" progId="Equation.DSMT4">
                  <p:embed/>
                  <p:pic>
                    <p:nvPicPr>
                      <p:cNvPr id="737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" y="1082675"/>
                        <a:ext cx="7559675" cy="236696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644793769"/>
              </p:ext>
            </p:extLst>
          </p:nvPr>
        </p:nvGraphicFramePr>
        <p:xfrm>
          <a:off x="650875" y="3621088"/>
          <a:ext cx="6962775" cy="205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7" name="Equation" r:id="rId5" imgW="3187440" imgH="939600" progId="Equation.DSMT4">
                  <p:embed/>
                </p:oleObj>
              </mc:Choice>
              <mc:Fallback>
                <p:oleObj name="Equation" r:id="rId5" imgW="3187440" imgH="939600" progId="Equation.DSMT4">
                  <p:embed/>
                  <p:pic>
                    <p:nvPicPr>
                      <p:cNvPr id="737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875" y="3621088"/>
                        <a:ext cx="6962775" cy="205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5" name="Object 3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31715762"/>
              </p:ext>
            </p:extLst>
          </p:nvPr>
        </p:nvGraphicFramePr>
        <p:xfrm>
          <a:off x="539015" y="981075"/>
          <a:ext cx="7605713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8" name="Equation" r:id="rId3" imgW="3352680" imgH="774360" progId="Equation.DSMT4">
                  <p:embed/>
                </p:oleObj>
              </mc:Choice>
              <mc:Fallback>
                <p:oleObj name="Equation" r:id="rId3" imgW="3352680" imgH="774360" progId="Equation.DSMT4">
                  <p:embed/>
                  <p:pic>
                    <p:nvPicPr>
                      <p:cNvPr id="747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015" y="981075"/>
                        <a:ext cx="7605713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6" name="Rectangle 4"/>
          <p:cNvSpPr>
            <a:spLocks noChangeArrowheads="1"/>
          </p:cNvSpPr>
          <p:nvPr/>
        </p:nvSpPr>
        <p:spPr bwMode="auto">
          <a:xfrm>
            <a:off x="487680" y="3090079"/>
            <a:ext cx="7828547" cy="2677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命题</a:t>
            </a:r>
            <a:r>
              <a:rPr lang="en-US" altLang="zh-CN" sz="2800" dirty="0"/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 </a:t>
            </a:r>
            <a:r>
              <a:rPr lang="en-US" altLang="zh-CN" sz="2800" dirty="0"/>
              <a:t>(1)</a:t>
            </a:r>
            <a:r>
              <a:rPr lang="zh-CN" altLang="en-US" sz="2800" dirty="0"/>
              <a:t>投影矩阵的特征根或者为</a:t>
            </a:r>
            <a:r>
              <a:rPr lang="en-US" altLang="zh-CN" sz="2800" dirty="0"/>
              <a:t>0,</a:t>
            </a:r>
            <a:r>
              <a:rPr lang="zh-CN" altLang="en-US" sz="2800" dirty="0"/>
              <a:t>或者为</a:t>
            </a:r>
            <a:r>
              <a:rPr lang="en-US" altLang="zh-CN" sz="2800" dirty="0"/>
              <a:t>1;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矩阵</a:t>
            </a:r>
            <a:r>
              <a:rPr lang="en-US" altLang="zh-CN" sz="2800" dirty="0"/>
              <a:t>P</a:t>
            </a:r>
            <a:r>
              <a:rPr lang="zh-CN" altLang="en-US" sz="2800" dirty="0"/>
              <a:t>为</a:t>
            </a:r>
            <a:r>
              <a:rPr lang="en-US" altLang="zh-CN" sz="2800" dirty="0"/>
              <a:t>(</a:t>
            </a:r>
            <a:r>
              <a:rPr lang="zh-CN" altLang="en-US" sz="2800" dirty="0"/>
              <a:t>正交</a:t>
            </a:r>
            <a:r>
              <a:rPr lang="en-US" altLang="zh-CN" sz="2800" dirty="0"/>
              <a:t>)</a:t>
            </a:r>
            <a:r>
              <a:rPr lang="zh-CN" altLang="en-US" sz="2800" dirty="0"/>
              <a:t>投影矩阵当且仅当</a:t>
            </a:r>
            <a:r>
              <a:rPr lang="en-US" altLang="zh-CN" sz="2800" dirty="0"/>
              <a:t>I-P</a:t>
            </a:r>
            <a:r>
              <a:rPr lang="zh-CN" altLang="en-US" sz="2800" dirty="0"/>
              <a:t>为</a:t>
            </a:r>
            <a:r>
              <a:rPr lang="en-US" altLang="zh-CN" sz="2800" dirty="0"/>
              <a:t>(</a:t>
            </a:r>
            <a:r>
              <a:rPr lang="zh-CN" altLang="en-US" sz="2800" dirty="0"/>
              <a:t>正交</a:t>
            </a:r>
            <a:r>
              <a:rPr lang="en-US" altLang="zh-CN" sz="2800" dirty="0"/>
              <a:t>)</a:t>
            </a:r>
            <a:r>
              <a:rPr lang="zh-CN" altLang="en-US" sz="2800" dirty="0"/>
              <a:t>投影矩阵</a:t>
            </a:r>
            <a:r>
              <a:rPr lang="en-US" altLang="zh-CN" sz="2800" dirty="0"/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/>
              <a:t>(3)</a:t>
            </a:r>
            <a:r>
              <a:rPr lang="zh-CN" altLang="en-US" sz="2800" dirty="0"/>
              <a:t>对于正交投影矩阵</a:t>
            </a:r>
            <a:r>
              <a:rPr lang="en-US" altLang="zh-CN" sz="2800" dirty="0"/>
              <a:t>P,</a:t>
            </a:r>
            <a:r>
              <a:rPr lang="zh-CN" altLang="en-US" sz="2800" dirty="0"/>
              <a:t>其值空间</a:t>
            </a:r>
            <a:r>
              <a:rPr lang="en-US" altLang="zh-CN" sz="2800" dirty="0"/>
              <a:t>R(P)</a:t>
            </a:r>
            <a:r>
              <a:rPr lang="zh-CN" altLang="en-US" sz="2800" dirty="0"/>
              <a:t>和</a:t>
            </a:r>
            <a:r>
              <a:rPr lang="en-US" altLang="zh-CN" sz="2800" dirty="0"/>
              <a:t>N(P)</a:t>
            </a:r>
            <a:r>
              <a:rPr lang="zh-CN" altLang="en-US" sz="2800" dirty="0"/>
              <a:t>是互补且正交的线性子空间</a:t>
            </a:r>
            <a:r>
              <a:rPr lang="en-US" altLang="zh-CN" sz="2800" dirty="0"/>
              <a:t>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8EE15A9-A0A7-40CE-BCDC-0024212839D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913"/>
            <a:ext cx="7127875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kern="0">
                <a:latin typeface="楷体_GB2312" pitchFamily="49" charset="-122"/>
                <a:ea typeface="楷体_GB2312" pitchFamily="49" charset="-122"/>
              </a:rPr>
              <a:t>2. Rosen</a:t>
            </a:r>
            <a:r>
              <a:rPr lang="zh-CN" altLang="en-US" sz="3600" kern="0">
                <a:latin typeface="楷体_GB2312" pitchFamily="49" charset="-122"/>
                <a:ea typeface="楷体_GB2312" pitchFamily="49" charset="-122"/>
              </a:rPr>
              <a:t>梯度投影法</a:t>
            </a:r>
            <a:endParaRPr lang="zh-CN" altLang="en-US" sz="3600" kern="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79134" y="985303"/>
            <a:ext cx="8137525" cy="2016125"/>
          </a:xfrm>
          <a:prstGeom prst="rect">
            <a:avLst/>
          </a:prstGeo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400" b="0" dirty="0">
                <a:solidFill>
                  <a:srgbClr val="463DF5"/>
                </a:solidFill>
                <a:latin typeface="+mj-ea"/>
                <a:ea typeface="+mj-ea"/>
              </a:rPr>
              <a:t>基本思想</a:t>
            </a:r>
            <a:r>
              <a:rPr lang="en-US" altLang="zh-CN" sz="2400" b="0" dirty="0">
                <a:solidFill>
                  <a:schemeClr val="accent2"/>
                </a:solidFill>
                <a:latin typeface="+mj-ea"/>
                <a:ea typeface="+mj-ea"/>
              </a:rPr>
              <a:t>:</a:t>
            </a:r>
            <a:r>
              <a:rPr lang="zh-CN" altLang="en-US" sz="2400" b="0" dirty="0">
                <a:latin typeface="+mj-ea"/>
                <a:ea typeface="+mj-ea"/>
              </a:rPr>
              <a:t>用积极约束系数矩阵的行向量生成一个法向量子空间</a:t>
            </a:r>
            <a:r>
              <a:rPr lang="en-US" altLang="zh-CN" sz="2400" b="0" dirty="0">
                <a:latin typeface="+mj-ea"/>
                <a:ea typeface="+mj-ea"/>
              </a:rPr>
              <a:t>,</a:t>
            </a:r>
            <a:r>
              <a:rPr lang="zh-CN" altLang="en-US" sz="2400" b="0" dirty="0">
                <a:latin typeface="+mj-ea"/>
                <a:ea typeface="+mj-ea"/>
              </a:rPr>
              <a:t>将目标函数的负梯度方向正交投影到该法向子空间的正交补中</a:t>
            </a:r>
            <a:r>
              <a:rPr lang="en-US" altLang="zh-CN" sz="2400" b="0" dirty="0">
                <a:latin typeface="+mj-ea"/>
                <a:ea typeface="+mj-ea"/>
              </a:rPr>
              <a:t>,</a:t>
            </a:r>
            <a:r>
              <a:rPr lang="zh-CN" altLang="en-US" sz="2400" b="0" dirty="0">
                <a:latin typeface="+mj-ea"/>
                <a:ea typeface="+mj-ea"/>
              </a:rPr>
              <a:t>获得一个使目标函数下降的可行方向</a:t>
            </a:r>
            <a:r>
              <a:rPr lang="en-US" altLang="zh-CN" sz="2400" b="0" dirty="0">
                <a:latin typeface="+mj-ea"/>
                <a:ea typeface="+mj-ea"/>
              </a:rPr>
              <a:t>;</a:t>
            </a:r>
            <a:r>
              <a:rPr lang="zh-CN" altLang="en-US" sz="2400" b="0" dirty="0">
                <a:latin typeface="+mj-ea"/>
                <a:ea typeface="+mj-ea"/>
              </a:rPr>
              <a:t>然后</a:t>
            </a:r>
            <a:r>
              <a:rPr lang="en-US" altLang="zh-CN" sz="2400" b="0" dirty="0">
                <a:latin typeface="+mj-ea"/>
                <a:ea typeface="+mj-ea"/>
              </a:rPr>
              <a:t>,</a:t>
            </a:r>
            <a:r>
              <a:rPr lang="zh-CN" altLang="en-US" sz="2400" b="0" dirty="0">
                <a:latin typeface="+mj-ea"/>
                <a:ea typeface="+mj-ea"/>
              </a:rPr>
              <a:t>从当前的迭代点出发</a:t>
            </a:r>
            <a:r>
              <a:rPr lang="en-US" altLang="zh-CN" sz="2400" b="0" dirty="0">
                <a:latin typeface="+mj-ea"/>
                <a:ea typeface="+mj-ea"/>
              </a:rPr>
              <a:t>,</a:t>
            </a:r>
            <a:r>
              <a:rPr lang="zh-CN" altLang="en-US" sz="2400" b="0" dirty="0">
                <a:latin typeface="+mj-ea"/>
                <a:ea typeface="+mj-ea"/>
              </a:rPr>
              <a:t>沿着使目标函数下降的可行方向搜索</a:t>
            </a:r>
            <a:r>
              <a:rPr lang="en-US" altLang="zh-CN" sz="2400" b="0" dirty="0">
                <a:latin typeface="+mj-ea"/>
                <a:ea typeface="+mj-ea"/>
              </a:rPr>
              <a:t>,</a:t>
            </a:r>
            <a:r>
              <a:rPr lang="zh-CN" altLang="en-US" sz="2400" b="0" dirty="0">
                <a:latin typeface="+mj-ea"/>
                <a:ea typeface="+mj-ea"/>
              </a:rPr>
              <a:t>寻找一个新的改进点</a:t>
            </a:r>
            <a:r>
              <a:rPr lang="en-US" altLang="zh-CN" sz="2400" b="0" dirty="0">
                <a:latin typeface="+mj-ea"/>
                <a:ea typeface="+mj-ea"/>
              </a:rPr>
              <a:t>,</a:t>
            </a:r>
            <a:r>
              <a:rPr lang="zh-CN" altLang="en-US" sz="2400" b="0" dirty="0">
                <a:latin typeface="+mj-ea"/>
                <a:ea typeface="+mj-ea"/>
              </a:rPr>
              <a:t>直到得到约束优化问题     </a:t>
            </a:r>
            <a:r>
              <a:rPr lang="en-US" altLang="zh-CN" sz="2400" b="0" dirty="0">
                <a:latin typeface="+mj-ea"/>
                <a:ea typeface="+mj-ea"/>
              </a:rPr>
              <a:t>(LCO)</a:t>
            </a:r>
            <a:r>
              <a:rPr lang="zh-CN" altLang="en-US" sz="2400" b="0" dirty="0">
                <a:latin typeface="+mj-ea"/>
                <a:ea typeface="+mj-ea"/>
              </a:rPr>
              <a:t>的一个</a:t>
            </a:r>
            <a:r>
              <a:rPr lang="en-US" altLang="zh-CN" sz="2400" b="0" dirty="0">
                <a:latin typeface="+mj-ea"/>
                <a:ea typeface="+mj-ea"/>
              </a:rPr>
              <a:t>KKT</a:t>
            </a:r>
            <a:r>
              <a:rPr lang="zh-CN" altLang="en-US" sz="2400" b="0" dirty="0">
                <a:latin typeface="+mj-ea"/>
                <a:ea typeface="+mj-ea"/>
              </a:rPr>
              <a:t>点</a:t>
            </a:r>
            <a:r>
              <a:rPr lang="en-US" altLang="zh-CN" sz="2400" b="0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75779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09869652"/>
              </p:ext>
            </p:extLst>
          </p:nvPr>
        </p:nvGraphicFramePr>
        <p:xfrm>
          <a:off x="548758" y="3441416"/>
          <a:ext cx="8162106" cy="2352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3" name="Equation" r:id="rId3" imgW="4228920" imgH="1218960" progId="Equation.DSMT4">
                  <p:embed/>
                </p:oleObj>
              </mc:Choice>
              <mc:Fallback>
                <p:oleObj name="Equation" r:id="rId3" imgW="4228920" imgH="1218960" progId="Equation.DSMT4">
                  <p:embed/>
                  <p:pic>
                    <p:nvPicPr>
                      <p:cNvPr id="757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58" y="3441416"/>
                        <a:ext cx="8162106" cy="23529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5B188F92-8D80-4A8C-89A8-D70F733434B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913"/>
            <a:ext cx="7127875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kern="0">
                <a:latin typeface="楷体_GB2312" pitchFamily="49" charset="-122"/>
                <a:ea typeface="楷体_GB2312" pitchFamily="49" charset="-122"/>
              </a:rPr>
              <a:t>2. Rosen</a:t>
            </a:r>
            <a:r>
              <a:rPr lang="zh-CN" altLang="en-US" sz="3600" kern="0">
                <a:latin typeface="楷体_GB2312" pitchFamily="49" charset="-122"/>
                <a:ea typeface="楷体_GB2312" pitchFamily="49" charset="-122"/>
              </a:rPr>
              <a:t>梯度投影法</a:t>
            </a:r>
            <a:endParaRPr lang="zh-CN" altLang="en-US" sz="3600" kern="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028563093"/>
              </p:ext>
            </p:extLst>
          </p:nvPr>
        </p:nvGraphicFramePr>
        <p:xfrm>
          <a:off x="702645" y="1194335"/>
          <a:ext cx="7847013" cy="439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6" name="Equation" r:id="rId3" imgW="4038480" imgH="2260440" progId="Equation.DSMT4">
                  <p:embed/>
                </p:oleObj>
              </mc:Choice>
              <mc:Fallback>
                <p:oleObj name="Equation" r:id="rId3" imgW="4038480" imgH="2260440" progId="Equation.DSMT4">
                  <p:embed/>
                  <p:pic>
                    <p:nvPicPr>
                      <p:cNvPr id="768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645" y="1194335"/>
                        <a:ext cx="7847013" cy="439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A48B95A-8646-4FF9-AB7F-B71A8ED8672F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913"/>
            <a:ext cx="7127875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kern="0">
                <a:latin typeface="楷体_GB2312" pitchFamily="49" charset="-122"/>
                <a:ea typeface="楷体_GB2312" pitchFamily="49" charset="-122"/>
              </a:rPr>
              <a:t>2. Rosen</a:t>
            </a:r>
            <a:r>
              <a:rPr lang="zh-CN" altLang="en-US" sz="3600" kern="0">
                <a:latin typeface="楷体_GB2312" pitchFamily="49" charset="-122"/>
                <a:ea typeface="楷体_GB2312" pitchFamily="49" charset="-122"/>
              </a:rPr>
              <a:t>梯度投影法</a:t>
            </a:r>
            <a:endParaRPr lang="zh-CN" altLang="en-US" sz="3600" kern="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8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24739010"/>
              </p:ext>
            </p:extLst>
          </p:nvPr>
        </p:nvGraphicFramePr>
        <p:xfrm>
          <a:off x="336883" y="1511718"/>
          <a:ext cx="8312150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80" name="Equation" r:id="rId3" imgW="4356000" imgH="2565360" progId="Equation.DSMT4">
                  <p:embed/>
                </p:oleObj>
              </mc:Choice>
              <mc:Fallback>
                <p:oleObj name="Equation" r:id="rId3" imgW="4356000" imgH="2565360" progId="Equation.DSMT4">
                  <p:embed/>
                  <p:pic>
                    <p:nvPicPr>
                      <p:cNvPr id="778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883" y="1511718"/>
                        <a:ext cx="8312150" cy="489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98450" y="765176"/>
            <a:ext cx="4002088" cy="606426"/>
            <a:chOff x="162" y="482"/>
            <a:chExt cx="2521" cy="382"/>
          </a:xfrm>
        </p:grpSpPr>
        <p:sp>
          <p:nvSpPr>
            <p:cNvPr id="51208" name="Rectangle 6"/>
            <p:cNvSpPr>
              <a:spLocks noChangeArrowheads="1"/>
            </p:cNvSpPr>
            <p:nvPr/>
          </p:nvSpPr>
          <p:spPr bwMode="auto">
            <a:xfrm>
              <a:off x="1927" y="482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/>
                <a:t>0</a:t>
              </a:r>
            </a:p>
          </p:txBody>
        </p:sp>
        <p:sp>
          <p:nvSpPr>
            <p:cNvPr id="51209" name="Rectangle 7"/>
            <p:cNvSpPr>
              <a:spLocks noChangeArrowheads="1"/>
            </p:cNvSpPr>
            <p:nvPr/>
          </p:nvSpPr>
          <p:spPr bwMode="auto">
            <a:xfrm>
              <a:off x="162" y="576"/>
              <a:ext cx="25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400" b="1" i="1" dirty="0">
                  <a:solidFill>
                    <a:srgbClr val="FF5050"/>
                  </a:solidFill>
                </a:rPr>
                <a:t>步</a:t>
              </a:r>
              <a:r>
                <a:rPr lang="en-US" altLang="zh-CN" sz="2400" b="1" i="1" dirty="0">
                  <a:solidFill>
                    <a:srgbClr val="FF5050"/>
                  </a:solidFill>
                </a:rPr>
                <a:t>1  </a:t>
              </a:r>
              <a:r>
                <a:rPr lang="en-US" altLang="zh-CN" sz="2400" b="1" dirty="0"/>
                <a:t>(</a:t>
              </a:r>
              <a:r>
                <a:rPr lang="zh-CN" altLang="en-US" sz="2400" b="1" dirty="0"/>
                <a:t>初始化</a:t>
              </a:r>
              <a:r>
                <a:rPr lang="en-US" altLang="zh-CN" sz="2400" b="1" dirty="0"/>
                <a:t>)</a:t>
              </a:r>
              <a:r>
                <a:rPr lang="zh-CN" altLang="en-US" sz="2400" b="1" dirty="0"/>
                <a:t>初始点</a:t>
              </a:r>
              <a:r>
                <a:rPr lang="en-US" altLang="zh-CN" sz="2400" b="1" i="1" dirty="0"/>
                <a:t>x  </a:t>
              </a:r>
              <a:r>
                <a:rPr lang="en-US" altLang="zh-CN" sz="2400" b="1" dirty="0"/>
                <a:t>,</a:t>
              </a:r>
              <a:r>
                <a:rPr lang="zh-CN" altLang="en-US" sz="2400" b="1" dirty="0"/>
                <a:t>置</a:t>
              </a:r>
              <a:r>
                <a:rPr lang="en-US" altLang="zh-CN" sz="2400" b="1" i="1" dirty="0"/>
                <a:t>k</a:t>
              </a:r>
              <a:r>
                <a:rPr lang="en-US" altLang="zh-CN" sz="2400" b="1" dirty="0"/>
                <a:t>=0</a:t>
              </a:r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447DBE08-681B-4A6E-B556-6025BDFA0E2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88913"/>
            <a:ext cx="7127875" cy="7207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kern="0">
                <a:latin typeface="楷体_GB2312" pitchFamily="49" charset="-122"/>
                <a:ea typeface="楷体_GB2312" pitchFamily="49" charset="-122"/>
              </a:rPr>
              <a:t>2. Rosen</a:t>
            </a:r>
            <a:r>
              <a:rPr lang="zh-CN" altLang="en-US" sz="3600" kern="0">
                <a:latin typeface="楷体_GB2312" pitchFamily="49" charset="-122"/>
                <a:ea typeface="楷体_GB2312" pitchFamily="49" charset="-122"/>
              </a:rPr>
              <a:t>梯度投影法</a:t>
            </a:r>
            <a:endParaRPr lang="zh-CN" altLang="en-US" sz="3600" kern="0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23850" y="836613"/>
            <a:ext cx="7705725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kumimoji="0" lang="zh-CN" altLang="en-US" sz="2800" kern="0" dirty="0">
                <a:latin typeface="+mn-lt"/>
                <a:ea typeface="+mn-ea"/>
              </a:rPr>
              <a:t>例</a:t>
            </a:r>
            <a:r>
              <a:rPr kumimoji="0" lang="en-US" altLang="zh-CN" sz="2800" kern="0" dirty="0">
                <a:latin typeface="+mn-lt"/>
                <a:ea typeface="+mn-ea"/>
              </a:rPr>
              <a:t>3</a:t>
            </a:r>
            <a:r>
              <a:rPr kumimoji="0" lang="zh-CN" altLang="en-US" sz="2800" kern="0" dirty="0">
                <a:latin typeface="+mn-lt"/>
                <a:ea typeface="+mn-ea"/>
              </a:rPr>
              <a:t>：求解</a:t>
            </a:r>
            <a:r>
              <a:rPr lang="zh-CN" altLang="en-US" sz="2800" kern="0" dirty="0">
                <a:latin typeface="+mn-lt"/>
                <a:ea typeface="+mn-ea"/>
              </a:rPr>
              <a:t>如下约束优化问题</a:t>
            </a:r>
            <a:endParaRPr lang="en-US" altLang="zh-CN" sz="2800" kern="0" dirty="0">
              <a:latin typeface="+mn-lt"/>
              <a:ea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00088" y="2840038"/>
            <a:ext cx="3295650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初始可行点</a:t>
            </a:r>
            <a:r>
              <a:rPr lang="en-US" altLang="zh-CN" sz="2800" i="1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0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=(2,0)</a:t>
            </a:r>
            <a:r>
              <a:rPr lang="en-US" altLang="zh-CN" sz="2800" kern="0" baseline="30000" dirty="0">
                <a:solidFill>
                  <a:srgbClr val="000000"/>
                </a:solidFill>
                <a:latin typeface="Times New Roman"/>
                <a:ea typeface="宋体"/>
              </a:rPr>
              <a:t>T</a:t>
            </a:r>
            <a:endParaRPr lang="en-US" altLang="zh-CN" sz="2800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976438" y="1312864"/>
          <a:ext cx="40386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8" name="Equation" r:id="rId3" imgW="4038600" imgH="1549400" progId="Equation.DSMT4">
                  <p:embed/>
                </p:oleObj>
              </mc:Choice>
              <mc:Fallback>
                <p:oleObj name="Equation" r:id="rId3" imgW="4038600" imgH="15494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1312864"/>
                        <a:ext cx="4038600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484080" y="3582988"/>
            <a:ext cx="5167312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解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: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目标函数梯度</a:t>
            </a:r>
            <a:endParaRPr lang="en-US" altLang="zh-CN" sz="2800" kern="0" dirty="0">
              <a:solidFill>
                <a:srgbClr val="000000"/>
              </a:solidFill>
              <a:latin typeface="Times New Roman"/>
              <a:ea typeface="宋体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389313" y="3363913"/>
          <a:ext cx="2552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9" name="Equation" r:id="rId5" imgW="2552700" imgH="1016000" progId="Equation.DSMT4">
                  <p:embed/>
                </p:oleObj>
              </mc:Choice>
              <mc:Fallback>
                <p:oleObj name="Equation" r:id="rId5" imgW="2552700" imgH="10160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313" y="3363913"/>
                        <a:ext cx="25527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5" name="内容占位符 2"/>
          <p:cNvSpPr>
            <a:spLocks noGrp="1"/>
          </p:cNvSpPr>
          <p:nvPr>
            <p:ph idx="4294967295"/>
          </p:nvPr>
        </p:nvSpPr>
        <p:spPr>
          <a:xfrm>
            <a:off x="394636" y="4317499"/>
            <a:ext cx="7161213" cy="654050"/>
          </a:xfrm>
          <a:prstGeom prst="rect">
            <a:avLst/>
          </a:prstGeo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第一次迭代：</a:t>
            </a:r>
            <a:r>
              <a:rPr lang="en-US" altLang="zh-CN" sz="2800" b="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b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处的梯度为</a:t>
            </a:r>
            <a:endParaRPr lang="zh-CN" altLang="en-US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779912" y="4791076"/>
          <a:ext cx="20447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0" name="Equation" r:id="rId7" imgW="2044700" imgH="1016000" progId="Equation.DSMT4">
                  <p:embed/>
                </p:oleObj>
              </mc:Choice>
              <mc:Fallback>
                <p:oleObj name="Equation" r:id="rId7" imgW="2044700" imgH="10160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4791076"/>
                        <a:ext cx="20447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223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7827" y="1045278"/>
            <a:ext cx="8496300" cy="19882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在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0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处的有效约束指标集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I={1,3},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即</a:t>
            </a:r>
            <a:endParaRPr lang="en-US" altLang="zh-CN" sz="2800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>
              <a:spcBef>
                <a:spcPct val="20000"/>
              </a:spcBef>
              <a:defRPr/>
            </a:pPr>
            <a:endParaRPr lang="en-US" altLang="zh-CN" sz="2800" kern="0" dirty="0">
              <a:solidFill>
                <a:srgbClr val="000000"/>
              </a:solidFill>
              <a:latin typeface="Times New Roman"/>
              <a:ea typeface="宋体"/>
            </a:endParaRPr>
          </a:p>
          <a:p>
            <a:pPr>
              <a:spcBef>
                <a:spcPct val="20000"/>
              </a:spcBef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是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x</a:t>
            </a:r>
            <a:r>
              <a:rPr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</a:rPr>
              <a:t>0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处的有效约束，将约束系数矩阵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A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和右端向量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b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分解为</a:t>
            </a:r>
          </a:p>
        </p:txBody>
      </p:sp>
      <p:graphicFrame>
        <p:nvGraphicFramePr>
          <p:cNvPr id="53254" name="对象 3"/>
          <p:cNvGraphicFramePr>
            <a:graphicFrameLocks noChangeAspect="1"/>
          </p:cNvGraphicFramePr>
          <p:nvPr/>
        </p:nvGraphicFramePr>
        <p:xfrm>
          <a:off x="2700338" y="1673225"/>
          <a:ext cx="279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0" name="Equation" r:id="rId3" imgW="2794000" imgH="431800" progId="Equation.DSMT4">
                  <p:embed/>
                </p:oleObj>
              </mc:Choice>
              <mc:Fallback>
                <p:oleObj name="Equation" r:id="rId3" imgW="2794000" imgH="431800" progId="Equation.DSMT4">
                  <p:embed/>
                  <p:pic>
                    <p:nvPicPr>
                      <p:cNvPr id="5325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673225"/>
                        <a:ext cx="279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对象 4"/>
          <p:cNvGraphicFramePr>
            <a:graphicFrameLocks noChangeAspect="1"/>
          </p:cNvGraphicFramePr>
          <p:nvPr/>
        </p:nvGraphicFramePr>
        <p:xfrm>
          <a:off x="857250" y="3643313"/>
          <a:ext cx="5930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1" name="Equation" r:id="rId5" imgW="5930900" imgH="1016000" progId="Equation.DSMT4">
                  <p:embed/>
                </p:oleObj>
              </mc:Choice>
              <mc:Fallback>
                <p:oleObj name="Equation" r:id="rId5" imgW="5930900" imgH="1016000" progId="Equation.DSMT4">
                  <p:embed/>
                  <p:pic>
                    <p:nvPicPr>
                      <p:cNvPr id="5325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3643313"/>
                        <a:ext cx="5930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693738" y="5065713"/>
            <a:ext cx="5437187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因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E=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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，故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M=A</a:t>
            </a:r>
            <a:r>
              <a:rPr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1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，计算投影矩阵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02130" y="3010887"/>
            <a:ext cx="1439863" cy="576262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</a:pPr>
            <a:r>
              <a:rPr lang="zh-CN" altLang="en-US" sz="2800" b="0" dirty="0"/>
              <a:t>令</a:t>
            </a:r>
          </a:p>
        </p:txBody>
      </p:sp>
      <p:graphicFrame>
        <p:nvGraphicFramePr>
          <p:cNvPr id="54278" name="对象 1"/>
          <p:cNvGraphicFramePr>
            <a:graphicFrameLocks noChangeAspect="1"/>
          </p:cNvGraphicFramePr>
          <p:nvPr/>
        </p:nvGraphicFramePr>
        <p:xfrm>
          <a:off x="323850" y="1052513"/>
          <a:ext cx="77089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6" name="Equation" r:id="rId3" imgW="7708900" imgH="1905000" progId="Equation.DSMT4">
                  <p:embed/>
                </p:oleObj>
              </mc:Choice>
              <mc:Fallback>
                <p:oleObj name="Equation" r:id="rId3" imgW="7708900" imgH="1905000" progId="Equation.DSMT4">
                  <p:embed/>
                  <p:pic>
                    <p:nvPicPr>
                      <p:cNvPr id="54278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1052513"/>
                        <a:ext cx="77089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对象 3"/>
          <p:cNvGraphicFramePr>
            <a:graphicFrameLocks noChangeAspect="1"/>
          </p:cNvGraphicFramePr>
          <p:nvPr/>
        </p:nvGraphicFramePr>
        <p:xfrm>
          <a:off x="1365250" y="3141663"/>
          <a:ext cx="252095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7" name="Equation" r:id="rId5" imgW="1257300" imgH="457200" progId="Equation.DSMT4">
                  <p:embed/>
                </p:oleObj>
              </mc:Choice>
              <mc:Fallback>
                <p:oleObj name="Equation" r:id="rId5" imgW="1257300" imgH="457200" progId="Equation.DSMT4">
                  <p:embed/>
                  <p:pic>
                    <p:nvPicPr>
                      <p:cNvPr id="54279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141663"/>
                        <a:ext cx="2520950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对象 4"/>
          <p:cNvGraphicFramePr>
            <a:graphicFrameLocks noChangeAspect="1"/>
          </p:cNvGraphicFramePr>
          <p:nvPr/>
        </p:nvGraphicFramePr>
        <p:xfrm>
          <a:off x="527050" y="4221163"/>
          <a:ext cx="67183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98" name="Equation" r:id="rId7" imgW="6718300" imgH="1905000" progId="Equation.DSMT4">
                  <p:embed/>
                </p:oleObj>
              </mc:Choice>
              <mc:Fallback>
                <p:oleObj name="Equation" r:id="rId7" imgW="6718300" imgH="1905000" progId="Equation.DSMT4">
                  <p:embed/>
                  <p:pic>
                    <p:nvPicPr>
                      <p:cNvPr id="54281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050" y="4221163"/>
                        <a:ext cx="67183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02" name="组合 3"/>
          <p:cNvGrpSpPr>
            <a:grpSpLocks/>
          </p:cNvGrpSpPr>
          <p:nvPr/>
        </p:nvGrpSpPr>
        <p:grpSpPr bwMode="auto">
          <a:xfrm>
            <a:off x="371475" y="1171575"/>
            <a:ext cx="7448550" cy="561975"/>
            <a:chOff x="371721" y="1171587"/>
            <a:chExt cx="7448377" cy="561255"/>
          </a:xfrm>
        </p:grpSpPr>
        <p:sp>
          <p:nvSpPr>
            <p:cNvPr id="2" name="矩形 1"/>
            <p:cNvSpPr/>
            <p:nvPr/>
          </p:nvSpPr>
          <p:spPr>
            <a:xfrm>
              <a:off x="371721" y="1209638"/>
              <a:ext cx="6773706" cy="5232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z="2800" kern="0" dirty="0">
                  <a:solidFill>
                    <a:srgbClr val="000000"/>
                  </a:solidFill>
                  <a:latin typeface="+mn-ea"/>
                  <a:ea typeface="+mn-ea"/>
                  <a:cs typeface="+mj-cs"/>
                </a:rPr>
                <a:t>修正</a:t>
              </a:r>
              <a:r>
                <a:rPr lang="en-US" altLang="zh-CN" sz="2800" kern="0" dirty="0">
                  <a:solidFill>
                    <a:srgbClr val="000000"/>
                  </a:solidFill>
                  <a:latin typeface="+mn-ea"/>
                  <a:ea typeface="+mn-ea"/>
                  <a:cs typeface="+mj-cs"/>
                </a:rPr>
                <a:t>A</a:t>
              </a:r>
              <a:r>
                <a:rPr lang="en-US" altLang="zh-CN" sz="2800" kern="0" baseline="-25000" dirty="0">
                  <a:solidFill>
                    <a:srgbClr val="000000"/>
                  </a:solidFill>
                  <a:latin typeface="+mn-ea"/>
                  <a:ea typeface="+mn-ea"/>
                  <a:cs typeface="+mj-cs"/>
                </a:rPr>
                <a:t>1</a:t>
              </a:r>
              <a:r>
                <a:rPr lang="zh-CN" altLang="en-US" sz="2800" kern="0" dirty="0">
                  <a:solidFill>
                    <a:srgbClr val="000000"/>
                  </a:solidFill>
                  <a:latin typeface="+mn-ea"/>
                  <a:ea typeface="+mn-ea"/>
                  <a:cs typeface="+mj-cs"/>
                </a:rPr>
                <a:t>：去掉中对应</a:t>
              </a:r>
              <a:r>
                <a:rPr lang="zh-CN" altLang="en-US" sz="2800" kern="0" dirty="0">
                  <a:solidFill>
                    <a:srgbClr val="000000"/>
                  </a:solidFill>
                  <a:latin typeface="+mn-ea"/>
                  <a:ea typeface="+mn-ea"/>
                  <a:cs typeface="+mj-cs"/>
                  <a:sym typeface="Euclid Symbol"/>
                </a:rPr>
                <a:t></a:t>
              </a:r>
              <a:r>
                <a:rPr lang="en-US" altLang="zh-CN" sz="2800" kern="0" baseline="-25000" dirty="0">
                  <a:solidFill>
                    <a:srgbClr val="000000"/>
                  </a:solidFill>
                  <a:latin typeface="+mn-ea"/>
                  <a:ea typeface="+mn-ea"/>
                </a:rPr>
                <a:t>2</a:t>
              </a:r>
              <a:r>
                <a:rPr lang="en-US" altLang="zh-CN" sz="2800" kern="0" dirty="0">
                  <a:solidFill>
                    <a:srgbClr val="000000"/>
                  </a:solidFill>
                  <a:latin typeface="+mn-ea"/>
                  <a:ea typeface="+mn-ea"/>
                  <a:cs typeface="+mj-cs"/>
                </a:rPr>
                <a:t>=-5</a:t>
              </a:r>
              <a:r>
                <a:rPr lang="zh-CN" altLang="en-US" sz="2800" kern="0" dirty="0">
                  <a:solidFill>
                    <a:srgbClr val="000000"/>
                  </a:solidFill>
                  <a:latin typeface="+mn-ea"/>
                  <a:ea typeface="+mn-ea"/>
                  <a:cs typeface="+mj-cs"/>
                </a:rPr>
                <a:t>的行，得到</a:t>
              </a:r>
            </a:p>
          </p:txBody>
        </p:sp>
        <p:graphicFrame>
          <p:nvGraphicFramePr>
            <p:cNvPr id="55308" name="对象 2"/>
            <p:cNvGraphicFramePr>
              <a:graphicFrameLocks noChangeAspect="1"/>
            </p:cNvGraphicFramePr>
            <p:nvPr/>
          </p:nvGraphicFramePr>
          <p:xfrm>
            <a:off x="6470723" y="1171587"/>
            <a:ext cx="1349375" cy="53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220" name="Equation" r:id="rId3" imgW="672808" imgH="266584" progId="Equation.DSMT4">
                    <p:embed/>
                  </p:oleObj>
                </mc:Choice>
                <mc:Fallback>
                  <p:oleObj name="Equation" r:id="rId3" imgW="672808" imgH="266584" progId="Equation.DSMT4">
                    <p:embed/>
                    <p:pic>
                      <p:nvPicPr>
                        <p:cNvPr id="55308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70723" y="1171587"/>
                          <a:ext cx="1349375" cy="534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5303" name="内容占位符 2"/>
          <p:cNvSpPr>
            <a:spLocks noGrp="1"/>
          </p:cNvSpPr>
          <p:nvPr>
            <p:ph idx="4294967295"/>
          </p:nvPr>
        </p:nvSpPr>
        <p:spPr>
          <a:xfrm>
            <a:off x="221381" y="1810553"/>
            <a:ext cx="3238500" cy="655638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</a:pPr>
            <a:r>
              <a:rPr lang="zh-CN" altLang="en-US" sz="2800" b="0" dirty="0"/>
              <a:t>再求投影矩阵</a:t>
            </a:r>
          </a:p>
        </p:txBody>
      </p:sp>
      <p:graphicFrame>
        <p:nvGraphicFramePr>
          <p:cNvPr id="55304" name="对象 5"/>
          <p:cNvGraphicFramePr>
            <a:graphicFrameLocks noChangeAspect="1"/>
          </p:cNvGraphicFramePr>
          <p:nvPr/>
        </p:nvGraphicFramePr>
        <p:xfrm>
          <a:off x="404813" y="2420938"/>
          <a:ext cx="70231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1" name="Equation" r:id="rId5" imgW="7023100" imgH="1930400" progId="Equation.DSMT4">
                  <p:embed/>
                </p:oleObj>
              </mc:Choice>
              <mc:Fallback>
                <p:oleObj name="Equation" r:id="rId5" imgW="7023100" imgH="1930400" progId="Equation.DSMT4">
                  <p:embed/>
                  <p:pic>
                    <p:nvPicPr>
                      <p:cNvPr id="55304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2420938"/>
                        <a:ext cx="70231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2"/>
          <p:cNvSpPr txBox="1">
            <a:spLocks/>
          </p:cNvSpPr>
          <p:nvPr/>
        </p:nvSpPr>
        <p:spPr bwMode="auto">
          <a:xfrm>
            <a:off x="395288" y="4508500"/>
            <a:ext cx="143986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zh-CN" altLang="en-US"/>
              <a:t>令</a:t>
            </a:r>
          </a:p>
        </p:txBody>
      </p:sp>
      <p:graphicFrame>
        <p:nvGraphicFramePr>
          <p:cNvPr id="55306" name="对象 15"/>
          <p:cNvGraphicFramePr>
            <a:graphicFrameLocks noChangeAspect="1"/>
          </p:cNvGraphicFramePr>
          <p:nvPr/>
        </p:nvGraphicFramePr>
        <p:xfrm>
          <a:off x="1214438" y="4608513"/>
          <a:ext cx="6640512" cy="119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22" name="Equation" r:id="rId7" imgW="2540000" imgH="457200" progId="Equation.DSMT4">
                  <p:embed/>
                </p:oleObj>
              </mc:Choice>
              <mc:Fallback>
                <p:oleObj name="Equation" r:id="rId7" imgW="2540000" imgH="457200" progId="Equation.DSMT4">
                  <p:embed/>
                  <p:pic>
                    <p:nvPicPr>
                      <p:cNvPr id="5530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4608513"/>
                        <a:ext cx="6640512" cy="1196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内容占位符 2"/>
          <p:cNvSpPr>
            <a:spLocks noGrp="1"/>
          </p:cNvSpPr>
          <p:nvPr>
            <p:ph idx="4294967295"/>
          </p:nvPr>
        </p:nvSpPr>
        <p:spPr>
          <a:xfrm>
            <a:off x="442762" y="961825"/>
            <a:ext cx="5400675" cy="719138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求步长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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Euclid Symbol" panose="05050102010706020507" pitchFamily="18" charset="2"/>
              </a:rPr>
              <a:t>0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3203575" y="1100138"/>
          <a:ext cx="3200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4" name="Equation" r:id="rId3" imgW="3200400" imgH="939800" progId="Equation.DSMT4">
                  <p:embed/>
                </p:oleObj>
              </mc:Choice>
              <mc:Fallback>
                <p:oleObj name="Equation" r:id="rId3" imgW="3200400" imgH="9398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100138"/>
                        <a:ext cx="3200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内容占位符 2"/>
          <p:cNvSpPr txBox="1">
            <a:spLocks/>
          </p:cNvSpPr>
          <p:nvPr/>
        </p:nvSpPr>
        <p:spPr bwMode="auto">
          <a:xfrm>
            <a:off x="431800" y="1619250"/>
            <a:ext cx="3094038" cy="51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FontTx/>
              <a:buNone/>
            </a:pPr>
            <a:r>
              <a:rPr lang="zh-CN" altLang="en-US"/>
              <a:t>由于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825500" y="4724400"/>
          <a:ext cx="5400675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5" name="Equation" r:id="rId5" imgW="4572000" imgH="1016000" progId="Equation.DSMT4">
                  <p:embed/>
                </p:oleObj>
              </mc:Choice>
              <mc:Fallback>
                <p:oleObj name="Equation" r:id="rId5" imgW="4572000" imgH="10160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500" y="4724400"/>
                        <a:ext cx="5400675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711200" y="2420938"/>
          <a:ext cx="70612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46" name="Equation" r:id="rId7" imgW="7061200" imgH="2133600" progId="Equation.DSMT4">
                  <p:embed/>
                </p:oleObj>
              </mc:Choice>
              <mc:Fallback>
                <p:oleObj name="Equation" r:id="rId7" imgW="7061200" imgH="21336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200" y="2420938"/>
                        <a:ext cx="7061200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内容占位符 2"/>
          <p:cNvSpPr>
            <a:spLocks noGrp="1"/>
          </p:cNvSpPr>
          <p:nvPr>
            <p:ph idx="4294967295"/>
          </p:nvPr>
        </p:nvSpPr>
        <p:spPr>
          <a:xfrm>
            <a:off x="452388" y="2247683"/>
            <a:ext cx="3094038" cy="512762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</a:pPr>
            <a:r>
              <a:rPr lang="zh-CN" altLang="en-US" sz="2800" b="0" dirty="0"/>
              <a:t>第</a:t>
            </a:r>
            <a:r>
              <a:rPr lang="en-US" altLang="zh-CN" sz="2800" b="0" dirty="0"/>
              <a:t>2</a:t>
            </a:r>
            <a:r>
              <a:rPr lang="zh-CN" altLang="en-US" sz="2800" b="0" dirty="0"/>
              <a:t>次迭代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962025" y="1052513"/>
          <a:ext cx="5334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8" name="Equation" r:id="rId3" imgW="5334000" imgH="1016000" progId="Equation.DSMT4">
                  <p:embed/>
                </p:oleObj>
              </mc:Choice>
              <mc:Fallback>
                <p:oleObj name="Equation" r:id="rId3" imgW="5334000" imgH="101600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1052513"/>
                        <a:ext cx="5334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59113" y="2484438"/>
          <a:ext cx="18669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9" name="Equation" r:id="rId5" imgW="1866900" imgH="1016000" progId="Equation.DSMT4">
                  <p:embed/>
                </p:oleObj>
              </mc:Choice>
              <mc:Fallback>
                <p:oleObj name="Equation" r:id="rId5" imgW="1866900" imgH="10160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484438"/>
                        <a:ext cx="18669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53" name="对象 3"/>
          <p:cNvGraphicFramePr>
            <a:graphicFrameLocks noChangeAspect="1"/>
          </p:cNvGraphicFramePr>
          <p:nvPr/>
        </p:nvGraphicFramePr>
        <p:xfrm>
          <a:off x="1116013" y="3789363"/>
          <a:ext cx="59944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0" name="Equation" r:id="rId7" imgW="5994400" imgH="1016000" progId="Equation.DSMT4">
                  <p:embed/>
                </p:oleObj>
              </mc:Choice>
              <mc:Fallback>
                <p:oleObj name="Equation" r:id="rId7" imgW="5994400" imgH="1016000" progId="Equation.DSMT4">
                  <p:embed/>
                  <p:pic>
                    <p:nvPicPr>
                      <p:cNvPr id="57353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789363"/>
                        <a:ext cx="59944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/>
          <p:cNvSpPr/>
          <p:nvPr/>
        </p:nvSpPr>
        <p:spPr>
          <a:xfrm>
            <a:off x="693738" y="5065713"/>
            <a:ext cx="5437187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</a:rPr>
              <a:t>因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</a:rPr>
              <a:t>E=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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，故</a:t>
            </a:r>
            <a:r>
              <a:rPr lang="en-US" altLang="zh-CN" sz="2800" kern="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M=A</a:t>
            </a:r>
            <a:r>
              <a:rPr lang="en-US" altLang="zh-CN" sz="2800" kern="0" baseline="-2500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1</a:t>
            </a:r>
            <a:r>
              <a:rPr lang="zh-CN" altLang="en-US" sz="2800" kern="0" dirty="0">
                <a:solidFill>
                  <a:srgbClr val="000000"/>
                </a:solidFill>
                <a:latin typeface="Times New Roman"/>
                <a:ea typeface="宋体"/>
                <a:sym typeface="Euclid Symbol"/>
              </a:rPr>
              <a:t>，计算投影矩阵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build="p"/>
      <p:bldP spid="1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4" name="对象 2"/>
          <p:cNvGraphicFramePr>
            <a:graphicFrameLocks noChangeAspect="1"/>
          </p:cNvGraphicFramePr>
          <p:nvPr/>
        </p:nvGraphicFramePr>
        <p:xfrm>
          <a:off x="1116013" y="1125538"/>
          <a:ext cx="49530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2" name="Equation" r:id="rId3" imgW="4953000" imgH="1016000" progId="Equation.DSMT4">
                  <p:embed/>
                </p:oleObj>
              </mc:Choice>
              <mc:Fallback>
                <p:oleObj name="Equation" r:id="rId3" imgW="4953000" imgH="1016000" progId="Equation.DSMT4">
                  <p:embed/>
                  <p:pic>
                    <p:nvPicPr>
                      <p:cNvPr id="58374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125538"/>
                        <a:ext cx="49530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5" name="对象 3"/>
          <p:cNvGraphicFramePr>
            <a:graphicFrameLocks noChangeAspect="1"/>
          </p:cNvGraphicFramePr>
          <p:nvPr/>
        </p:nvGraphicFramePr>
        <p:xfrm>
          <a:off x="971550" y="2492375"/>
          <a:ext cx="5156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3" name="Equation" r:id="rId5" imgW="5156200" imgH="1016000" progId="Equation.DSMT4">
                  <p:embed/>
                </p:oleObj>
              </mc:Choice>
              <mc:Fallback>
                <p:oleObj name="Equation" r:id="rId5" imgW="5156200" imgH="1016000" progId="Equation.DSMT4">
                  <p:embed/>
                  <p:pic>
                    <p:nvPicPr>
                      <p:cNvPr id="58375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492375"/>
                        <a:ext cx="51562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6" name="对象 4"/>
          <p:cNvGraphicFramePr>
            <a:graphicFrameLocks noChangeAspect="1"/>
          </p:cNvGraphicFramePr>
          <p:nvPr/>
        </p:nvGraphicFramePr>
        <p:xfrm>
          <a:off x="1042988" y="3860800"/>
          <a:ext cx="40894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94" name="Equation" r:id="rId7" imgW="4089400" imgH="647700" progId="Equation.DSMT4">
                  <p:embed/>
                </p:oleObj>
              </mc:Choice>
              <mc:Fallback>
                <p:oleObj name="Equation" r:id="rId7" imgW="4089400" imgH="647700" progId="Equation.DSMT4">
                  <p:embed/>
                  <p:pic>
                    <p:nvPicPr>
                      <p:cNvPr id="58376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860800"/>
                        <a:ext cx="40894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内容占位符 5"/>
          <p:cNvSpPr>
            <a:spLocks noGrp="1"/>
          </p:cNvSpPr>
          <p:nvPr>
            <p:ph idx="4294967295"/>
          </p:nvPr>
        </p:nvSpPr>
        <p:spPr>
          <a:xfrm>
            <a:off x="1414914" y="4835926"/>
            <a:ext cx="5832475" cy="792163"/>
          </a:xfrm>
          <a:prstGeom prst="rect">
            <a:avLst/>
          </a:prstGeo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=(1,2)</a:t>
            </a:r>
            <a:r>
              <a:rPr lang="en-US" altLang="zh-CN" sz="2800" b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KKT</a:t>
            </a:r>
            <a:r>
              <a:rPr lang="zh-CN" altLang="en-US" sz="2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7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7777163" cy="504825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600" dirty="0"/>
              <a:t>3   Frank-Wolfe</a:t>
            </a:r>
            <a:r>
              <a:rPr lang="zh-CN" altLang="en-US" sz="3600" dirty="0"/>
              <a:t>方法</a:t>
            </a:r>
            <a:endParaRPr lang="zh-CN" altLang="en-US" sz="32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68325" y="1427163"/>
            <a:ext cx="8575675" cy="561975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0" dirty="0"/>
              <a:t>Frank</a:t>
            </a:r>
            <a:r>
              <a:rPr lang="zh-CN" altLang="en-US" sz="2400" b="0" dirty="0"/>
              <a:t>和</a:t>
            </a:r>
            <a:r>
              <a:rPr lang="en-US" altLang="zh-CN" sz="2400" b="0" dirty="0"/>
              <a:t>Wolfe 1956</a:t>
            </a:r>
            <a:r>
              <a:rPr lang="zh-CN" altLang="en-US" sz="2400" b="0" dirty="0"/>
              <a:t>年提出求解线性约束问题的一种算法</a:t>
            </a:r>
            <a:r>
              <a:rPr lang="en-US" altLang="zh-CN" sz="2400" b="0" dirty="0"/>
              <a:t>.</a:t>
            </a:r>
          </a:p>
        </p:txBody>
      </p:sp>
      <p:graphicFrame>
        <p:nvGraphicFramePr>
          <p:cNvPr id="90113" name="Object 1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917915138"/>
              </p:ext>
            </p:extLst>
          </p:nvPr>
        </p:nvGraphicFramePr>
        <p:xfrm>
          <a:off x="548640" y="4878488"/>
          <a:ext cx="66960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4" name="Equation" r:id="rId3" imgW="7150100" imgH="1092200" progId="Equation.DSMT4">
                  <p:embed/>
                </p:oleObj>
              </mc:Choice>
              <mc:Fallback>
                <p:oleObj name="Equation" r:id="rId3" imgW="7150100" imgH="1092200" progId="Equation.DSMT4">
                  <p:embed/>
                  <p:pic>
                    <p:nvPicPr>
                      <p:cNvPr id="9011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" y="4878488"/>
                        <a:ext cx="66960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2" name="Object 0"/>
          <p:cNvGraphicFramePr>
            <a:graphicFrameLocks noChangeAspect="1"/>
          </p:cNvGraphicFramePr>
          <p:nvPr/>
        </p:nvGraphicFramePr>
        <p:xfrm>
          <a:off x="539750" y="1844675"/>
          <a:ext cx="7972425" cy="287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95" name="Equation" r:id="rId5" imgW="8674100" imgH="3124200" progId="Equation.DSMT4">
                  <p:embed/>
                </p:oleObj>
              </mc:Choice>
              <mc:Fallback>
                <p:oleObj name="Equation" r:id="rId5" imgW="8674100" imgH="3124200" progId="Equation.DSMT4">
                  <p:embed/>
                  <p:pic>
                    <p:nvPicPr>
                      <p:cNvPr id="90112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844675"/>
                        <a:ext cx="7972425" cy="287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4" name="Rectangle 6"/>
          <p:cNvSpPr>
            <a:spLocks noChangeArrowheads="1"/>
          </p:cNvSpPr>
          <p:nvPr/>
        </p:nvSpPr>
        <p:spPr bwMode="auto">
          <a:xfrm>
            <a:off x="395288" y="908050"/>
            <a:ext cx="2228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3.1  </a:t>
            </a:r>
            <a:r>
              <a:rPr lang="zh-CN" altLang="en-US" sz="2800"/>
              <a:t>算法简介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136" name="Object 0"/>
          <p:cNvGraphicFramePr>
            <a:graphicFrameLocks noChangeAspect="1"/>
          </p:cNvGraphicFramePr>
          <p:nvPr/>
        </p:nvGraphicFramePr>
        <p:xfrm>
          <a:off x="395288" y="908050"/>
          <a:ext cx="78486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8" name="Equation" r:id="rId3" imgW="7848600" imgH="1511300" progId="Equation.DSMT4">
                  <p:embed/>
                </p:oleObj>
              </mc:Choice>
              <mc:Fallback>
                <p:oleObj name="Equation" r:id="rId3" imgW="7848600" imgH="1511300" progId="Equation.DSMT4">
                  <p:embed/>
                  <p:pic>
                    <p:nvPicPr>
                      <p:cNvPr id="9113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08050"/>
                        <a:ext cx="7848600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7" name="Object 1"/>
          <p:cNvGraphicFramePr>
            <a:graphicFrameLocks noChangeAspect="1"/>
          </p:cNvGraphicFramePr>
          <p:nvPr/>
        </p:nvGraphicFramePr>
        <p:xfrm>
          <a:off x="539750" y="2565400"/>
          <a:ext cx="7848600" cy="317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9" name="Equation" r:id="rId5" imgW="8089900" imgH="3276600" progId="Equation.DSMT4">
                  <p:embed/>
                </p:oleObj>
              </mc:Choice>
              <mc:Fallback>
                <p:oleObj name="Equation" r:id="rId5" imgW="8089900" imgH="3276600" progId="Equation.DSMT4">
                  <p:embed/>
                  <p:pic>
                    <p:nvPicPr>
                      <p:cNvPr id="9113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565400"/>
                        <a:ext cx="7848600" cy="317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1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0" name="Object 0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728989142"/>
              </p:ext>
            </p:extLst>
          </p:nvPr>
        </p:nvGraphicFramePr>
        <p:xfrm>
          <a:off x="606391" y="3102995"/>
          <a:ext cx="6840538" cy="267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6" name="Equation" r:id="rId3" imgW="7035800" imgH="2755900" progId="Equation.DSMT4">
                  <p:embed/>
                </p:oleObj>
              </mc:Choice>
              <mc:Fallback>
                <p:oleObj name="Equation" r:id="rId3" imgW="7035800" imgH="2755900" progId="Equation.DSMT4">
                  <p:embed/>
                  <p:pic>
                    <p:nvPicPr>
                      <p:cNvPr id="9216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391" y="3102995"/>
                        <a:ext cx="6840538" cy="267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242388973"/>
              </p:ext>
            </p:extLst>
          </p:nvPr>
        </p:nvGraphicFramePr>
        <p:xfrm>
          <a:off x="1020278" y="5955348"/>
          <a:ext cx="48958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7" name="Equation" r:id="rId5" imgW="4965700" imgH="457200" progId="Equation.DSMT4">
                  <p:embed/>
                </p:oleObj>
              </mc:Choice>
              <mc:Fallback>
                <p:oleObj name="Equation" r:id="rId5" imgW="4965700" imgH="457200" progId="Equation.DSMT4">
                  <p:embed/>
                  <p:pic>
                    <p:nvPicPr>
                      <p:cNvPr id="921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278" y="5955348"/>
                        <a:ext cx="4895850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1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5079102"/>
              </p:ext>
            </p:extLst>
          </p:nvPr>
        </p:nvGraphicFramePr>
        <p:xfrm>
          <a:off x="404913" y="2513130"/>
          <a:ext cx="8137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8" name="Equation" r:id="rId7" imgW="9144000" imgH="457200" progId="Equation.DSMT4">
                  <p:embed/>
                </p:oleObj>
              </mc:Choice>
              <mc:Fallback>
                <p:oleObj name="Equation" r:id="rId7" imgW="9144000" imgH="457200" progId="Equation.DSMT4">
                  <p:embed/>
                  <p:pic>
                    <p:nvPicPr>
                      <p:cNvPr id="921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913" y="2513130"/>
                        <a:ext cx="81375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179424"/>
              </p:ext>
            </p:extLst>
          </p:nvPr>
        </p:nvGraphicFramePr>
        <p:xfrm>
          <a:off x="559000" y="1009867"/>
          <a:ext cx="6769100" cy="145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89" name="Equation" r:id="rId9" imgW="7188200" imgH="1549400" progId="Equation.DSMT4">
                  <p:embed/>
                </p:oleObj>
              </mc:Choice>
              <mc:Fallback>
                <p:oleObj name="Equation" r:id="rId9" imgW="7188200" imgH="1549400" progId="Equation.DSMT4">
                  <p:embed/>
                  <p:pic>
                    <p:nvPicPr>
                      <p:cNvPr id="921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000" y="1009867"/>
                        <a:ext cx="6769100" cy="145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2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679438"/>
              </p:ext>
            </p:extLst>
          </p:nvPr>
        </p:nvGraphicFramePr>
        <p:xfrm>
          <a:off x="381601" y="1019576"/>
          <a:ext cx="8062913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8" name="Equation" r:id="rId3" imgW="7975600" imgH="1587500" progId="Equation.DSMT4">
                  <p:embed/>
                </p:oleObj>
              </mc:Choice>
              <mc:Fallback>
                <p:oleObj name="Equation" r:id="rId3" imgW="7975600" imgH="1587500" progId="Equation.DSMT4">
                  <p:embed/>
                  <p:pic>
                    <p:nvPicPr>
                      <p:cNvPr id="4813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01" y="1019576"/>
                        <a:ext cx="8062913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532004"/>
              </p:ext>
            </p:extLst>
          </p:nvPr>
        </p:nvGraphicFramePr>
        <p:xfrm>
          <a:off x="453040" y="2810176"/>
          <a:ext cx="8051800" cy="215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89" name="Equation" r:id="rId5" imgW="8051800" imgH="2159000" progId="Equation.DSMT4">
                  <p:embed/>
                </p:oleObj>
              </mc:Choice>
              <mc:Fallback>
                <p:oleObj name="Equation" r:id="rId5" imgW="8051800" imgH="2159000" progId="Equation.DSMT4">
                  <p:embed/>
                  <p:pic>
                    <p:nvPicPr>
                      <p:cNvPr id="4813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40" y="2810176"/>
                        <a:ext cx="8051800" cy="215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/>
        </p:nvGraphicFramePr>
        <p:xfrm>
          <a:off x="395288" y="5157788"/>
          <a:ext cx="58039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90" name="Equation" r:id="rId7" imgW="5803900" imgH="469900" progId="Equation.DSMT4">
                  <p:embed/>
                </p:oleObj>
              </mc:Choice>
              <mc:Fallback>
                <p:oleObj name="Equation" r:id="rId7" imgW="5803900" imgH="469900" progId="Equation.DSMT4">
                  <p:embed/>
                  <p:pic>
                    <p:nvPicPr>
                      <p:cNvPr id="4813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5157788"/>
                        <a:ext cx="58039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84" name="Object 0"/>
          <p:cNvGraphicFramePr>
            <a:graphicFrameLocks noChangeAspect="1"/>
          </p:cNvGraphicFramePr>
          <p:nvPr/>
        </p:nvGraphicFramePr>
        <p:xfrm>
          <a:off x="684213" y="981075"/>
          <a:ext cx="62611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8" name="Equation" r:id="rId3" imgW="6261100" imgH="1041400" progId="Equation.DSMT4">
                  <p:embed/>
                </p:oleObj>
              </mc:Choice>
              <mc:Fallback>
                <p:oleObj name="Equation" r:id="rId3" imgW="6261100" imgH="1041400" progId="Equation.DSMT4">
                  <p:embed/>
                  <p:pic>
                    <p:nvPicPr>
                      <p:cNvPr id="9318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981075"/>
                        <a:ext cx="6261100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9" name="Object 1"/>
          <p:cNvGraphicFramePr>
            <a:graphicFrameLocks noChangeAspect="1"/>
          </p:cNvGraphicFramePr>
          <p:nvPr/>
        </p:nvGraphicFramePr>
        <p:xfrm>
          <a:off x="3276600" y="1790700"/>
          <a:ext cx="9144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79" name="Equation" r:id="rId5" imgW="457677" imgH="793306" progId="Equation.DSMT4">
                  <p:embed/>
                </p:oleObj>
              </mc:Choice>
              <mc:Fallback>
                <p:oleObj name="Equation" r:id="rId5" imgW="457677" imgH="793306" progId="Equation.DSMT4">
                  <p:embed/>
                  <p:pic>
                    <p:nvPicPr>
                      <p:cNvPr id="6451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790700"/>
                        <a:ext cx="91440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6" name="Object 2"/>
          <p:cNvGraphicFramePr>
            <a:graphicFrameLocks noChangeAspect="1"/>
          </p:cNvGraphicFramePr>
          <p:nvPr/>
        </p:nvGraphicFramePr>
        <p:xfrm>
          <a:off x="684213" y="2276475"/>
          <a:ext cx="4381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0" name="Equation" r:id="rId7" imgW="4381500" imgH="431800" progId="Equation.DSMT4">
                  <p:embed/>
                </p:oleObj>
              </mc:Choice>
              <mc:Fallback>
                <p:oleObj name="Equation" r:id="rId7" imgW="4381500" imgH="431800" progId="Equation.DSMT4">
                  <p:embed/>
                  <p:pic>
                    <p:nvPicPr>
                      <p:cNvPr id="931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276475"/>
                        <a:ext cx="4381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7" name="Object 3"/>
          <p:cNvGraphicFramePr>
            <a:graphicFrameLocks noChangeAspect="1"/>
          </p:cNvGraphicFramePr>
          <p:nvPr/>
        </p:nvGraphicFramePr>
        <p:xfrm>
          <a:off x="611188" y="2997200"/>
          <a:ext cx="2768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1" name="Equation" r:id="rId9" imgW="2768600" imgH="431800" progId="Equation.DSMT4">
                  <p:embed/>
                </p:oleObj>
              </mc:Choice>
              <mc:Fallback>
                <p:oleObj name="Equation" r:id="rId9" imgW="2768600" imgH="431800" progId="Equation.DSMT4">
                  <p:embed/>
                  <p:pic>
                    <p:nvPicPr>
                      <p:cNvPr id="931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997200"/>
                        <a:ext cx="2768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8" name="Object 4"/>
          <p:cNvGraphicFramePr>
            <a:graphicFrameLocks noChangeAspect="1"/>
          </p:cNvGraphicFramePr>
          <p:nvPr/>
        </p:nvGraphicFramePr>
        <p:xfrm>
          <a:off x="685800" y="3657600"/>
          <a:ext cx="666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2" name="Equation" r:id="rId11" imgW="6667500" imgH="431800" progId="Equation.DSMT4">
                  <p:embed/>
                </p:oleObj>
              </mc:Choice>
              <mc:Fallback>
                <p:oleObj name="Equation" r:id="rId11" imgW="6667500" imgH="431800" progId="Equation.DSMT4">
                  <p:embed/>
                  <p:pic>
                    <p:nvPicPr>
                      <p:cNvPr id="931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657600"/>
                        <a:ext cx="666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189" name="Object 5"/>
          <p:cNvGraphicFramePr>
            <a:graphicFrameLocks noChangeAspect="1"/>
          </p:cNvGraphicFramePr>
          <p:nvPr/>
        </p:nvGraphicFramePr>
        <p:xfrm>
          <a:off x="685800" y="4191000"/>
          <a:ext cx="3479800" cy="210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83" name="Equation" r:id="rId13" imgW="3479800" imgH="2108200" progId="Equation.DSMT4">
                  <p:embed/>
                </p:oleObj>
              </mc:Choice>
              <mc:Fallback>
                <p:oleObj name="Equation" r:id="rId13" imgW="3479800" imgH="2108200" progId="Equation.DSMT4">
                  <p:embed/>
                  <p:pic>
                    <p:nvPicPr>
                      <p:cNvPr id="931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191000"/>
                        <a:ext cx="3479800" cy="210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1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3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3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/>
          <p:cNvGraphicFramePr>
            <a:graphicFrameLocks noChangeAspect="1"/>
          </p:cNvGraphicFramePr>
          <p:nvPr/>
        </p:nvGraphicFramePr>
        <p:xfrm>
          <a:off x="381000" y="1066800"/>
          <a:ext cx="78994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4" name="Equation" r:id="rId3" imgW="7899400" imgH="1092200" progId="Equation.DSMT4">
                  <p:embed/>
                </p:oleObj>
              </mc:Choice>
              <mc:Fallback>
                <p:oleObj name="Equation" r:id="rId3" imgW="7899400" imgH="1092200" progId="Equation.DSMT4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066800"/>
                        <a:ext cx="7899400" cy="109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2" name="Object 8"/>
          <p:cNvGraphicFramePr>
            <a:graphicFrameLocks noChangeAspect="1"/>
          </p:cNvGraphicFramePr>
          <p:nvPr/>
        </p:nvGraphicFramePr>
        <p:xfrm>
          <a:off x="457200" y="2362200"/>
          <a:ext cx="7607300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5" name="Equation" r:id="rId5" imgW="7607300" imgH="3810000" progId="Equation.DSMT4">
                  <p:embed/>
                </p:oleObj>
              </mc:Choice>
              <mc:Fallback>
                <p:oleObj name="Equation" r:id="rId5" imgW="7607300" imgH="3810000" progId="Equation.DSMT4">
                  <p:embed/>
                  <p:pic>
                    <p:nvPicPr>
                      <p:cNvPr id="5223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62200"/>
                        <a:ext cx="7607300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69507" y="1009951"/>
            <a:ext cx="5867400" cy="533400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800"/>
              <a:t>2 </a:t>
            </a:r>
            <a:r>
              <a:rPr lang="zh-CN" altLang="en-US" sz="2800"/>
              <a:t>算法收敛性</a:t>
            </a:r>
          </a:p>
        </p:txBody>
      </p:sp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463973"/>
              </p:ext>
            </p:extLst>
          </p:nvPr>
        </p:nvGraphicFramePr>
        <p:xfrm>
          <a:off x="455613" y="1687513"/>
          <a:ext cx="78486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8" name="Equation" r:id="rId3" imgW="7848600" imgH="1612900" progId="Equation.DSMT4">
                  <p:embed/>
                </p:oleObj>
              </mc:Choice>
              <mc:Fallback>
                <p:oleObj name="Equation" r:id="rId3" imgW="7848600" imgH="1612900" progId="Equation.DSMT4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3" y="1687513"/>
                        <a:ext cx="7848600" cy="161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611188" y="3573463"/>
          <a:ext cx="76454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9" name="Equation" r:id="rId5" imgW="7645400" imgH="1600200" progId="Equation.DSMT4">
                  <p:embed/>
                </p:oleObj>
              </mc:Choice>
              <mc:Fallback>
                <p:oleObj name="Equation" r:id="rId5" imgW="7645400" imgH="1600200" progId="Equation.DSMT4">
                  <p:embed/>
                  <p:pic>
                    <p:nvPicPr>
                      <p:cNvPr id="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3573463"/>
                        <a:ext cx="7645400" cy="16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41486"/>
              </p:ext>
            </p:extLst>
          </p:nvPr>
        </p:nvGraphicFramePr>
        <p:xfrm>
          <a:off x="616669" y="981075"/>
          <a:ext cx="7620000" cy="353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2" name="Equation" r:id="rId3" imgW="8293100" imgH="3848100" progId="Equation.DSMT4">
                  <p:embed/>
                </p:oleObj>
              </mc:Choice>
              <mc:Fallback>
                <p:oleObj name="Equation" r:id="rId3" imgW="8293100" imgH="3848100" progId="Equation.DSMT4">
                  <p:embed/>
                  <p:pic>
                    <p:nvPicPr>
                      <p:cNvPr id="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669" y="981075"/>
                        <a:ext cx="7620000" cy="353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539750" y="4581525"/>
          <a:ext cx="70739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3" name="Equation" r:id="rId5" imgW="7073900" imgH="1587500" progId="Equation.DSMT4">
                  <p:embed/>
                </p:oleObj>
              </mc:Choice>
              <mc:Fallback>
                <p:oleObj name="Equation" r:id="rId5" imgW="7073900" imgH="1587500" progId="Equation.DSMT4">
                  <p:embed/>
                  <p:pic>
                    <p:nvPicPr>
                      <p:cNvPr id="542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581525"/>
                        <a:ext cx="7073900" cy="158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5410200" cy="838200"/>
          </a:xfrm>
          <a:prstGeom prst="rect">
            <a:avLst/>
          </a:prstGeom>
        </p:spPr>
        <p:txBody>
          <a:bodyPr/>
          <a:lstStyle/>
          <a:p>
            <a:pPr algn="l" eaLnBrk="1" hangingPunct="1"/>
            <a:r>
              <a:rPr lang="en-US" altLang="zh-CN" sz="3600"/>
              <a:t>3   Frank-Wolfe</a:t>
            </a:r>
            <a:r>
              <a:rPr lang="zh-CN" altLang="en-US" sz="3600"/>
              <a:t>方法</a:t>
            </a:r>
            <a:endParaRPr lang="zh-CN" altLang="en-US" sz="32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861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7259" y="1220804"/>
            <a:ext cx="8152598" cy="704248"/>
          </a:xfrm>
          <a:prstGeom prst="rect">
            <a:avLst/>
          </a:prstGeo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下面定理表明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这序列的每一聚点都是</a:t>
            </a:r>
            <a:r>
              <a:rPr lang="en-US" altLang="zh-CN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KKT</a:t>
            </a:r>
            <a:r>
              <a:rPr lang="zh-CN" altLang="en-US" sz="2800" b="0"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</a:p>
        </p:txBody>
      </p:sp>
      <p:graphicFrame>
        <p:nvGraphicFramePr>
          <p:cNvPr id="686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215726"/>
              </p:ext>
            </p:extLst>
          </p:nvPr>
        </p:nvGraphicFramePr>
        <p:xfrm>
          <a:off x="707440" y="2258479"/>
          <a:ext cx="6934200" cy="271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4" name="Equation" r:id="rId3" imgW="6934200" imgH="2717800" progId="Equation.DSMT4">
                  <p:embed/>
                </p:oleObj>
              </mc:Choice>
              <mc:Fallback>
                <p:oleObj name="Equation" r:id="rId3" imgW="6934200" imgH="2717800" progId="Equation.DSMT4">
                  <p:embed/>
                  <p:pic>
                    <p:nvPicPr>
                      <p:cNvPr id="686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440" y="2258479"/>
                        <a:ext cx="6934200" cy="2717800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6769100" cy="6477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3200" b="1">
                <a:ea typeface="楷体_GB2312" pitchFamily="49" charset="-122"/>
              </a:rPr>
              <a:t>4 Wolfe</a:t>
            </a:r>
            <a:r>
              <a:rPr lang="zh-CN" altLang="en-US" sz="3200" b="1">
                <a:ea typeface="楷体_GB2312" pitchFamily="49" charset="-122"/>
              </a:rPr>
              <a:t>既约梯度法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9882" y="1062138"/>
            <a:ext cx="7705725" cy="576262"/>
          </a:xfrm>
          <a:prstGeom prst="rect">
            <a:avLst/>
          </a:prstGeom>
        </p:spPr>
        <p:txBody>
          <a:bodyPr/>
          <a:lstStyle/>
          <a:p>
            <a:pPr>
              <a:buFontTx/>
              <a:buNone/>
            </a:pPr>
            <a:r>
              <a:rPr lang="zh-CN" altLang="en-US" sz="2800" b="0" dirty="0"/>
              <a:t>考虑如下线性约束优化问题</a:t>
            </a:r>
            <a:r>
              <a:rPr lang="en-US" altLang="zh-CN" sz="2800" b="0" dirty="0"/>
              <a:t>:</a:t>
            </a:r>
          </a:p>
        </p:txBody>
      </p:sp>
      <p:graphicFrame>
        <p:nvGraphicFramePr>
          <p:cNvPr id="69637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691906633"/>
              </p:ext>
            </p:extLst>
          </p:nvPr>
        </p:nvGraphicFramePr>
        <p:xfrm>
          <a:off x="1414914" y="1686527"/>
          <a:ext cx="5164138" cy="1074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8" name="Equation" r:id="rId3" imgW="2197100" imgH="457200" progId="Equation.DSMT4">
                  <p:embed/>
                </p:oleObj>
              </mc:Choice>
              <mc:Fallback>
                <p:oleObj name="Equation" r:id="rId3" imgW="2197100" imgH="457200" progId="Equation.DSMT4">
                  <p:embed/>
                  <p:pic>
                    <p:nvPicPr>
                      <p:cNvPr id="696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4914" y="1686527"/>
                        <a:ext cx="5164138" cy="1074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Rectangle 7"/>
          <p:cNvSpPr>
            <a:spLocks noChangeArrowheads="1"/>
          </p:cNvSpPr>
          <p:nvPr/>
        </p:nvSpPr>
        <p:spPr bwMode="auto">
          <a:xfrm>
            <a:off x="391227" y="2926279"/>
            <a:ext cx="8018463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思想</a:t>
            </a:r>
            <a:r>
              <a:rPr lang="en-US" altLang="zh-CN" sz="2800" dirty="0"/>
              <a:t>:</a:t>
            </a:r>
            <a:r>
              <a:rPr lang="zh-CN" altLang="en-US" sz="2800" dirty="0"/>
              <a:t>借鉴线性规划单纯形算法思想</a:t>
            </a:r>
            <a:r>
              <a:rPr lang="en-US" altLang="zh-CN" sz="2800" dirty="0"/>
              <a:t>,</a:t>
            </a:r>
            <a:r>
              <a:rPr lang="zh-CN" altLang="en-US" sz="2800" dirty="0"/>
              <a:t>选择某些变量为基变量</a:t>
            </a:r>
            <a:r>
              <a:rPr lang="en-US" altLang="zh-CN" sz="2800" dirty="0"/>
              <a:t>,</a:t>
            </a:r>
            <a:r>
              <a:rPr lang="zh-CN" altLang="en-US" sz="2800" dirty="0"/>
              <a:t>其他的作为非基变量</a:t>
            </a:r>
            <a:r>
              <a:rPr lang="en-US" altLang="zh-CN" sz="2800" dirty="0"/>
              <a:t>,</a:t>
            </a:r>
            <a:r>
              <a:rPr lang="zh-CN" altLang="en-US" sz="2800" dirty="0"/>
              <a:t>并用非基变量表示基变量</a:t>
            </a:r>
            <a:r>
              <a:rPr lang="en-US" altLang="zh-CN" sz="2800" dirty="0"/>
              <a:t>.</a:t>
            </a:r>
            <a:r>
              <a:rPr lang="zh-CN" altLang="en-US" sz="2800" dirty="0"/>
              <a:t>从而能从目标函数</a:t>
            </a:r>
            <a:r>
              <a:rPr lang="en-US" altLang="zh-CN" sz="2800" dirty="0"/>
              <a:t>f(x)</a:t>
            </a:r>
            <a:r>
              <a:rPr lang="zh-CN" altLang="en-US" sz="2800" dirty="0"/>
              <a:t>中消去基变量</a:t>
            </a:r>
            <a:r>
              <a:rPr lang="en-US" altLang="zh-CN" sz="2800" dirty="0"/>
              <a:t>,</a:t>
            </a:r>
            <a:r>
              <a:rPr lang="zh-CN" altLang="en-US" sz="2800" dirty="0"/>
              <a:t>得到只含非基变量的既约目标函数</a:t>
            </a:r>
            <a:r>
              <a:rPr lang="en-US" altLang="zh-CN" sz="2800" dirty="0"/>
              <a:t>. </a:t>
            </a:r>
            <a:r>
              <a:rPr lang="zh-CN" altLang="en-US" sz="2800" dirty="0"/>
              <a:t>利用既约目标函数的梯度</a:t>
            </a:r>
            <a:r>
              <a:rPr lang="en-US" altLang="zh-CN" sz="2800" dirty="0"/>
              <a:t>(</a:t>
            </a:r>
            <a:r>
              <a:rPr lang="zh-CN" altLang="en-US" sz="2800" dirty="0"/>
              <a:t>称为既约梯度</a:t>
            </a:r>
            <a:r>
              <a:rPr lang="en-US" altLang="zh-CN" sz="2800" dirty="0"/>
              <a:t>),</a:t>
            </a:r>
            <a:r>
              <a:rPr lang="zh-CN" altLang="en-US" sz="2800" dirty="0"/>
              <a:t>构造使目标函数下降的可行方向</a:t>
            </a:r>
            <a:r>
              <a:rPr lang="en-US" altLang="zh-CN" sz="2800" dirty="0"/>
              <a:t>, </a:t>
            </a:r>
            <a:r>
              <a:rPr lang="zh-CN" altLang="en-US" sz="2800" dirty="0"/>
              <a:t>寻找新的改进点</a:t>
            </a:r>
            <a:r>
              <a:rPr lang="en-US" altLang="zh-CN" sz="2800" dirty="0"/>
              <a:t>. ------</a:t>
            </a:r>
            <a:r>
              <a:rPr lang="zh-CN" altLang="en-US" sz="2800" dirty="0"/>
              <a:t>称这种可行方向法称为</a:t>
            </a:r>
            <a:r>
              <a:rPr lang="en-US" altLang="zh-CN" sz="2800" b="1" dirty="0">
                <a:solidFill>
                  <a:srgbClr val="463DF5"/>
                </a:solidFill>
              </a:rPr>
              <a:t>Wolfe</a:t>
            </a:r>
            <a:r>
              <a:rPr lang="zh-CN" altLang="en-US" sz="2800" b="1" dirty="0">
                <a:solidFill>
                  <a:srgbClr val="463DF5"/>
                </a:solidFill>
              </a:rPr>
              <a:t>既约梯度法</a:t>
            </a:r>
            <a:r>
              <a:rPr lang="en-US" altLang="zh-CN" sz="2800" b="1" dirty="0">
                <a:solidFill>
                  <a:srgbClr val="463DF5"/>
                </a:solidFill>
              </a:rPr>
              <a:t>.</a:t>
            </a: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659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416474868"/>
              </p:ext>
            </p:extLst>
          </p:nvPr>
        </p:nvGraphicFramePr>
        <p:xfrm>
          <a:off x="673185" y="993674"/>
          <a:ext cx="7796212" cy="1500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59" name="Equation" r:id="rId3" imgW="3695400" imgH="711000" progId="Equation.DSMT4">
                  <p:embed/>
                </p:oleObj>
              </mc:Choice>
              <mc:Fallback>
                <p:oleObj name="Equation" r:id="rId3" imgW="3695400" imgH="711000" progId="Equation.DSMT4">
                  <p:embed/>
                  <p:pic>
                    <p:nvPicPr>
                      <p:cNvPr id="7065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185" y="993674"/>
                        <a:ext cx="7796212" cy="1500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598811590"/>
              </p:ext>
            </p:extLst>
          </p:nvPr>
        </p:nvGraphicFramePr>
        <p:xfrm>
          <a:off x="1559293" y="2777157"/>
          <a:ext cx="5645150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0" name="Equation" r:id="rId5" imgW="2400300" imgH="482600" progId="Equation.DSMT4">
                  <p:embed/>
                </p:oleObj>
              </mc:Choice>
              <mc:Fallback>
                <p:oleObj name="Equation" r:id="rId5" imgW="2400300" imgH="482600" progId="Equation.DSMT4">
                  <p:embed/>
                  <p:pic>
                    <p:nvPicPr>
                      <p:cNvPr id="7066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293" y="2777157"/>
                        <a:ext cx="5645150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2" name="Object 4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534885827"/>
              </p:ext>
            </p:extLst>
          </p:nvPr>
        </p:nvGraphicFramePr>
        <p:xfrm>
          <a:off x="1049153" y="4309210"/>
          <a:ext cx="6480175" cy="169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61" name="Equation" r:id="rId7" imgW="2730500" imgH="711200" progId="Equation.DSMT4">
                  <p:embed/>
                </p:oleObj>
              </mc:Choice>
              <mc:Fallback>
                <p:oleObj name="Equation" r:id="rId7" imgW="2730500" imgH="711200" progId="Equation.DSMT4">
                  <p:embed/>
                  <p:pic>
                    <p:nvPicPr>
                      <p:cNvPr id="7066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153" y="4309210"/>
                        <a:ext cx="6480175" cy="169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2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34971070"/>
              </p:ext>
            </p:extLst>
          </p:nvPr>
        </p:nvGraphicFramePr>
        <p:xfrm>
          <a:off x="1510983" y="1412875"/>
          <a:ext cx="6535737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0" name="Equation" r:id="rId3" imgW="2654300" imgH="254000" progId="Equation.DSMT4">
                  <p:embed/>
                </p:oleObj>
              </mc:Choice>
              <mc:Fallback>
                <p:oleObj name="Equation" r:id="rId3" imgW="2654300" imgH="254000" progId="Equation.DSMT4">
                  <p:embed/>
                  <p:pic>
                    <p:nvPicPr>
                      <p:cNvPr id="716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0983" y="1412875"/>
                        <a:ext cx="6535737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1572011720"/>
              </p:ext>
            </p:extLst>
          </p:nvPr>
        </p:nvGraphicFramePr>
        <p:xfrm>
          <a:off x="693019" y="4268236"/>
          <a:ext cx="7489825" cy="180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1" name="Equation" r:id="rId5" imgW="3060700" imgH="736600" progId="Equation.DSMT4">
                  <p:embed/>
                </p:oleObj>
              </mc:Choice>
              <mc:Fallback>
                <p:oleObj name="Equation" r:id="rId5" imgW="3060700" imgH="736600" progId="Equation.DSMT4">
                  <p:embed/>
                  <p:pic>
                    <p:nvPicPr>
                      <p:cNvPr id="7168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019" y="4268236"/>
                        <a:ext cx="7489825" cy="180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072170590"/>
              </p:ext>
            </p:extLst>
          </p:nvPr>
        </p:nvGraphicFramePr>
        <p:xfrm>
          <a:off x="1039528" y="2814153"/>
          <a:ext cx="5343525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582" name="Equation" r:id="rId7" imgW="2209800" imgH="482600" progId="Equation.DSMT4">
                  <p:embed/>
                </p:oleObj>
              </mc:Choice>
              <mc:Fallback>
                <p:oleObj name="Equation" r:id="rId7" imgW="2209800" imgH="482600" progId="Equation.DSMT4">
                  <p:embed/>
                  <p:pic>
                    <p:nvPicPr>
                      <p:cNvPr id="7168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528" y="2814153"/>
                        <a:ext cx="5343525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5" name="Rectangle 8"/>
          <p:cNvSpPr>
            <a:spLocks noChangeArrowheads="1"/>
          </p:cNvSpPr>
          <p:nvPr/>
        </p:nvSpPr>
        <p:spPr bwMode="auto">
          <a:xfrm>
            <a:off x="468313" y="2154238"/>
            <a:ext cx="6486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约束系数矩阵</a:t>
            </a:r>
            <a:r>
              <a:rPr lang="en-US" altLang="zh-CN" sz="2800" dirty="0"/>
              <a:t>A</a:t>
            </a:r>
            <a:r>
              <a:rPr lang="zh-CN" altLang="en-US" sz="2800" dirty="0"/>
              <a:t>的零空间中的向量可表为</a:t>
            </a:r>
          </a:p>
        </p:txBody>
      </p:sp>
      <p:grpSp>
        <p:nvGrpSpPr>
          <p:cNvPr id="71686" name="Group 14"/>
          <p:cNvGrpSpPr>
            <a:grpSpLocks/>
          </p:cNvGrpSpPr>
          <p:nvPr/>
        </p:nvGrpSpPr>
        <p:grpSpPr bwMode="auto">
          <a:xfrm>
            <a:off x="468313" y="836613"/>
            <a:ext cx="5724525" cy="576262"/>
            <a:chOff x="295" y="527"/>
            <a:chExt cx="3606" cy="363"/>
          </a:xfrm>
        </p:grpSpPr>
        <p:sp>
          <p:nvSpPr>
            <p:cNvPr id="71689" name="Rectangle 12"/>
            <p:cNvSpPr>
              <a:spLocks noChangeArrowheads="1"/>
            </p:cNvSpPr>
            <p:nvPr/>
          </p:nvSpPr>
          <p:spPr bwMode="auto">
            <a:xfrm>
              <a:off x="2336" y="640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i="1"/>
                <a:t>N</a:t>
              </a:r>
            </a:p>
          </p:txBody>
        </p:sp>
        <p:sp>
          <p:nvSpPr>
            <p:cNvPr id="71690" name="Rectangle 13"/>
            <p:cNvSpPr>
              <a:spLocks noChangeArrowheads="1"/>
            </p:cNvSpPr>
            <p:nvPr/>
          </p:nvSpPr>
          <p:spPr bwMode="auto">
            <a:xfrm>
              <a:off x="295" y="527"/>
              <a:ext cx="360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zh-CN" altLang="en-US" sz="2800"/>
                <a:t>因此</a:t>
              </a:r>
              <a:r>
                <a:rPr lang="en-US" altLang="zh-CN" sz="2800"/>
                <a:t>,</a:t>
              </a:r>
              <a:r>
                <a:rPr lang="zh-CN" altLang="en-US" sz="2800"/>
                <a:t>目标函数</a:t>
              </a:r>
              <a:r>
                <a:rPr lang="en-US" altLang="zh-CN" sz="2800" i="1"/>
                <a:t>f</a:t>
              </a:r>
              <a:r>
                <a:rPr lang="en-US" altLang="zh-CN" sz="2800"/>
                <a:t>(</a:t>
              </a:r>
              <a:r>
                <a:rPr lang="en-US" altLang="zh-CN" sz="2800" i="1"/>
                <a:t>x</a:t>
              </a:r>
              <a:r>
                <a:rPr lang="en-US" altLang="zh-CN" sz="2800"/>
                <a:t>)</a:t>
              </a:r>
              <a:r>
                <a:rPr lang="zh-CN" altLang="en-US" sz="2800"/>
                <a:t>在</a:t>
              </a:r>
              <a:r>
                <a:rPr lang="en-US" altLang="zh-CN" sz="2800" i="1"/>
                <a:t>x  </a:t>
              </a:r>
              <a:r>
                <a:rPr lang="zh-CN" altLang="en-US" sz="2800"/>
                <a:t>处的既约梯度</a:t>
              </a:r>
            </a:p>
          </p:txBody>
        </p:sp>
      </p:grp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7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811761553"/>
              </p:ext>
            </p:extLst>
          </p:nvPr>
        </p:nvGraphicFramePr>
        <p:xfrm>
          <a:off x="471638" y="936040"/>
          <a:ext cx="8280400" cy="21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7" name="Equation" r:id="rId3" imgW="3606800" imgH="939800" progId="Equation.DSMT4">
                  <p:embed/>
                </p:oleObj>
              </mc:Choice>
              <mc:Fallback>
                <p:oleObj name="Equation" r:id="rId3" imgW="3606800" imgH="939800" progId="Equation.DSMT4">
                  <p:embed/>
                  <p:pic>
                    <p:nvPicPr>
                      <p:cNvPr id="7270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38" y="936040"/>
                        <a:ext cx="8280400" cy="21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8" name="Object 3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3713435966"/>
              </p:ext>
            </p:extLst>
          </p:nvPr>
        </p:nvGraphicFramePr>
        <p:xfrm>
          <a:off x="2146433" y="5647054"/>
          <a:ext cx="35750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08" name="Equation" r:id="rId5" imgW="5511800" imgH="939800" progId="Equation.DSMT4">
                  <p:embed/>
                </p:oleObj>
              </mc:Choice>
              <mc:Fallback>
                <p:oleObj name="Equation" r:id="rId5" imgW="5511800" imgH="939800" progId="Equation.DSMT4">
                  <p:embed/>
                  <p:pic>
                    <p:nvPicPr>
                      <p:cNvPr id="7270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433" y="5647054"/>
                        <a:ext cx="35750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Rectangle 14"/>
          <p:cNvSpPr>
            <a:spLocks noChangeArrowheads="1"/>
          </p:cNvSpPr>
          <p:nvPr/>
        </p:nvSpPr>
        <p:spPr bwMode="auto">
          <a:xfrm>
            <a:off x="481915" y="3164807"/>
            <a:ext cx="5594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给定一个下降方向</a:t>
            </a:r>
            <a:r>
              <a:rPr lang="en-US" altLang="zh-CN" sz="2400" dirty="0"/>
              <a:t>d,</a:t>
            </a:r>
            <a:r>
              <a:rPr lang="zh-CN" altLang="en-US" sz="2400" dirty="0"/>
              <a:t>若置最大的移动步长</a:t>
            </a:r>
          </a:p>
        </p:txBody>
      </p:sp>
      <p:sp>
        <p:nvSpPr>
          <p:cNvPr id="72710" name="Rectangle 15"/>
          <p:cNvSpPr>
            <a:spLocks noChangeArrowheads="1"/>
          </p:cNvSpPr>
          <p:nvPr/>
        </p:nvSpPr>
        <p:spPr bwMode="auto">
          <a:xfrm>
            <a:off x="468146" y="5032492"/>
            <a:ext cx="5365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/>
              <a:t>则最优步长对应着如下的一维优化问题</a:t>
            </a:r>
          </a:p>
        </p:txBody>
      </p:sp>
      <p:grpSp>
        <p:nvGrpSpPr>
          <p:cNvPr id="72711" name="Group 17"/>
          <p:cNvGrpSpPr>
            <a:grpSpLocks/>
          </p:cNvGrpSpPr>
          <p:nvPr/>
        </p:nvGrpSpPr>
        <p:grpSpPr bwMode="auto">
          <a:xfrm>
            <a:off x="2015214" y="3749008"/>
            <a:ext cx="5095875" cy="1222375"/>
            <a:chOff x="1020" y="2160"/>
            <a:chExt cx="3210" cy="770"/>
          </a:xfrm>
        </p:grpSpPr>
        <p:graphicFrame>
          <p:nvGraphicFramePr>
            <p:cNvPr id="72713" name="Object 4"/>
            <p:cNvGraphicFramePr>
              <a:graphicFrameLocks noChangeAspect="1"/>
            </p:cNvGraphicFramePr>
            <p:nvPr/>
          </p:nvGraphicFramePr>
          <p:xfrm>
            <a:off x="1020" y="2160"/>
            <a:ext cx="2400" cy="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609" name="Equation" r:id="rId7" imgW="5067300" imgH="1625600" progId="Equation.DSMT4">
                    <p:embed/>
                  </p:oleObj>
                </mc:Choice>
                <mc:Fallback>
                  <p:oleObj name="Equation" r:id="rId7" imgW="5067300" imgH="1625600" progId="Equation.DSMT4">
                    <p:embed/>
                    <p:pic>
                      <p:nvPicPr>
                        <p:cNvPr id="7271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0" y="2160"/>
                          <a:ext cx="2400" cy="7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14" name="Rectangle 16"/>
            <p:cNvSpPr>
              <a:spLocks noChangeArrowheads="1"/>
            </p:cNvSpPr>
            <p:nvPr/>
          </p:nvSpPr>
          <p:spPr bwMode="auto">
            <a:xfrm>
              <a:off x="3742" y="2432"/>
              <a:ext cx="4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(4.8)</a:t>
              </a:r>
            </a:p>
          </p:txBody>
        </p:sp>
      </p:grpSp>
      <p:sp>
        <p:nvSpPr>
          <p:cNvPr id="72712" name="Rectangle 18"/>
          <p:cNvSpPr>
            <a:spLocks noChangeArrowheads="1"/>
          </p:cNvSpPr>
          <p:nvPr/>
        </p:nvSpPr>
        <p:spPr bwMode="auto">
          <a:xfrm>
            <a:off x="395288" y="312392"/>
            <a:ext cx="357059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dirty="0"/>
              <a:t>4 Wolfe</a:t>
            </a:r>
            <a:r>
              <a:rPr lang="zh-CN" altLang="en-US" b="1" dirty="0"/>
              <a:t>既约梯度法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xu">
  <a:themeElements>
    <a:clrScheme name="xu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xu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xu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xu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xu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HITACHI">
  <a:themeElements>
    <a:clrScheme name="1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HITACHI">
  <a:themeElements>
    <a:clrScheme name="2_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2_HITACHI">
      <a:majorFont>
        <a:latin typeface="Garamond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HITACHI">
  <a:themeElements>
    <a:clrScheme name="HITACHI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HITACHI">
      <a:majorFont>
        <a:latin typeface="Garamond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HITACHI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ITACHI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ITACHI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默认设计模板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</TotalTime>
  <Words>1446</Words>
  <Application>Microsoft Office PowerPoint</Application>
  <PresentationFormat>全屏显示(4:3)</PresentationFormat>
  <Paragraphs>149</Paragraphs>
  <Slides>66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66</vt:i4>
      </vt:variant>
    </vt:vector>
  </HeadingPairs>
  <TitlesOfParts>
    <vt:vector size="88" baseType="lpstr">
      <vt:lpstr>黑体</vt:lpstr>
      <vt:lpstr>华文楷体</vt:lpstr>
      <vt:lpstr>楷体_GB2312</vt:lpstr>
      <vt:lpstr>隶书</vt:lpstr>
      <vt:lpstr>宋体</vt:lpstr>
      <vt:lpstr>Arial</vt:lpstr>
      <vt:lpstr>Arial Black</vt:lpstr>
      <vt:lpstr>Calibri</vt:lpstr>
      <vt:lpstr>Calibri Light</vt:lpstr>
      <vt:lpstr>Garamond</vt:lpstr>
      <vt:lpstr>Times New Roman</vt:lpstr>
      <vt:lpstr>Verdana</vt:lpstr>
      <vt:lpstr>Wingdings</vt:lpstr>
      <vt:lpstr>xu</vt:lpstr>
      <vt:lpstr>HITACHI</vt:lpstr>
      <vt:lpstr>1_HITACHI</vt:lpstr>
      <vt:lpstr>4_HITACHI</vt:lpstr>
      <vt:lpstr>2_HITACHI</vt:lpstr>
      <vt:lpstr>3_HITACHI</vt:lpstr>
      <vt:lpstr>2_默认设计模板</vt:lpstr>
      <vt:lpstr>Equation</vt:lpstr>
      <vt:lpstr>MathType 7.0 Equation</vt:lpstr>
      <vt:lpstr>PowerPoint 演示文稿</vt:lpstr>
      <vt:lpstr>12  可行方向法</vt:lpstr>
      <vt:lpstr>1. Zoutendijk可行方向法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 Zoutendijk可行方向法</vt:lpstr>
      <vt:lpstr>2. Rosen梯度投影法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   Frank-Wolfe方法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   Frank-Wolfe方法</vt:lpstr>
      <vt:lpstr>4 Wolfe既约梯度法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tpshuai</dc:creator>
  <cp:lastModifiedBy>tpshu</cp:lastModifiedBy>
  <cp:revision>1705</cp:revision>
  <dcterms:created xsi:type="dcterms:W3CDTF">2012-04-20T06:02:00Z</dcterms:created>
  <dcterms:modified xsi:type="dcterms:W3CDTF">2026-05-30T14:24:31Z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9CF86C79608144ADBEF3A26E5FD9A904</vt:lpwstr>
  </property>
</Properties>
</file>