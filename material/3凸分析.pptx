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4" r:id="rId3"/>
    <p:sldMasterId id="2147483710" r:id="rId4"/>
    <p:sldMasterId id="2147483686" r:id="rId5"/>
    <p:sldMasterId id="2147483698" r:id="rId6"/>
    <p:sldMasterId id="2147483722" r:id="rId7"/>
  </p:sldMasterIdLst>
  <p:notesMasterIdLst>
    <p:notesMasterId r:id="rId61"/>
  </p:notesMasterIdLst>
  <p:handoutMasterIdLst>
    <p:handoutMasterId r:id="rId62"/>
  </p:handoutMasterIdLst>
  <p:sldIdLst>
    <p:sldId id="377" r:id="rId8"/>
    <p:sldId id="1849" r:id="rId9"/>
    <p:sldId id="342" r:id="rId10"/>
    <p:sldId id="1846" r:id="rId11"/>
    <p:sldId id="256" r:id="rId12"/>
    <p:sldId id="260" r:id="rId13"/>
    <p:sldId id="347" r:id="rId14"/>
    <p:sldId id="348" r:id="rId15"/>
    <p:sldId id="258" r:id="rId16"/>
    <p:sldId id="259" r:id="rId17"/>
    <p:sldId id="399" r:id="rId18"/>
    <p:sldId id="394" r:id="rId19"/>
    <p:sldId id="395" r:id="rId20"/>
    <p:sldId id="397" r:id="rId21"/>
    <p:sldId id="398" r:id="rId22"/>
    <p:sldId id="1847" r:id="rId23"/>
    <p:sldId id="1848" r:id="rId24"/>
    <p:sldId id="1845" r:id="rId25"/>
    <p:sldId id="378" r:id="rId26"/>
    <p:sldId id="429" r:id="rId27"/>
    <p:sldId id="379" r:id="rId28"/>
    <p:sldId id="380" r:id="rId29"/>
    <p:sldId id="381" r:id="rId30"/>
    <p:sldId id="382" r:id="rId31"/>
    <p:sldId id="430" r:id="rId32"/>
    <p:sldId id="435" r:id="rId33"/>
    <p:sldId id="385" r:id="rId34"/>
    <p:sldId id="386" r:id="rId35"/>
    <p:sldId id="1850" r:id="rId36"/>
    <p:sldId id="388" r:id="rId37"/>
    <p:sldId id="400" r:id="rId38"/>
    <p:sldId id="401" r:id="rId39"/>
    <p:sldId id="402" r:id="rId40"/>
    <p:sldId id="403" r:id="rId41"/>
    <p:sldId id="432" r:id="rId42"/>
    <p:sldId id="434" r:id="rId43"/>
    <p:sldId id="433" r:id="rId44"/>
    <p:sldId id="404" r:id="rId45"/>
    <p:sldId id="408" r:id="rId46"/>
    <p:sldId id="409" r:id="rId47"/>
    <p:sldId id="410" r:id="rId48"/>
    <p:sldId id="411" r:id="rId49"/>
    <p:sldId id="412" r:id="rId50"/>
    <p:sldId id="413" r:id="rId51"/>
    <p:sldId id="414" r:id="rId52"/>
    <p:sldId id="415" r:id="rId53"/>
    <p:sldId id="417" r:id="rId54"/>
    <p:sldId id="420" r:id="rId55"/>
    <p:sldId id="421" r:id="rId56"/>
    <p:sldId id="422" r:id="rId57"/>
    <p:sldId id="423" r:id="rId58"/>
    <p:sldId id="424" r:id="rId59"/>
    <p:sldId id="425" r:id="rId60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>
          <p15:clr>
            <a:srgbClr val="A4A3A4"/>
          </p15:clr>
        </p15:guide>
        <p15:guide id="2" pos="29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86">
          <p15:clr>
            <a:srgbClr val="A4A3A4"/>
          </p15:clr>
        </p15:guide>
        <p15:guide id="2" pos="226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33"/>
    <a:srgbClr val="FF6600"/>
    <a:srgbClr val="CC6600"/>
    <a:srgbClr val="990000"/>
    <a:srgbClr val="336699"/>
    <a:srgbClr val="CC3300"/>
    <a:srgbClr val="008080"/>
    <a:srgbClr val="0099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27" autoAdjust="0"/>
    <p:restoredTop sz="92552" autoAdjust="0"/>
  </p:normalViewPr>
  <p:slideViewPr>
    <p:cSldViewPr snapToGrid="0">
      <p:cViewPr varScale="1">
        <p:scale>
          <a:sx n="61" d="100"/>
          <a:sy n="61" d="100"/>
        </p:scale>
        <p:origin x="924" y="60"/>
      </p:cViewPr>
      <p:guideLst>
        <p:guide orient="horz" pos="2135"/>
        <p:guide pos="291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3006" y="-96"/>
      </p:cViewPr>
      <p:guideLst>
        <p:guide orient="horz" pos="3186"/>
        <p:guide pos="226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viewProps" Target="view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19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74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6A960A1-D56F-4C4A-97CF-4735240BD62C}" type="datetimeFigureOut">
              <a:rPr lang="zh-CN" altLang="en-US"/>
              <a:t>2026/3/17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4F66F81-A0D2-4A7E-BBC3-CD5E44C9F6A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5EE2498-8568-4830-BB85-C81475419C18}" type="datetimeFigureOut">
              <a:rPr lang="zh-CN" altLang="en-US"/>
              <a:t>2026/3/17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zh-CN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00F46F3-D1E1-4E94-ABE0-1F205FAA8D8A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11" Type="http://schemas.microsoft.com/office/2007/relationships/hdphoto" Target="../media/hdphoto1.wdp"/><Relationship Id="rId5" Type="http://schemas.openxmlformats.org/officeDocument/2006/relationships/image" Target="../media/image6.jpeg"/><Relationship Id="rId10" Type="http://schemas.openxmlformats.org/officeDocument/2006/relationships/image" Target="../media/image12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1300" y="304800"/>
            <a:ext cx="19431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3048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6067645"/>
            <a:ext cx="3428992" cy="790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E34C9-46E5-4E8D-99BF-94A85858DAD5}" type="datetime1">
              <a:rPr lang="zh-CN" altLang="en-US"/>
              <a:pPr>
                <a:defRPr/>
              </a:pPr>
              <a:t>2026/3/17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TP SHUAI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D639D-1B4F-4C57-80D3-EEA9661134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94638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98436364"/>
      </p:ext>
    </p:extLst>
  </p:cSld>
  <p:clrMapOvr>
    <a:masterClrMapping/>
  </p:clrMapOvr>
  <p:transition spd="slow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0147829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59965225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209829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90358073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20366111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089745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05439786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75652015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03216887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8597677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85134-EB9D-4805-ABEB-F863D88A05E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AFBB6-D49A-43F4-87D9-D7681947FD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C021B-CAAC-47EF-8662-3E778FCEF6C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50BEE-AE29-4505-92DA-41C676A713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00548-8CF3-4B09-ACBA-0F38896D916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0478A-3558-426B-BC99-7BF29E2A8A0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2B9A6-6288-44F7-B172-15E1AB0493F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892A0-0C0A-4500-900B-D87ECC80B77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2F2B1-744B-4D4E-8150-2AF0605125A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AACB4-BC2C-4235-93CB-4858018529E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B03A7-9B61-4EE4-AC29-3E0A59EB3FB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3CD01DB-5A89-46E1-9C62-8DE24968FCB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374472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EA0A3D38-FDC0-4B4B-A494-56099C1B91F0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877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BDD1DE16-6030-4296-AA83-243A5EBDEF6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58103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CDADCE3F-3FF9-425C-B635-BDEE2469475C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4025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9D263FCC-0E9E-4DE0-9191-3A9805C5D772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10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51939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A882C6C2-D35D-4B29-9880-EB532D47EA8C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4868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F1B72FF5-3C7F-4A3E-A69E-E6308AC08448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54" y="764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51306" y="952229"/>
            <a:ext cx="9072059" cy="5266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2"/>
          <p:cNvSpPr>
            <a:spLocks noChangeArrowheads="1"/>
          </p:cNvSpPr>
          <p:nvPr userDrawn="1"/>
        </p:nvSpPr>
        <p:spPr bwMode="auto">
          <a:xfrm>
            <a:off x="16281" y="2867954"/>
            <a:ext cx="9102730" cy="158795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ffectLst>
            <a:glow rad="12700">
              <a:srgbClr val="002060">
                <a:alpha val="40000"/>
              </a:srgb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Picture 31"/>
          <p:cNvPicPr>
            <a:picLocks noChangeAspect="1" noChangeArrowheads="1"/>
          </p:cNvPicPr>
          <p:nvPr userDrawn="1"/>
        </p:nvPicPr>
        <p:blipFill>
          <a:blip r:embed="rId10">
            <a:clrChange>
              <a:clrFrom>
                <a:srgbClr val="EBFFFF"/>
              </a:clrFrom>
              <a:clrTo>
                <a:srgbClr val="EB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987" y="299936"/>
            <a:ext cx="4552551" cy="812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526871" y="1830688"/>
            <a:ext cx="8268785" cy="979376"/>
          </a:xfrm>
        </p:spPr>
        <p:txBody>
          <a:bodyPr>
            <a:normAutofit/>
          </a:bodyPr>
          <a:lstStyle>
            <a:lvl1pPr algn="ctr">
              <a:defRPr sz="5400" baseline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526469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58C92BF-141B-405B-B9C3-41F21423E6D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027683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09B0ED30-E3F2-4215-ADC5-126CA2DD31D4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61078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0B5D371D-92C2-44A4-BE04-ECAB734F093F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14524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6726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3.png"/><Relationship Id="rId18" Type="http://schemas.openxmlformats.org/officeDocument/2006/relationships/image" Target="../media/image8.jpeg"/><Relationship Id="rId3" Type="http://schemas.openxmlformats.org/officeDocument/2006/relationships/slideLayout" Target="../slideLayouts/slideLayout71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17" Type="http://schemas.openxmlformats.org/officeDocument/2006/relationships/image" Target="../media/image7.jpeg"/><Relationship Id="rId2" Type="http://schemas.openxmlformats.org/officeDocument/2006/relationships/slideLayout" Target="../slideLayouts/slideLayout70.xml"/><Relationship Id="rId16" Type="http://schemas.openxmlformats.org/officeDocument/2006/relationships/image" Target="../media/image6.jpeg"/><Relationship Id="rId20" Type="http://schemas.openxmlformats.org/officeDocument/2006/relationships/image" Target="../media/image10.jpeg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78.xml"/><Relationship Id="rId19" Type="http://schemas.openxmlformats.org/officeDocument/2006/relationships/image" Target="../media/image9.jpeg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5525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Freeform 3"/>
          <p:cNvSpPr/>
          <p:nvPr/>
        </p:nvSpPr>
        <p:spPr bwMode="auto">
          <a:xfrm>
            <a:off x="1588" y="914400"/>
            <a:ext cx="1219200" cy="4838700"/>
          </a:xfrm>
          <a:custGeom>
            <a:avLst/>
            <a:gdLst>
              <a:gd name="T0" fmla="*/ 2147483647 w 768"/>
              <a:gd name="T1" fmla="*/ 2147483647 h 2856"/>
              <a:gd name="T2" fmla="*/ 2147483647 w 768"/>
              <a:gd name="T3" fmla="*/ 2147483647 h 2856"/>
              <a:gd name="T4" fmla="*/ 0 w 768"/>
              <a:gd name="T5" fmla="*/ 2147483647 h 2856"/>
              <a:gd name="T6" fmla="*/ 0 w 768"/>
              <a:gd name="T7" fmla="*/ 2147483647 h 2856"/>
              <a:gd name="T8" fmla="*/ 2147483647 w 768"/>
              <a:gd name="T9" fmla="*/ 0 h 2856"/>
              <a:gd name="T10" fmla="*/ 2147483647 w 768"/>
              <a:gd name="T11" fmla="*/ 2147483647 h 28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68" h="2856">
                <a:moveTo>
                  <a:pt x="619" y="1461"/>
                </a:moveTo>
                <a:cubicBezTo>
                  <a:pt x="635" y="2144"/>
                  <a:pt x="683" y="2331"/>
                  <a:pt x="760" y="2856"/>
                </a:cubicBezTo>
                <a:lnTo>
                  <a:pt x="0" y="2856"/>
                </a:lnTo>
                <a:lnTo>
                  <a:pt x="0" y="1"/>
                </a:lnTo>
                <a:lnTo>
                  <a:pt x="768" y="0"/>
                </a:lnTo>
                <a:cubicBezTo>
                  <a:pt x="736" y="196"/>
                  <a:pt x="635" y="672"/>
                  <a:pt x="619" y="1461"/>
                </a:cubicBezTo>
                <a:close/>
              </a:path>
            </a:pathLst>
          </a:custGeom>
          <a:gradFill rotWithShape="0">
            <a:gsLst>
              <a:gs pos="0">
                <a:srgbClr val="7C7EAC"/>
              </a:gs>
              <a:gs pos="100000">
                <a:schemeClr val="bg1"/>
              </a:gs>
            </a:gsLst>
            <a:lin ang="5400000" scaled="1"/>
          </a:gradFill>
          <a:ln w="9525" cap="flat" cmpd="sng">
            <a:noFill/>
            <a:prstDash val="solid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219200"/>
            <a:ext cx="77724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sz="2000" b="1">
          <a:solidFill>
            <a:srgbClr val="3366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b="1">
          <a:solidFill>
            <a:srgbClr val="3366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 b="1">
          <a:solidFill>
            <a:srgbClr val="3366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 b="1">
          <a:solidFill>
            <a:srgbClr val="3366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>
            <a:extLst>
              <a:ext uri="{FF2B5EF4-FFF2-40B4-BE49-F238E27FC236}">
                <a16:creationId xmlns:a16="http://schemas.microsoft.com/office/drawing/2014/main" id="{96445CF5-7F4F-413B-8541-AD9A799353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734" r:id="rId12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>
            <a:extLst>
              <a:ext uri="{FF2B5EF4-FFF2-40B4-BE49-F238E27FC236}">
                <a16:creationId xmlns:a16="http://schemas.microsoft.com/office/drawing/2014/main" id="{96445CF5-7F4F-413B-8541-AD9A799353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4327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32057243-54D8-446D-9769-A38AE30FAB60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74849" y="215308"/>
            <a:ext cx="1216904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>
              <a:defRPr/>
            </a:pPr>
            <a:r>
              <a:rPr kumimoji="1" lang="en-US" altLang="zh-CN" sz="3200" b="1" i="1" dirty="0">
                <a:ln w="10541" cmpd="sng">
                  <a:noFill/>
                  <a:prstDash val="solid"/>
                </a:ln>
                <a:gradFill flip="none" rotWithShape="1">
                  <a:gsLst>
                    <a:gs pos="0">
                      <a:srgbClr val="A603AB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0" scaled="1"/>
                  <a:tileRect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pitchFamily="34" charset="0"/>
                <a:ea typeface="黑体" panose="02010609060101010101" pitchFamily="2" charset="-122"/>
              </a:rPr>
              <a:t>SBN</a:t>
            </a:r>
            <a:endParaRPr kumimoji="1" lang="zh-CN" altLang="en-US" sz="3200" b="1" i="1" dirty="0">
              <a:ln w="10541" cmpd="sng">
                <a:noFill/>
                <a:prstDash val="solid"/>
              </a:ln>
              <a:gradFill flip="none" rotWithShape="1">
                <a:gsLst>
                  <a:gs pos="0">
                    <a:srgbClr val="A603AB"/>
                  </a:gs>
                  <a:gs pos="21001">
                    <a:srgbClr val="0819FB"/>
                  </a:gs>
                  <a:gs pos="35001">
                    <a:srgbClr val="1A8D48"/>
                  </a:gs>
                  <a:gs pos="52000">
                    <a:srgbClr val="FFFF00"/>
                  </a:gs>
                  <a:gs pos="73000">
                    <a:srgbClr val="EE3F17"/>
                  </a:gs>
                  <a:gs pos="88000">
                    <a:srgbClr val="E81766"/>
                  </a:gs>
                  <a:gs pos="100000">
                    <a:srgbClr val="A603AB"/>
                  </a:gs>
                </a:gsLst>
                <a:lin ang="0" scaled="1"/>
                <a:tileRect/>
              </a:gra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Black" panose="020B0A04020102020204" pitchFamily="34" charset="0"/>
              <a:ea typeface="黑体" panose="02010609060101010101" pitchFamily="2" charset="-122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73025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124200" y="64770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 kumimoji="1" sz="1600" b="1">
                <a:solidFill>
                  <a:schemeClr val="folHlink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56ED39A5-D7E9-45ED-9C73-9E366D6A377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1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1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1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1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20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73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63.xml"/><Relationship Id="rId16" Type="http://schemas.openxmlformats.org/officeDocument/2006/relationships/image" Target="../media/image24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2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6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9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2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8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9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6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1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42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44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45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49.png"/><Relationship Id="rId4" Type="http://schemas.openxmlformats.org/officeDocument/2006/relationships/image" Target="../media/image47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48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53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54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55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61.wmf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39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62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63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64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19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image" Target="../media/image58.png"/><Relationship Id="rId7" Type="http://schemas.openxmlformats.org/officeDocument/2006/relationships/image" Target="../media/image70.wmf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69.w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71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72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74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75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76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77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78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7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2325814" y="3339312"/>
            <a:ext cx="5451397" cy="2070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帅天平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数学科学学院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tpshuai@bupt.edu.cn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03416" y="1667211"/>
            <a:ext cx="65319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BBE0E3"/>
              </a:buClr>
              <a:buSzPct val="60000"/>
              <a:buFontTx/>
              <a:buNone/>
              <a:tabLst/>
              <a:defRPr/>
            </a:pPr>
            <a:r>
              <a:rPr lang="zh-CN" altLang="en-US" sz="60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最优化理论与算法</a:t>
            </a:r>
            <a:endParaRPr kumimoji="0" lang="en-US" altLang="zh-CN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95285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3D3D5-DC9C-4A7C-ABE4-E4A47E71F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74" y="111526"/>
            <a:ext cx="8229600" cy="757238"/>
          </a:xfrm>
        </p:spPr>
        <p:txBody>
          <a:bodyPr/>
          <a:lstStyle/>
          <a:p>
            <a:r>
              <a:rPr lang="zh-CN" altLang="en-US" dirty="0"/>
              <a:t>凸集与凸函数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85CE41-A7F9-4825-A4E9-870AE51FE70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4892" y="1196474"/>
            <a:ext cx="8229600" cy="45307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凸集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凸函数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凸集分离定理</a:t>
            </a:r>
          </a:p>
        </p:txBody>
      </p:sp>
    </p:spTree>
    <p:extLst>
      <p:ext uri="{BB962C8B-B14F-4D97-AF65-F5344CB8AC3E}">
        <p14:creationId xmlns:p14="http://schemas.microsoft.com/office/powerpoint/2010/main" val="2687048612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b="1" dirty="0"/>
              <a:t>1 </a:t>
            </a:r>
            <a:r>
              <a:rPr lang="zh-CN" altLang="en-US" dirty="0">
                <a:ea typeface="楷体_GB2312" pitchFamily="49" charset="-122"/>
              </a:rPr>
              <a:t>凸集</a:t>
            </a:r>
            <a:endParaRPr lang="zh-CN" altLang="en-US" dirty="0"/>
          </a:p>
        </p:txBody>
      </p:sp>
      <p:sp>
        <p:nvSpPr>
          <p:cNvPr id="5126" name="Rectangle 4"/>
          <p:cNvSpPr>
            <a:spLocks noChangeArrowheads="1"/>
          </p:cNvSpPr>
          <p:nvPr/>
        </p:nvSpPr>
        <p:spPr bwMode="auto">
          <a:xfrm>
            <a:off x="535605" y="1052513"/>
            <a:ext cx="41036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+mn-ea"/>
                <a:ea typeface="+mn-ea"/>
              </a:rPr>
              <a:t>1. 1 </a:t>
            </a:r>
            <a:r>
              <a:rPr lang="zh-CN" altLang="en-US" b="1" dirty="0">
                <a:latin typeface="+mn-ea"/>
                <a:ea typeface="+mn-ea"/>
              </a:rPr>
              <a:t>凸集与锥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971550" y="4076700"/>
            <a:ext cx="7272338" cy="1893888"/>
            <a:chOff x="567" y="2102"/>
            <a:chExt cx="4581" cy="1193"/>
          </a:xfrm>
        </p:grpSpPr>
        <p:sp>
          <p:nvSpPr>
            <p:cNvPr id="5129" name="Line 7"/>
            <p:cNvSpPr>
              <a:spLocks noChangeShapeType="1"/>
            </p:cNvSpPr>
            <p:nvPr/>
          </p:nvSpPr>
          <p:spPr bwMode="auto">
            <a:xfrm flipV="1">
              <a:off x="719" y="2454"/>
              <a:ext cx="635" cy="272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30" name="Arc 8"/>
            <p:cNvSpPr>
              <a:spLocks/>
            </p:cNvSpPr>
            <p:nvPr/>
          </p:nvSpPr>
          <p:spPr bwMode="auto">
            <a:xfrm rot="-155045">
              <a:off x="578" y="2102"/>
              <a:ext cx="1014" cy="691"/>
            </a:xfrm>
            <a:custGeom>
              <a:avLst/>
              <a:gdLst>
                <a:gd name="T0" fmla="*/ 0 w 31661"/>
                <a:gd name="T1" fmla="*/ 0 h 21600"/>
                <a:gd name="T2" fmla="*/ 0 w 31661"/>
                <a:gd name="T3" fmla="*/ 0 h 21600"/>
                <a:gd name="T4" fmla="*/ 0 w 31661"/>
                <a:gd name="T5" fmla="*/ 0 h 21600"/>
                <a:gd name="T6" fmla="*/ 0 60000 65536"/>
                <a:gd name="T7" fmla="*/ 0 60000 65536"/>
                <a:gd name="T8" fmla="*/ 0 60000 65536"/>
                <a:gd name="T9" fmla="*/ 0 w 31661"/>
                <a:gd name="T10" fmla="*/ 0 h 21600"/>
                <a:gd name="T11" fmla="*/ 31661 w 3166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661" h="21600" fill="none" extrusionOk="0">
                  <a:moveTo>
                    <a:pt x="-1" y="2860"/>
                  </a:moveTo>
                  <a:cubicBezTo>
                    <a:pt x="3269" y="986"/>
                    <a:pt x="6973" y="-1"/>
                    <a:pt x="10742" y="0"/>
                  </a:cubicBezTo>
                  <a:cubicBezTo>
                    <a:pt x="20598" y="0"/>
                    <a:pt x="29205" y="6672"/>
                    <a:pt x="31661" y="16218"/>
                  </a:cubicBezTo>
                </a:path>
                <a:path w="31661" h="21600" stroke="0" extrusionOk="0">
                  <a:moveTo>
                    <a:pt x="-1" y="2860"/>
                  </a:moveTo>
                  <a:cubicBezTo>
                    <a:pt x="3269" y="986"/>
                    <a:pt x="6973" y="-1"/>
                    <a:pt x="10742" y="0"/>
                  </a:cubicBezTo>
                  <a:cubicBezTo>
                    <a:pt x="20598" y="0"/>
                    <a:pt x="29205" y="6672"/>
                    <a:pt x="31661" y="16218"/>
                  </a:cubicBezTo>
                  <a:lnTo>
                    <a:pt x="10742" y="21600"/>
                  </a:lnTo>
                  <a:lnTo>
                    <a:pt x="-1" y="2860"/>
                  </a:lnTo>
                  <a:close/>
                </a:path>
              </a:pathLst>
            </a:cu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31" name="Line 9"/>
            <p:cNvSpPr>
              <a:spLocks noChangeShapeType="1"/>
            </p:cNvSpPr>
            <p:nvPr/>
          </p:nvSpPr>
          <p:spPr bwMode="auto">
            <a:xfrm>
              <a:off x="567" y="2205"/>
              <a:ext cx="1" cy="1090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32" name="Line 10"/>
            <p:cNvSpPr>
              <a:spLocks noChangeShapeType="1"/>
            </p:cNvSpPr>
            <p:nvPr/>
          </p:nvSpPr>
          <p:spPr bwMode="auto">
            <a:xfrm flipV="1">
              <a:off x="567" y="2579"/>
              <a:ext cx="1034" cy="708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33" name="Oval 11"/>
            <p:cNvSpPr>
              <a:spLocks noChangeArrowheads="1"/>
            </p:cNvSpPr>
            <p:nvPr/>
          </p:nvSpPr>
          <p:spPr bwMode="auto">
            <a:xfrm>
              <a:off x="703" y="2704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33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34" name="Oval 12"/>
            <p:cNvSpPr>
              <a:spLocks noChangeArrowheads="1"/>
            </p:cNvSpPr>
            <p:nvPr/>
          </p:nvSpPr>
          <p:spPr bwMode="auto">
            <a:xfrm>
              <a:off x="1338" y="2432"/>
              <a:ext cx="45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33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35" name="Arc 13"/>
            <p:cNvSpPr>
              <a:spLocks/>
            </p:cNvSpPr>
            <p:nvPr/>
          </p:nvSpPr>
          <p:spPr bwMode="auto">
            <a:xfrm rot="5767058">
              <a:off x="2049" y="2129"/>
              <a:ext cx="1089" cy="1242"/>
            </a:xfrm>
            <a:custGeom>
              <a:avLst/>
              <a:gdLst>
                <a:gd name="T0" fmla="*/ 0 w 34320"/>
                <a:gd name="T1" fmla="*/ 0 h 43200"/>
                <a:gd name="T2" fmla="*/ 0 w 34320"/>
                <a:gd name="T3" fmla="*/ 0 h 43200"/>
                <a:gd name="T4" fmla="*/ 0 w 34320"/>
                <a:gd name="T5" fmla="*/ 0 h 43200"/>
                <a:gd name="T6" fmla="*/ 0 60000 65536"/>
                <a:gd name="T7" fmla="*/ 0 60000 65536"/>
                <a:gd name="T8" fmla="*/ 0 60000 65536"/>
                <a:gd name="T9" fmla="*/ 0 w 34320"/>
                <a:gd name="T10" fmla="*/ 0 h 43200"/>
                <a:gd name="T11" fmla="*/ 34320 w 3432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320" h="43200" fill="none" extrusionOk="0">
                  <a:moveTo>
                    <a:pt x="12719" y="0"/>
                  </a:moveTo>
                  <a:cubicBezTo>
                    <a:pt x="24649" y="0"/>
                    <a:pt x="34320" y="9670"/>
                    <a:pt x="34320" y="21600"/>
                  </a:cubicBezTo>
                  <a:cubicBezTo>
                    <a:pt x="34320" y="33529"/>
                    <a:pt x="24649" y="43200"/>
                    <a:pt x="12720" y="43200"/>
                  </a:cubicBezTo>
                  <a:cubicBezTo>
                    <a:pt x="8148" y="43200"/>
                    <a:pt x="3695" y="41749"/>
                    <a:pt x="0" y="39057"/>
                  </a:cubicBezTo>
                </a:path>
                <a:path w="34320" h="43200" stroke="0" extrusionOk="0">
                  <a:moveTo>
                    <a:pt x="12719" y="0"/>
                  </a:moveTo>
                  <a:cubicBezTo>
                    <a:pt x="24649" y="0"/>
                    <a:pt x="34320" y="9670"/>
                    <a:pt x="34320" y="21600"/>
                  </a:cubicBezTo>
                  <a:cubicBezTo>
                    <a:pt x="34320" y="33529"/>
                    <a:pt x="24649" y="43200"/>
                    <a:pt x="12720" y="43200"/>
                  </a:cubicBezTo>
                  <a:cubicBezTo>
                    <a:pt x="8148" y="43200"/>
                    <a:pt x="3695" y="41749"/>
                    <a:pt x="0" y="39057"/>
                  </a:cubicBezTo>
                  <a:lnTo>
                    <a:pt x="12720" y="21600"/>
                  </a:lnTo>
                  <a:lnTo>
                    <a:pt x="12719" y="0"/>
                  </a:lnTo>
                  <a:close/>
                </a:path>
              </a:pathLst>
            </a:cu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36" name="Line 14"/>
            <p:cNvSpPr>
              <a:spLocks noChangeShapeType="1"/>
            </p:cNvSpPr>
            <p:nvPr/>
          </p:nvSpPr>
          <p:spPr bwMode="auto">
            <a:xfrm>
              <a:off x="2154" y="2160"/>
              <a:ext cx="408" cy="680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37" name="Line 15"/>
            <p:cNvSpPr>
              <a:spLocks noChangeShapeType="1"/>
            </p:cNvSpPr>
            <p:nvPr/>
          </p:nvSpPr>
          <p:spPr bwMode="auto">
            <a:xfrm flipV="1">
              <a:off x="2562" y="2659"/>
              <a:ext cx="681" cy="181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38" name="Oval 16"/>
            <p:cNvSpPr>
              <a:spLocks noChangeArrowheads="1"/>
            </p:cNvSpPr>
            <p:nvPr/>
          </p:nvSpPr>
          <p:spPr bwMode="auto">
            <a:xfrm>
              <a:off x="2154" y="2568"/>
              <a:ext cx="46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33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39" name="Oval 17"/>
            <p:cNvSpPr>
              <a:spLocks noChangeArrowheads="1"/>
            </p:cNvSpPr>
            <p:nvPr/>
          </p:nvSpPr>
          <p:spPr bwMode="auto">
            <a:xfrm>
              <a:off x="3061" y="2795"/>
              <a:ext cx="46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33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40" name="Line 18"/>
            <p:cNvSpPr>
              <a:spLocks noChangeShapeType="1"/>
            </p:cNvSpPr>
            <p:nvPr/>
          </p:nvSpPr>
          <p:spPr bwMode="auto">
            <a:xfrm>
              <a:off x="2200" y="2592"/>
              <a:ext cx="861" cy="227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41" name="AutoShape 19"/>
            <p:cNvSpPr>
              <a:spLocks noChangeArrowheads="1"/>
            </p:cNvSpPr>
            <p:nvPr/>
          </p:nvSpPr>
          <p:spPr bwMode="auto">
            <a:xfrm rot="-645909">
              <a:off x="3833" y="2251"/>
              <a:ext cx="1315" cy="952"/>
            </a:xfrm>
            <a:prstGeom prst="hexagon">
              <a:avLst>
                <a:gd name="adj" fmla="val 33720"/>
                <a:gd name="vf" fmla="val 115470"/>
              </a:avLst>
            </a:prstGeom>
            <a:solidFill>
              <a:srgbClr val="FFFFFF"/>
            </a:solidFill>
            <a:ln w="38100">
              <a:solidFill>
                <a:srgbClr val="00008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42" name="Oval 20"/>
            <p:cNvSpPr>
              <a:spLocks noChangeArrowheads="1"/>
            </p:cNvSpPr>
            <p:nvPr/>
          </p:nvSpPr>
          <p:spPr bwMode="auto">
            <a:xfrm>
              <a:off x="3808" y="2795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33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143" name="Oval 21"/>
            <p:cNvSpPr>
              <a:spLocks noChangeArrowheads="1"/>
            </p:cNvSpPr>
            <p:nvPr/>
          </p:nvSpPr>
          <p:spPr bwMode="auto">
            <a:xfrm>
              <a:off x="4558" y="2523"/>
              <a:ext cx="46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33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graphicFrame>
        <p:nvGraphicFramePr>
          <p:cNvPr id="11573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423257"/>
              </p:ext>
            </p:extLst>
          </p:nvPr>
        </p:nvGraphicFramePr>
        <p:xfrm>
          <a:off x="703263" y="1687513"/>
          <a:ext cx="7183437" cy="205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Equation" r:id="rId3" imgW="7975440" imgH="2286000" progId="Equation.DSMT4">
                  <p:embed/>
                </p:oleObj>
              </mc:Choice>
              <mc:Fallback>
                <p:oleObj name="Equation" r:id="rId3" imgW="7975440" imgH="2286000" progId="Equation.DSMT4">
                  <p:embed/>
                  <p:pic>
                    <p:nvPicPr>
                      <p:cNvPr id="11573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3" y="1687513"/>
                        <a:ext cx="7183437" cy="205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5D48E61-D357-46D6-9819-9FA4314E4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5DBAD4-602E-47C7-ABFB-1DEAC8804DF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0513" y="1071947"/>
            <a:ext cx="8229600" cy="4530725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b="0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800" b="0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800" b="0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仿射集：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如果过集合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中的任意两点的直线都在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则称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sz="2800" b="0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仿射集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  </a:t>
            </a:r>
            <a:endParaRPr lang="en-US" altLang="zh-CN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pt-BR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zh-CN" sz="2800" b="0" i="0" u="none" strike="noStrike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zh-CN" sz="2800" b="0" i="0" u="none" strike="noStrike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</a:t>
            </a:r>
            <a:r>
              <a:rPr lang="pt-BR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pt-BR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</a:t>
            </a:r>
            <a:r>
              <a:rPr lang="pt-BR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0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  <a:sym typeface="Euclid Symbol" panose="05050102010706020507" pitchFamily="18" charset="2"/>
              </a:rPr>
              <a:t></a:t>
            </a:r>
            <a:r>
              <a:rPr lang="pt-BR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zh-CN" sz="2800" b="0" i="0" u="none" strike="noStrike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(1 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  <a:sym typeface="Euclid Symbol" panose="05050102010706020507" pitchFamily="18" charset="2"/>
              </a:rPr>
              <a:t></a:t>
            </a:r>
            <a:r>
              <a:rPr lang="zh-CN" altLang="pt-BR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)x</a:t>
            </a:r>
            <a:r>
              <a:rPr lang="pt-BR" altLang="zh-CN" sz="2800" b="0" i="0" u="none" strike="noStrike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</a:t>
            </a:r>
            <a:r>
              <a:rPr lang="pt-BR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C; </a:t>
            </a:r>
            <a:r>
              <a:rPr lang="pt-BR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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</a:t>
            </a:r>
            <a:r>
              <a:rPr lang="pt-BR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</a:p>
          <a:p>
            <a:pPr marL="0" indent="0">
              <a:buNone/>
            </a:pPr>
            <a:endParaRPr lang="pt-BR" altLang="zh-CN" sz="28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线性方程组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 = b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的解集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是仿射集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反之</a:t>
            </a:r>
            <a:r>
              <a:rPr lang="en-US" altLang="zh-CN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任何仿射集均可表示为某一线性方程组的解集</a:t>
            </a:r>
            <a:r>
              <a:rPr lang="en-US" altLang="zh-CN" sz="28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en-US" altLang="zh-CN" sz="2800" b="0" i="0" u="none" strike="noStrike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仿射集显然是凸集。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37633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1</a:t>
            </a:r>
            <a:r>
              <a:rPr lang="en-US" altLang="zh-CN" sz="4000" dirty="0"/>
              <a:t> </a:t>
            </a:r>
            <a:r>
              <a:rPr lang="zh-CN" altLang="en-US" sz="3600" dirty="0">
                <a:ea typeface="楷体_GB2312" pitchFamily="49" charset="-122"/>
              </a:rPr>
              <a:t>凸集</a:t>
            </a:r>
            <a:endParaRPr lang="zh-CN" altLang="en-US" sz="3200" dirty="0"/>
          </a:p>
        </p:txBody>
      </p:sp>
      <p:graphicFrame>
        <p:nvGraphicFramePr>
          <p:cNvPr id="61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418638"/>
              </p:ext>
            </p:extLst>
          </p:nvPr>
        </p:nvGraphicFramePr>
        <p:xfrm>
          <a:off x="631825" y="1025525"/>
          <a:ext cx="7835900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Equation" r:id="rId3" imgW="7835760" imgH="4876560" progId="Equation.DSMT4">
                  <p:embed/>
                </p:oleObj>
              </mc:Choice>
              <mc:Fallback>
                <p:oleObj name="Equation" r:id="rId3" imgW="7835760" imgH="4876560" progId="Equation.DSMT4">
                  <p:embed/>
                  <p:pic>
                    <p:nvPicPr>
                      <p:cNvPr id="61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825" y="1025525"/>
                        <a:ext cx="7835900" cy="487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b="1" dirty="0"/>
              <a:t>1</a:t>
            </a:r>
            <a:r>
              <a:rPr lang="en-US" altLang="zh-CN" dirty="0"/>
              <a:t> </a:t>
            </a:r>
            <a:r>
              <a:rPr lang="zh-CN" altLang="en-US" dirty="0">
                <a:ea typeface="楷体_GB2312" pitchFamily="49" charset="-122"/>
              </a:rPr>
              <a:t>凸集</a:t>
            </a:r>
            <a:endParaRPr lang="zh-CN" altLang="en-US" dirty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371600" y="1447800"/>
            <a:ext cx="6264275" cy="2232025"/>
            <a:chOff x="884" y="1661"/>
            <a:chExt cx="3946" cy="1406"/>
          </a:xfrm>
        </p:grpSpPr>
        <p:sp>
          <p:nvSpPr>
            <p:cNvPr id="7177" name="Line 6"/>
            <p:cNvSpPr>
              <a:spLocks noChangeShapeType="1"/>
            </p:cNvSpPr>
            <p:nvPr/>
          </p:nvSpPr>
          <p:spPr bwMode="auto">
            <a:xfrm flipV="1">
              <a:off x="884" y="1842"/>
              <a:ext cx="1542" cy="1225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178" name="Line 7"/>
            <p:cNvSpPr>
              <a:spLocks noChangeShapeType="1"/>
            </p:cNvSpPr>
            <p:nvPr/>
          </p:nvSpPr>
          <p:spPr bwMode="auto">
            <a:xfrm flipH="1" flipV="1">
              <a:off x="1111" y="1850"/>
              <a:ext cx="544" cy="59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179" name="Rectangle 8"/>
            <p:cNvSpPr>
              <a:spLocks noChangeArrowheads="1"/>
            </p:cNvSpPr>
            <p:nvPr/>
          </p:nvSpPr>
          <p:spPr bwMode="auto">
            <a:xfrm>
              <a:off x="1626" y="2341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 dirty="0"/>
                <a:t>x</a:t>
              </a:r>
              <a:r>
                <a:rPr lang="en-US" altLang="zh-CN" sz="1600" i="1" dirty="0"/>
                <a:t>0</a:t>
              </a:r>
            </a:p>
          </p:txBody>
        </p:sp>
        <p:sp>
          <p:nvSpPr>
            <p:cNvPr id="7180" name="Rectangle 9"/>
            <p:cNvSpPr>
              <a:spLocks noChangeArrowheads="1"/>
            </p:cNvSpPr>
            <p:nvPr/>
          </p:nvSpPr>
          <p:spPr bwMode="auto">
            <a:xfrm>
              <a:off x="1194" y="270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endParaRPr lang="en-US" altLang="zh-CN" sz="2400" i="1"/>
            </a:p>
          </p:txBody>
        </p:sp>
        <p:sp>
          <p:nvSpPr>
            <p:cNvPr id="7181" name="Line 10"/>
            <p:cNvSpPr>
              <a:spLocks noChangeShapeType="1"/>
            </p:cNvSpPr>
            <p:nvPr/>
          </p:nvSpPr>
          <p:spPr bwMode="auto">
            <a:xfrm flipH="1">
              <a:off x="1196" y="2456"/>
              <a:ext cx="454" cy="36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182" name="Rectangle 11"/>
            <p:cNvSpPr>
              <a:spLocks noChangeArrowheads="1"/>
            </p:cNvSpPr>
            <p:nvPr/>
          </p:nvSpPr>
          <p:spPr bwMode="auto">
            <a:xfrm>
              <a:off x="1038" y="2387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x-x</a:t>
              </a:r>
              <a:r>
                <a:rPr lang="en-US" altLang="zh-CN" sz="1600" i="1"/>
                <a:t>0</a:t>
              </a:r>
            </a:p>
          </p:txBody>
        </p:sp>
        <p:sp>
          <p:nvSpPr>
            <p:cNvPr id="7183" name="Rectangle 12"/>
            <p:cNvSpPr>
              <a:spLocks noChangeArrowheads="1"/>
            </p:cNvSpPr>
            <p:nvPr/>
          </p:nvSpPr>
          <p:spPr bwMode="auto">
            <a:xfrm>
              <a:off x="1202" y="166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p</a:t>
              </a:r>
              <a:endParaRPr lang="en-US" altLang="zh-CN" sz="1600" i="1"/>
            </a:p>
          </p:txBody>
        </p:sp>
        <p:sp>
          <p:nvSpPr>
            <p:cNvPr id="7184" name="Line 13"/>
            <p:cNvSpPr>
              <a:spLocks noChangeShapeType="1"/>
            </p:cNvSpPr>
            <p:nvPr/>
          </p:nvSpPr>
          <p:spPr bwMode="auto">
            <a:xfrm flipV="1">
              <a:off x="3288" y="1842"/>
              <a:ext cx="1542" cy="1225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185" name="Line 14"/>
            <p:cNvSpPr>
              <a:spLocks noChangeShapeType="1"/>
            </p:cNvSpPr>
            <p:nvPr/>
          </p:nvSpPr>
          <p:spPr bwMode="auto">
            <a:xfrm flipH="1" flipV="1">
              <a:off x="3515" y="1850"/>
              <a:ext cx="544" cy="59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186" name="Rectangle 15"/>
            <p:cNvSpPr>
              <a:spLocks noChangeArrowheads="1"/>
            </p:cNvSpPr>
            <p:nvPr/>
          </p:nvSpPr>
          <p:spPr bwMode="auto">
            <a:xfrm>
              <a:off x="4030" y="2341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r>
                <a:rPr lang="en-US" altLang="zh-CN" sz="1600" i="1"/>
                <a:t>0</a:t>
              </a:r>
            </a:p>
          </p:txBody>
        </p:sp>
        <p:sp>
          <p:nvSpPr>
            <p:cNvPr id="7187" name="Rectangle 16"/>
            <p:cNvSpPr>
              <a:spLocks noChangeArrowheads="1"/>
            </p:cNvSpPr>
            <p:nvPr/>
          </p:nvSpPr>
          <p:spPr bwMode="auto">
            <a:xfrm>
              <a:off x="3198" y="2387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endParaRPr lang="en-US" altLang="zh-CN" sz="2400" i="1"/>
            </a:p>
          </p:txBody>
        </p:sp>
        <p:sp>
          <p:nvSpPr>
            <p:cNvPr id="7188" name="Line 17"/>
            <p:cNvSpPr>
              <a:spLocks noChangeShapeType="1"/>
            </p:cNvSpPr>
            <p:nvPr/>
          </p:nvSpPr>
          <p:spPr bwMode="auto">
            <a:xfrm rot="2396721" flipH="1">
              <a:off x="3356" y="2202"/>
              <a:ext cx="601" cy="48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189" name="Rectangle 18"/>
            <p:cNvSpPr>
              <a:spLocks noChangeArrowheads="1"/>
            </p:cNvSpPr>
            <p:nvPr/>
          </p:nvSpPr>
          <p:spPr bwMode="auto">
            <a:xfrm>
              <a:off x="3432" y="2187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x-x</a:t>
              </a:r>
              <a:r>
                <a:rPr lang="en-US" altLang="zh-CN" sz="1600" i="1"/>
                <a:t>0</a:t>
              </a:r>
            </a:p>
          </p:txBody>
        </p:sp>
        <p:sp>
          <p:nvSpPr>
            <p:cNvPr id="7190" name="Rectangle 19"/>
            <p:cNvSpPr>
              <a:spLocks noChangeArrowheads="1"/>
            </p:cNvSpPr>
            <p:nvPr/>
          </p:nvSpPr>
          <p:spPr bwMode="auto">
            <a:xfrm>
              <a:off x="3606" y="166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p</a:t>
              </a:r>
              <a:endParaRPr lang="en-US" altLang="zh-CN" sz="1600" i="1"/>
            </a:p>
          </p:txBody>
        </p:sp>
        <p:sp>
          <p:nvSpPr>
            <p:cNvPr id="7191" name="Line 20"/>
            <p:cNvSpPr>
              <a:spLocks noChangeShapeType="1"/>
            </p:cNvSpPr>
            <p:nvPr/>
          </p:nvSpPr>
          <p:spPr bwMode="auto">
            <a:xfrm flipH="1">
              <a:off x="4407" y="1850"/>
              <a:ext cx="45" cy="318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192" name="Line 21"/>
            <p:cNvSpPr>
              <a:spLocks noChangeShapeType="1"/>
            </p:cNvSpPr>
            <p:nvPr/>
          </p:nvSpPr>
          <p:spPr bwMode="auto">
            <a:xfrm flipH="1">
              <a:off x="4195" y="2024"/>
              <a:ext cx="45" cy="318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193" name="Line 22"/>
            <p:cNvSpPr>
              <a:spLocks noChangeShapeType="1"/>
            </p:cNvSpPr>
            <p:nvPr/>
          </p:nvSpPr>
          <p:spPr bwMode="auto">
            <a:xfrm flipH="1">
              <a:off x="4604" y="1706"/>
              <a:ext cx="45" cy="318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194" name="Line 23"/>
            <p:cNvSpPr>
              <a:spLocks noChangeShapeType="1"/>
            </p:cNvSpPr>
            <p:nvPr/>
          </p:nvSpPr>
          <p:spPr bwMode="auto">
            <a:xfrm flipH="1">
              <a:off x="4014" y="2160"/>
              <a:ext cx="45" cy="318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195" name="Line 24"/>
            <p:cNvSpPr>
              <a:spLocks noChangeShapeType="1"/>
            </p:cNvSpPr>
            <p:nvPr/>
          </p:nvSpPr>
          <p:spPr bwMode="auto">
            <a:xfrm flipH="1">
              <a:off x="3424" y="2622"/>
              <a:ext cx="45" cy="318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196" name="Line 25"/>
            <p:cNvSpPr>
              <a:spLocks noChangeShapeType="1"/>
            </p:cNvSpPr>
            <p:nvPr/>
          </p:nvSpPr>
          <p:spPr bwMode="auto">
            <a:xfrm flipH="1">
              <a:off x="3635" y="2478"/>
              <a:ext cx="45" cy="318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197" name="Line 26"/>
            <p:cNvSpPr>
              <a:spLocks noChangeShapeType="1"/>
            </p:cNvSpPr>
            <p:nvPr/>
          </p:nvSpPr>
          <p:spPr bwMode="auto">
            <a:xfrm flipH="1">
              <a:off x="3833" y="2317"/>
              <a:ext cx="45" cy="318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617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345105"/>
              </p:ext>
            </p:extLst>
          </p:nvPr>
        </p:nvGraphicFramePr>
        <p:xfrm>
          <a:off x="763588" y="4303713"/>
          <a:ext cx="7583487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Equation" r:id="rId3" imgW="7746840" imgH="1117440" progId="Equation.DSMT4">
                  <p:embed/>
                </p:oleObj>
              </mc:Choice>
              <mc:Fallback>
                <p:oleObj name="Equation" r:id="rId3" imgW="7746840" imgH="1117440" progId="Equation.DSMT4">
                  <p:embed/>
                  <p:pic>
                    <p:nvPicPr>
                      <p:cNvPr id="617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4303713"/>
                        <a:ext cx="7583487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1</a:t>
            </a:r>
            <a:r>
              <a:rPr lang="en-US" altLang="zh-CN" sz="4000" dirty="0"/>
              <a:t> </a:t>
            </a:r>
            <a:r>
              <a:rPr lang="zh-CN" altLang="en-US" sz="3600" dirty="0">
                <a:ea typeface="楷体_GB2312" pitchFamily="49" charset="-122"/>
              </a:rPr>
              <a:t>凸集</a:t>
            </a:r>
            <a:endParaRPr lang="zh-CN" altLang="en-US" sz="3200" dirty="0"/>
          </a:p>
        </p:txBody>
      </p:sp>
      <p:graphicFrame>
        <p:nvGraphicFramePr>
          <p:cNvPr id="132104" name="Object 8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99159420"/>
              </p:ext>
            </p:extLst>
          </p:nvPr>
        </p:nvGraphicFramePr>
        <p:xfrm>
          <a:off x="674688" y="3597275"/>
          <a:ext cx="7878762" cy="187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" name="Equation" r:id="rId3" imgW="8775360" imgH="2082600" progId="Equation.DSMT4">
                  <p:embed/>
                </p:oleObj>
              </mc:Choice>
              <mc:Fallback>
                <p:oleObj name="Equation" r:id="rId3" imgW="8775360" imgH="2082600" progId="Equation.DSMT4">
                  <p:embed/>
                  <p:pic>
                    <p:nvPicPr>
                      <p:cNvPr id="1321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88" y="3597275"/>
                        <a:ext cx="7878762" cy="187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00308"/>
              </p:ext>
            </p:extLst>
          </p:nvPr>
        </p:nvGraphicFramePr>
        <p:xfrm>
          <a:off x="563563" y="1031875"/>
          <a:ext cx="7940675" cy="203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5" name="Equation" r:id="rId5" imgW="8102520" imgH="2082600" progId="Equation.DSMT4">
                  <p:embed/>
                </p:oleObj>
              </mc:Choice>
              <mc:Fallback>
                <p:oleObj name="Equation" r:id="rId5" imgW="8102520" imgH="2082600" progId="Equation.DSMT4">
                  <p:embed/>
                  <p:pic>
                    <p:nvPicPr>
                      <p:cNvPr id="1321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1031875"/>
                        <a:ext cx="7940675" cy="203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1</a:t>
            </a:r>
            <a:r>
              <a:rPr lang="en-US" altLang="zh-CN" sz="4000" dirty="0"/>
              <a:t> </a:t>
            </a:r>
            <a:r>
              <a:rPr lang="zh-CN" altLang="en-US" sz="3600" dirty="0">
                <a:ea typeface="楷体_GB2312" pitchFamily="49" charset="-122"/>
              </a:rPr>
              <a:t>凸集</a:t>
            </a:r>
            <a:endParaRPr lang="zh-CN" altLang="en-US" sz="3200" dirty="0"/>
          </a:p>
        </p:txBody>
      </p:sp>
      <p:sp>
        <p:nvSpPr>
          <p:cNvPr id="133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04261" y="1081088"/>
            <a:ext cx="7867650" cy="481012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latin typeface="+mn-ea"/>
              </a:rPr>
              <a:t>运用定义不难验证如下命题：</a:t>
            </a:r>
          </a:p>
        </p:txBody>
      </p:sp>
      <p:graphicFrame>
        <p:nvGraphicFramePr>
          <p:cNvPr id="1331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352427"/>
              </p:ext>
            </p:extLst>
          </p:nvPr>
        </p:nvGraphicFramePr>
        <p:xfrm>
          <a:off x="539750" y="1787525"/>
          <a:ext cx="6629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8" name="Equation" r:id="rId3" imgW="6629400" imgH="469800" progId="Equation.DSMT4">
                  <p:embed/>
                </p:oleObj>
              </mc:Choice>
              <mc:Fallback>
                <p:oleObj name="Equation" r:id="rId3" imgW="6629400" imgH="469800" progId="Equation.DSMT4">
                  <p:embed/>
                  <p:pic>
                    <p:nvPicPr>
                      <p:cNvPr id="1331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787525"/>
                        <a:ext cx="6629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6"/>
          <p:cNvGraphicFramePr>
            <a:graphicFrameLocks noChangeAspect="1"/>
          </p:cNvGraphicFramePr>
          <p:nvPr/>
        </p:nvGraphicFramePr>
        <p:xfrm>
          <a:off x="361950" y="3175"/>
          <a:ext cx="190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" name="Equation" r:id="rId5" imgW="190417" imgH="330057" progId="Equation.DSMT4">
                  <p:embed/>
                </p:oleObj>
              </mc:Choice>
              <mc:Fallback>
                <p:oleObj name="Equation" r:id="rId5" imgW="190417" imgH="330057" progId="Equation.DSMT4">
                  <p:embed/>
                  <p:pic>
                    <p:nvPicPr>
                      <p:cNvPr id="922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" y="3175"/>
                        <a:ext cx="190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7" name="Object 7"/>
          <p:cNvGraphicFramePr>
            <a:graphicFrameLocks noChangeAspect="1"/>
          </p:cNvGraphicFramePr>
          <p:nvPr/>
        </p:nvGraphicFramePr>
        <p:xfrm>
          <a:off x="468313" y="2420938"/>
          <a:ext cx="3937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0" name="Equation" r:id="rId7" imgW="3937000" imgH="482600" progId="Equation.DSMT4">
                  <p:embed/>
                </p:oleObj>
              </mc:Choice>
              <mc:Fallback>
                <p:oleObj name="Equation" r:id="rId7" imgW="3937000" imgH="482600" progId="Equation.DSMT4">
                  <p:embed/>
                  <p:pic>
                    <p:nvPicPr>
                      <p:cNvPr id="1331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420938"/>
                        <a:ext cx="3937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8" name="Object 8"/>
          <p:cNvGraphicFramePr>
            <a:graphicFrameLocks noChangeAspect="1"/>
          </p:cNvGraphicFramePr>
          <p:nvPr/>
        </p:nvGraphicFramePr>
        <p:xfrm>
          <a:off x="368300" y="3048000"/>
          <a:ext cx="2578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1" name="Equation" r:id="rId9" imgW="2578100" imgH="457200" progId="Equation.DSMT4">
                  <p:embed/>
                </p:oleObj>
              </mc:Choice>
              <mc:Fallback>
                <p:oleObj name="Equation" r:id="rId9" imgW="2578100" imgH="457200" progId="Equation.DSMT4">
                  <p:embed/>
                  <p:pic>
                    <p:nvPicPr>
                      <p:cNvPr id="1331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" y="3048000"/>
                        <a:ext cx="2578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94670"/>
              </p:ext>
            </p:extLst>
          </p:nvPr>
        </p:nvGraphicFramePr>
        <p:xfrm>
          <a:off x="400050" y="3505200"/>
          <a:ext cx="65913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2" name="Equation" r:id="rId11" imgW="6591240" imgH="583920" progId="Equation.DSMT4">
                  <p:embed/>
                </p:oleObj>
              </mc:Choice>
              <mc:Fallback>
                <p:oleObj name="Equation" r:id="rId11" imgW="6591240" imgH="583920" progId="Equation.DSMT4">
                  <p:embed/>
                  <p:pic>
                    <p:nvPicPr>
                      <p:cNvPr id="1331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" y="3505200"/>
                        <a:ext cx="65913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499832"/>
              </p:ext>
            </p:extLst>
          </p:nvPr>
        </p:nvGraphicFramePr>
        <p:xfrm>
          <a:off x="406400" y="4038600"/>
          <a:ext cx="6604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3" name="Equation" r:id="rId13" imgW="6603840" imgH="583920" progId="Equation.DSMT4">
                  <p:embed/>
                </p:oleObj>
              </mc:Choice>
              <mc:Fallback>
                <p:oleObj name="Equation" r:id="rId13" imgW="6603840" imgH="583920" progId="Equation.DSMT4">
                  <p:embed/>
                  <p:pic>
                    <p:nvPicPr>
                      <p:cNvPr id="1331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4038600"/>
                        <a:ext cx="66040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604909"/>
              </p:ext>
            </p:extLst>
          </p:nvPr>
        </p:nvGraphicFramePr>
        <p:xfrm>
          <a:off x="593925" y="4880093"/>
          <a:ext cx="76073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4" name="Equation" r:id="rId15" imgW="7607160" imgH="1218960" progId="Equation.DSMT4">
                  <p:embed/>
                </p:oleObj>
              </mc:Choice>
              <mc:Fallback>
                <p:oleObj name="Equation" r:id="rId15" imgW="7607160" imgH="1218960" progId="Equation.DSMT4">
                  <p:embed/>
                  <p:pic>
                    <p:nvPicPr>
                      <p:cNvPr id="13313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925" y="4880093"/>
                        <a:ext cx="76073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1</a:t>
            </a:r>
            <a:r>
              <a:rPr lang="en-US" altLang="zh-CN" sz="4000" dirty="0"/>
              <a:t> </a:t>
            </a:r>
            <a:r>
              <a:rPr lang="zh-CN" altLang="en-US" sz="3600" dirty="0">
                <a:ea typeface="楷体_GB2312" pitchFamily="49" charset="-122"/>
              </a:rPr>
              <a:t>凸集</a:t>
            </a:r>
            <a:endParaRPr lang="zh-CN" altLang="en-US" sz="3200" dirty="0"/>
          </a:p>
        </p:txBody>
      </p:sp>
      <p:graphicFrame>
        <p:nvGraphicFramePr>
          <p:cNvPr id="4110" name="Object 1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303319127"/>
              </p:ext>
            </p:extLst>
          </p:nvPr>
        </p:nvGraphicFramePr>
        <p:xfrm>
          <a:off x="557547" y="1121377"/>
          <a:ext cx="7912100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2" name="Equation" r:id="rId3" imgW="9689760" imgH="1574640" progId="Equation.DSMT4">
                  <p:embed/>
                </p:oleObj>
              </mc:Choice>
              <mc:Fallback>
                <p:oleObj name="Equation" r:id="rId3" imgW="9689760" imgH="1574640" progId="Equation.DSMT4">
                  <p:embed/>
                  <p:pic>
                    <p:nvPicPr>
                      <p:cNvPr id="411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547" y="1121377"/>
                        <a:ext cx="7912100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8"/>
          <p:cNvGraphicFramePr>
            <a:graphicFrameLocks noChangeAspect="1"/>
          </p:cNvGraphicFramePr>
          <p:nvPr/>
        </p:nvGraphicFramePr>
        <p:xfrm>
          <a:off x="361950" y="3175"/>
          <a:ext cx="190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3" name="Equation" r:id="rId5" imgW="190417" imgH="330057" progId="Equation.DSMT4">
                  <p:embed/>
                </p:oleObj>
              </mc:Choice>
              <mc:Fallback>
                <p:oleObj name="Equation" r:id="rId5" imgW="190417" imgH="330057" progId="Equation.DSMT4">
                  <p:embed/>
                  <p:pic>
                    <p:nvPicPr>
                      <p:cNvPr id="1024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" y="3175"/>
                        <a:ext cx="190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4" name="Text Box 18"/>
          <p:cNvSpPr txBox="1">
            <a:spLocks noChangeArrowheads="1"/>
          </p:cNvSpPr>
          <p:nvPr/>
        </p:nvSpPr>
        <p:spPr bwMode="auto">
          <a:xfrm>
            <a:off x="554942" y="2506145"/>
            <a:ext cx="8064500" cy="1056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多面体</a:t>
            </a:r>
            <a:r>
              <a:rPr lang="en-US" altLang="zh-CN" sz="2400" dirty="0">
                <a:solidFill>
                  <a:srgbClr val="0070C0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0070C0"/>
                </a:solidFill>
                <a:ea typeface="+mn-ea"/>
                <a:cs typeface="Times New Roman" panose="02020603050405020304" pitchFamily="18" charset="0"/>
              </a:rPr>
              <a:t>polyhedral set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+mn-ea"/>
                <a:ea typeface="+mn-ea"/>
              </a:rPr>
              <a:t>是有限个闭半空间的交</a:t>
            </a:r>
            <a:r>
              <a:rPr lang="en-US" altLang="zh-CN" sz="2400" dirty="0">
                <a:latin typeface="+mn-ea"/>
                <a:ea typeface="+mn-ea"/>
              </a:rPr>
              <a:t>. </a:t>
            </a:r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        (</a:t>
            </a:r>
            <a:r>
              <a:rPr lang="zh-CN" altLang="en-US" sz="2400" dirty="0">
                <a:latin typeface="+mn-ea"/>
                <a:ea typeface="+mn-ea"/>
              </a:rPr>
              <a:t>可表示为  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{</a:t>
            </a:r>
            <a:r>
              <a:rPr lang="en-US" altLang="zh-CN" sz="2400" dirty="0" err="1">
                <a:ea typeface="+mn-ea"/>
                <a:cs typeface="Times New Roman" panose="02020603050405020304" pitchFamily="18" charset="0"/>
              </a:rPr>
              <a:t>x|</a:t>
            </a:r>
            <a:r>
              <a:rPr lang="en-US" altLang="zh-CN" sz="2400" b="1" i="1" dirty="0" err="1">
                <a:ea typeface="+mn-ea"/>
                <a:cs typeface="Times New Roman" panose="02020603050405020304" pitchFamily="18" charset="0"/>
              </a:rPr>
              <a:t>Ax</a:t>
            </a:r>
            <a:r>
              <a:rPr lang="en-US" altLang="zh-CN" sz="2400" dirty="0" err="1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 i="1" dirty="0" err="1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).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4716463" y="3429000"/>
            <a:ext cx="3346450" cy="2820988"/>
            <a:chOff x="385" y="1434"/>
            <a:chExt cx="2108" cy="1777"/>
          </a:xfrm>
        </p:grpSpPr>
        <p:sp>
          <p:nvSpPr>
            <p:cNvPr id="10261" name="AutoShape 20"/>
            <p:cNvSpPr>
              <a:spLocks noChangeArrowheads="1"/>
            </p:cNvSpPr>
            <p:nvPr/>
          </p:nvSpPr>
          <p:spPr bwMode="auto">
            <a:xfrm rot="966926">
              <a:off x="703" y="1933"/>
              <a:ext cx="1377" cy="1043"/>
            </a:xfrm>
            <a:prstGeom prst="pentagon">
              <a:avLst/>
            </a:prstGeom>
            <a:solidFill>
              <a:schemeClr val="accent1"/>
            </a:solidFill>
            <a:ln w="9525">
              <a:solidFill>
                <a:srgbClr val="003366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0262" name="Line 21"/>
            <p:cNvSpPr>
              <a:spLocks noChangeShapeType="1"/>
            </p:cNvSpPr>
            <p:nvPr/>
          </p:nvSpPr>
          <p:spPr bwMode="auto">
            <a:xfrm flipV="1">
              <a:off x="385" y="1821"/>
              <a:ext cx="1679" cy="408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63" name="Line 22"/>
            <p:cNvSpPr>
              <a:spLocks noChangeShapeType="1"/>
            </p:cNvSpPr>
            <p:nvPr/>
          </p:nvSpPr>
          <p:spPr bwMode="auto">
            <a:xfrm>
              <a:off x="1268" y="1661"/>
              <a:ext cx="1225" cy="1270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64" name="Line 23"/>
            <p:cNvSpPr>
              <a:spLocks noChangeShapeType="1"/>
            </p:cNvSpPr>
            <p:nvPr/>
          </p:nvSpPr>
          <p:spPr bwMode="auto">
            <a:xfrm>
              <a:off x="727" y="1842"/>
              <a:ext cx="136" cy="1271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65" name="Line 24"/>
            <p:cNvSpPr>
              <a:spLocks noChangeShapeType="1"/>
            </p:cNvSpPr>
            <p:nvPr/>
          </p:nvSpPr>
          <p:spPr bwMode="auto">
            <a:xfrm>
              <a:off x="385" y="2704"/>
              <a:ext cx="1724" cy="499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66" name="Line 25"/>
            <p:cNvSpPr>
              <a:spLocks noChangeShapeType="1"/>
            </p:cNvSpPr>
            <p:nvPr/>
          </p:nvSpPr>
          <p:spPr bwMode="auto">
            <a:xfrm flipH="1">
              <a:off x="1519" y="2253"/>
              <a:ext cx="771" cy="958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67" name="Line 26"/>
            <p:cNvSpPr>
              <a:spLocks noChangeShapeType="1"/>
            </p:cNvSpPr>
            <p:nvPr/>
          </p:nvSpPr>
          <p:spPr bwMode="auto">
            <a:xfrm flipV="1">
              <a:off x="385" y="1434"/>
              <a:ext cx="953" cy="953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68" name="Line 27"/>
            <p:cNvSpPr>
              <a:spLocks noChangeShapeType="1"/>
            </p:cNvSpPr>
            <p:nvPr/>
          </p:nvSpPr>
          <p:spPr bwMode="auto">
            <a:xfrm>
              <a:off x="1338" y="1434"/>
              <a:ext cx="91" cy="91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69" name="Line 28"/>
            <p:cNvSpPr>
              <a:spLocks noChangeShapeType="1"/>
            </p:cNvSpPr>
            <p:nvPr/>
          </p:nvSpPr>
          <p:spPr bwMode="auto">
            <a:xfrm>
              <a:off x="385" y="2387"/>
              <a:ext cx="91" cy="91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0" name="Line 29"/>
            <p:cNvSpPr>
              <a:spLocks noChangeShapeType="1"/>
            </p:cNvSpPr>
            <p:nvPr/>
          </p:nvSpPr>
          <p:spPr bwMode="auto">
            <a:xfrm>
              <a:off x="2064" y="1842"/>
              <a:ext cx="45" cy="137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1" name="Line 30"/>
            <p:cNvSpPr>
              <a:spLocks noChangeShapeType="1"/>
            </p:cNvSpPr>
            <p:nvPr/>
          </p:nvSpPr>
          <p:spPr bwMode="auto">
            <a:xfrm>
              <a:off x="393" y="2243"/>
              <a:ext cx="46" cy="90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2" name="Line 31"/>
            <p:cNvSpPr>
              <a:spLocks noChangeShapeType="1"/>
            </p:cNvSpPr>
            <p:nvPr/>
          </p:nvSpPr>
          <p:spPr bwMode="auto">
            <a:xfrm>
              <a:off x="719" y="1842"/>
              <a:ext cx="165" cy="0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3" name="Line 32"/>
            <p:cNvSpPr>
              <a:spLocks noChangeShapeType="1"/>
            </p:cNvSpPr>
            <p:nvPr/>
          </p:nvSpPr>
          <p:spPr bwMode="auto">
            <a:xfrm flipV="1">
              <a:off x="855" y="3067"/>
              <a:ext cx="181" cy="46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4" name="Line 33"/>
            <p:cNvSpPr>
              <a:spLocks noChangeShapeType="1"/>
            </p:cNvSpPr>
            <p:nvPr/>
          </p:nvSpPr>
          <p:spPr bwMode="auto">
            <a:xfrm flipV="1">
              <a:off x="385" y="2614"/>
              <a:ext cx="46" cy="90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5" name="Line 34"/>
            <p:cNvSpPr>
              <a:spLocks noChangeShapeType="1"/>
            </p:cNvSpPr>
            <p:nvPr/>
          </p:nvSpPr>
          <p:spPr bwMode="auto">
            <a:xfrm flipV="1">
              <a:off x="2109" y="3067"/>
              <a:ext cx="45" cy="136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6" name="Line 35"/>
            <p:cNvSpPr>
              <a:spLocks noChangeShapeType="1"/>
            </p:cNvSpPr>
            <p:nvPr/>
          </p:nvSpPr>
          <p:spPr bwMode="auto">
            <a:xfrm flipH="1">
              <a:off x="1186" y="1661"/>
              <a:ext cx="90" cy="91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7" name="Line 36"/>
            <p:cNvSpPr>
              <a:spLocks noChangeShapeType="1"/>
            </p:cNvSpPr>
            <p:nvPr/>
          </p:nvSpPr>
          <p:spPr bwMode="auto">
            <a:xfrm flipH="1">
              <a:off x="2381" y="2939"/>
              <a:ext cx="91" cy="91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8" name="Line 37"/>
            <p:cNvSpPr>
              <a:spLocks noChangeShapeType="1"/>
            </p:cNvSpPr>
            <p:nvPr/>
          </p:nvSpPr>
          <p:spPr bwMode="auto">
            <a:xfrm flipH="1" flipV="1">
              <a:off x="2133" y="2123"/>
              <a:ext cx="136" cy="136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9" name="Line 38"/>
            <p:cNvSpPr>
              <a:spLocks noChangeShapeType="1"/>
            </p:cNvSpPr>
            <p:nvPr/>
          </p:nvSpPr>
          <p:spPr bwMode="auto">
            <a:xfrm flipH="1" flipV="1">
              <a:off x="1383" y="3067"/>
              <a:ext cx="136" cy="136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900113" y="3534795"/>
            <a:ext cx="3313112" cy="2905125"/>
            <a:chOff x="3288" y="1389"/>
            <a:chExt cx="2087" cy="1830"/>
          </a:xfrm>
        </p:grpSpPr>
        <p:sp>
          <p:nvSpPr>
            <p:cNvPr id="10251" name="AutoShape 40"/>
            <p:cNvSpPr>
              <a:spLocks noChangeArrowheads="1"/>
            </p:cNvSpPr>
            <p:nvPr/>
          </p:nvSpPr>
          <p:spPr bwMode="auto">
            <a:xfrm rot="966926">
              <a:off x="3461" y="1517"/>
              <a:ext cx="1591" cy="1496"/>
            </a:xfrm>
            <a:prstGeom prst="pentagon">
              <a:avLst/>
            </a:prstGeom>
            <a:solidFill>
              <a:srgbClr val="CCFFFF"/>
            </a:solidFill>
            <a:ln w="25400">
              <a:solidFill>
                <a:srgbClr val="003366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0252" name="Rectangle 41"/>
            <p:cNvSpPr>
              <a:spLocks noChangeArrowheads="1"/>
            </p:cNvSpPr>
            <p:nvPr/>
          </p:nvSpPr>
          <p:spPr bwMode="auto">
            <a:xfrm>
              <a:off x="3330" y="2734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r>
                <a:rPr lang="en-US" altLang="zh-CN" sz="1600" i="1"/>
                <a:t>4</a:t>
              </a:r>
            </a:p>
          </p:txBody>
        </p:sp>
        <p:sp>
          <p:nvSpPr>
            <p:cNvPr id="10253" name="Rectangle 42"/>
            <p:cNvSpPr>
              <a:spLocks noChangeArrowheads="1"/>
            </p:cNvSpPr>
            <p:nvPr/>
          </p:nvSpPr>
          <p:spPr bwMode="auto">
            <a:xfrm>
              <a:off x="4558" y="2931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r>
                <a:rPr lang="en-US" altLang="zh-CN" sz="1600" i="1"/>
                <a:t>3</a:t>
              </a:r>
            </a:p>
          </p:txBody>
        </p:sp>
        <p:sp>
          <p:nvSpPr>
            <p:cNvPr id="10254" name="Rectangle 43"/>
            <p:cNvSpPr>
              <a:spLocks noChangeArrowheads="1"/>
            </p:cNvSpPr>
            <p:nvPr/>
          </p:nvSpPr>
          <p:spPr bwMode="auto">
            <a:xfrm>
              <a:off x="5067" y="214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r>
                <a:rPr lang="en-US" altLang="zh-CN" sz="1600" i="1"/>
                <a:t>2</a:t>
              </a:r>
            </a:p>
          </p:txBody>
        </p:sp>
        <p:sp>
          <p:nvSpPr>
            <p:cNvPr id="10255" name="Rectangle 44"/>
            <p:cNvSpPr>
              <a:spLocks noChangeArrowheads="1"/>
            </p:cNvSpPr>
            <p:nvPr/>
          </p:nvSpPr>
          <p:spPr bwMode="auto">
            <a:xfrm>
              <a:off x="4509" y="1389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r>
                <a:rPr lang="en-US" altLang="zh-CN" sz="1600" i="1"/>
                <a:t>1</a:t>
              </a:r>
            </a:p>
          </p:txBody>
        </p:sp>
        <p:sp>
          <p:nvSpPr>
            <p:cNvPr id="10256" name="Rectangle 45"/>
            <p:cNvSpPr>
              <a:spLocks noChangeArrowheads="1"/>
            </p:cNvSpPr>
            <p:nvPr/>
          </p:nvSpPr>
          <p:spPr bwMode="auto">
            <a:xfrm>
              <a:off x="3288" y="1706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r>
                <a:rPr lang="en-US" altLang="zh-CN" sz="1600" i="1"/>
                <a:t>5</a:t>
              </a:r>
            </a:p>
          </p:txBody>
        </p:sp>
        <p:sp>
          <p:nvSpPr>
            <p:cNvPr id="10257" name="Line 46"/>
            <p:cNvSpPr>
              <a:spLocks noChangeShapeType="1"/>
            </p:cNvSpPr>
            <p:nvPr/>
          </p:nvSpPr>
          <p:spPr bwMode="auto">
            <a:xfrm flipH="1">
              <a:off x="4054" y="1549"/>
              <a:ext cx="409" cy="1451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58" name="Rectangle 47"/>
            <p:cNvSpPr>
              <a:spLocks noChangeArrowheads="1"/>
            </p:cNvSpPr>
            <p:nvPr/>
          </p:nvSpPr>
          <p:spPr bwMode="auto">
            <a:xfrm>
              <a:off x="4332" y="216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endParaRPr lang="en-US" altLang="zh-CN" sz="2400" i="1"/>
            </a:p>
          </p:txBody>
        </p:sp>
        <p:sp>
          <p:nvSpPr>
            <p:cNvPr id="10259" name="Rectangle 48"/>
            <p:cNvSpPr>
              <a:spLocks noChangeArrowheads="1"/>
            </p:cNvSpPr>
            <p:nvPr/>
          </p:nvSpPr>
          <p:spPr bwMode="auto">
            <a:xfrm>
              <a:off x="3897" y="2886"/>
              <a:ext cx="2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y</a:t>
              </a:r>
              <a:endParaRPr lang="en-US" altLang="zh-CN" sz="2400" i="1"/>
            </a:p>
          </p:txBody>
        </p:sp>
        <p:sp>
          <p:nvSpPr>
            <p:cNvPr id="10260" name="Oval 49"/>
            <p:cNvSpPr>
              <a:spLocks noChangeArrowheads="1"/>
            </p:cNvSpPr>
            <p:nvPr/>
          </p:nvSpPr>
          <p:spPr bwMode="auto">
            <a:xfrm>
              <a:off x="4203" y="2267"/>
              <a:ext cx="90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33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1</a:t>
            </a:r>
            <a:r>
              <a:rPr lang="en-US" altLang="zh-CN" sz="4000" dirty="0"/>
              <a:t> </a:t>
            </a:r>
            <a:r>
              <a:rPr lang="zh-CN" altLang="en-US" sz="3600" dirty="0">
                <a:ea typeface="楷体_GB2312" pitchFamily="49" charset="-122"/>
              </a:rPr>
              <a:t>凸集</a:t>
            </a:r>
            <a:endParaRPr lang="zh-CN" altLang="en-US" sz="3200" dirty="0"/>
          </a:p>
        </p:txBody>
      </p:sp>
      <p:graphicFrame>
        <p:nvGraphicFramePr>
          <p:cNvPr id="5159" name="Object 39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173751093"/>
              </p:ext>
            </p:extLst>
          </p:nvPr>
        </p:nvGraphicFramePr>
        <p:xfrm>
          <a:off x="402641" y="1865313"/>
          <a:ext cx="6816725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4" name="Equation" r:id="rId3" imgW="7353000" imgH="1523880" progId="Equation.DSMT4">
                  <p:embed/>
                </p:oleObj>
              </mc:Choice>
              <mc:Fallback>
                <p:oleObj name="Equation" r:id="rId3" imgW="7353000" imgH="1523880" progId="Equation.DSMT4">
                  <p:embed/>
                  <p:pic>
                    <p:nvPicPr>
                      <p:cNvPr id="5159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641" y="1865313"/>
                        <a:ext cx="6816725" cy="141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4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968323944"/>
              </p:ext>
            </p:extLst>
          </p:nvPr>
        </p:nvGraphicFramePr>
        <p:xfrm>
          <a:off x="223838" y="1127125"/>
          <a:ext cx="738663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5" name="Equation" r:id="rId5" imgW="3581280" imgH="228600" progId="Equation.DSMT4">
                  <p:embed/>
                </p:oleObj>
              </mc:Choice>
              <mc:Fallback>
                <p:oleObj name="Equation" r:id="rId5" imgW="3581280" imgH="228600" progId="Equation.DSMT4">
                  <p:embed/>
                  <p:pic>
                    <p:nvPicPr>
                      <p:cNvPr id="11273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8" y="1127125"/>
                        <a:ext cx="7386637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335088"/>
              </p:ext>
            </p:extLst>
          </p:nvPr>
        </p:nvGraphicFramePr>
        <p:xfrm>
          <a:off x="426118" y="3692425"/>
          <a:ext cx="74168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6" name="Equation" r:id="rId7" imgW="7416720" imgH="1498320" progId="Equation.DSMT4">
                  <p:embed/>
                </p:oleObj>
              </mc:Choice>
              <mc:Fallback>
                <p:oleObj name="Equation" r:id="rId7" imgW="7416720" imgH="1498320" progId="Equation.DSMT4">
                  <p:embed/>
                  <p:pic>
                    <p:nvPicPr>
                      <p:cNvPr id="51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118" y="3692425"/>
                        <a:ext cx="74168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61" name="Oval 41"/>
          <p:cNvSpPr>
            <a:spLocks noChangeArrowheads="1"/>
          </p:cNvSpPr>
          <p:nvPr/>
        </p:nvSpPr>
        <p:spPr bwMode="auto">
          <a:xfrm>
            <a:off x="7658084" y="1638484"/>
            <a:ext cx="901700" cy="503237"/>
          </a:xfrm>
          <a:prstGeom prst="ellipse">
            <a:avLst/>
          </a:prstGeom>
          <a:solidFill>
            <a:schemeClr val="accent1"/>
          </a:solidFill>
          <a:ln w="9525">
            <a:round/>
            <a:headEnd/>
            <a:tailEnd/>
          </a:ln>
          <a:scene3d>
            <a:camera prst="legacyPerspectiveBottom"/>
            <a:lightRig rig="legacyFlat3" dir="t"/>
          </a:scene3d>
          <a:sp3d extrusionH="1218930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9689" y="5328938"/>
            <a:ext cx="741680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2800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多面集 </a:t>
            </a:r>
            <a:r>
              <a:rPr lang="en-US" altLang="zh-CN" sz="2800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{x|</a:t>
            </a:r>
            <a:r>
              <a:rPr lang="en-US" altLang="zh-CN" sz="2800" b="1" i="1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Ax</a:t>
            </a:r>
            <a:r>
              <a:rPr lang="en-US" altLang="zh-CN" sz="2800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</a:t>
            </a:r>
            <a:r>
              <a:rPr lang="en-US" altLang="zh-CN" sz="2800" b="1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0</a:t>
            </a:r>
            <a:r>
              <a:rPr lang="en-US" altLang="zh-CN" sz="2800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}</a:t>
            </a:r>
            <a:r>
              <a:rPr lang="zh-CN" altLang="en-US" sz="2800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也是凸锥，称为</a:t>
            </a:r>
            <a:r>
              <a:rPr lang="zh-CN" altLang="en-US" sz="2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多面锥</a:t>
            </a:r>
            <a:r>
              <a:rPr lang="zh-CN" altLang="en-US" sz="2800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1" grpId="0" animBg="1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1</a:t>
            </a:r>
            <a:r>
              <a:rPr lang="en-US" altLang="zh-CN" sz="4000" dirty="0"/>
              <a:t> </a:t>
            </a:r>
            <a:r>
              <a:rPr lang="zh-CN" altLang="en-US" sz="3600" dirty="0">
                <a:ea typeface="楷体_GB2312" pitchFamily="49" charset="-122"/>
              </a:rPr>
              <a:t>凸集</a:t>
            </a:r>
            <a:endParaRPr lang="zh-CN" altLang="en-US" sz="3200" dirty="0"/>
          </a:p>
        </p:txBody>
      </p:sp>
      <p:sp>
        <p:nvSpPr>
          <p:cNvPr id="195607" name="Rectangle 23"/>
          <p:cNvSpPr>
            <a:spLocks noGrp="1" noChangeArrowheads="1"/>
          </p:cNvSpPr>
          <p:nvPr>
            <p:ph type="body" idx="4294967295"/>
          </p:nvPr>
        </p:nvSpPr>
        <p:spPr>
          <a:xfrm>
            <a:off x="490888" y="4922638"/>
            <a:ext cx="7981950" cy="1160462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/>
              <a:t>由上面的例子可知：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/>
              <a:t>任何有界闭凸集中任一点都可表成极点的凸组合</a:t>
            </a:r>
            <a:r>
              <a:rPr lang="en-US" altLang="zh-CN" sz="2400" dirty="0"/>
              <a:t>.</a:t>
            </a:r>
          </a:p>
        </p:txBody>
      </p:sp>
      <p:sp>
        <p:nvSpPr>
          <p:cNvPr id="195590" name="Text Box 6"/>
          <p:cNvSpPr txBox="1">
            <a:spLocks noChangeArrowheads="1"/>
          </p:cNvSpPr>
          <p:nvPr/>
        </p:nvSpPr>
        <p:spPr bwMode="auto">
          <a:xfrm>
            <a:off x="424163" y="1100723"/>
            <a:ext cx="82073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定义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7  </a:t>
            </a:r>
            <a:r>
              <a:rPr lang="zh-CN" altLang="en-US" sz="2400" dirty="0"/>
              <a:t>非空凸集中的点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/>
              <a:t>称为</a:t>
            </a:r>
            <a:r>
              <a:rPr lang="zh-CN" altLang="en-US" sz="2400" b="1" dirty="0">
                <a:ea typeface="楷体_GB2312" pitchFamily="49" charset="-122"/>
              </a:rPr>
              <a:t>极点</a:t>
            </a:r>
            <a:r>
              <a:rPr lang="en-US" altLang="zh-CN" sz="2400" dirty="0">
                <a:ea typeface="楷体_GB2312" pitchFamily="49" charset="-122"/>
              </a:rPr>
              <a:t>,</a:t>
            </a:r>
            <a:r>
              <a:rPr lang="zh-CN" altLang="en-US" sz="2400" dirty="0"/>
              <a:t>若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i="1" dirty="0">
                <a:ea typeface="楷体_GB2312" pitchFamily="49" charset="-122"/>
              </a:rPr>
              <a:t>=</a:t>
            </a:r>
            <a:r>
              <a:rPr lang="en-US" altLang="zh-CN" sz="2400" i="1" dirty="0">
                <a:sym typeface="Symbol" panose="05050102010706020507" pitchFamily="18" charset="2"/>
              </a:rPr>
              <a:t></a:t>
            </a:r>
            <a:r>
              <a:rPr lang="en-US" altLang="zh-CN" sz="2400" b="1" i="1" dirty="0"/>
              <a:t>x</a:t>
            </a:r>
            <a:r>
              <a:rPr lang="en-US" altLang="zh-CN" sz="2400" i="1" baseline="-25000" dirty="0"/>
              <a:t>1</a:t>
            </a:r>
            <a:r>
              <a:rPr lang="en-US" altLang="zh-CN" sz="2400" dirty="0"/>
              <a:t>+(1-</a:t>
            </a:r>
            <a:r>
              <a:rPr lang="en-US" altLang="zh-CN" sz="2400" i="1" dirty="0">
                <a:sym typeface="Symbol" panose="05050102010706020507" pitchFamily="18" charset="2"/>
              </a:rPr>
              <a:t></a:t>
            </a:r>
            <a:r>
              <a:rPr lang="en-US" altLang="zh-CN" sz="2400" dirty="0"/>
              <a:t>)</a:t>
            </a:r>
            <a:r>
              <a:rPr lang="en-US" altLang="zh-CN" sz="2400" b="1" i="1" dirty="0"/>
              <a:t>x</a:t>
            </a:r>
            <a:r>
              <a:rPr lang="en-US" altLang="zh-CN" sz="2400" i="1" baseline="-25000" dirty="0"/>
              <a:t>2</a:t>
            </a:r>
            <a:r>
              <a:rPr lang="en-US" altLang="zh-CN" sz="2400" dirty="0">
                <a:sym typeface="Symbol" panose="05050102010706020507" pitchFamily="18" charset="2"/>
              </a:rPr>
              <a:t> , </a:t>
            </a:r>
            <a:r>
              <a:rPr lang="en-US" altLang="zh-CN" sz="2400" i="1" dirty="0">
                <a:sym typeface="Symbol" panose="05050102010706020507" pitchFamily="18" charset="2"/>
              </a:rPr>
              <a:t></a:t>
            </a:r>
            <a:r>
              <a:rPr lang="en-US" altLang="zh-CN" sz="2400" dirty="0">
                <a:sym typeface="Symbol" panose="05050102010706020507" pitchFamily="18" charset="2"/>
              </a:rPr>
              <a:t>(0,1) , </a:t>
            </a:r>
            <a:r>
              <a:rPr lang="en-US" altLang="zh-CN" sz="2400" b="1" i="1" dirty="0"/>
              <a:t>x</a:t>
            </a:r>
            <a:r>
              <a:rPr lang="en-US" altLang="zh-CN" sz="2400" i="1" baseline="-25000" dirty="0"/>
              <a:t>1</a:t>
            </a:r>
            <a:r>
              <a:rPr lang="en-US" altLang="zh-CN" sz="2400" dirty="0"/>
              <a:t> ,</a:t>
            </a:r>
            <a:r>
              <a:rPr lang="en-US" altLang="zh-CN" sz="2400" b="1" i="1" dirty="0"/>
              <a:t>x</a:t>
            </a:r>
            <a:r>
              <a:rPr lang="en-US" altLang="zh-CN" sz="2400" i="1" baseline="-25000" dirty="0"/>
              <a:t>2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Euclid Math Two" panose="02050601010101010101" pitchFamily="18" charset="2"/>
              </a:rPr>
              <a:t></a:t>
            </a:r>
            <a:r>
              <a:rPr lang="en-US" altLang="zh-CN" sz="2400" b="1" i="1" dirty="0"/>
              <a:t>S</a:t>
            </a:r>
            <a:r>
              <a:rPr lang="en-US" altLang="zh-CN" sz="2400" dirty="0"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sym typeface="Symbol" panose="05050102010706020507" pitchFamily="18" charset="2"/>
              </a:rPr>
              <a:t>则 </a:t>
            </a:r>
            <a:r>
              <a:rPr lang="en-US" altLang="zh-CN" sz="2400" b="1" i="1" dirty="0"/>
              <a:t>x</a:t>
            </a:r>
            <a:r>
              <a:rPr lang="en-US" altLang="zh-CN" sz="2400" i="1" dirty="0"/>
              <a:t>=</a:t>
            </a:r>
            <a:r>
              <a:rPr lang="en-US" altLang="zh-CN" sz="2400" b="1" i="1" dirty="0"/>
              <a:t>x</a:t>
            </a:r>
            <a:r>
              <a:rPr lang="en-US" altLang="zh-CN" sz="2400" i="1" baseline="-25000" dirty="0"/>
              <a:t>1</a:t>
            </a:r>
            <a:r>
              <a:rPr lang="en-US" altLang="zh-CN" sz="2400" dirty="0"/>
              <a:t>=</a:t>
            </a:r>
            <a:r>
              <a:rPr lang="en-US" altLang="zh-CN" sz="2400" b="1" i="1" dirty="0"/>
              <a:t>x</a:t>
            </a:r>
            <a:r>
              <a:rPr lang="en-US" altLang="zh-CN" sz="2400" i="1" baseline="-25000" dirty="0"/>
              <a:t>2</a:t>
            </a:r>
            <a:r>
              <a:rPr lang="en-US" altLang="zh-CN" sz="2400" i="1" dirty="0"/>
              <a:t>.</a:t>
            </a:r>
            <a:r>
              <a:rPr lang="zh-CN" altLang="en-US" sz="2400" dirty="0"/>
              <a:t>换言之</a:t>
            </a:r>
            <a:r>
              <a:rPr lang="en-US" altLang="zh-CN" sz="2400" dirty="0"/>
              <a:t>,</a:t>
            </a:r>
            <a:r>
              <a:rPr lang="en-US" altLang="zh-CN" sz="2400" i="1" dirty="0"/>
              <a:t>x</a:t>
            </a:r>
            <a:r>
              <a:rPr lang="zh-CN" altLang="en-US" sz="2400" dirty="0"/>
              <a:t>不能表示成</a:t>
            </a:r>
            <a:r>
              <a:rPr lang="en-US" altLang="zh-CN" sz="2400" dirty="0"/>
              <a:t>S</a:t>
            </a:r>
            <a:r>
              <a:rPr lang="zh-CN" altLang="en-US" sz="2400" dirty="0"/>
              <a:t>中两个不同点的凸组合</a:t>
            </a:r>
            <a:r>
              <a:rPr lang="en-US" altLang="zh-CN" sz="2400" dirty="0"/>
              <a:t>.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779838" y="2133600"/>
            <a:ext cx="2957512" cy="2670175"/>
            <a:chOff x="3270" y="1389"/>
            <a:chExt cx="2105" cy="1860"/>
          </a:xfrm>
        </p:grpSpPr>
        <p:sp>
          <p:nvSpPr>
            <p:cNvPr id="12302" name="AutoShape 8"/>
            <p:cNvSpPr>
              <a:spLocks noChangeArrowheads="1"/>
            </p:cNvSpPr>
            <p:nvPr/>
          </p:nvSpPr>
          <p:spPr bwMode="auto">
            <a:xfrm rot="966926">
              <a:off x="3461" y="1517"/>
              <a:ext cx="1591" cy="1496"/>
            </a:xfrm>
            <a:prstGeom prst="pentagon">
              <a:avLst/>
            </a:prstGeom>
            <a:solidFill>
              <a:srgbClr val="CCFFFF"/>
            </a:solidFill>
            <a:ln w="25400">
              <a:solidFill>
                <a:srgbClr val="003366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2303" name="Rectangle 9"/>
            <p:cNvSpPr>
              <a:spLocks noChangeArrowheads="1"/>
            </p:cNvSpPr>
            <p:nvPr/>
          </p:nvSpPr>
          <p:spPr bwMode="auto">
            <a:xfrm>
              <a:off x="3313" y="2734"/>
              <a:ext cx="312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r>
                <a:rPr lang="en-US" altLang="zh-CN" sz="1600" i="1"/>
                <a:t>4</a:t>
              </a:r>
            </a:p>
          </p:txBody>
        </p:sp>
        <p:sp>
          <p:nvSpPr>
            <p:cNvPr id="12304" name="Rectangle 10"/>
            <p:cNvSpPr>
              <a:spLocks noChangeArrowheads="1"/>
            </p:cNvSpPr>
            <p:nvPr/>
          </p:nvSpPr>
          <p:spPr bwMode="auto">
            <a:xfrm>
              <a:off x="4540" y="2931"/>
              <a:ext cx="312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r>
                <a:rPr lang="en-US" altLang="zh-CN" sz="1600" i="1"/>
                <a:t>3</a:t>
              </a:r>
            </a:p>
          </p:txBody>
        </p:sp>
        <p:sp>
          <p:nvSpPr>
            <p:cNvPr id="12305" name="Rectangle 11"/>
            <p:cNvSpPr>
              <a:spLocks noChangeArrowheads="1"/>
            </p:cNvSpPr>
            <p:nvPr/>
          </p:nvSpPr>
          <p:spPr bwMode="auto">
            <a:xfrm>
              <a:off x="5067" y="2144"/>
              <a:ext cx="308" cy="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r>
                <a:rPr lang="en-US" altLang="zh-CN" sz="1600" i="1"/>
                <a:t>2</a:t>
              </a:r>
            </a:p>
          </p:txBody>
        </p:sp>
        <p:sp>
          <p:nvSpPr>
            <p:cNvPr id="12306" name="Rectangle 12"/>
            <p:cNvSpPr>
              <a:spLocks noChangeArrowheads="1"/>
            </p:cNvSpPr>
            <p:nvPr/>
          </p:nvSpPr>
          <p:spPr bwMode="auto">
            <a:xfrm>
              <a:off x="4490" y="1389"/>
              <a:ext cx="312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r>
                <a:rPr lang="en-US" altLang="zh-CN" sz="1600" i="1"/>
                <a:t>1</a:t>
              </a:r>
            </a:p>
          </p:txBody>
        </p:sp>
        <p:sp>
          <p:nvSpPr>
            <p:cNvPr id="12307" name="Rectangle 13"/>
            <p:cNvSpPr>
              <a:spLocks noChangeArrowheads="1"/>
            </p:cNvSpPr>
            <p:nvPr/>
          </p:nvSpPr>
          <p:spPr bwMode="auto">
            <a:xfrm>
              <a:off x="3270" y="1706"/>
              <a:ext cx="312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r>
                <a:rPr lang="en-US" altLang="zh-CN" sz="1600" i="1"/>
                <a:t>5</a:t>
              </a:r>
            </a:p>
          </p:txBody>
        </p:sp>
        <p:sp>
          <p:nvSpPr>
            <p:cNvPr id="12308" name="Line 14"/>
            <p:cNvSpPr>
              <a:spLocks noChangeShapeType="1"/>
            </p:cNvSpPr>
            <p:nvPr/>
          </p:nvSpPr>
          <p:spPr bwMode="auto">
            <a:xfrm flipH="1">
              <a:off x="4054" y="1549"/>
              <a:ext cx="409" cy="1451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09" name="Rectangle 15"/>
            <p:cNvSpPr>
              <a:spLocks noChangeArrowheads="1"/>
            </p:cNvSpPr>
            <p:nvPr/>
          </p:nvSpPr>
          <p:spPr bwMode="auto">
            <a:xfrm>
              <a:off x="4319" y="2160"/>
              <a:ext cx="239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endParaRPr lang="en-US" altLang="zh-CN" sz="2400" i="1"/>
            </a:p>
          </p:txBody>
        </p:sp>
        <p:sp>
          <p:nvSpPr>
            <p:cNvPr id="12310" name="Rectangle 16"/>
            <p:cNvSpPr>
              <a:spLocks noChangeArrowheads="1"/>
            </p:cNvSpPr>
            <p:nvPr/>
          </p:nvSpPr>
          <p:spPr bwMode="auto">
            <a:xfrm>
              <a:off x="3897" y="2886"/>
              <a:ext cx="20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y</a:t>
              </a:r>
              <a:endParaRPr lang="en-US" altLang="zh-CN" sz="2400" i="1"/>
            </a:p>
          </p:txBody>
        </p:sp>
        <p:sp>
          <p:nvSpPr>
            <p:cNvPr id="12311" name="Oval 17"/>
            <p:cNvSpPr>
              <a:spLocks noChangeArrowheads="1"/>
            </p:cNvSpPr>
            <p:nvPr/>
          </p:nvSpPr>
          <p:spPr bwMode="auto">
            <a:xfrm>
              <a:off x="4203" y="2267"/>
              <a:ext cx="90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33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1331913" y="2565400"/>
            <a:ext cx="1674812" cy="1439863"/>
            <a:chOff x="1200" y="2928"/>
            <a:chExt cx="1202" cy="1008"/>
          </a:xfrm>
        </p:grpSpPr>
        <p:sp>
          <p:nvSpPr>
            <p:cNvPr id="12298" name="Oval 19"/>
            <p:cNvSpPr>
              <a:spLocks noChangeArrowheads="1"/>
            </p:cNvSpPr>
            <p:nvPr/>
          </p:nvSpPr>
          <p:spPr bwMode="auto">
            <a:xfrm>
              <a:off x="1200" y="2928"/>
              <a:ext cx="1104" cy="100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2299" name="Rectangle 20"/>
            <p:cNvSpPr>
              <a:spLocks noChangeArrowheads="1"/>
            </p:cNvSpPr>
            <p:nvPr/>
          </p:nvSpPr>
          <p:spPr bwMode="auto">
            <a:xfrm>
              <a:off x="1632" y="3216"/>
              <a:ext cx="241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i="1"/>
                <a:t>S</a:t>
              </a:r>
            </a:p>
          </p:txBody>
        </p:sp>
        <p:sp>
          <p:nvSpPr>
            <p:cNvPr id="12300" name="Rectangle 21"/>
            <p:cNvSpPr>
              <a:spLocks noChangeArrowheads="1"/>
            </p:cNvSpPr>
            <p:nvPr/>
          </p:nvSpPr>
          <p:spPr bwMode="auto">
            <a:xfrm>
              <a:off x="2160" y="2928"/>
              <a:ext cx="242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chemeClr val="accent2"/>
                  </a:solidFill>
                </a:rPr>
                <a:t>x</a:t>
              </a:r>
            </a:p>
          </p:txBody>
        </p:sp>
        <p:sp>
          <p:nvSpPr>
            <p:cNvPr id="12301" name="Oval 22"/>
            <p:cNvSpPr>
              <a:spLocks noChangeArrowheads="1"/>
            </p:cNvSpPr>
            <p:nvPr/>
          </p:nvSpPr>
          <p:spPr bwMode="auto">
            <a:xfrm>
              <a:off x="2160" y="30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9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95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07" grpId="0" build="p"/>
      <p:bldP spid="19559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1  </a:t>
            </a:r>
            <a:r>
              <a:rPr lang="zh-CN" altLang="en-US" sz="3600" dirty="0">
                <a:ea typeface="楷体_GB2312" pitchFamily="49" charset="-122"/>
              </a:rPr>
              <a:t>凸集</a:t>
            </a:r>
            <a:endParaRPr lang="zh-CN" altLang="en-US" sz="3200" dirty="0"/>
          </a:p>
        </p:txBody>
      </p:sp>
      <p:sp>
        <p:nvSpPr>
          <p:cNvPr id="190469" name="Text Box 5"/>
          <p:cNvSpPr txBox="1">
            <a:spLocks noChangeArrowheads="1"/>
          </p:cNvSpPr>
          <p:nvPr/>
        </p:nvSpPr>
        <p:spPr bwMode="auto">
          <a:xfrm>
            <a:off x="414454" y="1009951"/>
            <a:ext cx="8207375" cy="86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定义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</a:rPr>
              <a:t>8</a:t>
            </a:r>
            <a:r>
              <a:rPr lang="en-US" altLang="zh-CN" sz="2400" dirty="0">
                <a:latin typeface="+mn-ea"/>
                <a:ea typeface="+mn-ea"/>
              </a:rPr>
              <a:t>. </a:t>
            </a:r>
            <a:r>
              <a:rPr lang="zh-CN" altLang="en-US" sz="2400" dirty="0">
                <a:latin typeface="+mn-ea"/>
                <a:ea typeface="+mn-ea"/>
              </a:rPr>
              <a:t>设非空凸集</a:t>
            </a:r>
            <a:r>
              <a:rPr lang="en-US" altLang="zh-CN" sz="2400" b="1" i="1" dirty="0" err="1">
                <a:latin typeface="+mn-ea"/>
                <a:ea typeface="+mn-ea"/>
              </a:rPr>
              <a:t>S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</a:t>
            </a:r>
            <a:r>
              <a:rPr lang="en-US" altLang="zh-CN" sz="2400" b="1" i="1" dirty="0" err="1">
                <a:latin typeface="+mn-ea"/>
                <a:ea typeface="+mn-ea"/>
                <a:sym typeface="Euclid Math Two" panose="02050601010101010101" pitchFamily="18" charset="2"/>
              </a:rPr>
              <a:t>R</a:t>
            </a:r>
            <a:r>
              <a:rPr lang="en-US" altLang="zh-CN" sz="2400" b="1" i="1" baseline="30000" dirty="0" err="1">
                <a:latin typeface="+mn-ea"/>
                <a:ea typeface="+mn-ea"/>
                <a:sym typeface="Euclid Math Two" panose="02050601010101010101" pitchFamily="18" charset="2"/>
              </a:rPr>
              <a:t>n</a:t>
            </a:r>
            <a:r>
              <a:rPr lang="en-US" altLang="zh-CN" sz="2400" dirty="0">
                <a:latin typeface="+mn-ea"/>
                <a:ea typeface="+mn-ea"/>
              </a:rPr>
              <a:t>, </a:t>
            </a:r>
            <a:r>
              <a:rPr lang="en-US" altLang="zh-CN" sz="2400" i="1" dirty="0">
                <a:latin typeface="+mn-ea"/>
                <a:ea typeface="+mn-ea"/>
              </a:rPr>
              <a:t>R</a:t>
            </a:r>
            <a:r>
              <a:rPr lang="en-US" altLang="zh-CN" sz="2400" i="1" baseline="300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中向量</a:t>
            </a:r>
            <a:r>
              <a:rPr lang="en-US" altLang="zh-CN" sz="2400" b="1" i="1" dirty="0">
                <a:latin typeface="+mn-ea"/>
                <a:ea typeface="+mn-ea"/>
              </a:rPr>
              <a:t>d</a:t>
            </a:r>
            <a:r>
              <a:rPr lang="en-US" altLang="zh-CN" sz="2400" b="1" i="1" dirty="0">
                <a:latin typeface="+mn-ea"/>
                <a:ea typeface="+mn-ea"/>
                <a:sym typeface="Euclid Symbol" panose="05050102010706020507" pitchFamily="18" charset="2"/>
              </a:rPr>
              <a:t>0</a:t>
            </a:r>
            <a:r>
              <a:rPr lang="en-US" altLang="zh-CN" sz="2400" dirty="0">
                <a:latin typeface="+mn-ea"/>
                <a:ea typeface="+mn-ea"/>
              </a:rPr>
              <a:t> </a:t>
            </a:r>
            <a:r>
              <a:rPr lang="zh-CN" altLang="en-US" sz="2400" dirty="0">
                <a:latin typeface="+mn-ea"/>
                <a:ea typeface="+mn-ea"/>
              </a:rPr>
              <a:t>称为</a:t>
            </a:r>
            <a:r>
              <a:rPr lang="en-US" altLang="zh-CN" sz="2400" b="1" i="1" dirty="0">
                <a:latin typeface="+mn-ea"/>
                <a:ea typeface="+mn-ea"/>
              </a:rPr>
              <a:t>S</a:t>
            </a:r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b="1" dirty="0">
                <a:latin typeface="+mn-ea"/>
                <a:ea typeface="+mn-ea"/>
              </a:rPr>
              <a:t>一个方向</a:t>
            </a:r>
            <a:r>
              <a:rPr lang="en-US" altLang="zh-CN" sz="2400" dirty="0">
                <a:latin typeface="+mn-ea"/>
                <a:ea typeface="+mn-ea"/>
              </a:rPr>
              <a:t>, </a:t>
            </a:r>
            <a:r>
              <a:rPr lang="zh-CN" altLang="en-US" sz="2400" dirty="0">
                <a:latin typeface="+mn-ea"/>
                <a:ea typeface="+mn-ea"/>
              </a:rPr>
              <a:t>若对每一 </a:t>
            </a:r>
            <a:r>
              <a:rPr lang="en-US" altLang="zh-CN" sz="2400" b="1" i="1" dirty="0" err="1">
                <a:latin typeface="+mn-ea"/>
                <a:ea typeface="+mn-ea"/>
              </a:rPr>
              <a:t>x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latin typeface="+mn-ea"/>
                <a:ea typeface="+mn-ea"/>
                <a:sym typeface="Symbol" panose="05050102010706020507" pitchFamily="18" charset="2"/>
              </a:rPr>
              <a:t>S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</a:t>
            </a:r>
            <a:r>
              <a:rPr lang="en-US" altLang="zh-CN" sz="2400" i="1" dirty="0">
                <a:latin typeface="+mn-ea"/>
                <a:ea typeface="+mn-ea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+mn-ea"/>
                <a:ea typeface="+mn-ea"/>
                <a:sym typeface="Symbol" panose="05050102010706020507" pitchFamily="18" charset="2"/>
              </a:rPr>
              <a:t>R(</a:t>
            </a:r>
            <a:r>
              <a:rPr lang="en-US" altLang="zh-CN" sz="2400" b="1" i="1" dirty="0" err="1">
                <a:latin typeface="+mn-ea"/>
                <a:ea typeface="+mn-ea"/>
                <a:sym typeface="Symbol" panose="05050102010706020507" pitchFamily="18" charset="2"/>
              </a:rPr>
              <a:t>x.d</a:t>
            </a:r>
            <a:r>
              <a:rPr lang="en-US" altLang="zh-CN" sz="2400" b="1" i="1" dirty="0">
                <a:latin typeface="+mn-ea"/>
                <a:ea typeface="+mn-ea"/>
                <a:sym typeface="Symbol" panose="05050102010706020507" pitchFamily="18" charset="2"/>
              </a:rPr>
              <a:t>)=</a:t>
            </a:r>
            <a:r>
              <a:rPr lang="en-US" altLang="zh-CN" sz="2400" b="1" dirty="0">
                <a:latin typeface="+mn-ea"/>
                <a:ea typeface="+mn-ea"/>
                <a:sym typeface="Symbol" panose="05050102010706020507" pitchFamily="18" charset="2"/>
              </a:rPr>
              <a:t>{</a:t>
            </a:r>
            <a:r>
              <a:rPr lang="en-US" altLang="zh-CN" sz="2400" b="1" i="1" dirty="0">
                <a:latin typeface="+mn-ea"/>
                <a:ea typeface="+mn-ea"/>
              </a:rPr>
              <a:t>x</a:t>
            </a:r>
            <a:r>
              <a:rPr lang="en-US" altLang="zh-CN" sz="2400" dirty="0">
                <a:latin typeface="+mn-ea"/>
                <a:ea typeface="+mn-ea"/>
              </a:rPr>
              <a:t>+</a:t>
            </a:r>
            <a:r>
              <a:rPr lang="en-US" altLang="zh-CN" sz="2400" i="1" dirty="0">
                <a:latin typeface="+mn-ea"/>
                <a:ea typeface="+mn-ea"/>
                <a:sym typeface="Symbol" panose="05050102010706020507" pitchFamily="18" charset="2"/>
              </a:rPr>
              <a:t></a:t>
            </a:r>
            <a:r>
              <a:rPr lang="en-US" altLang="zh-CN" sz="2400" b="1" i="1" dirty="0">
                <a:latin typeface="+mn-ea"/>
                <a:ea typeface="+mn-ea"/>
              </a:rPr>
              <a:t>d| </a:t>
            </a:r>
            <a:r>
              <a:rPr lang="en-US" altLang="zh-CN" sz="2400" i="1" dirty="0">
                <a:latin typeface="+mn-ea"/>
                <a:ea typeface="+mn-ea"/>
                <a:sym typeface="Symbol" panose="05050102010706020507" pitchFamily="18" charset="2"/>
              </a:rPr>
              <a:t>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0</a:t>
            </a:r>
            <a:r>
              <a:rPr lang="en-US" altLang="zh-CN" sz="2400" b="1" i="1" dirty="0">
                <a:latin typeface="+mn-ea"/>
                <a:ea typeface="+mn-ea"/>
              </a:rPr>
              <a:t> </a:t>
            </a:r>
            <a:r>
              <a:rPr lang="en-US" altLang="zh-CN" sz="2400" b="1" dirty="0">
                <a:latin typeface="+mn-ea"/>
                <a:ea typeface="+mn-ea"/>
              </a:rPr>
              <a:t>}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</a:t>
            </a:r>
            <a:r>
              <a:rPr lang="en-US" altLang="zh-CN" sz="2400" b="1" i="1" dirty="0">
                <a:latin typeface="+mn-ea"/>
                <a:ea typeface="+mn-ea"/>
                <a:sym typeface="Symbol" panose="05050102010706020507" pitchFamily="18" charset="2"/>
              </a:rPr>
              <a:t>S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. </a:t>
            </a:r>
          </a:p>
        </p:txBody>
      </p:sp>
      <p:sp>
        <p:nvSpPr>
          <p:cNvPr id="190470" name="Text Box 6"/>
          <p:cNvSpPr txBox="1">
            <a:spLocks noChangeArrowheads="1"/>
          </p:cNvSpPr>
          <p:nvPr/>
        </p:nvSpPr>
        <p:spPr bwMode="auto">
          <a:xfrm>
            <a:off x="285750" y="1928813"/>
            <a:ext cx="842962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       </a:t>
            </a:r>
            <a:r>
              <a:rPr lang="zh-CN" altLang="en-US" sz="2400" dirty="0"/>
              <a:t>方向</a:t>
            </a:r>
            <a:r>
              <a:rPr lang="en-US" altLang="zh-CN" sz="2400" b="1" i="1" dirty="0"/>
              <a:t>d</a:t>
            </a:r>
            <a:r>
              <a:rPr lang="en-US" altLang="zh-CN" sz="2400" i="1" baseline="-25000" dirty="0"/>
              <a:t>1</a:t>
            </a:r>
            <a:r>
              <a:rPr lang="zh-CN" altLang="en-US" sz="2400" dirty="0"/>
              <a:t>和</a:t>
            </a:r>
            <a:r>
              <a:rPr lang="en-US" altLang="zh-CN" sz="2400" b="1" i="1" dirty="0"/>
              <a:t>d</a:t>
            </a:r>
            <a:r>
              <a:rPr lang="en-US" altLang="zh-CN" sz="2400" i="1" baseline="-25000" dirty="0"/>
              <a:t>2</a:t>
            </a:r>
            <a:r>
              <a:rPr lang="en-US" altLang="zh-CN" sz="2400" dirty="0"/>
              <a:t> </a:t>
            </a:r>
            <a:r>
              <a:rPr lang="zh-CN" altLang="en-US" sz="2400" dirty="0"/>
              <a:t>称为</a:t>
            </a:r>
            <a:r>
              <a:rPr lang="en-US" altLang="zh-CN" sz="2400" b="1" i="1" dirty="0"/>
              <a:t>S</a:t>
            </a:r>
            <a:r>
              <a:rPr lang="zh-CN" altLang="en-US" sz="2400" dirty="0"/>
              <a:t>的两个</a:t>
            </a:r>
            <a:r>
              <a:rPr lang="zh-CN" altLang="en-US" sz="2400" b="1" dirty="0"/>
              <a:t>不同的方向</a:t>
            </a:r>
            <a:r>
              <a:rPr lang="en-US" altLang="zh-CN" sz="2400" dirty="0"/>
              <a:t>, </a:t>
            </a:r>
            <a:r>
              <a:rPr lang="zh-CN" altLang="en-US" sz="2400" dirty="0"/>
              <a:t>若对任意</a:t>
            </a:r>
            <a:r>
              <a:rPr lang="zh-CN" altLang="en-US" sz="2400" i="1" dirty="0">
                <a:sym typeface="Symbol" panose="05050102010706020507" pitchFamily="18" charset="2"/>
              </a:rPr>
              <a:t></a:t>
            </a:r>
            <a:r>
              <a:rPr lang="en-US" altLang="zh-CN" sz="2400" i="1" dirty="0">
                <a:sym typeface="Symbol" panose="05050102010706020507" pitchFamily="18" charset="2"/>
              </a:rPr>
              <a:t>&gt;0</a:t>
            </a:r>
            <a:r>
              <a:rPr lang="en-US" altLang="zh-CN" sz="2400" dirty="0">
                <a:sym typeface="Symbol" panose="05050102010706020507" pitchFamily="18" charset="2"/>
              </a:rPr>
              <a:t>,</a:t>
            </a:r>
            <a:r>
              <a:rPr lang="zh-CN" altLang="en-US" sz="2400" dirty="0"/>
              <a:t>都有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/>
              <a:t>d</a:t>
            </a:r>
            <a:r>
              <a:rPr lang="en-US" altLang="zh-CN" sz="2400" i="1" baseline="-25000" dirty="0"/>
              <a:t>1</a:t>
            </a:r>
            <a:r>
              <a:rPr lang="en-US" altLang="zh-CN" sz="2400" dirty="0">
                <a:sym typeface="Euclid Symbol" panose="05050102010706020507" pitchFamily="18" charset="2"/>
              </a:rPr>
              <a:t></a:t>
            </a:r>
            <a:r>
              <a:rPr lang="en-US" altLang="zh-CN" sz="2400" i="1" dirty="0">
                <a:sym typeface="Symbol" panose="05050102010706020507" pitchFamily="18" charset="2"/>
              </a:rPr>
              <a:t></a:t>
            </a:r>
            <a:r>
              <a:rPr lang="en-US" altLang="zh-CN" sz="2400" b="1" i="1" dirty="0"/>
              <a:t>d</a:t>
            </a:r>
            <a:r>
              <a:rPr lang="en-US" altLang="zh-CN" sz="2400" i="1" baseline="-25000" dirty="0"/>
              <a:t>2</a:t>
            </a:r>
            <a:r>
              <a:rPr lang="zh-CN" altLang="en-US" sz="2400" i="1" dirty="0"/>
              <a:t>；</a:t>
            </a:r>
            <a:endParaRPr lang="en-US" altLang="zh-CN" sz="2400" i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        方向</a:t>
            </a:r>
            <a:r>
              <a:rPr lang="en-US" altLang="zh-CN" sz="2400" b="1" i="1" dirty="0">
                <a:ea typeface="楷体_GB2312" pitchFamily="49" charset="-122"/>
              </a:rPr>
              <a:t>d</a:t>
            </a:r>
            <a:r>
              <a:rPr lang="zh-CN" altLang="en-US" sz="2400" dirty="0"/>
              <a:t>称为</a:t>
            </a:r>
            <a:r>
              <a:rPr lang="en-US" altLang="zh-CN" sz="2400" b="1" i="1" dirty="0">
                <a:ea typeface="楷体_GB2312" pitchFamily="49" charset="-122"/>
              </a:rPr>
              <a:t>S</a:t>
            </a:r>
            <a:r>
              <a:rPr lang="zh-CN" altLang="en-US" sz="2400" dirty="0"/>
              <a:t>的</a:t>
            </a:r>
            <a:r>
              <a:rPr lang="zh-CN" altLang="en-US" sz="2400" b="1" dirty="0"/>
              <a:t>极方向</a:t>
            </a:r>
            <a:r>
              <a:rPr lang="en-US" altLang="zh-CN" sz="2400" dirty="0">
                <a:ea typeface="楷体_GB2312" pitchFamily="49" charset="-122"/>
              </a:rPr>
              <a:t>,</a:t>
            </a:r>
            <a:r>
              <a:rPr lang="zh-CN" altLang="en-US" sz="2400" dirty="0"/>
              <a:t>若</a:t>
            </a:r>
            <a:r>
              <a:rPr lang="zh-CN" altLang="en-US" sz="2400" dirty="0">
                <a:ea typeface="楷体_GB2312" pitchFamily="49" charset="-122"/>
              </a:rPr>
              <a:t> </a:t>
            </a:r>
            <a:r>
              <a:rPr lang="en-US" altLang="zh-CN" sz="2400" b="1" i="1" dirty="0">
                <a:ea typeface="楷体_GB2312" pitchFamily="49" charset="-122"/>
              </a:rPr>
              <a:t>d</a:t>
            </a:r>
            <a:r>
              <a:rPr lang="en-US" altLang="zh-CN" sz="2400" i="1" dirty="0">
                <a:ea typeface="楷体_GB2312" pitchFamily="49" charset="-122"/>
              </a:rPr>
              <a:t>=</a:t>
            </a:r>
            <a:r>
              <a:rPr lang="en-US" altLang="zh-CN" sz="2400" i="1" dirty="0">
                <a:sym typeface="Symbol" panose="05050102010706020507" pitchFamily="18" charset="2"/>
              </a:rPr>
              <a:t></a:t>
            </a:r>
            <a:r>
              <a:rPr lang="en-US" altLang="zh-CN" sz="2400" b="1" i="1" dirty="0"/>
              <a:t>d</a:t>
            </a:r>
            <a:r>
              <a:rPr lang="en-US" altLang="zh-CN" sz="2400" i="1" baseline="-25000" dirty="0"/>
              <a:t>1</a:t>
            </a:r>
            <a:r>
              <a:rPr lang="en-US" altLang="zh-CN" sz="2400" dirty="0"/>
              <a:t>+</a:t>
            </a:r>
            <a:r>
              <a:rPr lang="en-US" altLang="zh-CN" sz="2400" dirty="0">
                <a:sym typeface="Euclid Symbol" panose="05050102010706020507" pitchFamily="18" charset="2"/>
              </a:rPr>
              <a:t></a:t>
            </a:r>
            <a:r>
              <a:rPr lang="en-US" altLang="zh-CN" sz="2400" b="1" i="1" dirty="0"/>
              <a:t>d</a:t>
            </a:r>
            <a:r>
              <a:rPr lang="en-US" altLang="zh-CN" sz="2400" i="1" baseline="-25000" dirty="0"/>
              <a:t>2</a:t>
            </a:r>
            <a:r>
              <a:rPr lang="en-US" altLang="zh-CN" sz="2400" dirty="0">
                <a:sym typeface="Symbol" panose="05050102010706020507" pitchFamily="18" charset="2"/>
              </a:rPr>
              <a:t>, </a:t>
            </a:r>
            <a:r>
              <a:rPr lang="en-US" altLang="zh-CN" sz="2400" i="1" dirty="0">
                <a:sym typeface="Symbol" panose="05050102010706020507" pitchFamily="18" charset="2"/>
              </a:rPr>
              <a:t></a:t>
            </a:r>
            <a:r>
              <a:rPr lang="en-US" altLang="zh-CN" sz="2400" dirty="0">
                <a:sym typeface="Euclid Symbol" panose="05050102010706020507" pitchFamily="18" charset="2"/>
              </a:rPr>
              <a:t>0</a:t>
            </a:r>
            <a:r>
              <a:rPr lang="zh-CN" altLang="en-US" sz="2400" dirty="0">
                <a:sym typeface="Euclid Symbol" panose="05050102010706020507" pitchFamily="18" charset="2"/>
              </a:rPr>
              <a:t>，</a:t>
            </a:r>
            <a:r>
              <a:rPr lang="en-US" altLang="zh-CN" sz="2400" dirty="0">
                <a:sym typeface="Euclid Symbol" panose="05050102010706020507" pitchFamily="18" charset="2"/>
              </a:rPr>
              <a:t></a:t>
            </a:r>
            <a:r>
              <a:rPr lang="en-US" altLang="zh-CN" sz="2400" dirty="0">
                <a:sym typeface="Symbol" panose="05050102010706020507" pitchFamily="18" charset="2"/>
              </a:rPr>
              <a:t>0, </a:t>
            </a:r>
            <a:r>
              <a:rPr lang="en-US" altLang="zh-CN" sz="2400" b="1" i="1" dirty="0"/>
              <a:t>d</a:t>
            </a:r>
            <a:r>
              <a:rPr lang="en-US" altLang="zh-CN" sz="2400" i="1" baseline="-25000" dirty="0"/>
              <a:t>1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Euclid Symbol" panose="05050102010706020507" pitchFamily="18" charset="2"/>
              </a:rPr>
              <a:t>,</a:t>
            </a:r>
            <a:r>
              <a:rPr lang="en-US" altLang="zh-CN" sz="2400" b="1" i="1" dirty="0"/>
              <a:t>d</a:t>
            </a:r>
            <a:r>
              <a:rPr lang="en-US" altLang="zh-CN" sz="2400" i="1" baseline="-25000" dirty="0"/>
              <a:t>2</a:t>
            </a:r>
            <a:r>
              <a:rPr lang="en-US" altLang="zh-CN" sz="2400" dirty="0"/>
              <a:t> </a:t>
            </a:r>
            <a:r>
              <a:rPr lang="zh-CN" altLang="en-US" sz="2400" dirty="0"/>
              <a:t>是</a:t>
            </a:r>
            <a:r>
              <a:rPr lang="en-US" altLang="zh-CN" sz="2400" dirty="0"/>
              <a:t>S</a:t>
            </a:r>
            <a:r>
              <a:rPr lang="zh-CN" altLang="en-US" sz="2400" dirty="0"/>
              <a:t>的两个方向</a:t>
            </a:r>
            <a:r>
              <a:rPr lang="en-US" altLang="zh-CN" sz="2400" dirty="0"/>
              <a:t>,</a:t>
            </a:r>
            <a:r>
              <a:rPr lang="zh-CN" altLang="en-US" sz="2400" dirty="0"/>
              <a:t>则有</a:t>
            </a:r>
            <a:r>
              <a:rPr lang="zh-CN" altLang="en-US" sz="2400" dirty="0"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sym typeface="Symbol" panose="05050102010706020507" pitchFamily="18" charset="2"/>
              </a:rPr>
              <a:t>d</a:t>
            </a:r>
            <a:r>
              <a:rPr lang="en-US" altLang="zh-CN" sz="2400" i="1" dirty="0"/>
              <a:t>=</a:t>
            </a:r>
            <a:r>
              <a:rPr lang="en-US" altLang="zh-CN" sz="2400" b="1" i="1" dirty="0"/>
              <a:t>d</a:t>
            </a:r>
            <a:r>
              <a:rPr lang="en-US" altLang="zh-CN" sz="2400" i="1" baseline="-25000" dirty="0"/>
              <a:t>1</a:t>
            </a:r>
            <a:r>
              <a:rPr lang="en-US" altLang="zh-CN" sz="2400" dirty="0"/>
              <a:t>=</a:t>
            </a:r>
            <a:r>
              <a:rPr lang="en-US" altLang="zh-CN" sz="2400" b="1" i="1" dirty="0"/>
              <a:t>d</a:t>
            </a:r>
            <a:r>
              <a:rPr lang="en-US" altLang="zh-CN" sz="2400" i="1" baseline="-25000" dirty="0"/>
              <a:t>2</a:t>
            </a:r>
            <a:r>
              <a:rPr lang="zh-CN" altLang="en-US" sz="2400" i="1" dirty="0"/>
              <a:t>。</a:t>
            </a:r>
            <a:r>
              <a:rPr lang="en-US" altLang="zh-CN" sz="2400" i="1" dirty="0"/>
              <a:t> </a:t>
            </a:r>
            <a:r>
              <a:rPr lang="zh-CN" altLang="en-US" sz="2400" dirty="0"/>
              <a:t>换言之，</a:t>
            </a:r>
            <a:r>
              <a:rPr lang="en-US" altLang="zh-CN" sz="2400" i="1" dirty="0"/>
              <a:t>d</a:t>
            </a:r>
            <a:r>
              <a:rPr lang="zh-CN" altLang="en-US" sz="2400" dirty="0">
                <a:latin typeface="宋体" panose="02010600030101010101" pitchFamily="2" charset="-122"/>
              </a:rPr>
              <a:t>不能表成它的两个不同方向的非负线性组合。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096762" y="4197852"/>
            <a:ext cx="6264275" cy="1512889"/>
            <a:chOff x="431" y="1661"/>
            <a:chExt cx="4626" cy="1224"/>
          </a:xfrm>
        </p:grpSpPr>
        <p:sp>
          <p:nvSpPr>
            <p:cNvPr id="13321" name="Oval 8"/>
            <p:cNvSpPr>
              <a:spLocks noChangeArrowheads="1"/>
            </p:cNvSpPr>
            <p:nvPr/>
          </p:nvSpPr>
          <p:spPr bwMode="auto">
            <a:xfrm>
              <a:off x="703" y="2216"/>
              <a:ext cx="98" cy="95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003366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3322" name="Line 9"/>
            <p:cNvSpPr>
              <a:spLocks noChangeShapeType="1"/>
            </p:cNvSpPr>
            <p:nvPr/>
          </p:nvSpPr>
          <p:spPr bwMode="auto">
            <a:xfrm flipV="1">
              <a:off x="612" y="2795"/>
              <a:ext cx="1089" cy="45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23" name="Line 10"/>
            <p:cNvSpPr>
              <a:spLocks noChangeShapeType="1"/>
            </p:cNvSpPr>
            <p:nvPr/>
          </p:nvSpPr>
          <p:spPr bwMode="auto">
            <a:xfrm flipH="1" flipV="1">
              <a:off x="431" y="2251"/>
              <a:ext cx="181" cy="589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24" name="Line 11"/>
            <p:cNvSpPr>
              <a:spLocks noChangeShapeType="1"/>
            </p:cNvSpPr>
            <p:nvPr/>
          </p:nvSpPr>
          <p:spPr bwMode="auto">
            <a:xfrm flipV="1">
              <a:off x="431" y="1797"/>
              <a:ext cx="453" cy="454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25" name="Line 12"/>
            <p:cNvSpPr>
              <a:spLocks noChangeShapeType="1"/>
            </p:cNvSpPr>
            <p:nvPr/>
          </p:nvSpPr>
          <p:spPr bwMode="auto">
            <a:xfrm flipV="1">
              <a:off x="884" y="1661"/>
              <a:ext cx="681" cy="136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26" name="Line 13"/>
            <p:cNvSpPr>
              <a:spLocks noChangeShapeType="1"/>
            </p:cNvSpPr>
            <p:nvPr/>
          </p:nvSpPr>
          <p:spPr bwMode="auto">
            <a:xfrm flipV="1">
              <a:off x="776" y="2171"/>
              <a:ext cx="998" cy="9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27" name="Oval 14"/>
            <p:cNvSpPr>
              <a:spLocks noChangeArrowheads="1"/>
            </p:cNvSpPr>
            <p:nvPr/>
          </p:nvSpPr>
          <p:spPr bwMode="auto">
            <a:xfrm>
              <a:off x="2275" y="2395"/>
              <a:ext cx="111" cy="11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003366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3328" name="Line 15"/>
            <p:cNvSpPr>
              <a:spLocks noChangeShapeType="1"/>
            </p:cNvSpPr>
            <p:nvPr/>
          </p:nvSpPr>
          <p:spPr bwMode="auto">
            <a:xfrm flipV="1">
              <a:off x="2200" y="2795"/>
              <a:ext cx="1089" cy="45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29" name="Line 16"/>
            <p:cNvSpPr>
              <a:spLocks noChangeShapeType="1"/>
            </p:cNvSpPr>
            <p:nvPr/>
          </p:nvSpPr>
          <p:spPr bwMode="auto">
            <a:xfrm flipH="1" flipV="1">
              <a:off x="2019" y="2251"/>
              <a:ext cx="181" cy="589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30" name="Line 17"/>
            <p:cNvSpPr>
              <a:spLocks noChangeShapeType="1"/>
            </p:cNvSpPr>
            <p:nvPr/>
          </p:nvSpPr>
          <p:spPr bwMode="auto">
            <a:xfrm flipV="1">
              <a:off x="2019" y="1797"/>
              <a:ext cx="453" cy="454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31" name="Line 18"/>
            <p:cNvSpPr>
              <a:spLocks noChangeShapeType="1"/>
            </p:cNvSpPr>
            <p:nvPr/>
          </p:nvSpPr>
          <p:spPr bwMode="auto">
            <a:xfrm flipV="1">
              <a:off x="2472" y="1661"/>
              <a:ext cx="681" cy="136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32" name="Line 19"/>
            <p:cNvSpPr>
              <a:spLocks noChangeShapeType="1"/>
            </p:cNvSpPr>
            <p:nvPr/>
          </p:nvSpPr>
          <p:spPr bwMode="auto">
            <a:xfrm rot="19544573" flipV="1">
              <a:off x="2228" y="2053"/>
              <a:ext cx="998" cy="9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33" name="Line 20"/>
            <p:cNvSpPr>
              <a:spLocks noChangeShapeType="1"/>
            </p:cNvSpPr>
            <p:nvPr/>
          </p:nvSpPr>
          <p:spPr bwMode="auto">
            <a:xfrm flipV="1">
              <a:off x="3968" y="2840"/>
              <a:ext cx="1089" cy="45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34" name="Line 21"/>
            <p:cNvSpPr>
              <a:spLocks noChangeShapeType="1"/>
            </p:cNvSpPr>
            <p:nvPr/>
          </p:nvSpPr>
          <p:spPr bwMode="auto">
            <a:xfrm flipH="1" flipV="1">
              <a:off x="3787" y="2296"/>
              <a:ext cx="181" cy="589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35" name="Line 22"/>
            <p:cNvSpPr>
              <a:spLocks noChangeShapeType="1"/>
            </p:cNvSpPr>
            <p:nvPr/>
          </p:nvSpPr>
          <p:spPr bwMode="auto">
            <a:xfrm flipV="1">
              <a:off x="3787" y="1842"/>
              <a:ext cx="453" cy="454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36" name="Line 23"/>
            <p:cNvSpPr>
              <a:spLocks noChangeShapeType="1"/>
            </p:cNvSpPr>
            <p:nvPr/>
          </p:nvSpPr>
          <p:spPr bwMode="auto">
            <a:xfrm flipV="1">
              <a:off x="4240" y="1706"/>
              <a:ext cx="681" cy="13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37" name="Text Box 24"/>
            <p:cNvSpPr txBox="1">
              <a:spLocks noChangeArrowheads="1"/>
            </p:cNvSpPr>
            <p:nvPr/>
          </p:nvSpPr>
          <p:spPr bwMode="auto">
            <a:xfrm>
              <a:off x="612" y="2169"/>
              <a:ext cx="454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b="1" i="1" dirty="0">
                  <a:ea typeface="楷体_GB2312" pitchFamily="49" charset="-122"/>
                </a:rPr>
                <a:t>x</a:t>
              </a:r>
              <a:r>
                <a:rPr lang="en-US" altLang="zh-CN" sz="1600" i="1" dirty="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13338" name="Text Box 25"/>
            <p:cNvSpPr txBox="1">
              <a:spLocks noChangeArrowheads="1"/>
            </p:cNvSpPr>
            <p:nvPr/>
          </p:nvSpPr>
          <p:spPr bwMode="auto">
            <a:xfrm>
              <a:off x="2290" y="2295"/>
              <a:ext cx="454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b="1" i="1" dirty="0">
                  <a:ea typeface="楷体_GB2312" pitchFamily="49" charset="-122"/>
                </a:rPr>
                <a:t>x</a:t>
              </a:r>
              <a:r>
                <a:rPr lang="en-US" altLang="zh-CN" sz="1600" i="1" dirty="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13339" name="Text Box 26"/>
            <p:cNvSpPr txBox="1">
              <a:spLocks noChangeArrowheads="1"/>
            </p:cNvSpPr>
            <p:nvPr/>
          </p:nvSpPr>
          <p:spPr bwMode="auto">
            <a:xfrm>
              <a:off x="1155" y="1933"/>
              <a:ext cx="455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b="1" i="1">
                  <a:ea typeface="楷体_GB2312" pitchFamily="49" charset="-122"/>
                </a:rPr>
                <a:t>d</a:t>
              </a:r>
              <a:endParaRPr lang="en-US" altLang="zh-CN" sz="1600" b="1" i="1">
                <a:ea typeface="楷体_GB2312" pitchFamily="49" charset="-122"/>
              </a:endParaRPr>
            </a:p>
          </p:txBody>
        </p:sp>
        <p:sp>
          <p:nvSpPr>
            <p:cNvPr id="13340" name="Text Box 27"/>
            <p:cNvSpPr txBox="1">
              <a:spLocks noChangeArrowheads="1"/>
            </p:cNvSpPr>
            <p:nvPr/>
          </p:nvSpPr>
          <p:spPr bwMode="auto">
            <a:xfrm>
              <a:off x="2562" y="1842"/>
              <a:ext cx="454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b="1" i="1">
                  <a:ea typeface="楷体_GB2312" pitchFamily="49" charset="-122"/>
                </a:rPr>
                <a:t>d</a:t>
              </a:r>
              <a:endParaRPr lang="en-US" altLang="zh-CN" sz="1600" b="1" i="1">
                <a:ea typeface="楷体_GB2312" pitchFamily="49" charset="-122"/>
              </a:endParaRPr>
            </a:p>
          </p:txBody>
        </p:sp>
        <p:sp>
          <p:nvSpPr>
            <p:cNvPr id="13341" name="Text Box 28"/>
            <p:cNvSpPr txBox="1">
              <a:spLocks noChangeArrowheads="1"/>
            </p:cNvSpPr>
            <p:nvPr/>
          </p:nvSpPr>
          <p:spPr bwMode="auto">
            <a:xfrm>
              <a:off x="4333" y="1752"/>
              <a:ext cx="453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b="1" i="1">
                  <a:ea typeface="楷体_GB2312" pitchFamily="49" charset="-122"/>
                </a:rPr>
                <a:t>d</a:t>
              </a:r>
              <a:endParaRPr lang="en-US" altLang="zh-CN" sz="1600" b="1" i="1"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9" grpId="0"/>
      <p:bldP spid="19047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1 </a:t>
            </a:r>
            <a:r>
              <a:rPr lang="zh-CN" altLang="en-US" sz="3600" dirty="0">
                <a:ea typeface="楷体_GB2312" pitchFamily="49" charset="-122"/>
              </a:rPr>
              <a:t>凸集</a:t>
            </a:r>
            <a:endParaRPr lang="zh-CN" altLang="en-US" sz="3200" dirty="0"/>
          </a:p>
        </p:txBody>
      </p:sp>
      <p:graphicFrame>
        <p:nvGraphicFramePr>
          <p:cNvPr id="191506" name="Object 18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35778671"/>
              </p:ext>
            </p:extLst>
          </p:nvPr>
        </p:nvGraphicFramePr>
        <p:xfrm>
          <a:off x="687388" y="4816475"/>
          <a:ext cx="7689850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1" name="Equation" r:id="rId3" imgW="7873920" imgH="1498320" progId="Equation.DSMT4">
                  <p:embed/>
                </p:oleObj>
              </mc:Choice>
              <mc:Fallback>
                <p:oleObj name="Equation" r:id="rId3" imgW="7873920" imgH="1498320" progId="Equation.DSMT4">
                  <p:embed/>
                  <p:pic>
                    <p:nvPicPr>
                      <p:cNvPr id="19150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4816475"/>
                        <a:ext cx="7689850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565254"/>
              </p:ext>
            </p:extLst>
          </p:nvPr>
        </p:nvGraphicFramePr>
        <p:xfrm>
          <a:off x="319465" y="1044575"/>
          <a:ext cx="5245100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2" name="Equation" r:id="rId5" imgW="5244840" imgH="2158920" progId="Equation.DSMT4">
                  <p:embed/>
                </p:oleObj>
              </mc:Choice>
              <mc:Fallback>
                <p:oleObj name="Equation" r:id="rId5" imgW="5244840" imgH="2158920" progId="Equation.DSMT4">
                  <p:embed/>
                  <p:pic>
                    <p:nvPicPr>
                      <p:cNvPr id="1914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65" y="1044575"/>
                        <a:ext cx="5245100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940425" y="981075"/>
            <a:ext cx="2819400" cy="2514600"/>
            <a:chOff x="3744" y="816"/>
            <a:chExt cx="1776" cy="1584"/>
          </a:xfrm>
        </p:grpSpPr>
        <p:sp>
          <p:nvSpPr>
            <p:cNvPr id="14346" name="Line 6"/>
            <p:cNvSpPr>
              <a:spLocks noChangeShapeType="1"/>
            </p:cNvSpPr>
            <p:nvPr/>
          </p:nvSpPr>
          <p:spPr bwMode="auto">
            <a:xfrm>
              <a:off x="3744" y="2064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7" name="Line 7"/>
            <p:cNvSpPr>
              <a:spLocks noChangeShapeType="1"/>
            </p:cNvSpPr>
            <p:nvPr/>
          </p:nvSpPr>
          <p:spPr bwMode="auto">
            <a:xfrm>
              <a:off x="4608" y="816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8" name="Line 8"/>
            <p:cNvSpPr>
              <a:spLocks noChangeShapeType="1"/>
            </p:cNvSpPr>
            <p:nvPr/>
          </p:nvSpPr>
          <p:spPr bwMode="auto">
            <a:xfrm flipV="1">
              <a:off x="4608" y="1296"/>
              <a:ext cx="72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9" name="Line 9"/>
            <p:cNvSpPr>
              <a:spLocks noChangeShapeType="1"/>
            </p:cNvSpPr>
            <p:nvPr/>
          </p:nvSpPr>
          <p:spPr bwMode="auto">
            <a:xfrm flipH="1" flipV="1">
              <a:off x="3840" y="1344"/>
              <a:ext cx="768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0" name="Line 10"/>
            <p:cNvSpPr>
              <a:spLocks noChangeShapeType="1"/>
            </p:cNvSpPr>
            <p:nvPr/>
          </p:nvSpPr>
          <p:spPr bwMode="auto">
            <a:xfrm flipH="1">
              <a:off x="4560" y="1248"/>
              <a:ext cx="624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1" name="Line 11"/>
            <p:cNvSpPr>
              <a:spLocks noChangeShapeType="1"/>
            </p:cNvSpPr>
            <p:nvPr/>
          </p:nvSpPr>
          <p:spPr bwMode="auto">
            <a:xfrm flipH="1">
              <a:off x="4416" y="1200"/>
              <a:ext cx="624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2" name="Line 12"/>
            <p:cNvSpPr>
              <a:spLocks noChangeShapeType="1"/>
            </p:cNvSpPr>
            <p:nvPr/>
          </p:nvSpPr>
          <p:spPr bwMode="auto">
            <a:xfrm flipH="1">
              <a:off x="4320" y="1104"/>
              <a:ext cx="67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3" name="Line 13"/>
            <p:cNvSpPr>
              <a:spLocks noChangeShapeType="1"/>
            </p:cNvSpPr>
            <p:nvPr/>
          </p:nvSpPr>
          <p:spPr bwMode="auto">
            <a:xfrm flipH="1">
              <a:off x="4224" y="1008"/>
              <a:ext cx="67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4" name="Line 14"/>
            <p:cNvSpPr>
              <a:spLocks noChangeShapeType="1"/>
            </p:cNvSpPr>
            <p:nvPr/>
          </p:nvSpPr>
          <p:spPr bwMode="auto">
            <a:xfrm flipH="1">
              <a:off x="4080" y="864"/>
              <a:ext cx="67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5" name="Line 15"/>
            <p:cNvSpPr>
              <a:spLocks noChangeShapeType="1"/>
            </p:cNvSpPr>
            <p:nvPr/>
          </p:nvSpPr>
          <p:spPr bwMode="auto">
            <a:xfrm flipH="1">
              <a:off x="4032" y="1008"/>
              <a:ext cx="43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6" name="Line 16"/>
            <p:cNvSpPr>
              <a:spLocks noChangeShapeType="1"/>
            </p:cNvSpPr>
            <p:nvPr/>
          </p:nvSpPr>
          <p:spPr bwMode="auto">
            <a:xfrm flipH="1">
              <a:off x="3936" y="1104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915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764715"/>
              </p:ext>
            </p:extLst>
          </p:nvPr>
        </p:nvGraphicFramePr>
        <p:xfrm>
          <a:off x="565150" y="3567113"/>
          <a:ext cx="7721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3" name="Equation" r:id="rId7" imgW="7721280" imgH="990360" progId="Equation.DSMT4">
                  <p:embed/>
                </p:oleObj>
              </mc:Choice>
              <mc:Fallback>
                <p:oleObj name="Equation" r:id="rId7" imgW="7721280" imgH="990360" progId="Equation.DSMT4">
                  <p:embed/>
                  <p:pic>
                    <p:nvPicPr>
                      <p:cNvPr id="19150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" y="3567113"/>
                        <a:ext cx="77216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9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1</a:t>
            </a:r>
            <a:r>
              <a:rPr lang="en-US" altLang="zh-CN" sz="4000" dirty="0"/>
              <a:t> </a:t>
            </a:r>
            <a:r>
              <a:rPr lang="zh-CN" altLang="en-US" sz="3600" dirty="0">
                <a:ea typeface="楷体_GB2312" pitchFamily="49" charset="-122"/>
              </a:rPr>
              <a:t>凸集 </a:t>
            </a:r>
            <a:endParaRPr lang="zh-CN" altLang="en-US" sz="3200" dirty="0"/>
          </a:p>
        </p:txBody>
      </p:sp>
      <p:graphicFrame>
        <p:nvGraphicFramePr>
          <p:cNvPr id="15371" name="Object 17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723473841"/>
              </p:ext>
            </p:extLst>
          </p:nvPr>
        </p:nvGraphicFramePr>
        <p:xfrm>
          <a:off x="1049154" y="3043823"/>
          <a:ext cx="6661150" cy="158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7" name="Equation" r:id="rId3" imgW="4064000" imgH="965200" progId="Equation.DSMT4">
                  <p:embed/>
                </p:oleObj>
              </mc:Choice>
              <mc:Fallback>
                <p:oleObj name="Equation" r:id="rId3" imgW="4064000" imgH="965200" progId="Equation.DSMT4">
                  <p:embed/>
                  <p:pic>
                    <p:nvPicPr>
                      <p:cNvPr id="1537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154" y="3043823"/>
                        <a:ext cx="6661150" cy="158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Rectangle 5"/>
          <p:cNvSpPr>
            <a:spLocks noChangeArrowheads="1"/>
          </p:cNvSpPr>
          <p:nvPr/>
        </p:nvSpPr>
        <p:spPr bwMode="auto">
          <a:xfrm>
            <a:off x="462747" y="1027948"/>
            <a:ext cx="81518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定理 </a:t>
            </a:r>
            <a:r>
              <a:rPr lang="en-US" altLang="zh-CN" sz="2400" b="1" dirty="0">
                <a:solidFill>
                  <a:srgbClr val="0000FF"/>
                </a:solidFill>
              </a:rPr>
              <a:t>4 (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表示定理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) </a:t>
            </a:r>
            <a:r>
              <a:rPr lang="zh-CN" altLang="en-US" sz="2400" b="1" dirty="0"/>
              <a:t>若多面体</a:t>
            </a:r>
            <a:r>
              <a:rPr lang="en-US" altLang="zh-CN" sz="2400" b="1" i="1" dirty="0"/>
              <a:t>P</a:t>
            </a:r>
            <a:r>
              <a:rPr lang="en-US" altLang="zh-CN" sz="2400" b="1" dirty="0"/>
              <a:t>={</a:t>
            </a:r>
            <a:r>
              <a:rPr lang="en-US" altLang="zh-CN" sz="2400" b="1" i="1" dirty="0" err="1"/>
              <a:t>x</a:t>
            </a:r>
            <a:r>
              <a:rPr lang="en-US" altLang="zh-CN" sz="2400" b="1" dirty="0" err="1">
                <a:latin typeface="Symbol" panose="05050102010706020507" pitchFamily="18" charset="2"/>
                <a:sym typeface="Euclid Math Two" panose="02050601010101010101" pitchFamily="18" charset="2"/>
              </a:rPr>
              <a:t></a:t>
            </a:r>
            <a:r>
              <a:rPr lang="en-US" altLang="zh-CN" sz="2400" b="1" i="1" dirty="0" err="1">
                <a:sym typeface="Euclid Math Two" panose="02050601010101010101" pitchFamily="18" charset="2"/>
              </a:rPr>
              <a:t>R</a:t>
            </a:r>
            <a:r>
              <a:rPr lang="en-US" altLang="zh-CN" sz="2400" b="1" i="1" baseline="30000" dirty="0" err="1">
                <a:sym typeface="Euclid Math Two" panose="02050601010101010101" pitchFamily="18" charset="2"/>
              </a:rPr>
              <a:t>n</a:t>
            </a:r>
            <a:r>
              <a:rPr lang="en-US" altLang="zh-CN" sz="2400" b="1" dirty="0" err="1">
                <a:sym typeface="Euclid Math Two" panose="02050601010101010101" pitchFamily="18" charset="2"/>
              </a:rPr>
              <a:t>|</a:t>
            </a:r>
            <a:r>
              <a:rPr lang="en-US" altLang="zh-CN" sz="2400" b="1" i="1" dirty="0" err="1">
                <a:sym typeface="Euclid Math Two" panose="02050601010101010101" pitchFamily="18" charset="2"/>
              </a:rPr>
              <a:t>Ax</a:t>
            </a:r>
            <a:r>
              <a:rPr lang="en-US" altLang="zh-CN" sz="2400" b="1" dirty="0" err="1">
                <a:latin typeface="Symbol" panose="05050102010706020507" pitchFamily="18" charset="2"/>
                <a:sym typeface="Euclid Math Two" panose="02050601010101010101" pitchFamily="18" charset="2"/>
              </a:rPr>
              <a:t></a:t>
            </a:r>
            <a:r>
              <a:rPr lang="en-US" altLang="zh-CN" sz="2400" b="1" i="1" dirty="0" err="1">
                <a:sym typeface="Euclid Math Two" panose="02050601010101010101" pitchFamily="18" charset="2"/>
              </a:rPr>
              <a:t>b</a:t>
            </a:r>
            <a:r>
              <a:rPr lang="en-US" altLang="zh-CN" sz="2400" b="1" dirty="0">
                <a:sym typeface="Euclid Math Two" panose="02050601010101010101" pitchFamily="18" charset="2"/>
              </a:rPr>
              <a:t>}</a:t>
            </a:r>
            <a:r>
              <a:rPr lang="en-US" altLang="zh-CN" sz="2400" b="1" dirty="0">
                <a:sym typeface="Euclid Symbol" panose="05050102010706020507" pitchFamily="18" charset="2"/>
              </a:rPr>
              <a:t>, r(</a:t>
            </a:r>
            <a:r>
              <a:rPr lang="en-US" altLang="zh-CN" sz="2400" b="1" i="1" dirty="0">
                <a:sym typeface="Euclid Symbol" panose="05050102010706020507" pitchFamily="18" charset="2"/>
              </a:rPr>
              <a:t>A</a:t>
            </a:r>
            <a:r>
              <a:rPr lang="en-US" altLang="zh-CN" sz="2400" b="1" dirty="0">
                <a:sym typeface="Euclid Symbol" panose="05050102010706020507" pitchFamily="18" charset="2"/>
              </a:rPr>
              <a:t>)=</a:t>
            </a:r>
            <a:r>
              <a:rPr lang="en-US" altLang="zh-CN" sz="2400" b="1" i="1" dirty="0">
                <a:sym typeface="Euclid Symbol" panose="05050102010706020507" pitchFamily="18" charset="2"/>
              </a:rPr>
              <a:t>n,  </a:t>
            </a:r>
            <a:r>
              <a:rPr lang="zh-CN" altLang="en-US" sz="2400" b="1" dirty="0">
                <a:sym typeface="Euclid Symbol" panose="05050102010706020507" pitchFamily="18" charset="2"/>
              </a:rPr>
              <a:t>则</a:t>
            </a:r>
            <a:r>
              <a:rPr lang="en-US" altLang="zh-CN" sz="2400" b="1" dirty="0">
                <a:sym typeface="Euclid Symbol" panose="05050102010706020507" pitchFamily="18" charset="2"/>
              </a:rPr>
              <a:t>:</a:t>
            </a:r>
          </a:p>
        </p:txBody>
      </p:sp>
      <p:sp>
        <p:nvSpPr>
          <p:cNvPr id="15378" name="Rectangle 7"/>
          <p:cNvSpPr>
            <a:spLocks noChangeArrowheads="1"/>
          </p:cNvSpPr>
          <p:nvPr/>
        </p:nvSpPr>
        <p:spPr bwMode="auto">
          <a:xfrm>
            <a:off x="571500" y="1792153"/>
            <a:ext cx="7956483" cy="46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400" b="1" dirty="0">
                <a:sym typeface="Euclid Symbol" panose="05050102010706020507" pitchFamily="18" charset="2"/>
              </a:rPr>
              <a:t>(1)P</a:t>
            </a:r>
            <a:r>
              <a:rPr lang="zh-CN" altLang="en-US" sz="2400" b="1" dirty="0">
                <a:sym typeface="Euclid Symbol" panose="05050102010706020507" pitchFamily="18" charset="2"/>
              </a:rPr>
              <a:t>的极点集是非空的有限集合</a:t>
            </a:r>
            <a:r>
              <a:rPr lang="en-US" altLang="zh-CN" sz="2400" b="1" dirty="0">
                <a:sym typeface="Euclid Symbol" panose="05050102010706020507" pitchFamily="18" charset="2"/>
              </a:rPr>
              <a:t>,</a:t>
            </a:r>
            <a:r>
              <a:rPr lang="zh-CN" altLang="en-US" sz="2400" b="1" dirty="0">
                <a:sym typeface="Euclid Symbol" panose="05050102010706020507" pitchFamily="18" charset="2"/>
              </a:rPr>
              <a:t>记为</a:t>
            </a:r>
            <a:r>
              <a:rPr lang="en-US" altLang="zh-CN" sz="2400" b="1" dirty="0">
                <a:sym typeface="Euclid Symbol" panose="05050102010706020507" pitchFamily="18" charset="2"/>
              </a:rPr>
              <a:t>{</a:t>
            </a:r>
            <a:r>
              <a:rPr lang="en-US" altLang="zh-CN" sz="2400" b="1" i="1" dirty="0" err="1">
                <a:sym typeface="Euclid Symbol" panose="05050102010706020507" pitchFamily="18" charset="2"/>
              </a:rPr>
              <a:t>x</a:t>
            </a:r>
            <a:r>
              <a:rPr lang="en-US" altLang="zh-CN" sz="2400" b="1" i="1" baseline="30000" dirty="0" err="1">
                <a:sym typeface="Euclid Symbol" panose="05050102010706020507" pitchFamily="18" charset="2"/>
              </a:rPr>
              <a:t>k</a:t>
            </a:r>
            <a:r>
              <a:rPr lang="en-US" altLang="zh-CN" sz="2400" b="1" i="1" baseline="30000" dirty="0">
                <a:sym typeface="Euclid Symbol" panose="05050102010706020507" pitchFamily="18" charset="2"/>
              </a:rPr>
              <a:t> </a:t>
            </a:r>
            <a:r>
              <a:rPr lang="zh-CN" altLang="en-US" sz="2400" b="1" dirty="0">
                <a:sym typeface="Euclid Symbol" panose="05050102010706020507" pitchFamily="18" charset="2"/>
              </a:rPr>
              <a:t>：</a:t>
            </a:r>
            <a:r>
              <a:rPr lang="en-US" altLang="zh-CN" sz="2400" b="1" i="1" dirty="0" err="1">
                <a:sym typeface="Euclid Symbol" panose="05050102010706020507" pitchFamily="18" charset="2"/>
              </a:rPr>
              <a:t>k</a:t>
            </a:r>
            <a:r>
              <a:rPr lang="en-US" altLang="zh-CN" sz="2400" b="1" i="1" dirty="0" err="1">
                <a:sym typeface="Euclid Math Two" panose="02050601010101010101" pitchFamily="18" charset="2"/>
              </a:rPr>
              <a:t>K</a:t>
            </a:r>
            <a:r>
              <a:rPr lang="en-US" altLang="zh-CN" sz="2400" b="1" dirty="0">
                <a:sym typeface="Euclid Symbol" panose="05050102010706020507" pitchFamily="18" charset="2"/>
              </a:rPr>
              <a:t>}</a:t>
            </a:r>
            <a:endParaRPr lang="en-US" altLang="zh-CN" sz="2400" b="1" i="1" dirty="0">
              <a:sym typeface="Euclid Math Two" panose="02050601010101010101" pitchFamily="18" charset="2"/>
            </a:endParaRPr>
          </a:p>
        </p:txBody>
      </p:sp>
      <p:sp>
        <p:nvSpPr>
          <p:cNvPr id="15380" name="Rectangle 9"/>
          <p:cNvSpPr>
            <a:spLocks noChangeArrowheads="1"/>
          </p:cNvSpPr>
          <p:nvPr/>
        </p:nvSpPr>
        <p:spPr bwMode="auto">
          <a:xfrm>
            <a:off x="7060085" y="1972978"/>
            <a:ext cx="190744" cy="2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1" i="1" dirty="0">
              <a:sym typeface="Euclid Math Two" panose="02050601010101010101" pitchFamily="18" charset="2"/>
            </a:endParaRPr>
          </a:p>
        </p:txBody>
      </p:sp>
      <p:grpSp>
        <p:nvGrpSpPr>
          <p:cNvPr id="15370" name="Group 11"/>
          <p:cNvGrpSpPr>
            <a:grpSpLocks/>
          </p:cNvGrpSpPr>
          <p:nvPr/>
        </p:nvGrpSpPr>
        <p:grpSpPr bwMode="auto">
          <a:xfrm>
            <a:off x="588075" y="2245732"/>
            <a:ext cx="7815263" cy="977901"/>
            <a:chOff x="328" y="1445"/>
            <a:chExt cx="4923" cy="616"/>
          </a:xfrm>
        </p:grpSpPr>
        <p:sp>
          <p:nvSpPr>
            <p:cNvPr id="15373" name="Rectangle 12"/>
            <p:cNvSpPr>
              <a:spLocks noChangeArrowheads="1"/>
            </p:cNvSpPr>
            <p:nvPr/>
          </p:nvSpPr>
          <p:spPr bwMode="auto">
            <a:xfrm>
              <a:off x="2303" y="1616"/>
              <a:ext cx="11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400" b="1" i="1" dirty="0">
                <a:sym typeface="Euclid Symbol" panose="05050102010706020507" pitchFamily="18" charset="2"/>
              </a:endParaRPr>
            </a:p>
          </p:txBody>
        </p:sp>
        <p:grpSp>
          <p:nvGrpSpPr>
            <p:cNvPr id="15374" name="Group 13"/>
            <p:cNvGrpSpPr>
              <a:grpSpLocks/>
            </p:cNvGrpSpPr>
            <p:nvPr/>
          </p:nvGrpSpPr>
          <p:grpSpPr bwMode="auto">
            <a:xfrm>
              <a:off x="328" y="1445"/>
              <a:ext cx="4923" cy="616"/>
              <a:chOff x="373" y="1430"/>
              <a:chExt cx="4923" cy="616"/>
            </a:xfrm>
          </p:grpSpPr>
          <p:sp>
            <p:nvSpPr>
              <p:cNvPr id="15376" name="Rectangle 14"/>
              <p:cNvSpPr>
                <a:spLocks noChangeArrowheads="1"/>
              </p:cNvSpPr>
              <p:nvPr/>
            </p:nvSpPr>
            <p:spPr bwMode="auto">
              <a:xfrm>
                <a:off x="373" y="1430"/>
                <a:ext cx="4923" cy="5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ym typeface="Euclid Symbol" panose="05050102010706020507" pitchFamily="18" charset="2"/>
                  </a:rPr>
                  <a:t>(2)</a:t>
                </a:r>
                <a:r>
                  <a:rPr lang="zh-CN" altLang="en-US" sz="2400" b="1" dirty="0">
                    <a:sym typeface="Euclid Symbol" panose="05050102010706020507" pitchFamily="18" charset="2"/>
                  </a:rPr>
                  <a:t>记</a:t>
                </a:r>
                <a:r>
                  <a:rPr lang="en-US" altLang="zh-CN" sz="2400" b="1" dirty="0">
                    <a:sym typeface="Euclid Symbol" panose="05050102010706020507" pitchFamily="18" charset="2"/>
                  </a:rPr>
                  <a:t>P</a:t>
                </a:r>
                <a:r>
                  <a:rPr lang="zh-CN" altLang="en-US" sz="2400" b="1" dirty="0">
                    <a:sym typeface="Euclid Symbol" panose="05050102010706020507" pitchFamily="18" charset="2"/>
                  </a:rPr>
                  <a:t>的极方向集为</a:t>
                </a:r>
                <a:r>
                  <a:rPr lang="en-US" altLang="zh-CN" sz="2400" b="1" dirty="0">
                    <a:sym typeface="Euclid Symbol" panose="05050102010706020507" pitchFamily="18" charset="2"/>
                  </a:rPr>
                  <a:t>{</a:t>
                </a:r>
                <a:r>
                  <a:rPr lang="en-US" altLang="zh-CN" sz="2400" b="1" i="1" dirty="0">
                    <a:sym typeface="Euclid Symbol" panose="05050102010706020507" pitchFamily="18" charset="2"/>
                  </a:rPr>
                  <a:t>d </a:t>
                </a:r>
                <a:r>
                  <a:rPr lang="en-US" altLang="zh-CN" sz="2400" b="1" i="1" baseline="30000" dirty="0">
                    <a:sym typeface="Euclid Symbol" panose="05050102010706020507" pitchFamily="18" charset="2"/>
                  </a:rPr>
                  <a:t>j</a:t>
                </a:r>
                <a:r>
                  <a:rPr lang="en-US" altLang="zh-CN" sz="2400" b="1" i="1" dirty="0">
                    <a:sym typeface="Euclid Symbol" panose="05050102010706020507" pitchFamily="18" charset="2"/>
                  </a:rPr>
                  <a:t> </a:t>
                </a:r>
                <a:r>
                  <a:rPr lang="zh-CN" altLang="en-US" sz="2400" b="1" dirty="0">
                    <a:sym typeface="Euclid Symbol" panose="05050102010706020507" pitchFamily="18" charset="2"/>
                  </a:rPr>
                  <a:t>：</a:t>
                </a:r>
                <a:r>
                  <a:rPr lang="en-US" altLang="zh-CN" sz="2400" b="1" i="1" dirty="0" err="1">
                    <a:sym typeface="Euclid Symbol" panose="05050102010706020507" pitchFamily="18" charset="2"/>
                  </a:rPr>
                  <a:t>j</a:t>
                </a:r>
                <a:r>
                  <a:rPr lang="en-US" altLang="zh-CN" sz="2400" b="1" i="1" dirty="0" err="1">
                    <a:sym typeface="Euclid Math Two" panose="02050601010101010101" pitchFamily="18" charset="2"/>
                  </a:rPr>
                  <a:t>J</a:t>
                </a:r>
                <a:r>
                  <a:rPr lang="en-US" altLang="zh-CN" sz="2400" b="1" i="1" dirty="0">
                    <a:sym typeface="Euclid Math Two" panose="02050601010101010101" pitchFamily="18" charset="2"/>
                  </a:rPr>
                  <a:t> </a:t>
                </a:r>
                <a:r>
                  <a:rPr lang="en-US" altLang="zh-CN" sz="2400" b="1" dirty="0">
                    <a:sym typeface="Euclid Symbol" panose="05050102010706020507" pitchFamily="18" charset="2"/>
                  </a:rPr>
                  <a:t>} </a:t>
                </a:r>
                <a:r>
                  <a:rPr lang="zh-CN" altLang="en-US" sz="2400" b="1" dirty="0">
                    <a:sym typeface="Euclid Symbol" panose="05050102010706020507" pitchFamily="18" charset="2"/>
                  </a:rPr>
                  <a:t>，约定</a:t>
                </a:r>
                <a:r>
                  <a:rPr lang="en-US" altLang="zh-CN" sz="2400" b="1" dirty="0">
                    <a:sym typeface="Euclid Symbol" panose="05050102010706020507" pitchFamily="18" charset="2"/>
                  </a:rPr>
                  <a:t>P</a:t>
                </a:r>
                <a:r>
                  <a:rPr lang="zh-CN" altLang="en-US" sz="2400" b="1" dirty="0">
                    <a:sym typeface="Euclid Symbol" panose="05050102010706020507" pitchFamily="18" charset="2"/>
                  </a:rPr>
                  <a:t>不存在极方向时</a:t>
                </a:r>
                <a:r>
                  <a:rPr lang="en-US" altLang="zh-CN" sz="2400" b="1" dirty="0">
                    <a:sym typeface="Euclid Symbol" panose="05050102010706020507" pitchFamily="18" charset="2"/>
                  </a:rPr>
                  <a:t>J=</a:t>
                </a:r>
                <a:r>
                  <a:rPr lang="zh-CN" altLang="en-US" sz="2400" b="1" dirty="0">
                    <a:sym typeface="Euclid Symbol" panose="05050102010706020507" pitchFamily="18" charset="2"/>
                  </a:rPr>
                  <a:t>，则有</a:t>
                </a:r>
                <a:endParaRPr lang="en-US" altLang="zh-CN" sz="2400" b="1" i="1" dirty="0">
                  <a:sym typeface="Euclid Math Two" panose="02050601010101010101" pitchFamily="18" charset="2"/>
                </a:endParaRPr>
              </a:p>
            </p:txBody>
          </p:sp>
          <p:sp>
            <p:nvSpPr>
              <p:cNvPr id="15377" name="Rectangle 15"/>
              <p:cNvSpPr>
                <a:spLocks noChangeArrowheads="1"/>
              </p:cNvSpPr>
              <p:nvPr/>
            </p:nvSpPr>
            <p:spPr bwMode="auto">
              <a:xfrm>
                <a:off x="2727" y="1755"/>
                <a:ext cx="11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zh-CN" sz="2400" b="1" i="1" dirty="0">
                  <a:sym typeface="Euclid Math Two" panose="02050601010101010101" pitchFamily="18" charset="2"/>
                </a:endParaRPr>
              </a:p>
            </p:txBody>
          </p:sp>
        </p:grpSp>
      </p:grpSp>
      <p:sp>
        <p:nvSpPr>
          <p:cNvPr id="15372" name="矩形 20"/>
          <p:cNvSpPr>
            <a:spLocks noChangeArrowheads="1"/>
          </p:cNvSpPr>
          <p:nvPr/>
        </p:nvSpPr>
        <p:spPr bwMode="auto">
          <a:xfrm>
            <a:off x="565935" y="4879557"/>
            <a:ext cx="7715250" cy="87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ea typeface="+mn-ea"/>
                <a:cs typeface="Times New Roman" panose="02020603050405020304" pitchFamily="18" charset="0"/>
              </a:rPr>
              <a:t>即</a:t>
            </a:r>
            <a:r>
              <a:rPr lang="zh-CN" altLang="en-US" sz="2400" b="1" i="1" dirty="0"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400" b="1" i="1" dirty="0" err="1"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ea typeface="+mn-ea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ea typeface="+mn-ea"/>
                <a:cs typeface="Times New Roman" panose="02020603050405020304" pitchFamily="18" charset="0"/>
              </a:rPr>
              <a:t>当且仅当 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ea typeface="+mn-ea"/>
                <a:cs typeface="Times New Roman" panose="02020603050405020304" pitchFamily="18" charset="0"/>
              </a:rPr>
              <a:t>可以表为 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ea typeface="+mn-ea"/>
                <a:cs typeface="Times New Roman" panose="02020603050405020304" pitchFamily="18" charset="0"/>
              </a:rPr>
              <a:t>, …, </a:t>
            </a:r>
            <a:r>
              <a:rPr lang="en-US" altLang="zh-CN" sz="2400" b="1" i="1" dirty="0" err="1"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 err="1">
                <a:ea typeface="+mn-ea"/>
                <a:cs typeface="Times New Roman" panose="02020603050405020304" pitchFamily="18" charset="0"/>
              </a:rPr>
              <a:t>k</a:t>
            </a:r>
            <a:r>
              <a:rPr lang="en-US" altLang="zh-CN" sz="2400" b="1" dirty="0"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ea typeface="+mn-ea"/>
                <a:cs typeface="Times New Roman" panose="02020603050405020304" pitchFamily="18" charset="0"/>
              </a:rPr>
              <a:t>的凸组合和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="1" i="1" baseline="-25000" dirty="0"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ea typeface="+mn-ea"/>
                <a:cs typeface="Times New Roman" panose="02020603050405020304" pitchFamily="18" charset="0"/>
              </a:rPr>
              <a:t>, …, 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="1" i="1" baseline="-25000" dirty="0">
                <a:ea typeface="+mn-ea"/>
                <a:cs typeface="Times New Roman" panose="02020603050405020304" pitchFamily="18" charset="0"/>
              </a:rPr>
              <a:t>l</a:t>
            </a:r>
            <a:r>
              <a:rPr lang="zh-CN" altLang="en-US" sz="2400" b="1" dirty="0">
                <a:ea typeface="+mn-ea"/>
                <a:cs typeface="Times New Roman" panose="02020603050405020304" pitchFamily="18" charset="0"/>
              </a:rPr>
              <a:t>的非负线性组合。</a:t>
            </a:r>
            <a:endParaRPr lang="en-US" altLang="zh-CN" sz="2400" b="1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C89DFCF4-F0F9-483A-9FE1-79A12C015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318" y="5735755"/>
            <a:ext cx="8208962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 dirty="0"/>
              <a:t>(3)</a:t>
            </a:r>
            <a:r>
              <a:rPr lang="zh-CN" altLang="en-US" sz="2400" b="1" dirty="0"/>
              <a:t>指标集</a:t>
            </a:r>
            <a:r>
              <a:rPr lang="en-US" altLang="zh-CN" sz="2400" b="1" dirty="0"/>
              <a:t>J</a:t>
            </a:r>
            <a:r>
              <a:rPr lang="zh-CN" altLang="en-US" sz="2400" b="1" dirty="0"/>
              <a:t>是空集当且仅当</a:t>
            </a:r>
            <a:r>
              <a:rPr lang="en-US" altLang="zh-CN" sz="2400" b="1" dirty="0"/>
              <a:t>P</a:t>
            </a:r>
            <a:r>
              <a:rPr lang="zh-CN" altLang="en-US" sz="2400" b="1" dirty="0"/>
              <a:t>是有界集合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即多胞形</a:t>
            </a:r>
            <a:r>
              <a:rPr lang="en-US" altLang="zh-CN" sz="2400" b="1" dirty="0"/>
              <a:t>.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1</a:t>
            </a:r>
            <a:r>
              <a:rPr lang="en-US" altLang="zh-CN" sz="4000" dirty="0"/>
              <a:t> </a:t>
            </a:r>
            <a:r>
              <a:rPr lang="zh-CN" altLang="en-US" sz="3600" dirty="0">
                <a:ea typeface="楷体_GB2312" pitchFamily="49" charset="-122"/>
              </a:rPr>
              <a:t>凸集</a:t>
            </a:r>
            <a:endParaRPr lang="zh-CN" altLang="en-US" sz="3200" dirty="0"/>
          </a:p>
        </p:txBody>
      </p:sp>
      <p:grpSp>
        <p:nvGrpSpPr>
          <p:cNvPr id="16390" name="Group 5"/>
          <p:cNvGrpSpPr>
            <a:grpSpLocks/>
          </p:cNvGrpSpPr>
          <p:nvPr/>
        </p:nvGrpSpPr>
        <p:grpSpPr bwMode="auto">
          <a:xfrm>
            <a:off x="890404" y="2229903"/>
            <a:ext cx="6924675" cy="2254250"/>
            <a:chOff x="593" y="2387"/>
            <a:chExt cx="4600" cy="1649"/>
          </a:xfrm>
        </p:grpSpPr>
        <p:sp>
          <p:nvSpPr>
            <p:cNvPr id="16393" name="Line 6"/>
            <p:cNvSpPr>
              <a:spLocks noChangeShapeType="1"/>
            </p:cNvSpPr>
            <p:nvPr/>
          </p:nvSpPr>
          <p:spPr bwMode="auto">
            <a:xfrm flipV="1">
              <a:off x="1247" y="2387"/>
              <a:ext cx="1769" cy="45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394" name="Line 7"/>
            <p:cNvSpPr>
              <a:spLocks noChangeShapeType="1"/>
            </p:cNvSpPr>
            <p:nvPr/>
          </p:nvSpPr>
          <p:spPr bwMode="auto">
            <a:xfrm flipH="1">
              <a:off x="839" y="2840"/>
              <a:ext cx="408" cy="59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395" name="Line 8"/>
            <p:cNvSpPr>
              <a:spLocks noChangeShapeType="1"/>
            </p:cNvSpPr>
            <p:nvPr/>
          </p:nvSpPr>
          <p:spPr bwMode="auto">
            <a:xfrm>
              <a:off x="839" y="3430"/>
              <a:ext cx="816" cy="5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396" name="Line 9"/>
            <p:cNvSpPr>
              <a:spLocks noChangeShapeType="1"/>
            </p:cNvSpPr>
            <p:nvPr/>
          </p:nvSpPr>
          <p:spPr bwMode="auto">
            <a:xfrm rot="209624">
              <a:off x="1655" y="4020"/>
              <a:ext cx="1905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397" name="Line 10"/>
            <p:cNvSpPr>
              <a:spLocks noChangeShapeType="1"/>
            </p:cNvSpPr>
            <p:nvPr/>
          </p:nvSpPr>
          <p:spPr bwMode="auto">
            <a:xfrm>
              <a:off x="1247" y="2840"/>
              <a:ext cx="408" cy="113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398" name="Line 11"/>
            <p:cNvSpPr>
              <a:spLocks noChangeShapeType="1"/>
            </p:cNvSpPr>
            <p:nvPr/>
          </p:nvSpPr>
          <p:spPr bwMode="auto">
            <a:xfrm flipV="1">
              <a:off x="1383" y="2886"/>
              <a:ext cx="1542" cy="36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399" name="Oval 12"/>
            <p:cNvSpPr>
              <a:spLocks noChangeArrowheads="1"/>
            </p:cNvSpPr>
            <p:nvPr/>
          </p:nvSpPr>
          <p:spPr bwMode="auto">
            <a:xfrm>
              <a:off x="2880" y="2840"/>
              <a:ext cx="91" cy="9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33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6400" name="Oval 13"/>
            <p:cNvSpPr>
              <a:spLocks noChangeArrowheads="1"/>
            </p:cNvSpPr>
            <p:nvPr/>
          </p:nvSpPr>
          <p:spPr bwMode="auto">
            <a:xfrm>
              <a:off x="1375" y="3224"/>
              <a:ext cx="46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33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6401" name="Rectangle 14"/>
            <p:cNvSpPr>
              <a:spLocks noChangeArrowheads="1"/>
            </p:cNvSpPr>
            <p:nvPr/>
          </p:nvSpPr>
          <p:spPr bwMode="auto">
            <a:xfrm>
              <a:off x="2799" y="2840"/>
              <a:ext cx="22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</a:p>
          </p:txBody>
        </p:sp>
        <p:sp>
          <p:nvSpPr>
            <p:cNvPr id="16402" name="Rectangle 15"/>
            <p:cNvSpPr>
              <a:spLocks noChangeArrowheads="1"/>
            </p:cNvSpPr>
            <p:nvPr/>
          </p:nvSpPr>
          <p:spPr bwMode="auto">
            <a:xfrm>
              <a:off x="1196" y="3068"/>
              <a:ext cx="212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y</a:t>
              </a:r>
            </a:p>
          </p:txBody>
        </p:sp>
        <p:sp>
          <p:nvSpPr>
            <p:cNvPr id="16403" name="Rectangle 16"/>
            <p:cNvSpPr>
              <a:spLocks noChangeArrowheads="1"/>
            </p:cNvSpPr>
            <p:nvPr/>
          </p:nvSpPr>
          <p:spPr bwMode="auto">
            <a:xfrm>
              <a:off x="1103" y="2568"/>
              <a:ext cx="291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r>
                <a:rPr lang="en-US" altLang="zh-CN" sz="1600" i="1"/>
                <a:t>1</a:t>
              </a:r>
            </a:p>
          </p:txBody>
        </p:sp>
        <p:sp>
          <p:nvSpPr>
            <p:cNvPr id="16404" name="Rectangle 17"/>
            <p:cNvSpPr>
              <a:spLocks noChangeArrowheads="1"/>
            </p:cNvSpPr>
            <p:nvPr/>
          </p:nvSpPr>
          <p:spPr bwMode="auto">
            <a:xfrm>
              <a:off x="593" y="3249"/>
              <a:ext cx="291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r>
                <a:rPr lang="en-US" altLang="zh-CN" sz="1600" i="1"/>
                <a:t>2</a:t>
              </a:r>
            </a:p>
          </p:txBody>
        </p:sp>
        <p:sp>
          <p:nvSpPr>
            <p:cNvPr id="16405" name="Rectangle 18"/>
            <p:cNvSpPr>
              <a:spLocks noChangeArrowheads="1"/>
            </p:cNvSpPr>
            <p:nvPr/>
          </p:nvSpPr>
          <p:spPr bwMode="auto">
            <a:xfrm>
              <a:off x="1603" y="3702"/>
              <a:ext cx="291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x</a:t>
              </a:r>
              <a:r>
                <a:rPr lang="en-US" altLang="zh-CN" sz="1600" i="1"/>
                <a:t>3</a:t>
              </a:r>
            </a:p>
          </p:txBody>
        </p:sp>
        <p:sp>
          <p:nvSpPr>
            <p:cNvPr id="16406" name="Rectangle 19"/>
            <p:cNvSpPr>
              <a:spLocks noChangeArrowheads="1"/>
            </p:cNvSpPr>
            <p:nvPr/>
          </p:nvSpPr>
          <p:spPr bwMode="auto">
            <a:xfrm>
              <a:off x="4597" y="2915"/>
              <a:ext cx="291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d</a:t>
              </a:r>
              <a:r>
                <a:rPr lang="en-US" altLang="zh-CN" sz="1600" i="1"/>
                <a:t>1</a:t>
              </a:r>
            </a:p>
          </p:txBody>
        </p:sp>
        <p:sp>
          <p:nvSpPr>
            <p:cNvPr id="16407" name="Rectangle 20"/>
            <p:cNvSpPr>
              <a:spLocks noChangeArrowheads="1"/>
            </p:cNvSpPr>
            <p:nvPr/>
          </p:nvSpPr>
          <p:spPr bwMode="auto">
            <a:xfrm>
              <a:off x="4684" y="3368"/>
              <a:ext cx="291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d</a:t>
              </a:r>
              <a:r>
                <a:rPr lang="en-US" altLang="zh-CN" sz="1600" i="1"/>
                <a:t>2</a:t>
              </a:r>
            </a:p>
          </p:txBody>
        </p:sp>
        <p:sp>
          <p:nvSpPr>
            <p:cNvPr id="16408" name="Line 21"/>
            <p:cNvSpPr>
              <a:spLocks noChangeShapeType="1"/>
            </p:cNvSpPr>
            <p:nvPr/>
          </p:nvSpPr>
          <p:spPr bwMode="auto">
            <a:xfrm>
              <a:off x="4059" y="2523"/>
              <a:ext cx="0" cy="1406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09" name="Line 22"/>
            <p:cNvSpPr>
              <a:spLocks noChangeShapeType="1"/>
            </p:cNvSpPr>
            <p:nvPr/>
          </p:nvSpPr>
          <p:spPr bwMode="auto">
            <a:xfrm>
              <a:off x="3651" y="3339"/>
              <a:ext cx="1542" cy="0"/>
            </a:xfrm>
            <a:prstGeom prst="line">
              <a:avLst/>
            </a:prstGeom>
            <a:noFill/>
            <a:ln w="9525">
              <a:solidFill>
                <a:srgbClr val="0033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10" name="Line 23"/>
            <p:cNvSpPr>
              <a:spLocks noChangeShapeType="1"/>
            </p:cNvSpPr>
            <p:nvPr/>
          </p:nvSpPr>
          <p:spPr bwMode="auto">
            <a:xfrm flipV="1">
              <a:off x="4046" y="3113"/>
              <a:ext cx="907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highlight>
                  <a:srgbClr val="0000FF"/>
                </a:highlight>
              </a:endParaRPr>
            </a:p>
          </p:txBody>
        </p:sp>
        <p:sp>
          <p:nvSpPr>
            <p:cNvPr id="16411" name="Line 24"/>
            <p:cNvSpPr>
              <a:spLocks noChangeShapeType="1"/>
            </p:cNvSpPr>
            <p:nvPr/>
          </p:nvSpPr>
          <p:spPr bwMode="auto">
            <a:xfrm rot="209624">
              <a:off x="4059" y="3377"/>
              <a:ext cx="86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highlight>
                  <a:srgbClr val="0000FF"/>
                </a:highlight>
              </a:endParaRPr>
            </a:p>
          </p:txBody>
        </p:sp>
        <p:sp>
          <p:nvSpPr>
            <p:cNvPr id="16412" name="Rectangle 25"/>
            <p:cNvSpPr>
              <a:spLocks noChangeArrowheads="1"/>
            </p:cNvSpPr>
            <p:nvPr/>
          </p:nvSpPr>
          <p:spPr bwMode="auto">
            <a:xfrm>
              <a:off x="3842" y="3294"/>
              <a:ext cx="224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0</a:t>
              </a:r>
              <a:endParaRPr lang="en-US" altLang="zh-CN" sz="2400" i="1"/>
            </a:p>
          </p:txBody>
        </p:sp>
      </p:grpSp>
      <p:sp>
        <p:nvSpPr>
          <p:cNvPr id="16391" name="Rectangle 26"/>
          <p:cNvSpPr>
            <a:spLocks noChangeArrowheads="1"/>
          </p:cNvSpPr>
          <p:nvPr/>
        </p:nvSpPr>
        <p:spPr bwMode="auto">
          <a:xfrm>
            <a:off x="813636" y="1169921"/>
            <a:ext cx="68499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推论</a:t>
            </a:r>
            <a:r>
              <a:rPr lang="en-US" altLang="zh-CN" sz="2400" b="1" dirty="0"/>
              <a:t>1 </a:t>
            </a:r>
            <a:r>
              <a:rPr lang="zh-CN" altLang="en-US" sz="2400" b="1" dirty="0"/>
              <a:t>若多面体</a:t>
            </a:r>
            <a:r>
              <a:rPr lang="en-US" altLang="zh-CN" sz="2400" b="1" dirty="0"/>
              <a:t>S={</a:t>
            </a:r>
            <a:r>
              <a:rPr lang="en-US" altLang="zh-CN" sz="2400" b="1" dirty="0" err="1"/>
              <a:t>x|Ax</a:t>
            </a:r>
            <a:r>
              <a:rPr lang="en-US" altLang="zh-CN" sz="2400" b="1" dirty="0"/>
              <a:t>=b,x</a:t>
            </a:r>
            <a:r>
              <a:rPr lang="en-US" altLang="en-US" sz="2400" b="1" dirty="0">
                <a:sym typeface="Euclid Math Two" panose="02050601010101010101" pitchFamily="18" charset="2"/>
              </a:rPr>
              <a:t>≥</a:t>
            </a:r>
            <a:r>
              <a:rPr lang="en-US" altLang="zh-CN" sz="2400" b="1" dirty="0">
                <a:sym typeface="Euclid Math Two" panose="02050601010101010101" pitchFamily="18" charset="2"/>
              </a:rPr>
              <a:t>0}</a:t>
            </a:r>
            <a:r>
              <a:rPr lang="zh-CN" altLang="en-US" sz="2400" b="1" dirty="0">
                <a:sym typeface="Euclid Math Two" panose="02050601010101010101" pitchFamily="18" charset="2"/>
              </a:rPr>
              <a:t>非空</a:t>
            </a:r>
            <a:r>
              <a:rPr lang="en-US" altLang="zh-CN" sz="2400" b="1" dirty="0">
                <a:sym typeface="Euclid Math Two" panose="02050601010101010101" pitchFamily="18" charset="2"/>
              </a:rPr>
              <a:t>,</a:t>
            </a:r>
            <a:r>
              <a:rPr lang="zh-CN" altLang="en-US" sz="2400" b="1" dirty="0">
                <a:sym typeface="Euclid Math Two" panose="02050601010101010101" pitchFamily="18" charset="2"/>
              </a:rPr>
              <a:t>则</a:t>
            </a:r>
            <a:r>
              <a:rPr lang="en-US" altLang="zh-CN" sz="2400" b="1" dirty="0">
                <a:sym typeface="Euclid Math Two" panose="02050601010101010101" pitchFamily="18" charset="2"/>
              </a:rPr>
              <a:t>S</a:t>
            </a:r>
            <a:r>
              <a:rPr lang="zh-CN" altLang="en-US" sz="2400" b="1" dirty="0">
                <a:sym typeface="Euclid Math Two" panose="02050601010101010101" pitchFamily="18" charset="2"/>
              </a:rPr>
              <a:t>必有极点</a:t>
            </a:r>
            <a:r>
              <a:rPr lang="en-US" altLang="zh-CN" sz="2400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0F7B1-F0A4-4676-8C75-670C28EF7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/>
              <a:t>1</a:t>
            </a:r>
            <a:r>
              <a:rPr lang="en-US" altLang="zh-CN" sz="4000" dirty="0"/>
              <a:t> </a:t>
            </a:r>
            <a:r>
              <a:rPr lang="zh-CN" altLang="en-US" sz="3600" dirty="0">
                <a:ea typeface="楷体_GB2312" pitchFamily="49" charset="-122"/>
              </a:rPr>
              <a:t>凸集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BAFE0E-7FA5-46E1-B7F2-CBE3E5CE8300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548640" y="1099653"/>
                <a:ext cx="8229600" cy="4530725"/>
              </a:xfrm>
              <a:prstGeom prst="rect">
                <a:avLst/>
              </a:prstGeom>
            </p:spPr>
            <p:txBody>
              <a:bodyPr/>
              <a:lstStyle/>
              <a:p>
                <a:pPr algn="l"/>
                <a:r>
                  <a:rPr lang="zh-CN" altLang="en-US" sz="2400" b="0" i="0" u="none" strike="noStrike" baseline="0" dirty="0">
                    <a:solidFill>
                      <a:srgbClr val="0000FF"/>
                    </a:solidFill>
                    <a:latin typeface="gkaiu4e"/>
                  </a:rPr>
                  <a:t>仿</a:t>
                </a:r>
                <a:r>
                  <a:rPr lang="zh-CN" altLang="en-US" sz="2400" b="0" i="0" u="none" strike="noStrike" baseline="0" dirty="0">
                    <a:solidFill>
                      <a:srgbClr val="0000FF"/>
                    </a:solidFill>
                    <a:latin typeface="gkaiu5c"/>
                  </a:rPr>
                  <a:t>射</a:t>
                </a:r>
                <a:r>
                  <a:rPr lang="zh-CN" altLang="en-US" sz="2400" b="0" i="0" u="none" strike="noStrike" baseline="0" dirty="0">
                    <a:solidFill>
                      <a:srgbClr val="0000FF"/>
                    </a:solidFill>
                    <a:latin typeface="gkaiu53"/>
                  </a:rPr>
                  <a:t>变</a:t>
                </a:r>
                <a:r>
                  <a:rPr lang="zh-CN" altLang="en-US" sz="2400" b="0" i="0" u="none" strike="noStrike" baseline="0" dirty="0">
                    <a:solidFill>
                      <a:srgbClr val="0000FF"/>
                    </a:solidFill>
                    <a:latin typeface="gkaiu63"/>
                  </a:rPr>
                  <a:t>换</a:t>
                </a:r>
                <a:r>
                  <a:rPr lang="zh-CN" altLang="en-US" sz="2400" b="0" i="0" u="none" strike="noStrike" baseline="0" dirty="0">
                    <a:solidFill>
                      <a:srgbClr val="0000FF"/>
                    </a:solidFill>
                    <a:latin typeface="gkaiu76"/>
                  </a:rPr>
                  <a:t>的</a:t>
                </a:r>
                <a:r>
                  <a:rPr lang="zh-CN" altLang="en-US" sz="2400" b="0" i="0" u="none" strike="noStrike" baseline="0" dirty="0">
                    <a:solidFill>
                      <a:srgbClr val="0000FF"/>
                    </a:solidFill>
                    <a:latin typeface="gkaiu4f"/>
                  </a:rPr>
                  <a:t>保</a:t>
                </a:r>
                <a:r>
                  <a:rPr lang="zh-CN" altLang="en-US" sz="2400" b="0" i="0" u="none" strike="noStrike" baseline="0" dirty="0">
                    <a:solidFill>
                      <a:srgbClr val="0000FF"/>
                    </a:solidFill>
                    <a:latin typeface="gkaiu51"/>
                  </a:rPr>
                  <a:t>凸</a:t>
                </a:r>
                <a:r>
                  <a:rPr lang="zh-CN" altLang="en-US" sz="2400" b="0" i="0" u="none" strike="noStrike" baseline="0" dirty="0">
                    <a:solidFill>
                      <a:srgbClr val="0000FF"/>
                    </a:solidFill>
                    <a:latin typeface="gkaiu60"/>
                  </a:rPr>
                  <a:t>性</a:t>
                </a:r>
                <a:endParaRPr lang="en-US" altLang="zh-CN" sz="2400" b="0" i="0" u="none" strike="noStrike" baseline="0" dirty="0">
                  <a:solidFill>
                    <a:srgbClr val="0000FF"/>
                  </a:solidFill>
                  <a:latin typeface="gkaiu60"/>
                </a:endParaRPr>
              </a:p>
              <a:p>
                <a:pPr marL="0" indent="0">
                  <a:buNone/>
                </a:pP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8b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zh-CN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66"/>
                  </a:rPr>
                  <a:t>是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4e"/>
                  </a:rPr>
                  <a:t>仿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c"/>
                  </a:rPr>
                  <a:t>射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3"/>
                  </a:rPr>
                  <a:t>变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63"/>
                  </a:rPr>
                  <a:t>换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NimbusSanL-ReguItal"/>
                  </a:rPr>
                  <a:t>, 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3"/>
                  </a:rPr>
                  <a:t>即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(x) = Ax + b;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altLang="zh-CN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altLang="zh-CN" sz="24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NimbusSanL-ReguItal"/>
                  </a:rPr>
                  <a:t>, 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2"/>
                  </a:rPr>
                  <a:t>则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1"/>
                  </a:rPr>
                  <a:t>凸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96"/>
                  </a:rPr>
                  <a:t>集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7"/>
                  </a:rPr>
                  <a:t>在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NimbusRomNo9L-ReguItal"/>
                  </a:rPr>
                  <a:t>f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4e"/>
                  </a:rPr>
                  <a:t>下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76"/>
                  </a:rPr>
                  <a:t>的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0"/>
                  </a:rPr>
                  <a:t>像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66"/>
                  </a:rPr>
                  <a:t>是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1"/>
                  </a:rPr>
                  <a:t>凸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96"/>
                  </a:rPr>
                  <a:t>集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NimbusSanL-ReguItal"/>
                  </a:rPr>
                  <a:t>:</a:t>
                </a:r>
              </a:p>
              <a:p>
                <a:pPr marL="0" indent="0" algn="l">
                  <a:buNone/>
                </a:pP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NimbusRomNo9L-ReguItal"/>
                  </a:rPr>
                  <a:t>S</a:t>
                </a:r>
                <a14:m>
                  <m:oMath xmlns:m="http://schemas.openxmlformats.org/officeDocument/2006/math">
                    <m:r>
                      <a:rPr lang="en-US" altLang="zh-CN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altLang="zh-CN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NimbusRomNo9L-ReguItal"/>
                  </a:rPr>
                  <a:t> 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66"/>
                  </a:rPr>
                  <a:t>是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1"/>
                  </a:rPr>
                  <a:t>凸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96"/>
                  </a:rPr>
                  <a:t>集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CMSY10"/>
                    <a:sym typeface="Euclid Symbol" panose="05050102010706020507" pitchFamily="18" charset="2"/>
                  </a:rPr>
                  <a:t>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NimbusRomNo9L-ReguItal"/>
                  </a:rPr>
                  <a:t>f 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(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CMSY10"/>
                  </a:rPr>
                  <a:t>S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) = 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CMSY10"/>
                  </a:rPr>
                  <a:t>{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NimbusRomNo9L-ReguItal"/>
                  </a:rPr>
                  <a:t>f 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(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NimbusRomNo9L-ReguItal"/>
                  </a:rPr>
                  <a:t>x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)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CMSY10"/>
                  </a:rPr>
                  <a:t>|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NimbusRomNo9L-ReguItal"/>
                  </a:rPr>
                  <a:t>x 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CMSY10"/>
                    <a:sym typeface="Euclid Symbol" panose="05050102010706020507" pitchFamily="18" charset="2"/>
                  </a:rPr>
                  <a:t>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CMSY10"/>
                  </a:rPr>
                  <a:t> S}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66"/>
                  </a:rPr>
                  <a:t>是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1"/>
                  </a:rPr>
                  <a:t>凸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96"/>
                  </a:rPr>
                  <a:t>集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CMMI10"/>
                  </a:rPr>
                  <a:t>:</a:t>
                </a:r>
              </a:p>
              <a:p>
                <a:pPr marL="0" indent="0" algn="l">
                  <a:buNone/>
                </a:pP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1"/>
                  </a:rPr>
                  <a:t>凸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96"/>
                  </a:rPr>
                  <a:t>集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7"/>
                  </a:rPr>
                  <a:t>在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NimbusRomNo9L-ReguItal"/>
                  </a:rPr>
                  <a:t>f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4e"/>
                  </a:rPr>
                  <a:t>下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76"/>
                  </a:rPr>
                  <a:t>的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3"/>
                  </a:rPr>
                  <a:t>原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0"/>
                  </a:rPr>
                  <a:t>像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66"/>
                  </a:rPr>
                  <a:t>是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1"/>
                  </a:rPr>
                  <a:t>凸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96"/>
                  </a:rPr>
                  <a:t>集</a:t>
                </a:r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NimbusSanL-ReguItal"/>
                  </a:rPr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zh-CN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altLang="zh-CN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66"/>
                  </a:rPr>
                  <a:t>是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1"/>
                  </a:rPr>
                  <a:t>凸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96"/>
                  </a:rPr>
                  <a:t>集</a:t>
                </a:r>
                <a:r>
                  <a:rPr lang="en-US" altLang="zh-CN" sz="2400" b="0" dirty="0">
                    <a:solidFill>
                      <a:srgbClr val="000000"/>
                    </a:solidFill>
                    <a:latin typeface="CMSY10"/>
                    <a:sym typeface="Euclid Symbol" panose="05050102010706020507" pitchFamily="18" charset="2"/>
                  </a:rPr>
                  <a:t>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Euclid 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Euclid Symbol" panose="05050102010706020507" pitchFamily="18" charset="2"/>
                          </a:rPr>
                          <m:t>𝑓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Euclid Symbol" panose="05050102010706020507" pitchFamily="18" charset="2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Euclid 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Euclid Symbol" panose="05050102010706020507" pitchFamily="18" charset="2"/>
                          </a:rPr>
                          <m:t>𝐶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={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|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𝑓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)∈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Euclid Symbol" panose="05050102010706020507" pitchFamily="18" charset="2"/>
                      </a:rPr>
                      <m:t>𝐶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Euclid Symbol" panose="05050102010706020507" pitchFamily="18" charset="2"/>
                      </a:rPr>
                      <m:t>}</m:t>
                    </m:r>
                  </m:oMath>
                </a14:m>
                <a:r>
                  <a:rPr lang="en-US" altLang="zh-CN" sz="2400" b="0" i="0" u="none" strike="noStrike" baseline="0" dirty="0">
                    <a:solidFill>
                      <a:srgbClr val="000000"/>
                    </a:solidFill>
                    <a:latin typeface="CMSY10"/>
                  </a:rPr>
                  <a:t> 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66"/>
                  </a:rPr>
                  <a:t>是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51"/>
                  </a:rPr>
                  <a:t>凸</a:t>
                </a:r>
                <a:r>
                  <a:rPr lang="zh-CN" altLang="en-US" sz="2400" b="0" i="0" u="none" strike="noStrike" baseline="0" dirty="0">
                    <a:solidFill>
                      <a:srgbClr val="000000"/>
                    </a:solidFill>
                    <a:latin typeface="gkaiu96"/>
                  </a:rPr>
                  <a:t>集</a:t>
                </a:r>
                <a:r>
                  <a:rPr lang="en-US" altLang="zh-CN" sz="2400" b="0" dirty="0">
                    <a:solidFill>
                      <a:srgbClr val="000000"/>
                    </a:solidFill>
                    <a:latin typeface="gkaiu51"/>
                  </a:rPr>
                  <a:t>.</a:t>
                </a:r>
              </a:p>
              <a:p>
                <a:pPr marL="0" indent="0">
                  <a:buNone/>
                </a:pPr>
                <a:endParaRPr lang="en-US" altLang="zh-CN" sz="2400" b="0" dirty="0">
                  <a:solidFill>
                    <a:srgbClr val="000000"/>
                  </a:solidFill>
                  <a:latin typeface="gkaiu51"/>
                </a:endParaRPr>
              </a:p>
              <a:p>
                <a:pPr marL="0" indent="0">
                  <a:buNone/>
                </a:pPr>
                <a:r>
                  <a:rPr lang="zh-CN" altLang="en-US" sz="2400" b="0" i="0" u="none" strike="noStrike" baseline="0" dirty="0">
                    <a:latin typeface="gkaiu7e"/>
                  </a:rPr>
                  <a:t>线</a:t>
                </a:r>
                <a:r>
                  <a:rPr lang="zh-CN" altLang="en-US" sz="2400" b="0" i="0" u="none" strike="noStrike" baseline="0" dirty="0">
                    <a:latin typeface="gkaiu60"/>
                  </a:rPr>
                  <a:t>性</a:t>
                </a:r>
                <a:r>
                  <a:rPr lang="zh-CN" altLang="en-US" sz="2400" b="0" i="0" u="none" strike="noStrike" baseline="0" dirty="0">
                    <a:latin typeface="gkaiu77"/>
                  </a:rPr>
                  <a:t>矩</a:t>
                </a:r>
                <a:r>
                  <a:rPr lang="zh-CN" altLang="en-US" sz="2400" b="0" i="0" u="none" strike="noStrike" baseline="0" dirty="0">
                    <a:latin typeface="gkaiu96"/>
                  </a:rPr>
                  <a:t>阵</a:t>
                </a:r>
                <a:r>
                  <a:rPr lang="zh-CN" altLang="en-US" sz="2400" b="0" i="0" u="none" strike="noStrike" baseline="0" dirty="0">
                    <a:latin typeface="gkaiu4e"/>
                  </a:rPr>
                  <a:t>不</a:t>
                </a:r>
                <a:r>
                  <a:rPr lang="zh-CN" altLang="en-US" sz="2400" b="0" i="0" u="none" strike="noStrike" baseline="0" dirty="0">
                    <a:latin typeface="gkaiu7b"/>
                  </a:rPr>
                  <a:t>等</a:t>
                </a:r>
                <a:r>
                  <a:rPr lang="zh-CN" altLang="en-US" sz="2400" b="0" i="0" u="none" strike="noStrike" baseline="0" dirty="0">
                    <a:latin typeface="gkaiu5f"/>
                  </a:rPr>
                  <a:t>式</a:t>
                </a:r>
                <a:r>
                  <a:rPr lang="zh-CN" altLang="en-US" sz="2400" b="0" i="0" u="none" strike="noStrike" baseline="0" dirty="0">
                    <a:latin typeface="gkaiu76"/>
                  </a:rPr>
                  <a:t>的</a:t>
                </a:r>
                <a:r>
                  <a:rPr lang="zh-CN" altLang="en-US" sz="2400" b="0" i="0" u="none" strike="noStrike" baseline="0" dirty="0">
                    <a:latin typeface="gkaiu89"/>
                  </a:rPr>
                  <a:t>解</a:t>
                </a:r>
                <a:r>
                  <a:rPr lang="zh-CN" altLang="en-US" sz="2400" b="0" i="0" u="none" strike="noStrike" baseline="0" dirty="0">
                    <a:latin typeface="gkaiu96"/>
                  </a:rPr>
                  <a:t>集</a:t>
                </a:r>
                <a:endParaRPr lang="en-US" altLang="zh-CN" sz="2400" b="0" i="0" u="none" strike="noStrike" baseline="0" dirty="0">
                  <a:latin typeface="gkaiu96"/>
                </a:endParaRPr>
              </a:p>
              <a:p>
                <a:pPr marL="0" indent="0">
                  <a:buNone/>
                </a:pPr>
                <a:endParaRPr lang="en-US" altLang="zh-CN" sz="2800" b="0" dirty="0">
                  <a:latin typeface="gkaiu96"/>
                </a:endParaRPr>
              </a:p>
              <a:p>
                <a:pPr marL="0" indent="0">
                  <a:buNone/>
                </a:pPr>
                <a:r>
                  <a:rPr lang="zh-CN" altLang="en-US" sz="2400" b="0" dirty="0">
                    <a:latin typeface="gkaiu96"/>
                  </a:rPr>
                  <a:t>是凸集</a:t>
                </a:r>
                <a:endParaRPr lang="en-US" altLang="zh-CN" sz="2400" b="0" dirty="0">
                  <a:latin typeface="gkaiu96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BAFE0E-7FA5-46E1-B7F2-CBE3E5CE83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548640" y="1099653"/>
                <a:ext cx="8229600" cy="4530725"/>
              </a:xfrm>
              <a:prstGeom prst="rect">
                <a:avLst/>
              </a:prstGeom>
              <a:blipFill>
                <a:blip r:embed="rId2"/>
                <a:stretch>
                  <a:fillRect l="-1111" t="-1613" b="-13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C58B0B65-1661-46FB-A392-08EE91A88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801" y="4701828"/>
            <a:ext cx="6782149" cy="43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17321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1F4468-2591-4CC0-A77E-74BEAE7D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/>
              <a:t>1</a:t>
            </a:r>
            <a:r>
              <a:rPr lang="en-US" altLang="zh-CN" sz="4000" dirty="0"/>
              <a:t> </a:t>
            </a:r>
            <a:r>
              <a:rPr lang="zh-CN" altLang="en-US" sz="3600" dirty="0">
                <a:ea typeface="楷体_GB2312" pitchFamily="49" charset="-122"/>
              </a:rPr>
              <a:t>凸集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D80FE1-1EA1-43F9-B516-42A82BF9935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69508" y="898091"/>
            <a:ext cx="8229600" cy="4530725"/>
          </a:xfrm>
          <a:prstGeom prst="rect">
            <a:avLst/>
          </a:prstGeom>
        </p:spPr>
        <p:txBody>
          <a:bodyPr/>
          <a:lstStyle/>
          <a:p>
            <a:r>
              <a:rPr lang="zh-CN" altLang="en-US" sz="2400" dirty="0"/>
              <a:t>双曲锥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是凸集。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透视变换的保凸性 ： 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设集合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{(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 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|x ∈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400" i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t &gt;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0} 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是凸集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其透视变换所得的集合为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|x ∈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400" i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 &gt;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0} 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这个集合也是凸集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zh-CN" altLang="en-US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分式线性变换的保凸性 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若集合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4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x|x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∈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i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是凸集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则其分式线性变换所得的集合  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 {( 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b)/ (</a:t>
            </a:r>
            <a:r>
              <a:rPr lang="en-US" altLang="zh-CN" sz="24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aseline="30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 )|   x ∈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i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 </a:t>
            </a:r>
            <a:r>
              <a:rPr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A∈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i="1" baseline="30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lang="en-US" altLang="zh-CN" sz="2400" i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b∈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i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c∈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i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d∈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aseline="30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 &gt;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 }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是凸集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D8ED41C-2870-4B89-B922-590B291A5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20" y="1209754"/>
            <a:ext cx="4724643" cy="80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24748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600" b="1" dirty="0"/>
              <a:t>2 </a:t>
            </a:r>
            <a:r>
              <a:rPr lang="zh-CN" altLang="en-US" sz="3600" dirty="0">
                <a:ea typeface="楷体_GB2312" pitchFamily="49" charset="-122"/>
              </a:rPr>
              <a:t> 凸函数</a:t>
            </a:r>
          </a:p>
        </p:txBody>
      </p:sp>
      <p:sp>
        <p:nvSpPr>
          <p:cNvPr id="17414" name="Rectangle 4"/>
          <p:cNvSpPr>
            <a:spLocks noChangeArrowheads="1"/>
          </p:cNvSpPr>
          <p:nvPr/>
        </p:nvSpPr>
        <p:spPr bwMode="auto">
          <a:xfrm>
            <a:off x="250825" y="0"/>
            <a:ext cx="777716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/>
          </a:p>
        </p:txBody>
      </p:sp>
      <p:sp>
        <p:nvSpPr>
          <p:cNvPr id="17416" name="Rectangle 6"/>
          <p:cNvSpPr>
            <a:spLocks noChangeArrowheads="1"/>
          </p:cNvSpPr>
          <p:nvPr/>
        </p:nvSpPr>
        <p:spPr bwMode="auto">
          <a:xfrm>
            <a:off x="457184" y="1357930"/>
            <a:ext cx="8064500" cy="336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定义 </a:t>
            </a:r>
            <a:r>
              <a:rPr lang="en-US" altLang="zh-CN" sz="2800" dirty="0">
                <a:solidFill>
                  <a:srgbClr val="0000FF"/>
                </a:solidFill>
              </a:rPr>
              <a:t>9  </a:t>
            </a:r>
            <a:r>
              <a:rPr lang="zh-CN" altLang="en-US" sz="2800" dirty="0"/>
              <a:t>设</a:t>
            </a:r>
            <a:r>
              <a:rPr lang="en-US" altLang="zh-CN" sz="2800" dirty="0" err="1"/>
              <a:t>S</a:t>
            </a:r>
            <a:r>
              <a:rPr lang="en-US" altLang="zh-CN" sz="2800" dirty="0" err="1">
                <a:sym typeface="Symbol" panose="05050102010706020507" pitchFamily="18" charset="2"/>
              </a:rPr>
              <a:t></a:t>
            </a:r>
            <a:r>
              <a:rPr lang="en-US" altLang="zh-CN" sz="2800" i="1" dirty="0" err="1">
                <a:sym typeface="Symbol" panose="05050102010706020507" pitchFamily="18" charset="2"/>
              </a:rPr>
              <a:t>R</a:t>
            </a:r>
            <a:r>
              <a:rPr lang="en-US" altLang="zh-CN" sz="2800" i="1" baseline="30000" dirty="0" err="1"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sym typeface="Symbol" panose="05050102010706020507" pitchFamily="18" charset="2"/>
              </a:rPr>
              <a:t>是非空凸集</a:t>
            </a:r>
            <a:r>
              <a:rPr lang="en-US" altLang="zh-CN" sz="2800" dirty="0"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ym typeface="Symbol" panose="05050102010706020507" pitchFamily="18" charset="2"/>
              </a:rPr>
              <a:t>函数</a:t>
            </a:r>
            <a:r>
              <a:rPr lang="en-US" altLang="zh-CN" sz="2800" i="1" dirty="0">
                <a:sym typeface="Symbol" panose="05050102010706020507" pitchFamily="18" charset="2"/>
              </a:rPr>
              <a:t>f</a:t>
            </a:r>
            <a:r>
              <a:rPr lang="en-US" altLang="zh-CN" sz="2800" dirty="0">
                <a:sym typeface="Symbol" panose="05050102010706020507" pitchFamily="18" charset="2"/>
              </a:rPr>
              <a:t>:S</a:t>
            </a:r>
            <a:r>
              <a:rPr lang="en-US" altLang="zh-CN" sz="2800" dirty="0">
                <a:sym typeface="Euclid Extra" panose="02050502000505020303" pitchFamily="18" charset="2"/>
              </a:rPr>
              <a:t>R,</a:t>
            </a:r>
            <a:r>
              <a:rPr lang="zh-CN" altLang="en-US" sz="2800" dirty="0">
                <a:sym typeface="Euclid Extra" panose="02050502000505020303" pitchFamily="18" charset="2"/>
              </a:rPr>
              <a:t>若对任意</a:t>
            </a:r>
            <a:r>
              <a:rPr lang="en-US" altLang="zh-CN" sz="2800" b="1" i="1" dirty="0">
                <a:sym typeface="Euclid Extra" panose="02050502000505020303" pitchFamily="18" charset="2"/>
              </a:rPr>
              <a:t>x</a:t>
            </a:r>
            <a:r>
              <a:rPr lang="en-US" altLang="zh-CN" sz="2800" baseline="-25000" dirty="0">
                <a:sym typeface="Euclid Extra" panose="02050502000505020303" pitchFamily="18" charset="2"/>
              </a:rPr>
              <a:t>1</a:t>
            </a:r>
            <a:r>
              <a:rPr lang="en-US" altLang="zh-CN" sz="2800" i="1" dirty="0">
                <a:sym typeface="Euclid Extra" panose="02050502000505020303" pitchFamily="18" charset="2"/>
              </a:rPr>
              <a:t>, </a:t>
            </a:r>
            <a:r>
              <a:rPr lang="en-US" altLang="zh-CN" sz="2800" b="1" i="1" dirty="0">
                <a:sym typeface="Euclid Extra" panose="02050502000505020303" pitchFamily="18" charset="2"/>
              </a:rPr>
              <a:t>x</a:t>
            </a:r>
            <a:r>
              <a:rPr lang="en-US" altLang="zh-CN" sz="2800" baseline="-25000" dirty="0">
                <a:sym typeface="Euclid Extra" panose="02050502000505020303" pitchFamily="18" charset="2"/>
              </a:rPr>
              <a:t>2</a:t>
            </a:r>
            <a:r>
              <a:rPr lang="en-US" altLang="zh-CN" sz="2800" dirty="0">
                <a:sym typeface="Euclid Extra" panose="02050502000505020303" pitchFamily="18" charset="2"/>
              </a:rPr>
              <a:t>∈</a:t>
            </a:r>
            <a:r>
              <a:rPr lang="en-US" altLang="zh-CN" sz="2800" b="1" i="1" dirty="0">
                <a:sym typeface="Euclid Extra" panose="02050502000505020303" pitchFamily="18" charset="2"/>
              </a:rPr>
              <a:t>S,</a:t>
            </a:r>
            <a:r>
              <a:rPr lang="zh-CN" altLang="en-US" sz="2800" dirty="0">
                <a:sym typeface="Euclid Extra" panose="02050502000505020303" pitchFamily="18" charset="2"/>
              </a:rPr>
              <a:t>和每一</a:t>
            </a:r>
            <a:r>
              <a:rPr lang="en-US" altLang="zh-CN" sz="2800" dirty="0">
                <a:sym typeface="Euclid Extra" panose="02050502000505020303" pitchFamily="18" charset="2"/>
              </a:rPr>
              <a:t>λ∈(0, 1)</a:t>
            </a:r>
            <a:r>
              <a:rPr lang="zh-CN" altLang="en-US" sz="2800" dirty="0">
                <a:sym typeface="Euclid Extra" panose="02050502000505020303" pitchFamily="18" charset="2"/>
              </a:rPr>
              <a:t>都有</a:t>
            </a: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Euclid Extra" panose="02050502000505020303" pitchFamily="18" charset="2"/>
              </a:rPr>
              <a:t>         </a:t>
            </a:r>
            <a:r>
              <a:rPr lang="en-US" altLang="zh-CN" sz="2800" i="1" dirty="0">
                <a:sym typeface="Euclid Extra" panose="02050502000505020303" pitchFamily="18" charset="2"/>
              </a:rPr>
              <a:t>f</a:t>
            </a:r>
            <a:r>
              <a:rPr lang="en-US" altLang="zh-CN" sz="2800" dirty="0">
                <a:sym typeface="Euclid Extra" panose="02050502000505020303" pitchFamily="18" charset="2"/>
              </a:rPr>
              <a:t>(λ</a:t>
            </a:r>
            <a:r>
              <a:rPr lang="en-US" altLang="zh-CN" sz="2800" b="1" i="1" dirty="0">
                <a:sym typeface="Euclid Extra" panose="02050502000505020303" pitchFamily="18" charset="2"/>
              </a:rPr>
              <a:t>x</a:t>
            </a:r>
            <a:r>
              <a:rPr lang="en-US" altLang="zh-CN" sz="2800" baseline="-25000" dirty="0">
                <a:sym typeface="Euclid Extra" panose="02050502000505020303" pitchFamily="18" charset="2"/>
              </a:rPr>
              <a:t>1</a:t>
            </a:r>
            <a:r>
              <a:rPr lang="en-US" altLang="zh-CN" sz="2800" dirty="0">
                <a:sym typeface="Euclid Extra" panose="02050502000505020303" pitchFamily="18" charset="2"/>
              </a:rPr>
              <a:t>+ (1-λ)</a:t>
            </a:r>
            <a:r>
              <a:rPr lang="en-US" altLang="zh-CN" sz="2800" i="1" dirty="0">
                <a:sym typeface="Euclid Extra" panose="02050502000505020303" pitchFamily="18" charset="2"/>
              </a:rPr>
              <a:t>x</a:t>
            </a:r>
            <a:r>
              <a:rPr lang="en-US" altLang="zh-CN" sz="2800" baseline="-25000" dirty="0">
                <a:sym typeface="Euclid Extra" panose="02050502000505020303" pitchFamily="18" charset="2"/>
              </a:rPr>
              <a:t>2</a:t>
            </a:r>
            <a:r>
              <a:rPr lang="en-US" altLang="zh-CN" sz="2800" dirty="0">
                <a:sym typeface="Euclid Extra" panose="02050502000505020303" pitchFamily="18" charset="2"/>
              </a:rPr>
              <a:t>)≤</a:t>
            </a:r>
            <a:r>
              <a:rPr lang="en-US" altLang="zh-CN" sz="2800" dirty="0" err="1">
                <a:sym typeface="Euclid Extra" panose="02050502000505020303" pitchFamily="18" charset="2"/>
              </a:rPr>
              <a:t>λ</a:t>
            </a:r>
            <a:r>
              <a:rPr lang="en-US" altLang="zh-CN" sz="2800" i="1" dirty="0" err="1">
                <a:sym typeface="Euclid Extra" panose="02050502000505020303" pitchFamily="18" charset="2"/>
              </a:rPr>
              <a:t>f</a:t>
            </a:r>
            <a:r>
              <a:rPr lang="en-US" altLang="zh-CN" sz="2800" dirty="0">
                <a:sym typeface="Euclid Extra" panose="02050502000505020303" pitchFamily="18" charset="2"/>
              </a:rPr>
              <a:t>(</a:t>
            </a:r>
            <a:r>
              <a:rPr lang="en-US" altLang="zh-CN" sz="2800" b="1" i="1" dirty="0">
                <a:sym typeface="Euclid Extra" panose="02050502000505020303" pitchFamily="18" charset="2"/>
              </a:rPr>
              <a:t>x</a:t>
            </a:r>
            <a:r>
              <a:rPr lang="en-US" altLang="zh-CN" sz="2800" baseline="-25000" dirty="0">
                <a:sym typeface="Euclid Extra" panose="02050502000505020303" pitchFamily="18" charset="2"/>
              </a:rPr>
              <a:t>1</a:t>
            </a:r>
            <a:r>
              <a:rPr lang="en-US" altLang="zh-CN" sz="2800" dirty="0">
                <a:sym typeface="Euclid Extra" panose="02050502000505020303" pitchFamily="18" charset="2"/>
              </a:rPr>
              <a:t>)+(</a:t>
            </a:r>
            <a:r>
              <a:rPr lang="en-US" altLang="zh-CN" sz="2800" i="1" dirty="0">
                <a:sym typeface="Euclid Extra" panose="02050502000505020303" pitchFamily="18" charset="2"/>
              </a:rPr>
              <a:t>1-λ</a:t>
            </a:r>
            <a:r>
              <a:rPr lang="en-US" altLang="zh-CN" sz="2800" dirty="0">
                <a:sym typeface="Euclid Extra" panose="02050502000505020303" pitchFamily="18" charset="2"/>
              </a:rPr>
              <a:t>)</a:t>
            </a:r>
            <a:r>
              <a:rPr lang="en-US" altLang="zh-CN" sz="2800" i="1" dirty="0">
                <a:sym typeface="Euclid Extra" panose="02050502000505020303" pitchFamily="18" charset="2"/>
              </a:rPr>
              <a:t>f(</a:t>
            </a:r>
            <a:r>
              <a:rPr lang="en-US" altLang="zh-CN" sz="2800" b="1" i="1" dirty="0">
                <a:sym typeface="Euclid Extra" panose="02050502000505020303" pitchFamily="18" charset="2"/>
              </a:rPr>
              <a:t>x</a:t>
            </a:r>
            <a:r>
              <a:rPr lang="en-US" altLang="zh-CN" sz="2800" baseline="-25000" dirty="0">
                <a:sym typeface="Euclid Extra" panose="02050502000505020303" pitchFamily="18" charset="2"/>
              </a:rPr>
              <a:t>2</a:t>
            </a:r>
            <a:r>
              <a:rPr lang="en-US" altLang="zh-CN" sz="2800" dirty="0">
                <a:sym typeface="Euclid Extra" panose="02050502000505020303" pitchFamily="18" charset="2"/>
              </a:rPr>
              <a:t>)</a:t>
            </a: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Euclid Extra" panose="02050502000505020303" pitchFamily="18" charset="2"/>
              </a:rPr>
              <a:t>则称</a:t>
            </a:r>
            <a:r>
              <a:rPr lang="en-US" altLang="zh-CN" sz="2800" i="1" dirty="0">
                <a:sym typeface="Euclid Extra" panose="02050502000505020303" pitchFamily="18" charset="2"/>
              </a:rPr>
              <a:t>f</a:t>
            </a:r>
            <a:r>
              <a:rPr lang="zh-CN" altLang="en-US" sz="2800" dirty="0">
                <a:sym typeface="Euclid Extra" panose="02050502000505020303" pitchFamily="18" charset="2"/>
              </a:rPr>
              <a:t>是</a:t>
            </a:r>
            <a:r>
              <a:rPr lang="en-US" altLang="zh-CN" sz="2800" dirty="0">
                <a:sym typeface="Euclid Extra" panose="02050502000505020303" pitchFamily="18" charset="2"/>
              </a:rPr>
              <a:t>S</a:t>
            </a:r>
            <a:r>
              <a:rPr lang="zh-CN" altLang="en-US" sz="2800" dirty="0">
                <a:sym typeface="Euclid Extra" panose="02050502000505020303" pitchFamily="18" charset="2"/>
              </a:rPr>
              <a:t>上的</a:t>
            </a:r>
            <a:r>
              <a:rPr lang="zh-CN" altLang="en-US" sz="2800" b="1" dirty="0">
                <a:ea typeface="楷体_GB2312" pitchFamily="49" charset="-122"/>
                <a:sym typeface="Euclid Extra" panose="02050502000505020303" pitchFamily="18" charset="2"/>
              </a:rPr>
              <a:t>凸函数</a:t>
            </a:r>
            <a:r>
              <a:rPr lang="en-US" altLang="zh-CN" sz="2800" b="1" dirty="0">
                <a:sym typeface="Euclid Extra" panose="02050502000505020303" pitchFamily="18" charset="2"/>
              </a:rPr>
              <a:t>.</a:t>
            </a:r>
            <a:r>
              <a:rPr lang="zh-CN" altLang="en-US" sz="2800" dirty="0">
                <a:sym typeface="Euclid Extra" panose="02050502000505020303" pitchFamily="18" charset="2"/>
              </a:rPr>
              <a:t>若上面的不等式对于</a:t>
            </a:r>
            <a:r>
              <a:rPr lang="en-US" altLang="zh-CN" sz="2800" dirty="0" err="1">
                <a:sym typeface="Euclid Extra" panose="02050502000505020303" pitchFamily="18" charset="2"/>
              </a:rPr>
              <a:t>x</a:t>
            </a:r>
            <a:r>
              <a:rPr lang="en-US" altLang="zh-CN" sz="2800" dirty="0" err="1">
                <a:sym typeface="Euclid Symbol" panose="05050102010706020507" pitchFamily="18" charset="2"/>
              </a:rPr>
              <a:t></a:t>
            </a:r>
            <a:r>
              <a:rPr lang="en-US" altLang="zh-CN" sz="2800" dirty="0" err="1">
                <a:sym typeface="Euclid Extra" panose="02050502000505020303" pitchFamily="18" charset="2"/>
              </a:rPr>
              <a:t>y</a:t>
            </a:r>
            <a:r>
              <a:rPr lang="zh-CN" altLang="en-US" sz="2800" dirty="0">
                <a:sym typeface="Euclid Extra" panose="02050502000505020303" pitchFamily="18" charset="2"/>
              </a:rPr>
              <a:t>严格成立</a:t>
            </a:r>
            <a:r>
              <a:rPr lang="en-US" altLang="zh-CN" sz="2800" dirty="0">
                <a:sym typeface="Euclid Extra" panose="02050502000505020303" pitchFamily="18" charset="2"/>
              </a:rPr>
              <a:t>,</a:t>
            </a:r>
            <a:r>
              <a:rPr lang="zh-CN" altLang="en-US" sz="2800" dirty="0">
                <a:sym typeface="Euclid Extra" panose="02050502000505020303" pitchFamily="18" charset="2"/>
              </a:rPr>
              <a:t>则称</a:t>
            </a:r>
            <a:r>
              <a:rPr lang="en-US" altLang="zh-CN" sz="2800" i="1" dirty="0">
                <a:sym typeface="Euclid Extra" panose="02050502000505020303" pitchFamily="18" charset="2"/>
              </a:rPr>
              <a:t>f</a:t>
            </a:r>
            <a:r>
              <a:rPr lang="zh-CN" altLang="en-US" sz="2800" dirty="0">
                <a:sym typeface="Euclid Extra" panose="02050502000505020303" pitchFamily="18" charset="2"/>
              </a:rPr>
              <a:t>是</a:t>
            </a:r>
            <a:r>
              <a:rPr lang="en-US" altLang="zh-CN" sz="2800" dirty="0">
                <a:sym typeface="Euclid Extra" panose="02050502000505020303" pitchFamily="18" charset="2"/>
              </a:rPr>
              <a:t>S</a:t>
            </a:r>
            <a:r>
              <a:rPr lang="zh-CN" altLang="en-US" sz="2800" dirty="0">
                <a:sym typeface="Euclid Extra" panose="02050502000505020303" pitchFamily="18" charset="2"/>
              </a:rPr>
              <a:t>上的</a:t>
            </a:r>
            <a:r>
              <a:rPr lang="zh-CN" altLang="en-US" sz="2800" b="1" dirty="0">
                <a:ea typeface="楷体_GB2312" pitchFamily="49" charset="-122"/>
                <a:sym typeface="Euclid Extra" panose="02050502000505020303" pitchFamily="18" charset="2"/>
              </a:rPr>
              <a:t>严格凸函数</a:t>
            </a:r>
            <a:r>
              <a:rPr lang="en-US" altLang="zh-CN" sz="2800" b="1" dirty="0">
                <a:ea typeface="楷体_GB2312" pitchFamily="49" charset="-122"/>
                <a:sym typeface="Euclid Extra" panose="02050502000505020303" pitchFamily="18" charset="2"/>
              </a:rPr>
              <a:t>.</a:t>
            </a:r>
          </a:p>
          <a:p>
            <a:pPr eaLnBrk="1" hangingPunct="1">
              <a:buFontTx/>
              <a:buNone/>
            </a:pPr>
            <a:r>
              <a:rPr lang="en-US" altLang="zh-CN" sz="2800" dirty="0">
                <a:sym typeface="Euclid Extra" panose="02050502000505020303" pitchFamily="18" charset="2"/>
              </a:rPr>
              <a:t>   </a:t>
            </a:r>
            <a:r>
              <a:rPr lang="zh-CN" altLang="en-US" sz="2800" dirty="0">
                <a:sym typeface="Euclid Extra" panose="02050502000505020303" pitchFamily="18" charset="2"/>
              </a:rPr>
              <a:t>若</a:t>
            </a:r>
            <a:r>
              <a:rPr lang="en-US" altLang="zh-CN" sz="2800" b="1" i="1" dirty="0">
                <a:sym typeface="Euclid Extra" panose="02050502000505020303" pitchFamily="18" charset="2"/>
              </a:rPr>
              <a:t>-f</a:t>
            </a:r>
            <a:r>
              <a:rPr lang="zh-CN" altLang="en-US" sz="2800" dirty="0">
                <a:sym typeface="Euclid Extra" panose="02050502000505020303" pitchFamily="18" charset="2"/>
              </a:rPr>
              <a:t>是</a:t>
            </a:r>
            <a:r>
              <a:rPr lang="en-US" altLang="zh-CN" sz="2800" b="1" i="1" dirty="0">
                <a:sym typeface="Euclid Extra" panose="02050502000505020303" pitchFamily="18" charset="2"/>
              </a:rPr>
              <a:t>S</a:t>
            </a:r>
            <a:r>
              <a:rPr lang="zh-CN" altLang="en-US" sz="2800" dirty="0">
                <a:sym typeface="Euclid Extra" panose="02050502000505020303" pitchFamily="18" charset="2"/>
              </a:rPr>
              <a:t>上的凸函数</a:t>
            </a:r>
            <a:r>
              <a:rPr lang="en-US" altLang="zh-CN" sz="2800" dirty="0">
                <a:sym typeface="Euclid Extra" panose="02050502000505020303" pitchFamily="18" charset="2"/>
              </a:rPr>
              <a:t>,</a:t>
            </a:r>
            <a:r>
              <a:rPr lang="zh-CN" altLang="en-US" sz="2800" dirty="0">
                <a:sym typeface="Euclid Extra" panose="02050502000505020303" pitchFamily="18" charset="2"/>
              </a:rPr>
              <a:t>则称</a:t>
            </a:r>
            <a:r>
              <a:rPr lang="en-US" altLang="zh-CN" sz="2800" dirty="0">
                <a:sym typeface="Euclid Extra" panose="02050502000505020303" pitchFamily="18" charset="2"/>
              </a:rPr>
              <a:t>f</a:t>
            </a:r>
            <a:r>
              <a:rPr lang="zh-CN" altLang="en-US" sz="2800" dirty="0">
                <a:sym typeface="Euclid Extra" panose="02050502000505020303" pitchFamily="18" charset="2"/>
              </a:rPr>
              <a:t>是</a:t>
            </a:r>
            <a:r>
              <a:rPr lang="en-US" altLang="zh-CN" sz="2800" dirty="0">
                <a:sym typeface="Euclid Extra" panose="02050502000505020303" pitchFamily="18" charset="2"/>
              </a:rPr>
              <a:t>S</a:t>
            </a:r>
            <a:r>
              <a:rPr lang="zh-CN" altLang="en-US" sz="2800" dirty="0">
                <a:sym typeface="Euclid Extra" panose="02050502000505020303" pitchFamily="18" charset="2"/>
              </a:rPr>
              <a:t>上的</a:t>
            </a:r>
            <a:r>
              <a:rPr lang="zh-CN" altLang="en-US" sz="2800" b="1" dirty="0">
                <a:ea typeface="楷体_GB2312" pitchFamily="49" charset="-122"/>
                <a:sym typeface="Euclid Extra" panose="02050502000505020303" pitchFamily="18" charset="2"/>
              </a:rPr>
              <a:t>凹函数</a:t>
            </a:r>
            <a:r>
              <a:rPr lang="en-US" altLang="zh-CN" sz="2800" dirty="0">
                <a:sym typeface="Euclid Extra" panose="02050502000505020303" pitchFamily="18" charset="2"/>
              </a:rPr>
              <a:t>.</a:t>
            </a:r>
            <a:r>
              <a:rPr lang="zh-CN" altLang="en-US" sz="2800" dirty="0">
                <a:sym typeface="Euclid Extra" panose="02050502000505020303" pitchFamily="18" charset="2"/>
              </a:rPr>
              <a:t>若</a:t>
            </a:r>
            <a:r>
              <a:rPr lang="en-US" altLang="zh-CN" sz="2800" b="1" i="1" dirty="0">
                <a:sym typeface="Euclid Extra" panose="02050502000505020303" pitchFamily="18" charset="2"/>
              </a:rPr>
              <a:t>-f</a:t>
            </a:r>
            <a:r>
              <a:rPr lang="zh-CN" altLang="en-US" sz="2800" dirty="0">
                <a:sym typeface="Euclid Extra" panose="02050502000505020303" pitchFamily="18" charset="2"/>
              </a:rPr>
              <a:t>是</a:t>
            </a:r>
            <a:r>
              <a:rPr lang="en-US" altLang="zh-CN" sz="2800" b="1" i="1" dirty="0">
                <a:sym typeface="Euclid Extra" panose="02050502000505020303" pitchFamily="18" charset="2"/>
              </a:rPr>
              <a:t>S</a:t>
            </a:r>
            <a:r>
              <a:rPr lang="zh-CN" altLang="en-US" sz="2800" dirty="0">
                <a:sym typeface="Euclid Extra" panose="02050502000505020303" pitchFamily="18" charset="2"/>
              </a:rPr>
              <a:t>上的严格凸函数</a:t>
            </a:r>
            <a:r>
              <a:rPr lang="en-US" altLang="zh-CN" sz="2800" dirty="0">
                <a:sym typeface="Euclid Extra" panose="02050502000505020303" pitchFamily="18" charset="2"/>
              </a:rPr>
              <a:t>,</a:t>
            </a:r>
            <a:r>
              <a:rPr lang="zh-CN" altLang="en-US" sz="2800" dirty="0">
                <a:sym typeface="Euclid Extra" panose="02050502000505020303" pitchFamily="18" charset="2"/>
              </a:rPr>
              <a:t>则称</a:t>
            </a:r>
            <a:r>
              <a:rPr lang="en-US" altLang="zh-CN" sz="2800" b="1" i="1" dirty="0">
                <a:sym typeface="Euclid Extra" panose="02050502000505020303" pitchFamily="18" charset="2"/>
              </a:rPr>
              <a:t>f</a:t>
            </a:r>
            <a:r>
              <a:rPr lang="zh-CN" altLang="en-US" sz="2800" dirty="0">
                <a:sym typeface="Euclid Extra" panose="02050502000505020303" pitchFamily="18" charset="2"/>
              </a:rPr>
              <a:t>是</a:t>
            </a:r>
            <a:r>
              <a:rPr lang="en-US" altLang="zh-CN" sz="2800" b="1" i="1" dirty="0">
                <a:sym typeface="Euclid Extra" panose="02050502000505020303" pitchFamily="18" charset="2"/>
              </a:rPr>
              <a:t>S</a:t>
            </a:r>
            <a:r>
              <a:rPr lang="zh-CN" altLang="en-US" sz="2800" dirty="0">
                <a:sym typeface="Euclid Extra" panose="02050502000505020303" pitchFamily="18" charset="2"/>
              </a:rPr>
              <a:t>上的</a:t>
            </a:r>
            <a:r>
              <a:rPr lang="zh-CN" altLang="en-US" sz="2800" b="1" dirty="0">
                <a:ea typeface="楷体_GB2312" pitchFamily="49" charset="-122"/>
                <a:sym typeface="Euclid Extra" panose="02050502000505020303" pitchFamily="18" charset="2"/>
              </a:rPr>
              <a:t>严格凹函数</a:t>
            </a:r>
            <a:r>
              <a:rPr lang="en-US" altLang="zh-CN" sz="2800" dirty="0">
                <a:sym typeface="Euclid Extra" panose="02050502000505020303" pitchFamily="18" charset="2"/>
              </a:rPr>
              <a:t>.</a:t>
            </a:r>
            <a:endParaRPr lang="en-US" altLang="zh-CN" sz="2800" i="1" dirty="0">
              <a:sym typeface="Euclid Extra" panose="02050502000505020303" pitchFamily="18" charset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>
                <a:latin typeface="楷体_GB2312" pitchFamily="49" charset="-122"/>
                <a:ea typeface="楷体_GB2312" pitchFamily="49" charset="-122"/>
              </a:rPr>
              <a:t>2 </a:t>
            </a:r>
            <a:r>
              <a:rPr lang="zh-CN" altLang="en-US" sz="4000" dirty="0">
                <a:latin typeface="楷体_GB2312" pitchFamily="49" charset="-122"/>
                <a:ea typeface="楷体_GB2312" pitchFamily="49" charset="-122"/>
              </a:rPr>
              <a:t>凸函数</a:t>
            </a:r>
          </a:p>
        </p:txBody>
      </p:sp>
      <p:sp>
        <p:nvSpPr>
          <p:cNvPr id="18438" name="Rectangle 4"/>
          <p:cNvSpPr>
            <a:spLocks noChangeArrowheads="1"/>
          </p:cNvSpPr>
          <p:nvPr/>
        </p:nvSpPr>
        <p:spPr bwMode="auto">
          <a:xfrm>
            <a:off x="250825" y="0"/>
            <a:ext cx="777716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63CB7F-8EA9-4A0C-9D90-43CA3A4DC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35" y="1987703"/>
            <a:ext cx="7974624" cy="32291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2 </a:t>
            </a:r>
            <a:r>
              <a:rPr lang="zh-CN" altLang="en-US" dirty="0">
                <a:ea typeface="楷体_GB2312" pitchFamily="49" charset="-122"/>
              </a:rPr>
              <a:t>凸函数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529390" y="1191711"/>
                <a:ext cx="7772400" cy="4114800"/>
              </a:xfrm>
              <a:prstGeom prst="rect">
                <a:avLst/>
              </a:prstGeo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定义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强凸函数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若存在常数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&gt;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，使得</a:t>
                </a:r>
              </a:p>
              <a:p>
                <a:pPr marL="0" indent="0">
                  <a:buNone/>
                </a:pP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g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m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||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为凸函数，则称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强凸函数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，其中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强凸参数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．为了方便我们也称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m-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强凸函数．</a:t>
                </a: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定义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强凸函数的等价定义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若存在常数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&gt;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，使得对任意</a:t>
                </a:r>
                <a:r>
                  <a:rPr lang="en-US" altLang="zh-CN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</a:t>
                </a:r>
                <a:r>
                  <a:rPr lang="en-US" altLang="zh-CN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以及</a:t>
                </a:r>
                <a:r>
                  <a:rPr lang="el-GR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 ∈ </a:t>
                </a:r>
                <a:r>
                  <a:rPr lang="el-GR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(0,1)</a:t>
                </a:r>
                <a:r>
                  <a:rPr lang="zh-CN" alt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有</a:t>
                </a:r>
              </a:p>
              <a:p>
                <a:pPr marL="0" indent="0">
                  <a:buNone/>
                </a:pP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l-GR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(1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</a:t>
                </a:r>
                <a:r>
                  <a:rPr lang="el-GR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 ⩽ </a:t>
                </a:r>
                <a:r>
                  <a:rPr lang="el-GR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)+(1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</a:t>
                </a:r>
                <a:r>
                  <a:rPr lang="el-GR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l-GR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m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altLang="zh-CN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  <m:r>
                          <m:rPr>
                            <m:nor/>
                          </m:rPr>
                          <a:rPr lang="el-GR" altLang="zh-CN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(1 </m:t>
                        </m:r>
                        <m:r>
                          <m:rPr>
                            <m:nor/>
                          </m:rPr>
                          <a:rPr lang="el-GR" altLang="zh-CN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 </m:t>
                        </m:r>
                        <m:r>
                          <m:rPr>
                            <m:nor/>
                          </m:rPr>
                          <a:rPr lang="el-GR" altLang="zh-CN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  <m:r>
                          <m:rPr>
                            <m:nor/>
                          </m:rPr>
                          <a:rPr lang="el-GR" altLang="zh-CN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||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则称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为强凸函数，其中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为强凸参数．</a:t>
                </a:r>
                <a:endPara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529390" y="1191711"/>
                <a:ext cx="7772400" cy="4114800"/>
              </a:xfrm>
              <a:prstGeom prst="rect">
                <a:avLst/>
              </a:prstGeom>
              <a:blipFill>
                <a:blip r:embed="rId2"/>
                <a:stretch>
                  <a:fillRect l="-1255" t="-1630" r="-314" b="-3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914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2 </a:t>
            </a:r>
            <a:r>
              <a:rPr lang="zh-CN" altLang="en-US" sz="3600" dirty="0">
                <a:ea typeface="楷体_GB2312" pitchFamily="49" charset="-122"/>
              </a:rPr>
              <a:t>凸函数</a:t>
            </a:r>
            <a:endParaRPr lang="zh-CN" altLang="en-US" sz="3200" dirty="0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48640" y="1061336"/>
            <a:ext cx="7993063" cy="8636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是一凸函数，则对任意的</a:t>
            </a:r>
            <a:r>
              <a:rPr lang="en-US" altLang="zh-CN" sz="28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R</a:t>
            </a:r>
            <a:r>
              <a:rPr lang="en-US" altLang="zh-CN" sz="2800" b="0" baseline="30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0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)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R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在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处沿方向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的方向导数存在。</a:t>
            </a:r>
          </a:p>
        </p:txBody>
      </p:sp>
      <p:graphicFrame>
        <p:nvGraphicFramePr>
          <p:cNvPr id="1946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96034"/>
              </p:ext>
            </p:extLst>
          </p:nvPr>
        </p:nvGraphicFramePr>
        <p:xfrm>
          <a:off x="851986" y="2349417"/>
          <a:ext cx="6732721" cy="3185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" name="Equation" r:id="rId3" imgW="7569200" imgH="3581400" progId="Equation.DSMT4">
                  <p:embed/>
                </p:oleObj>
              </mc:Choice>
              <mc:Fallback>
                <p:oleObj name="Equation" r:id="rId3" imgW="7569200" imgH="3581400" progId="Equation.DSMT4">
                  <p:embed/>
                  <p:pic>
                    <p:nvPicPr>
                      <p:cNvPr id="1946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986" y="2349417"/>
                        <a:ext cx="6732721" cy="3185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2 </a:t>
            </a:r>
            <a:r>
              <a:rPr lang="zh-CN" altLang="en-US" sz="3600" dirty="0">
                <a:ea typeface="楷体_GB2312" pitchFamily="49" charset="-122"/>
              </a:rPr>
              <a:t>凸函数</a:t>
            </a:r>
            <a:endParaRPr lang="zh-CN" altLang="en-US" sz="3200" dirty="0"/>
          </a:p>
        </p:txBody>
      </p:sp>
      <p:graphicFrame>
        <p:nvGraphicFramePr>
          <p:cNvPr id="20486" name="Object 4"/>
          <p:cNvGraphicFramePr>
            <a:graphicFrameLocks noChangeAspect="1"/>
          </p:cNvGraphicFramePr>
          <p:nvPr/>
        </p:nvGraphicFramePr>
        <p:xfrm>
          <a:off x="827088" y="1052513"/>
          <a:ext cx="73660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4" name="Equation" r:id="rId3" imgW="7366000" imgH="5029200" progId="Equation.DSMT4">
                  <p:embed/>
                </p:oleObj>
              </mc:Choice>
              <mc:Fallback>
                <p:oleObj name="Equation" r:id="rId3" imgW="7366000" imgH="5029200" progId="Equation.DSMT4">
                  <p:embed/>
                  <p:pic>
                    <p:nvPicPr>
                      <p:cNvPr id="2048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052513"/>
                        <a:ext cx="7366000" cy="502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600" dirty="0"/>
              <a:t>2 </a:t>
            </a:r>
            <a:r>
              <a:rPr lang="zh-CN" altLang="en-US" sz="3600" dirty="0">
                <a:ea typeface="楷体_GB2312" pitchFamily="49" charset="-122"/>
              </a:rPr>
              <a:t>凸函数</a:t>
            </a:r>
            <a:endParaRPr lang="zh-CN" altLang="en-US" sz="3600" dirty="0"/>
          </a:p>
        </p:txBody>
      </p:sp>
      <p:graphicFrame>
        <p:nvGraphicFramePr>
          <p:cNvPr id="21509" name="Object 3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53352649"/>
              </p:ext>
            </p:extLst>
          </p:nvPr>
        </p:nvGraphicFramePr>
        <p:xfrm>
          <a:off x="856648" y="1034265"/>
          <a:ext cx="6494463" cy="270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0" name="Equation" r:id="rId3" imgW="7124400" imgH="2971800" progId="Equation.DSMT4">
                  <p:embed/>
                </p:oleObj>
              </mc:Choice>
              <mc:Fallback>
                <p:oleObj name="Equation" r:id="rId3" imgW="7124400" imgH="2971800" progId="Equation.DSMT4">
                  <p:embed/>
                  <p:pic>
                    <p:nvPicPr>
                      <p:cNvPr id="2150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648" y="1034265"/>
                        <a:ext cx="6494463" cy="270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Rectangle 4"/>
          <p:cNvSpPr>
            <a:spLocks noChangeArrowheads="1"/>
          </p:cNvSpPr>
          <p:nvPr/>
        </p:nvSpPr>
        <p:spPr bwMode="auto">
          <a:xfrm>
            <a:off x="0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0EAE4F-CFB4-4DDD-9CD9-78E57B14560E}"/>
              </a:ext>
            </a:extLst>
          </p:cNvPr>
          <p:cNvSpPr/>
          <p:nvPr/>
        </p:nvSpPr>
        <p:spPr>
          <a:xfrm>
            <a:off x="402618" y="4448945"/>
            <a:ext cx="84249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注：凸函数不一定是连续函数，但在定义域中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内点处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是连续的．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2 </a:t>
            </a:r>
            <a:r>
              <a:rPr lang="zh-CN" altLang="en-US" sz="3600" dirty="0">
                <a:ea typeface="楷体_GB2312" pitchFamily="49" charset="-122"/>
              </a:rPr>
              <a:t>凸函数</a:t>
            </a:r>
            <a:endParaRPr lang="zh-CN" altLang="en-US" sz="3200" dirty="0"/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17633" y="1071563"/>
            <a:ext cx="8215313" cy="200025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：设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是定义在凸集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上的凸函数，则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400" dirty="0"/>
              <a:t> 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在开集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S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内是连续的；</a:t>
            </a:r>
          </a:p>
        </p:txBody>
      </p:sp>
      <p:sp>
        <p:nvSpPr>
          <p:cNvPr id="22535" name="Rectangle 5"/>
          <p:cNvSpPr>
            <a:spLocks noChangeArrowheads="1"/>
          </p:cNvSpPr>
          <p:nvPr/>
        </p:nvSpPr>
        <p:spPr bwMode="auto">
          <a:xfrm>
            <a:off x="294883" y="1813627"/>
            <a:ext cx="8001000" cy="3859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dirty="0"/>
              <a:t>(2).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所有凸函数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的集合关于凸锥组合运算是封闭的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实数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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zh-CN" alt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也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是定义在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上的凸函数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是定义在凸集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上的凸函数，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也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是定义在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上的凸函数；</a:t>
            </a:r>
            <a:endParaRPr lang="en-US" altLang="zh-CN" sz="2400" dirty="0"/>
          </a:p>
          <a:p>
            <a:pPr eaLnBrk="1" hangingPunct="1">
              <a:buFontTx/>
              <a:buNone/>
            </a:pPr>
            <a:r>
              <a:rPr lang="en-US" altLang="zh-CN" sz="2400" dirty="0"/>
              <a:t>(3)</a:t>
            </a:r>
            <a:r>
              <a:rPr lang="zh-CN" altLang="en-US" sz="2400" dirty="0"/>
              <a:t>函数</a:t>
            </a:r>
            <a:r>
              <a:rPr lang="en-US" altLang="zh-CN" sz="2400" i="1" dirty="0"/>
              <a:t>f</a:t>
            </a:r>
            <a:r>
              <a:rPr lang="zh-CN" altLang="en-US" sz="2400" dirty="0"/>
              <a:t>的水平集</a:t>
            </a:r>
            <a:r>
              <a:rPr lang="en-US" altLang="zh-CN" sz="2400" dirty="0"/>
              <a:t>L(</a:t>
            </a:r>
            <a:r>
              <a:rPr lang="en-US" altLang="zh-CN" sz="2400" i="1" dirty="0"/>
              <a:t>f</a:t>
            </a:r>
            <a:r>
              <a:rPr lang="en-US" altLang="zh-CN" sz="2400" dirty="0"/>
              <a:t>,</a:t>
            </a:r>
            <a:r>
              <a:rPr lang="en-US" altLang="zh-CN" sz="2400" dirty="0">
                <a:sym typeface="Euclid Symbol" panose="05050102010706020507" pitchFamily="18" charset="2"/>
              </a:rPr>
              <a:t></a:t>
            </a:r>
            <a:r>
              <a:rPr lang="en-US" altLang="zh-CN" sz="2400" i="1" dirty="0"/>
              <a:t>)=</a:t>
            </a:r>
            <a:r>
              <a:rPr lang="en-US" altLang="zh-CN" sz="2400" dirty="0"/>
              <a:t>{</a:t>
            </a:r>
            <a:r>
              <a:rPr lang="en-US" altLang="zh-CN" sz="2400" i="1" dirty="0" err="1"/>
              <a:t>x|x</a:t>
            </a:r>
            <a:r>
              <a:rPr lang="en-US" altLang="zh-CN" sz="2400" i="1" dirty="0" err="1">
                <a:sym typeface="Euclid Math Two" panose="02050601010101010101" pitchFamily="18" charset="2"/>
              </a:rPr>
              <a:t>S,f</a:t>
            </a:r>
            <a:r>
              <a:rPr lang="en-US" altLang="zh-CN" sz="2400" dirty="0">
                <a:sym typeface="Euclid Math Two" panose="02050601010101010101" pitchFamily="18" charset="2"/>
              </a:rPr>
              <a:t>(</a:t>
            </a:r>
            <a:r>
              <a:rPr lang="en-US" altLang="zh-CN" sz="2400" i="1" dirty="0">
                <a:sym typeface="Euclid Math Two" panose="02050601010101010101" pitchFamily="18" charset="2"/>
              </a:rPr>
              <a:t>x</a:t>
            </a:r>
            <a:r>
              <a:rPr lang="en-US" altLang="zh-CN" sz="2400" dirty="0">
                <a:sym typeface="Euclid Math Two" panose="02050601010101010101" pitchFamily="18" charset="2"/>
              </a:rPr>
              <a:t>)</a:t>
            </a:r>
            <a:r>
              <a:rPr lang="en-US" altLang="zh-CN" sz="2400" i="1" dirty="0">
                <a:sym typeface="Euclid Math Two" panose="02050601010101010101" pitchFamily="18" charset="2"/>
              </a:rPr>
              <a:t> ≤</a:t>
            </a:r>
            <a:r>
              <a:rPr lang="en-US" altLang="zh-CN" sz="2400" i="1" dirty="0">
                <a:sym typeface="Euclid Symbol" panose="05050102010706020507" pitchFamily="18" charset="2"/>
              </a:rPr>
              <a:t></a:t>
            </a:r>
            <a:r>
              <a:rPr lang="en-US" altLang="zh-CN" sz="2400" dirty="0"/>
              <a:t>},</a:t>
            </a:r>
            <a:r>
              <a:rPr lang="en-US" altLang="zh-CN" sz="2400" dirty="0">
                <a:sym typeface="Euclid Symbol" panose="05050102010706020507" pitchFamily="18" charset="2"/>
              </a:rPr>
              <a:t></a:t>
            </a:r>
            <a:r>
              <a:rPr lang="en-US" altLang="zh-CN" sz="2400" dirty="0">
                <a:sym typeface="Euclid Math Two" panose="02050601010101010101" pitchFamily="18" charset="2"/>
              </a:rPr>
              <a:t>R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sym typeface="Euclid Math Two" panose="02050601010101010101" pitchFamily="18" charset="2"/>
              </a:rPr>
              <a:t>    </a:t>
            </a:r>
            <a:r>
              <a:rPr lang="zh-CN" altLang="en-US" sz="2400" dirty="0">
                <a:sym typeface="Euclid Math Two" panose="02050601010101010101" pitchFamily="18" charset="2"/>
              </a:rPr>
              <a:t>和上图像</a:t>
            </a:r>
            <a:r>
              <a:rPr lang="en-US" altLang="zh-CN" sz="2400" dirty="0">
                <a:sym typeface="Euclid Math Two" panose="02050601010101010101" pitchFamily="18" charset="2"/>
              </a:rPr>
              <a:t>epi(</a:t>
            </a:r>
            <a:r>
              <a:rPr lang="en-US" altLang="zh-CN" sz="2400" i="1" dirty="0">
                <a:sym typeface="Euclid Math Two" panose="02050601010101010101" pitchFamily="18" charset="2"/>
              </a:rPr>
              <a:t>f</a:t>
            </a:r>
            <a:r>
              <a:rPr lang="en-US" altLang="zh-CN" sz="2400" dirty="0">
                <a:sym typeface="Euclid Math Two" panose="02050601010101010101" pitchFamily="18" charset="2"/>
              </a:rPr>
              <a:t>)={(</a:t>
            </a:r>
            <a:r>
              <a:rPr lang="en-US" altLang="zh-CN" sz="2400" i="1" dirty="0" err="1">
                <a:sym typeface="Euclid Math Two" panose="02050601010101010101" pitchFamily="18" charset="2"/>
              </a:rPr>
              <a:t>x</a:t>
            </a:r>
            <a:r>
              <a:rPr lang="en-US" altLang="zh-CN" sz="2400" dirty="0" err="1">
                <a:sym typeface="Euclid Math Two" panose="02050601010101010101" pitchFamily="18" charset="2"/>
              </a:rPr>
              <a:t>,</a:t>
            </a:r>
            <a:r>
              <a:rPr lang="en-US" altLang="zh-CN" sz="2400" i="1" dirty="0" err="1">
                <a:sym typeface="Euclid Math Two" panose="02050601010101010101" pitchFamily="18" charset="2"/>
              </a:rPr>
              <a:t>y</a:t>
            </a:r>
            <a:r>
              <a:rPr lang="en-US" altLang="zh-CN" sz="2400" dirty="0">
                <a:sym typeface="Euclid Math Two" panose="02050601010101010101" pitchFamily="18" charset="2"/>
              </a:rPr>
              <a:t>)|</a:t>
            </a:r>
            <a:r>
              <a:rPr lang="en-US" altLang="zh-CN" sz="2400" i="1" dirty="0" err="1">
                <a:sym typeface="Euclid Math Two" panose="02050601010101010101" pitchFamily="18" charset="2"/>
              </a:rPr>
              <a:t>xS</a:t>
            </a:r>
            <a:r>
              <a:rPr lang="en-US" altLang="zh-CN" sz="2400" dirty="0" err="1">
                <a:sym typeface="Euclid Math Two" panose="02050601010101010101" pitchFamily="18" charset="2"/>
              </a:rPr>
              <a:t>,y</a:t>
            </a:r>
            <a:r>
              <a:rPr lang="en-US" altLang="zh-CN" sz="2400" i="1" dirty="0" err="1">
                <a:sym typeface="Euclid Math Two" panose="02050601010101010101" pitchFamily="18" charset="2"/>
              </a:rPr>
              <a:t></a:t>
            </a:r>
            <a:r>
              <a:rPr lang="en-US" altLang="zh-CN" sz="2400" dirty="0" err="1">
                <a:sym typeface="Euclid Math Two" panose="02050601010101010101" pitchFamily="18" charset="2"/>
              </a:rPr>
              <a:t>R,y≥f</a:t>
            </a:r>
            <a:r>
              <a:rPr lang="en-US" altLang="zh-CN" sz="2400" dirty="0">
                <a:sym typeface="Euclid Math Two" panose="02050601010101010101" pitchFamily="18" charset="2"/>
              </a:rPr>
              <a:t>(x)}</a:t>
            </a:r>
          </a:p>
          <a:p>
            <a:pPr eaLnBrk="1" hangingPunct="1">
              <a:buFontTx/>
              <a:buNone/>
            </a:pPr>
            <a:r>
              <a:rPr lang="zh-CN" altLang="en-US" sz="2400" dirty="0">
                <a:sym typeface="Euclid Math Two" panose="02050601010101010101" pitchFamily="18" charset="2"/>
              </a:rPr>
              <a:t>都是凸集；</a:t>
            </a:r>
            <a:endParaRPr lang="en-US" altLang="zh-CN" sz="2400" dirty="0">
              <a:sym typeface="Euclid Math Two" panose="02050601010101010101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sz="2400" dirty="0"/>
              <a:t>(4)</a:t>
            </a:r>
            <a:r>
              <a:rPr lang="zh-CN" altLang="en-US" sz="2400" dirty="0"/>
              <a:t>若</a:t>
            </a:r>
            <a:r>
              <a:rPr lang="en-US" altLang="zh-CN" sz="2400" i="1" dirty="0"/>
              <a:t>f </a:t>
            </a:r>
            <a:r>
              <a:rPr lang="zh-CN" altLang="en-US" sz="2400" dirty="0"/>
              <a:t>是凸函数，则</a:t>
            </a:r>
            <a:r>
              <a:rPr lang="en-US" altLang="zh-CN" sz="2400" i="1" dirty="0"/>
              <a:t>f </a:t>
            </a:r>
            <a:r>
              <a:rPr lang="en-US" altLang="zh-CN" sz="2400" dirty="0"/>
              <a:t>(</a:t>
            </a:r>
            <a:r>
              <a:rPr lang="en-US" altLang="zh-CN" sz="2400" i="1" dirty="0"/>
              <a:t>Ax </a:t>
            </a:r>
            <a:r>
              <a:rPr lang="en-US" altLang="zh-CN" sz="2400" dirty="0"/>
              <a:t>+ </a:t>
            </a:r>
            <a:r>
              <a:rPr lang="en-US" altLang="zh-CN" sz="2400" i="1" dirty="0"/>
              <a:t>b</a:t>
            </a:r>
            <a:r>
              <a:rPr lang="en-US" altLang="zh-CN" sz="2400" dirty="0"/>
              <a:t>) </a:t>
            </a:r>
            <a:r>
              <a:rPr lang="zh-CN" altLang="en-US" sz="2400" dirty="0"/>
              <a:t>是凸函数；</a:t>
            </a:r>
          </a:p>
          <a:p>
            <a:pPr>
              <a:buNone/>
            </a:pPr>
            <a:r>
              <a:rPr lang="en-US" altLang="zh-CN" sz="2400" dirty="0"/>
              <a:t>(5) </a:t>
            </a:r>
            <a:r>
              <a:rPr lang="zh-CN" altLang="en-US" sz="2400" dirty="0"/>
              <a:t>若</a:t>
            </a:r>
            <a:r>
              <a:rPr lang="en-US" altLang="zh-CN" sz="2400" i="1" dirty="0"/>
              <a:t>f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</a:t>
            </a:r>
            <a:r>
              <a:rPr lang="en-US" altLang="zh-CN" sz="2400" i="1" dirty="0"/>
              <a:t>f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</a:t>
            </a:r>
            <a:r>
              <a:rPr lang="en-US" altLang="zh-CN" sz="2400" i="1" dirty="0"/>
              <a:t>· · · 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f</a:t>
            </a:r>
            <a:r>
              <a:rPr lang="en-US" altLang="zh-CN" sz="2400" i="1" baseline="-25000" dirty="0" err="1"/>
              <a:t>m</a:t>
            </a:r>
            <a:r>
              <a:rPr lang="en-US" altLang="zh-CN" sz="2400" i="1" dirty="0"/>
              <a:t> </a:t>
            </a:r>
            <a:r>
              <a:rPr lang="zh-CN" altLang="en-US" sz="2400" dirty="0"/>
              <a:t>是凸函数，则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i="1" dirty="0"/>
              <a:t>        f 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 = max</a:t>
            </a:r>
            <a:r>
              <a:rPr lang="en-US" altLang="zh-CN" sz="2400" i="1" dirty="0"/>
              <a:t>{ f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), </a:t>
            </a:r>
            <a:r>
              <a:rPr lang="en-US" altLang="zh-CN" sz="2400" i="1" dirty="0"/>
              <a:t>f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), </a:t>
            </a:r>
            <a:r>
              <a:rPr lang="en-US" altLang="zh-CN" sz="2400" i="1" dirty="0"/>
              <a:t>· · · 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f</a:t>
            </a:r>
            <a:r>
              <a:rPr lang="en-US" altLang="zh-CN" sz="2400" i="1" baseline="-25000" dirty="0" err="1"/>
              <a:t>m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</a:t>
            </a:r>
            <a:r>
              <a:rPr lang="en-US" altLang="zh-CN" sz="2400" i="1" dirty="0"/>
              <a:t>}     </a:t>
            </a:r>
            <a:r>
              <a:rPr lang="zh-CN" altLang="en-US" sz="2400" dirty="0"/>
              <a:t>是凸函数；</a:t>
            </a:r>
            <a:endParaRPr lang="zh-CN" altLang="en-US" sz="1800" dirty="0">
              <a:sym typeface="Euclid Math Two" panose="02050601010101010101" pitchFamily="18" charset="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凸函数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48640" y="1249864"/>
            <a:ext cx="7993063" cy="439102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若对每个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是凸函数，则</a:t>
            </a:r>
          </a:p>
          <a:p>
            <a:pPr marL="0" indent="0">
              <a:buNone/>
            </a:pP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</a:t>
            </a:r>
            <a:r>
              <a:rPr lang="en-US" altLang="zh-CN" sz="2400" b="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y∈A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是凸函数；</a:t>
            </a:r>
          </a:p>
          <a:p>
            <a:pPr marL="0" indent="0">
              <a:buNone/>
            </a:pP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(7)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给定函数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</a:t>
            </a:r>
            <a:r>
              <a:rPr lang="en-US" altLang="zh-CN" sz="24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，令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．若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是凸函数，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是凸函数且单调不减，那么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是凸函数；若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是凹函数，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是凸函数且单调不增，那么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是凸函数；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给定函数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</a:t>
            </a:r>
            <a:r>
              <a:rPr lang="en-US" altLang="zh-CN" sz="24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pt-BR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 </a:t>
            </a:r>
            <a:r>
              <a:rPr lang="pt-B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pt-BR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pt-B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pt-B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= </a:t>
            </a:r>
            <a:r>
              <a:rPr lang="pt-BR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pt-B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pt-BR" altLang="zh-CN" sz="24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pt-BR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pt-BR" altLang="zh-CN" sz="24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pt-BR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· · </a:t>
            </a:r>
            <a:r>
              <a:rPr lang="pt-B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pt-BR" altLang="zh-CN" sz="2400" b="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t-B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)).</a:t>
            </a:r>
          </a:p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是凸函数，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是凸函数且关于每个分量单调不减，那么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是凸函数；若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是凹函数，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是凸函数且关于每个分量单调不增，那么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是凸函数；</a:t>
            </a:r>
          </a:p>
        </p:txBody>
      </p:sp>
    </p:spTree>
    <p:extLst>
      <p:ext uri="{BB962C8B-B14F-4D97-AF65-F5344CB8AC3E}">
        <p14:creationId xmlns:p14="http://schemas.microsoft.com/office/powerpoint/2010/main" val="3924167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2 </a:t>
            </a:r>
            <a:r>
              <a:rPr lang="zh-CN" altLang="en-US" dirty="0">
                <a:ea typeface="楷体_GB2312" pitchFamily="49" charset="-122"/>
              </a:rPr>
              <a:t>凸函数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2012" y="1149350"/>
            <a:ext cx="7772400" cy="41148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(9)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整体是凸函数，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是凸集，则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g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en-US" altLang="zh-CN" sz="2400" b="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y∈C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是凸函数；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定义函数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</a:t>
            </a:r>
            <a:r>
              <a:rPr lang="en-US" altLang="zh-CN" sz="24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的透视函数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</a:t>
            </a:r>
            <a:r>
              <a:rPr lang="en-US" altLang="zh-CN" sz="24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endParaRPr lang="en-US" altLang="zh-CN" sz="2400" b="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b="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是凸函数，则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是凸函数．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541" y="3023638"/>
            <a:ext cx="5688330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94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2 </a:t>
            </a:r>
            <a:r>
              <a:rPr lang="zh-CN" altLang="en-US" sz="3600" dirty="0">
                <a:ea typeface="楷体_GB2312" pitchFamily="49" charset="-122"/>
              </a:rPr>
              <a:t>凸函数</a:t>
            </a:r>
            <a:endParaRPr lang="zh-CN" altLang="en-US" sz="3200" dirty="0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13886" y="1076425"/>
            <a:ext cx="8228013" cy="17145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R</a:t>
            </a:r>
            <a:r>
              <a:rPr lang="en-US" altLang="zh-CN" sz="2800" b="0" baseline="30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为一非空凸集，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是定义在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上的凸函数，则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上的局部极小点是整体极小点，且极小点的集合为凸集。</a:t>
            </a:r>
            <a:endParaRPr lang="zh-CN" altLang="en-US" b="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458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095740"/>
              </p:ext>
            </p:extLst>
          </p:nvPr>
        </p:nvGraphicFramePr>
        <p:xfrm>
          <a:off x="581727" y="2818498"/>
          <a:ext cx="72898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3" name="Equation" r:id="rId3" imgW="7289640" imgH="1600200" progId="Equation.DSMT4">
                  <p:embed/>
                </p:oleObj>
              </mc:Choice>
              <mc:Fallback>
                <p:oleObj name="Equation" r:id="rId3" imgW="7289640" imgH="1600200" progId="Equation.DSMT4">
                  <p:embed/>
                  <p:pic>
                    <p:nvPicPr>
                      <p:cNvPr id="2458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727" y="2818498"/>
                        <a:ext cx="72898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2 </a:t>
            </a:r>
            <a:r>
              <a:rPr lang="zh-CN" altLang="en-US" sz="3600" dirty="0">
                <a:ea typeface="楷体_GB2312" pitchFamily="49" charset="-122"/>
              </a:rPr>
              <a:t>凸函数</a:t>
            </a:r>
            <a:endParaRPr lang="zh-CN" altLang="en-US" sz="3200" dirty="0"/>
          </a:p>
        </p:txBody>
      </p:sp>
      <p:graphicFrame>
        <p:nvGraphicFramePr>
          <p:cNvPr id="25606" name="Object 4"/>
          <p:cNvGraphicFramePr>
            <a:graphicFrameLocks noChangeAspect="1"/>
          </p:cNvGraphicFramePr>
          <p:nvPr/>
        </p:nvGraphicFramePr>
        <p:xfrm>
          <a:off x="684213" y="1106488"/>
          <a:ext cx="7493000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6" name="Equation" r:id="rId3" imgW="7493000" imgH="3771900" progId="Equation.DSMT4">
                  <p:embed/>
                </p:oleObj>
              </mc:Choice>
              <mc:Fallback>
                <p:oleObj name="Equation" r:id="rId3" imgW="7493000" imgH="3771900" progId="Equation.DSMT4">
                  <p:embed/>
                  <p:pic>
                    <p:nvPicPr>
                      <p:cNvPr id="2560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106488"/>
                        <a:ext cx="7493000" cy="377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827ED14-257E-4D1A-90A3-0CD0D1B34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BF12A3D-EAEA-42E6-B34F-5B13F59FF71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31007" y="1884446"/>
            <a:ext cx="8466138" cy="30924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8064C73-9255-4CD0-97B6-DAF2F01A1DAC}"/>
              </a:ext>
            </a:extLst>
          </p:cNvPr>
          <p:cNvSpPr/>
          <p:nvPr/>
        </p:nvSpPr>
        <p:spPr>
          <a:xfrm>
            <a:off x="509542" y="1153735"/>
            <a:ext cx="82301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FandolSong-Bold-Identity-H"/>
              </a:rPr>
              <a:t>命题</a:t>
            </a:r>
            <a:r>
              <a:rPr lang="en-US" altLang="zh-CN" sz="2400" b="1" dirty="0">
                <a:solidFill>
                  <a:srgbClr val="0000FF"/>
                </a:solidFill>
                <a:latin typeface="URWPalladioL-Bold"/>
              </a:rPr>
              <a:t> 4 </a:t>
            </a:r>
            <a:r>
              <a:rPr lang="zh-CN" altLang="en-US" sz="2400" dirty="0">
                <a:latin typeface="FandolKai-Regular-Identity-H"/>
              </a:rPr>
              <a:t>设</a:t>
            </a:r>
            <a:r>
              <a:rPr lang="en-US" altLang="zh-CN" sz="2400" i="1" dirty="0">
                <a:latin typeface="URWPalladioL-Ital"/>
              </a:rPr>
              <a:t>f </a:t>
            </a:r>
            <a:r>
              <a:rPr lang="zh-CN" altLang="en-US" sz="2400" dirty="0">
                <a:latin typeface="FandolKai-Regular-Identity-H"/>
              </a:rPr>
              <a:t>为强凸函数且存在最小值，则</a:t>
            </a:r>
            <a:r>
              <a:rPr lang="en-US" altLang="zh-CN" sz="2400" i="1" dirty="0">
                <a:latin typeface="URWPalladioL-Ital"/>
              </a:rPr>
              <a:t>f </a:t>
            </a:r>
            <a:r>
              <a:rPr lang="zh-CN" altLang="en-US" sz="2400" dirty="0">
                <a:latin typeface="FandolKai-Regular-Identity-H"/>
              </a:rPr>
              <a:t>的最小值点唯一．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2449523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2 </a:t>
            </a:r>
            <a:r>
              <a:rPr lang="zh-CN" altLang="en-US" sz="3600" dirty="0">
                <a:ea typeface="楷体_GB2312" pitchFamily="49" charset="-122"/>
              </a:rPr>
              <a:t>凸函数</a:t>
            </a:r>
            <a:endParaRPr lang="zh-CN" altLang="en-US" sz="3200" dirty="0"/>
          </a:p>
        </p:txBody>
      </p:sp>
      <p:graphicFrame>
        <p:nvGraphicFramePr>
          <p:cNvPr id="26632" name="Object 9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542525795"/>
              </p:ext>
            </p:extLst>
          </p:nvPr>
        </p:nvGraphicFramePr>
        <p:xfrm>
          <a:off x="808522" y="3937802"/>
          <a:ext cx="7777163" cy="234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1" name="Equation" r:id="rId3" imgW="3619500" imgH="1092200" progId="Equation.DSMT4">
                  <p:embed/>
                </p:oleObj>
              </mc:Choice>
              <mc:Fallback>
                <p:oleObj name="Equation" r:id="rId3" imgW="3619500" imgH="1092200" progId="Equation.DSMT4">
                  <p:embed/>
                  <p:pic>
                    <p:nvPicPr>
                      <p:cNvPr id="2663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522" y="3937802"/>
                        <a:ext cx="7777163" cy="234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Text Box 4"/>
          <p:cNvSpPr txBox="1">
            <a:spLocks noChangeArrowheads="1"/>
          </p:cNvSpPr>
          <p:nvPr/>
        </p:nvSpPr>
        <p:spPr bwMode="auto">
          <a:xfrm>
            <a:off x="574675" y="1676902"/>
            <a:ext cx="8569325" cy="210026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定理</a:t>
            </a:r>
            <a:r>
              <a:rPr lang="en-US" altLang="zh-CN" sz="2400" b="1" dirty="0">
                <a:solidFill>
                  <a:srgbClr val="0000FF"/>
                </a:solidFill>
                <a:ea typeface="楷体_GB2312" pitchFamily="49" charset="-122"/>
              </a:rPr>
              <a:t>7</a:t>
            </a:r>
            <a:r>
              <a:rPr lang="en-US" altLang="zh-CN" sz="2400" dirty="0">
                <a:solidFill>
                  <a:srgbClr val="0000FF"/>
                </a:solidFill>
                <a:ea typeface="楷体_GB2312" pitchFamily="49" charset="-122"/>
              </a:rPr>
              <a:t>. </a:t>
            </a:r>
            <a:r>
              <a:rPr lang="zh-CN" altLang="en-US" sz="2400" dirty="0">
                <a:ea typeface="楷体_GB2312" pitchFamily="49" charset="-122"/>
              </a:rPr>
              <a:t>设</a:t>
            </a:r>
            <a:r>
              <a:rPr lang="en-US" altLang="zh-CN" sz="2400" b="1" i="1" dirty="0">
                <a:ea typeface="楷体_GB2312" pitchFamily="49" charset="-122"/>
              </a:rPr>
              <a:t>S </a:t>
            </a:r>
            <a:r>
              <a:rPr lang="zh-CN" altLang="en-US" sz="2400" b="1" dirty="0">
                <a:ea typeface="楷体_GB2312" pitchFamily="49" charset="-122"/>
              </a:rPr>
              <a:t>是</a:t>
            </a:r>
            <a:r>
              <a:rPr lang="en-US" altLang="zh-CN" sz="2400" b="1" i="1" dirty="0">
                <a:ea typeface="楷体_GB2312" pitchFamily="49" charset="-122"/>
              </a:rPr>
              <a:t>R</a:t>
            </a:r>
            <a:r>
              <a:rPr lang="en-US" altLang="zh-CN" sz="2400" i="1" baseline="30000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中的非空开凸集</a:t>
            </a:r>
            <a:r>
              <a:rPr lang="en-US" altLang="zh-CN" sz="2400" dirty="0">
                <a:ea typeface="楷体_GB2312" pitchFamily="49" charset="-122"/>
              </a:rPr>
              <a:t>, </a:t>
            </a:r>
            <a:r>
              <a:rPr lang="en-US" altLang="zh-CN" sz="2400" i="1" dirty="0">
                <a:ea typeface="楷体_GB2312" pitchFamily="49" charset="-122"/>
              </a:rPr>
              <a:t>f</a:t>
            </a:r>
            <a:r>
              <a:rPr lang="en-US" altLang="zh-CN" sz="2400" dirty="0">
                <a:ea typeface="楷体_GB2312" pitchFamily="49" charset="-122"/>
              </a:rPr>
              <a:t>(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dirty="0">
                <a:ea typeface="楷体_GB2312" pitchFamily="49" charset="-122"/>
              </a:rPr>
              <a:t>):S</a:t>
            </a:r>
            <a:r>
              <a:rPr lang="en-US" altLang="zh-CN" sz="2400" dirty="0">
                <a:ea typeface="楷体_GB2312" pitchFamily="49" charset="-122"/>
                <a:sym typeface="Euclid Symbol" panose="05050102010706020507" pitchFamily="18" charset="2"/>
              </a:rPr>
              <a:t>R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是可微的函数 则 </a:t>
            </a:r>
            <a:r>
              <a:rPr lang="en-US" altLang="zh-CN" sz="2400" i="1" dirty="0">
                <a:ea typeface="楷体_GB2312" pitchFamily="49" charset="-122"/>
              </a:rPr>
              <a:t>f</a:t>
            </a:r>
            <a:r>
              <a:rPr lang="en-US" altLang="zh-CN" sz="2400" dirty="0">
                <a:ea typeface="楷体_GB2312" pitchFamily="49" charset="-122"/>
              </a:rPr>
              <a:t>(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dirty="0">
                <a:ea typeface="楷体_GB2312" pitchFamily="49" charset="-122"/>
              </a:rPr>
              <a:t>) </a:t>
            </a:r>
            <a:r>
              <a:rPr lang="zh-CN" altLang="en-US" sz="2400" dirty="0">
                <a:ea typeface="楷体_GB2312" pitchFamily="49" charset="-122"/>
              </a:rPr>
              <a:t>是凸函数当且仅当对任意的 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dirty="0">
                <a:ea typeface="楷体_GB2312" pitchFamily="49" charset="-122"/>
              </a:rPr>
              <a:t>*</a:t>
            </a:r>
            <a:r>
              <a:rPr lang="en-US" altLang="zh-CN" sz="2400" dirty="0"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ea typeface="楷体_GB2312" pitchFamily="49" charset="-122"/>
              </a:rPr>
              <a:t>S</a:t>
            </a:r>
            <a:r>
              <a:rPr lang="en-US" altLang="zh-CN" sz="2400" dirty="0">
                <a:ea typeface="楷体_GB2312" pitchFamily="49" charset="-122"/>
              </a:rPr>
              <a:t>, </a:t>
            </a:r>
            <a:r>
              <a:rPr lang="zh-CN" altLang="en-US" sz="2400" dirty="0">
                <a:ea typeface="楷体_GB2312" pitchFamily="49" charset="-122"/>
              </a:rPr>
              <a:t>我们有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i="1" dirty="0">
                <a:ea typeface="楷体_GB2312" pitchFamily="49" charset="-122"/>
              </a:rPr>
              <a:t>f</a:t>
            </a:r>
            <a:r>
              <a:rPr lang="en-US" altLang="zh-CN" sz="2400" dirty="0">
                <a:ea typeface="楷体_GB2312" pitchFamily="49" charset="-122"/>
              </a:rPr>
              <a:t>(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dirty="0">
                <a:ea typeface="楷体_GB2312" pitchFamily="49" charset="-122"/>
              </a:rPr>
              <a:t>) </a:t>
            </a:r>
            <a:r>
              <a:rPr lang="en-US" altLang="zh-CN" sz="2400" dirty="0">
                <a:ea typeface="楷体_GB2312" pitchFamily="49" charset="-122"/>
                <a:sym typeface="Symbol" panose="05050102010706020507" pitchFamily="18" charset="2"/>
              </a:rPr>
              <a:t> </a:t>
            </a:r>
            <a:r>
              <a:rPr lang="en-US" altLang="zh-CN" sz="2400" i="1" dirty="0">
                <a:ea typeface="楷体_GB2312" pitchFamily="49" charset="-122"/>
              </a:rPr>
              <a:t>f</a:t>
            </a:r>
            <a:r>
              <a:rPr lang="en-US" altLang="zh-CN" sz="2400" dirty="0">
                <a:ea typeface="楷体_GB2312" pitchFamily="49" charset="-122"/>
              </a:rPr>
              <a:t>(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dirty="0">
                <a:ea typeface="楷体_GB2312" pitchFamily="49" charset="-122"/>
              </a:rPr>
              <a:t>*)+</a:t>
            </a:r>
            <a:r>
              <a:rPr lang="en-US" altLang="zh-CN" sz="2400" dirty="0">
                <a:ea typeface="楷体_GB2312" pitchFamily="49" charset="-122"/>
                <a:sym typeface="Symbol" panose="05050102010706020507" pitchFamily="18" charset="2"/>
              </a:rPr>
              <a:t></a:t>
            </a:r>
            <a:r>
              <a:rPr lang="en-US" altLang="zh-CN" sz="2400" i="1" dirty="0">
                <a:ea typeface="楷体_GB2312" pitchFamily="49" charset="-122"/>
              </a:rPr>
              <a:t>f</a:t>
            </a:r>
            <a:r>
              <a:rPr lang="en-US" altLang="zh-CN" sz="2400" dirty="0">
                <a:ea typeface="楷体_GB2312" pitchFamily="49" charset="-122"/>
              </a:rPr>
              <a:t>(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dirty="0">
                <a:ea typeface="楷体_GB2312" pitchFamily="49" charset="-122"/>
              </a:rPr>
              <a:t>*) (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dirty="0">
                <a:ea typeface="楷体_GB2312" pitchFamily="49" charset="-122"/>
              </a:rPr>
              <a:t>-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dirty="0">
                <a:ea typeface="楷体_GB2312" pitchFamily="49" charset="-122"/>
              </a:rPr>
              <a:t>*),  </a:t>
            </a:r>
            <a:r>
              <a:rPr lang="zh-CN" altLang="en-US" sz="2400" dirty="0">
                <a:ea typeface="楷体_GB2312" pitchFamily="49" charset="-122"/>
              </a:rPr>
              <a:t>任意 </a:t>
            </a:r>
            <a:r>
              <a:rPr lang="en-US" altLang="zh-CN" sz="2400" b="1" i="1" dirty="0" err="1">
                <a:ea typeface="楷体_GB2312" pitchFamily="49" charset="-122"/>
              </a:rPr>
              <a:t>x</a:t>
            </a:r>
            <a:r>
              <a:rPr lang="en-US" altLang="zh-CN" sz="2400" dirty="0" err="1"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ea typeface="楷体_GB2312" pitchFamily="49" charset="-122"/>
              </a:rPr>
              <a:t>S</a:t>
            </a:r>
            <a:r>
              <a:rPr lang="en-US" altLang="zh-CN" sz="2400" dirty="0">
                <a:ea typeface="楷体_GB2312" pitchFamily="49" charset="-122"/>
              </a:rPr>
              <a:t>.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ea typeface="楷体_GB2312" pitchFamily="49" charset="-122"/>
                <a:sym typeface="Symbol" panose="05050102010706020507" pitchFamily="18" charset="2"/>
              </a:rPr>
              <a:t>类似的</a:t>
            </a:r>
            <a:r>
              <a:rPr lang="en-US" altLang="zh-CN" sz="2400" dirty="0"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lang="en-US" altLang="zh-CN" sz="2400" i="1" dirty="0">
                <a:ea typeface="楷体_GB2312" pitchFamily="49" charset="-122"/>
              </a:rPr>
              <a:t>f</a:t>
            </a:r>
            <a:r>
              <a:rPr lang="en-US" altLang="zh-CN" sz="2400" dirty="0">
                <a:ea typeface="楷体_GB2312" pitchFamily="49" charset="-122"/>
              </a:rPr>
              <a:t>(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dirty="0">
                <a:ea typeface="楷体_GB2312" pitchFamily="49" charset="-122"/>
              </a:rPr>
              <a:t>)</a:t>
            </a:r>
            <a:r>
              <a:rPr lang="en-US" altLang="zh-CN" sz="2400" dirty="0"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ea typeface="楷体_GB2312" pitchFamily="49" charset="-122"/>
                <a:sym typeface="Symbol" panose="05050102010706020507" pitchFamily="18" charset="2"/>
              </a:rPr>
              <a:t>严格凸当且仅当对每一 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dirty="0">
                <a:ea typeface="楷体_GB2312" pitchFamily="49" charset="-122"/>
              </a:rPr>
              <a:t>*</a:t>
            </a:r>
            <a:r>
              <a:rPr lang="en-US" altLang="zh-CN" sz="2400" dirty="0"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ea typeface="楷体_GB2312" pitchFamily="49" charset="-122"/>
              </a:rPr>
              <a:t>S</a:t>
            </a:r>
            <a:r>
              <a:rPr lang="en-US" altLang="zh-CN" sz="2400" dirty="0">
                <a:ea typeface="楷体_GB2312" pitchFamily="49" charset="-122"/>
              </a:rPr>
              <a:t>,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i="1" dirty="0">
                <a:ea typeface="楷体_GB2312" pitchFamily="49" charset="-122"/>
              </a:rPr>
              <a:t>f</a:t>
            </a:r>
            <a:r>
              <a:rPr lang="en-US" altLang="zh-CN" sz="2400" dirty="0">
                <a:ea typeface="楷体_GB2312" pitchFamily="49" charset="-122"/>
              </a:rPr>
              <a:t>(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dirty="0">
                <a:ea typeface="楷体_GB2312" pitchFamily="49" charset="-122"/>
              </a:rPr>
              <a:t>)&gt;</a:t>
            </a:r>
            <a:r>
              <a:rPr lang="en-US" altLang="zh-CN" sz="2400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ea typeface="楷体_GB2312" pitchFamily="49" charset="-122"/>
              </a:rPr>
              <a:t>f</a:t>
            </a:r>
            <a:r>
              <a:rPr lang="en-US" altLang="zh-CN" sz="2400" dirty="0">
                <a:ea typeface="楷体_GB2312" pitchFamily="49" charset="-122"/>
              </a:rPr>
              <a:t>(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dirty="0">
                <a:ea typeface="楷体_GB2312" pitchFamily="49" charset="-122"/>
              </a:rPr>
              <a:t>*)+</a:t>
            </a:r>
            <a:r>
              <a:rPr lang="en-US" altLang="zh-CN" sz="2400" dirty="0">
                <a:ea typeface="楷体_GB2312" pitchFamily="49" charset="-122"/>
                <a:sym typeface="Symbol" panose="05050102010706020507" pitchFamily="18" charset="2"/>
              </a:rPr>
              <a:t></a:t>
            </a:r>
            <a:r>
              <a:rPr lang="en-US" altLang="zh-CN" sz="2400" i="1" dirty="0">
                <a:ea typeface="楷体_GB2312" pitchFamily="49" charset="-122"/>
              </a:rPr>
              <a:t>f</a:t>
            </a:r>
            <a:r>
              <a:rPr lang="en-US" altLang="zh-CN" sz="2400" dirty="0">
                <a:ea typeface="楷体_GB2312" pitchFamily="49" charset="-122"/>
              </a:rPr>
              <a:t>(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dirty="0">
                <a:ea typeface="楷体_GB2312" pitchFamily="49" charset="-122"/>
              </a:rPr>
              <a:t>*) (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dirty="0">
                <a:ea typeface="楷体_GB2312" pitchFamily="49" charset="-122"/>
              </a:rPr>
              <a:t>-</a:t>
            </a:r>
            <a:r>
              <a:rPr lang="en-US" altLang="zh-CN" sz="2400" b="1" i="1" dirty="0">
                <a:ea typeface="楷体_GB2312" pitchFamily="49" charset="-122"/>
              </a:rPr>
              <a:t>x</a:t>
            </a:r>
            <a:r>
              <a:rPr lang="en-US" altLang="zh-CN" sz="2400" dirty="0">
                <a:ea typeface="楷体_GB2312" pitchFamily="49" charset="-122"/>
              </a:rPr>
              <a:t>*),  </a:t>
            </a:r>
            <a:r>
              <a:rPr lang="zh-CN" altLang="en-US" sz="2400" dirty="0">
                <a:ea typeface="楷体_GB2312" pitchFamily="49" charset="-122"/>
              </a:rPr>
              <a:t>任意 </a:t>
            </a:r>
            <a:r>
              <a:rPr lang="en-US" altLang="zh-CN" sz="2400" b="1" i="1" dirty="0" err="1">
                <a:ea typeface="楷体_GB2312" pitchFamily="49" charset="-122"/>
              </a:rPr>
              <a:t>x</a:t>
            </a:r>
            <a:r>
              <a:rPr lang="en-US" altLang="zh-CN" sz="2400" dirty="0" err="1"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ea typeface="楷体_GB2312" pitchFamily="49" charset="-122"/>
              </a:rPr>
              <a:t>S</a:t>
            </a:r>
            <a:r>
              <a:rPr lang="en-US" altLang="zh-CN" sz="2400" dirty="0">
                <a:ea typeface="楷体_GB2312" pitchFamily="49" charset="-122"/>
              </a:rPr>
              <a:t>.</a:t>
            </a:r>
          </a:p>
        </p:txBody>
      </p:sp>
      <p:sp>
        <p:nvSpPr>
          <p:cNvPr id="26633" name="Rectangle 11"/>
          <p:cNvSpPr>
            <a:spLocks noChangeArrowheads="1"/>
          </p:cNvSpPr>
          <p:nvPr/>
        </p:nvSpPr>
        <p:spPr bwMode="auto">
          <a:xfrm>
            <a:off x="395288" y="1052513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Pct val="35000"/>
              <a:buNone/>
            </a:pPr>
            <a:r>
              <a:rPr lang="zh-CN" altLang="en-US" sz="2800" b="1" dirty="0"/>
              <a:t>凸函数的判别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2 </a:t>
            </a:r>
            <a:r>
              <a:rPr lang="zh-CN" altLang="en-US" sz="3600" dirty="0">
                <a:ea typeface="楷体_GB2312" pitchFamily="49" charset="-122"/>
              </a:rPr>
              <a:t>凸函数</a:t>
            </a:r>
            <a:endParaRPr lang="zh-CN" altLang="en-US" sz="3200" dirty="0"/>
          </a:p>
        </p:txBody>
      </p:sp>
      <p:graphicFrame>
        <p:nvGraphicFramePr>
          <p:cNvPr id="27655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354835854"/>
              </p:ext>
            </p:extLst>
          </p:nvPr>
        </p:nvGraphicFramePr>
        <p:xfrm>
          <a:off x="625642" y="1081388"/>
          <a:ext cx="6337300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4" name="Equation" r:id="rId3" imgW="2527300" imgH="469900" progId="Equation.DSMT4">
                  <p:embed/>
                </p:oleObj>
              </mc:Choice>
              <mc:Fallback>
                <p:oleObj name="Equation" r:id="rId3" imgW="2527300" imgH="469900" progId="Equation.DSMT4">
                  <p:embed/>
                  <p:pic>
                    <p:nvPicPr>
                      <p:cNvPr id="2765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642" y="1081388"/>
                        <a:ext cx="6337300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875849"/>
              </p:ext>
            </p:extLst>
          </p:nvPr>
        </p:nvGraphicFramePr>
        <p:xfrm>
          <a:off x="611188" y="2420938"/>
          <a:ext cx="8002587" cy="364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5" name="Equation" r:id="rId5" imgW="7213600" imgH="3060700" progId="Equation.DSMT4">
                  <p:embed/>
                </p:oleObj>
              </mc:Choice>
              <mc:Fallback>
                <p:oleObj name="Equation" r:id="rId5" imgW="7213600" imgH="3060700" progId="Equation.DSMT4">
                  <p:embed/>
                  <p:pic>
                    <p:nvPicPr>
                      <p:cNvPr id="2765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420938"/>
                        <a:ext cx="8002587" cy="3646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2 </a:t>
            </a:r>
            <a:r>
              <a:rPr lang="zh-CN" altLang="en-US" sz="3600" dirty="0">
                <a:ea typeface="楷体_GB2312" pitchFamily="49" charset="-122"/>
              </a:rPr>
              <a:t>凸函数</a:t>
            </a:r>
            <a:endParaRPr lang="zh-CN" altLang="en-US" sz="3200" dirty="0"/>
          </a:p>
        </p:txBody>
      </p:sp>
      <p:graphicFrame>
        <p:nvGraphicFramePr>
          <p:cNvPr id="28679" name="Object 5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2773306"/>
              </p:ext>
            </p:extLst>
          </p:nvPr>
        </p:nvGraphicFramePr>
        <p:xfrm>
          <a:off x="933650" y="4305819"/>
          <a:ext cx="5543550" cy="205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9" name="Equation" r:id="rId3" imgW="5587920" imgH="2070000" progId="Equation.DSMT4">
                  <p:embed/>
                </p:oleObj>
              </mc:Choice>
              <mc:Fallback>
                <p:oleObj name="Equation" r:id="rId3" imgW="5587920" imgH="2070000" progId="Equation.DSMT4">
                  <p:embed/>
                  <p:pic>
                    <p:nvPicPr>
                      <p:cNvPr id="2867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650" y="4305819"/>
                        <a:ext cx="5543550" cy="205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678" name="Text Box 4"/>
              <p:cNvSpPr txBox="1">
                <a:spLocks noChangeArrowheads="1"/>
              </p:cNvSpPr>
              <p:nvPr/>
            </p:nvSpPr>
            <p:spPr bwMode="auto">
              <a:xfrm>
                <a:off x="323850" y="1052513"/>
                <a:ext cx="8569325" cy="3032177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400" b="1" dirty="0">
                    <a:solidFill>
                      <a:srgbClr val="0000FF"/>
                    </a:solidFill>
                    <a:ea typeface="楷体_GB2312" pitchFamily="49" charset="-122"/>
                  </a:rPr>
                  <a:t>定理</a:t>
                </a:r>
                <a:r>
                  <a:rPr lang="en-US" altLang="zh-CN" sz="2400" b="1" dirty="0">
                    <a:solidFill>
                      <a:srgbClr val="0000FF"/>
                    </a:solidFill>
                    <a:ea typeface="楷体_GB2312" pitchFamily="49" charset="-122"/>
                  </a:rPr>
                  <a:t>8</a:t>
                </a:r>
                <a:r>
                  <a:rPr lang="en-US" altLang="zh-CN" sz="2400" dirty="0">
                    <a:solidFill>
                      <a:srgbClr val="0000FF"/>
                    </a:solidFill>
                    <a:ea typeface="楷体_GB2312" pitchFamily="49" charset="-122"/>
                  </a:rPr>
                  <a:t>.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设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S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是</a:t>
                </a:r>
                <a:r>
                  <a:rPr lang="zh-CN" altLang="en-US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R</a:t>
                </a:r>
                <a:r>
                  <a:rPr lang="en-US" altLang="zh-CN" sz="2400" i="1" baseline="30000" dirty="0">
                    <a:solidFill>
                      <a:schemeClr val="tx1"/>
                    </a:solidFill>
                    <a:ea typeface="楷体_GB2312" pitchFamily="49" charset="-122"/>
                  </a:rPr>
                  <a:t>n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上的非空开凸集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, 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)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为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S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到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R</a:t>
                </a:r>
                <a:r>
                  <a:rPr lang="zh-CN" altLang="en-US" sz="2400" b="1" dirty="0">
                    <a:solidFill>
                      <a:schemeClr val="tx1"/>
                    </a:solidFill>
                    <a:ea typeface="楷体_GB2312" pitchFamily="49" charset="-122"/>
                  </a:rPr>
                  <a:t>上的可微函数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.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则 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)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是凸函数当且仅当任意的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,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y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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S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,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有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                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(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y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)-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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))</a:t>
                </a:r>
                <a:r>
                  <a:rPr lang="en-US" altLang="zh-CN" sz="2400" baseline="30000" dirty="0">
                    <a:solidFill>
                      <a:schemeClr val="tx1"/>
                    </a:solidFill>
                    <a:ea typeface="楷体_GB2312" pitchFamily="49" charset="-122"/>
                  </a:rPr>
                  <a:t>T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y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-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)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0.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类似的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, 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严格凸当且仅当对任意相异的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,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y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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S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,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                 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(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y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)-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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))</a:t>
                </a:r>
                <a:r>
                  <a:rPr lang="en-US" altLang="zh-CN" sz="2400" baseline="30000" dirty="0">
                    <a:solidFill>
                      <a:schemeClr val="tx1"/>
                    </a:solidFill>
                    <a:ea typeface="楷体_GB2312" pitchFamily="49" charset="-122"/>
                  </a:rPr>
                  <a:t>T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y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-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)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&gt;0.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 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f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是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m-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强凸函数当且仅当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对任意相异的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,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y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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楷体_GB2312" pitchFamily="49" charset="-122"/>
                  </a:rPr>
                  <a:t>S</a:t>
                </a:r>
                <a:endParaRPr lang="en-US" altLang="zh-CN" sz="2400" dirty="0">
                  <a:solidFill>
                    <a:schemeClr val="tx1"/>
                  </a:solidFill>
                  <a:ea typeface="楷体_GB2312" pitchFamily="49" charset="-122"/>
                </a:endParaRPr>
              </a:p>
              <a:p>
                <a:pPr ea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𝑇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)≥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dirty="0">
                  <a:solidFill>
                    <a:schemeClr val="tx1"/>
                  </a:solidFill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28678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850" y="1052513"/>
                <a:ext cx="8569325" cy="3032177"/>
              </a:xfrm>
              <a:prstGeom prst="rect">
                <a:avLst/>
              </a:prstGeom>
              <a:blipFill>
                <a:blip r:embed="rId5"/>
                <a:stretch>
                  <a:fillRect l="-1067" t="-2012"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0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108256"/>
              </p:ext>
            </p:extLst>
          </p:nvPr>
        </p:nvGraphicFramePr>
        <p:xfrm>
          <a:off x="882450" y="1470392"/>
          <a:ext cx="6100763" cy="423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3" name="Equation" r:id="rId3" imgW="6794500" imgH="4711700" progId="Equation.DSMT4">
                  <p:embed/>
                </p:oleObj>
              </mc:Choice>
              <mc:Fallback>
                <p:oleObj name="Equation" r:id="rId3" imgW="6794500" imgH="4711700" progId="Equation.DSMT4">
                  <p:embed/>
                  <p:pic>
                    <p:nvPicPr>
                      <p:cNvPr id="2970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450" y="1470392"/>
                        <a:ext cx="6100763" cy="423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Rectangle 3"/>
          <p:cNvSpPr>
            <a:spLocks noChangeArrowheads="1"/>
          </p:cNvSpPr>
          <p:nvPr/>
        </p:nvSpPr>
        <p:spPr bwMode="auto">
          <a:xfrm>
            <a:off x="0" y="0"/>
            <a:ext cx="576421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/>
          </a:p>
        </p:txBody>
      </p:sp>
      <p:sp>
        <p:nvSpPr>
          <p:cNvPr id="2970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b="1" dirty="0"/>
              <a:t>2 </a:t>
            </a:r>
            <a:r>
              <a:rPr lang="zh-CN" altLang="en-US" dirty="0">
                <a:ea typeface="楷体_GB2312" pitchFamily="49" charset="-122"/>
              </a:rPr>
              <a:t>凸函数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2 </a:t>
            </a:r>
            <a:r>
              <a:rPr lang="zh-CN" altLang="en-US" sz="3600" dirty="0">
                <a:ea typeface="楷体_GB2312" pitchFamily="49" charset="-122"/>
              </a:rPr>
              <a:t>凸函数</a:t>
            </a:r>
            <a:endParaRPr lang="zh-CN" altLang="en-US" sz="3200" dirty="0"/>
          </a:p>
        </p:txBody>
      </p:sp>
      <p:sp>
        <p:nvSpPr>
          <p:cNvPr id="30726" name="Text Box 10"/>
          <p:cNvSpPr txBox="1">
            <a:spLocks noChangeArrowheads="1"/>
          </p:cNvSpPr>
          <p:nvPr/>
        </p:nvSpPr>
        <p:spPr bwMode="auto">
          <a:xfrm>
            <a:off x="443718" y="1095394"/>
            <a:ext cx="8314315" cy="22751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定理</a:t>
            </a:r>
            <a:r>
              <a:rPr lang="en-US" altLang="zh-CN" sz="2400" b="1" dirty="0">
                <a:solidFill>
                  <a:srgbClr val="0000FF"/>
                </a:solidFill>
                <a:ea typeface="楷体_GB2312" pitchFamily="49" charset="-122"/>
              </a:rPr>
              <a:t> 9 </a:t>
            </a:r>
            <a:r>
              <a:rPr lang="zh-CN" altLang="en-US" sz="2400" dirty="0"/>
              <a:t>设</a:t>
            </a:r>
            <a:r>
              <a:rPr lang="en-US" altLang="zh-CN" sz="2400" b="1" i="1" dirty="0"/>
              <a:t>S </a:t>
            </a:r>
            <a:r>
              <a:rPr lang="zh-CN" altLang="en-US" sz="2400" dirty="0"/>
              <a:t>是</a:t>
            </a:r>
            <a:r>
              <a:rPr lang="zh-CN" altLang="en-US" sz="2400" b="1" i="1" dirty="0"/>
              <a:t> </a:t>
            </a:r>
            <a:r>
              <a:rPr lang="en-US" altLang="zh-CN" sz="2400" b="1" i="1" dirty="0"/>
              <a:t>R</a:t>
            </a:r>
            <a:r>
              <a:rPr lang="en-US" altLang="zh-CN" sz="2400" i="1" baseline="30000" dirty="0"/>
              <a:t>n</a:t>
            </a:r>
            <a:r>
              <a:rPr lang="en-US" altLang="zh-CN" sz="2400" dirty="0"/>
              <a:t> </a:t>
            </a:r>
            <a:r>
              <a:rPr lang="zh-CN" altLang="en-US" sz="2400" dirty="0"/>
              <a:t>上的非空开凸集</a:t>
            </a:r>
            <a:r>
              <a:rPr lang="en-US" altLang="zh-CN" sz="2400" dirty="0"/>
              <a:t>,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b="1" i="1" dirty="0"/>
              <a:t>x</a:t>
            </a:r>
            <a:r>
              <a:rPr lang="en-US" altLang="zh-CN" sz="2400" dirty="0"/>
              <a:t>) </a:t>
            </a:r>
            <a:r>
              <a:rPr lang="zh-CN" altLang="en-US" sz="2400" dirty="0"/>
              <a:t>为 </a:t>
            </a:r>
            <a:r>
              <a:rPr lang="en-US" altLang="zh-CN" sz="2400" b="1" i="1" dirty="0"/>
              <a:t>S</a:t>
            </a:r>
            <a:r>
              <a:rPr lang="en-US" altLang="zh-CN" sz="2400" dirty="0"/>
              <a:t> </a:t>
            </a:r>
            <a:r>
              <a:rPr lang="zh-CN" altLang="en-US" sz="2400" dirty="0"/>
              <a:t>到 </a:t>
            </a:r>
            <a:r>
              <a:rPr lang="en-US" altLang="zh-CN" sz="2400" b="1" i="1" dirty="0"/>
              <a:t>R</a:t>
            </a:r>
            <a:r>
              <a:rPr lang="zh-CN" altLang="en-US" sz="2400" b="1" dirty="0"/>
              <a:t>上的二次可微函数</a:t>
            </a:r>
            <a:r>
              <a:rPr lang="en-US" altLang="zh-CN" sz="2400" dirty="0"/>
              <a:t>. </a:t>
            </a:r>
            <a:r>
              <a:rPr lang="zh-CN" altLang="en-US" sz="2400" dirty="0"/>
              <a:t>则</a:t>
            </a:r>
            <a:r>
              <a:rPr lang="en-US" altLang="zh-CN" sz="2400" dirty="0"/>
              <a:t>(1)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b="1" i="1" dirty="0"/>
              <a:t>x</a:t>
            </a:r>
            <a:r>
              <a:rPr lang="en-US" altLang="zh-CN" sz="2400" dirty="0"/>
              <a:t>) </a:t>
            </a:r>
            <a:r>
              <a:rPr lang="zh-CN" altLang="en-US" sz="2400" dirty="0"/>
              <a:t>是凸函数当且仅当</a:t>
            </a:r>
            <a:r>
              <a:rPr lang="en-US" altLang="zh-CN" sz="2400" dirty="0"/>
              <a:t>S</a:t>
            </a:r>
            <a:r>
              <a:rPr lang="zh-CN" altLang="en-US" sz="2400" dirty="0"/>
              <a:t>上每一点的</a:t>
            </a:r>
            <a:r>
              <a:rPr lang="en-US" altLang="zh-CN" sz="2400" dirty="0">
                <a:ea typeface="楷体_GB2312" pitchFamily="49" charset="-122"/>
              </a:rPr>
              <a:t>Hessian</a:t>
            </a:r>
            <a:r>
              <a:rPr lang="zh-CN" altLang="en-US" sz="2400" dirty="0">
                <a:ea typeface="楷体_GB2312" pitchFamily="49" charset="-122"/>
              </a:rPr>
              <a:t>矩阵是半正定的</a:t>
            </a:r>
            <a:r>
              <a:rPr lang="en-US" altLang="zh-CN" sz="2400" dirty="0"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sz="2400" dirty="0">
                <a:ea typeface="楷体_GB2312" pitchFamily="49" charset="-122"/>
              </a:rPr>
              <a:t>(2)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b="1" i="1" dirty="0"/>
              <a:t>x</a:t>
            </a:r>
            <a:r>
              <a:rPr lang="en-US" altLang="zh-CN" sz="2400" dirty="0"/>
              <a:t>) </a:t>
            </a:r>
            <a:r>
              <a:rPr lang="zh-CN" altLang="en-US" sz="2400" dirty="0"/>
              <a:t>是严格凸函数当且仅当</a:t>
            </a:r>
            <a:r>
              <a:rPr lang="en-US" altLang="zh-CN" sz="2400" dirty="0"/>
              <a:t>S</a:t>
            </a:r>
            <a:r>
              <a:rPr lang="zh-CN" altLang="en-US" sz="2400" dirty="0"/>
              <a:t>上每一点的</a:t>
            </a:r>
            <a:r>
              <a:rPr lang="en-US" altLang="zh-CN" sz="2400" dirty="0"/>
              <a:t>Hessian</a:t>
            </a:r>
            <a:r>
              <a:rPr lang="zh-CN" altLang="en-US" sz="2400" dirty="0"/>
              <a:t>矩阵是正定的</a:t>
            </a:r>
            <a:r>
              <a:rPr lang="en-US" altLang="zh-CN" sz="2400" dirty="0"/>
              <a:t>.</a:t>
            </a:r>
            <a:endParaRPr lang="en-US" altLang="zh-CN" sz="2400" dirty="0"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2 </a:t>
            </a:r>
            <a:r>
              <a:rPr lang="zh-CN" altLang="en-US" dirty="0">
                <a:ea typeface="楷体_GB2312" pitchFamily="49" charset="-122"/>
              </a:rPr>
              <a:t>凸函数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490888" y="1175151"/>
                <a:ext cx="8440738" cy="2097088"/>
              </a:xfrm>
              <a:prstGeom prst="rect">
                <a:avLst/>
              </a:prstGeo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zh-CN" altLang="en-US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是定义在凸集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⊆</m:t>
                    </m:r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上的函数，则</a:t>
                </a:r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 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是凸函数当且仅当对任意的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8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</a:t>
                </a:r>
              </a:p>
              <a:p>
                <a:pPr marL="0" indent="0">
                  <a:buNone/>
                </a:pP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 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 g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tv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是凸函数，</a:t>
                </a:r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的定义域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 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{ 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| x 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tv ∈ 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490888" y="1175151"/>
                <a:ext cx="8440738" cy="2097088"/>
              </a:xfrm>
              <a:prstGeom prst="rect">
                <a:avLst/>
              </a:prstGeom>
              <a:blipFill>
                <a:blip r:embed="rId2"/>
                <a:stretch>
                  <a:fillRect l="-1517" t="-4070" b="-6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678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2 </a:t>
            </a:r>
            <a:r>
              <a:rPr lang="zh-CN" altLang="en-US" dirty="0">
                <a:ea typeface="楷体_GB2312" pitchFamily="49" charset="-122"/>
              </a:rPr>
              <a:t>凸函数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50997" y="2057400"/>
            <a:ext cx="7996237" cy="20161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67" y="4417784"/>
            <a:ext cx="8243712" cy="8855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515D207-435E-4913-BE4C-B501DC444E4D}"/>
                  </a:ext>
                </a:extLst>
              </p:cNvPr>
              <p:cNvSpPr/>
              <p:nvPr/>
            </p:nvSpPr>
            <p:spPr>
              <a:xfrm>
                <a:off x="464195" y="972018"/>
                <a:ext cx="8381422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例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</a:t>
                </a:r>
                <a:r>
                  <a:rPr lang="en-US" altLang="zh-CN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lndet</a:t>
                </a:r>
                <a:r>
                  <a:rPr lang="en-US" altLang="zh-CN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是凸函数，其中 </a:t>
                </a:r>
                <a:r>
                  <a:rPr lang="en-US" altLang="zh-CN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++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．</a:t>
                </a:r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证明：由上述定理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515D207-435E-4913-BE4C-B501DC444E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95" y="972018"/>
                <a:ext cx="8381422" cy="954107"/>
              </a:xfrm>
              <a:prstGeom prst="rect">
                <a:avLst/>
              </a:prstGeom>
              <a:blipFill>
                <a:blip r:embed="rId4"/>
                <a:stretch>
                  <a:fillRect l="-1455" t="-8280" b="-146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57730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2 </a:t>
            </a:r>
            <a:r>
              <a:rPr lang="zh-CN" altLang="en-US" dirty="0">
                <a:ea typeface="楷体_GB2312" pitchFamily="49" charset="-122"/>
              </a:rPr>
              <a:t>凸函数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00514" y="1104499"/>
            <a:ext cx="7772400" cy="4114800"/>
          </a:xfrm>
          <a:prstGeom prst="rect">
            <a:avLst/>
          </a:prstGeom>
        </p:spPr>
        <p:txBody>
          <a:bodyPr/>
          <a:lstStyle/>
          <a:p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凸函数的例子：</a:t>
            </a:r>
          </a:p>
          <a:p>
            <a:pPr marL="457200" indent="-457200">
              <a:buAutoNum type="arabicParenBoth"/>
            </a:pP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仿射函数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，其中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x ∈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是向量；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⟨A,X⟩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，其中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X ∈ 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是矩阵；</a:t>
            </a:r>
          </a:p>
          <a:p>
            <a:pPr marL="0" indent="0">
              <a:buNone/>
            </a:pP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指数函数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∈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是凸函数；</a:t>
            </a:r>
          </a:p>
          <a:p>
            <a:pPr marL="0" indent="0">
              <a:buNone/>
            </a:pP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幂函数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x</a:t>
            </a:r>
            <a:r>
              <a:rPr lang="en-US" altLang="zh-CN" sz="2400" b="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&gt;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，当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⩾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⩽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时为凸函数；</a:t>
            </a:r>
          </a:p>
          <a:p>
            <a:pPr marL="0" indent="0">
              <a:buNone/>
            </a:pP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负熵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x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ln 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&gt;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0)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是凸函数；</a:t>
            </a:r>
          </a:p>
          <a:p>
            <a:pPr marL="0" indent="0">
              <a:buNone/>
            </a:pP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所有范数都是凸函数，这是由于范数有三角不等式．</a:t>
            </a:r>
          </a:p>
        </p:txBody>
      </p:sp>
    </p:spTree>
    <p:extLst>
      <p:ext uri="{BB962C8B-B14F-4D97-AF65-F5344CB8AC3E}">
        <p14:creationId xmlns:p14="http://schemas.microsoft.com/office/powerpoint/2010/main" val="26942389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>
                <a:solidFill>
                  <a:srgbClr val="003366"/>
                </a:solidFill>
              </a:rPr>
              <a:t>2</a:t>
            </a:r>
            <a:r>
              <a:rPr lang="en-US" altLang="zh-CN" sz="4000" b="1" dirty="0"/>
              <a:t> </a:t>
            </a:r>
            <a:r>
              <a:rPr lang="zh-CN" altLang="en-US" sz="3600" dirty="0">
                <a:ea typeface="楷体_GB2312" pitchFamily="49" charset="-122"/>
              </a:rPr>
              <a:t>凸函数</a:t>
            </a:r>
            <a:endParaRPr lang="zh-CN" altLang="en-US" sz="3200" dirty="0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71638" y="1067787"/>
            <a:ext cx="4343400" cy="6096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/>
              <a:t>凸规划</a:t>
            </a:r>
          </a:p>
        </p:txBody>
      </p:sp>
      <p:graphicFrame>
        <p:nvGraphicFramePr>
          <p:cNvPr id="31751" name="Object 5"/>
          <p:cNvGraphicFramePr>
            <a:graphicFrameLocks noChangeAspect="1"/>
          </p:cNvGraphicFramePr>
          <p:nvPr/>
        </p:nvGraphicFramePr>
        <p:xfrm>
          <a:off x="1692275" y="1628775"/>
          <a:ext cx="4699000" cy="393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7" name="Equation" r:id="rId3" imgW="4699000" imgH="3937000" progId="Equation.DSMT4">
                  <p:embed/>
                </p:oleObj>
              </mc:Choice>
              <mc:Fallback>
                <p:oleObj name="Equation" r:id="rId3" imgW="4699000" imgH="3937000" progId="Equation.DSMT4">
                  <p:embed/>
                  <p:pic>
                    <p:nvPicPr>
                      <p:cNvPr id="317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628775"/>
                        <a:ext cx="4699000" cy="393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000" b="1" dirty="0"/>
              <a:t>3.</a:t>
            </a:r>
            <a:r>
              <a:rPr lang="en-US" altLang="zh-CN" sz="4000" dirty="0"/>
              <a:t> </a:t>
            </a:r>
            <a:r>
              <a:rPr lang="zh-CN" altLang="en-US" sz="3600" dirty="0">
                <a:ea typeface="楷体_GB2312" pitchFamily="49" charset="-122"/>
              </a:rPr>
              <a:t>凸集分离定理</a:t>
            </a:r>
            <a:endParaRPr lang="zh-CN" altLang="en-US" sz="3200" dirty="0"/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413724"/>
              </p:ext>
            </p:extLst>
          </p:nvPr>
        </p:nvGraphicFramePr>
        <p:xfrm>
          <a:off x="673100" y="1144588"/>
          <a:ext cx="7685088" cy="366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1" name="Equation" r:id="rId3" imgW="8559720" imgH="4076640" progId="Equation.DSMT4">
                  <p:embed/>
                </p:oleObj>
              </mc:Choice>
              <mc:Fallback>
                <p:oleObj name="Equation" r:id="rId3" imgW="8559720" imgH="4076640" progId="Equation.DSMT4">
                  <p:embed/>
                  <p:pic>
                    <p:nvPicPr>
                      <p:cNvPr id="122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1144588"/>
                        <a:ext cx="7685088" cy="366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3600" b="1" dirty="0"/>
              <a:t>3.</a:t>
            </a:r>
            <a:r>
              <a:rPr lang="en-US" altLang="zh-CN" sz="3600" dirty="0"/>
              <a:t> </a:t>
            </a:r>
            <a:r>
              <a:rPr lang="zh-CN" altLang="en-US" sz="3200" dirty="0">
                <a:ea typeface="楷体_GB2312" pitchFamily="49" charset="-122"/>
              </a:rPr>
              <a:t>凸集分离定理</a:t>
            </a:r>
            <a:endParaRPr lang="zh-CN" altLang="en-US" sz="3200" dirty="0"/>
          </a:p>
        </p:txBody>
      </p:sp>
      <p:graphicFrame>
        <p:nvGraphicFramePr>
          <p:cNvPr id="143368" name="Object 8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809043290"/>
              </p:ext>
            </p:extLst>
          </p:nvPr>
        </p:nvGraphicFramePr>
        <p:xfrm>
          <a:off x="580307" y="3595587"/>
          <a:ext cx="7675562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4" name="Equation" r:id="rId3" imgW="7988040" imgH="1701720" progId="Equation.DSMT4">
                  <p:embed/>
                </p:oleObj>
              </mc:Choice>
              <mc:Fallback>
                <p:oleObj name="Equation" r:id="rId3" imgW="7988040" imgH="1701720" progId="Equation.DSMT4">
                  <p:embed/>
                  <p:pic>
                    <p:nvPicPr>
                      <p:cNvPr id="1433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07" y="3595587"/>
                        <a:ext cx="7675562" cy="163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16220"/>
              </p:ext>
            </p:extLst>
          </p:nvPr>
        </p:nvGraphicFramePr>
        <p:xfrm>
          <a:off x="545315" y="1022150"/>
          <a:ext cx="8274050" cy="216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5" name="Equation" r:id="rId5" imgW="9042120" imgH="2361960" progId="Equation.DSMT4">
                  <p:embed/>
                </p:oleObj>
              </mc:Choice>
              <mc:Fallback>
                <p:oleObj name="Equation" r:id="rId5" imgW="9042120" imgH="2361960" progId="Equation.DSMT4">
                  <p:embed/>
                  <p:pic>
                    <p:nvPicPr>
                      <p:cNvPr id="1433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15" y="1022150"/>
                        <a:ext cx="8274050" cy="216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400" b="1" dirty="0"/>
              <a:t>3.</a:t>
            </a:r>
            <a:r>
              <a:rPr lang="en-US" altLang="zh-CN" sz="4400" dirty="0"/>
              <a:t> </a:t>
            </a:r>
            <a:r>
              <a:rPr lang="zh-CN" altLang="en-US" sz="4000" dirty="0">
                <a:ea typeface="楷体_GB2312" pitchFamily="49" charset="-122"/>
              </a:rPr>
              <a:t>凸集分离定理</a:t>
            </a:r>
            <a:endParaRPr lang="zh-CN" altLang="en-US" sz="3200" dirty="0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71638" y="2290813"/>
            <a:ext cx="1981200" cy="558264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dirty="0"/>
              <a:t>证明：令</a:t>
            </a:r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454202" y="3015905"/>
          <a:ext cx="6340128" cy="1029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5" name="Equation" r:id="rId3" imgW="7035800" imgH="1143000" progId="Equation.DSMT4">
                  <p:embed/>
                </p:oleObj>
              </mc:Choice>
              <mc:Fallback>
                <p:oleObj name="Equation" r:id="rId3" imgW="7035800" imgH="1143000" progId="Equation.DSMT4">
                  <p:embed/>
                  <p:pic>
                    <p:nvPicPr>
                      <p:cNvPr id="133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202" y="3015905"/>
                        <a:ext cx="6340128" cy="1029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6"/>
          <p:cNvGraphicFramePr>
            <a:graphicFrameLocks noChangeAspect="1"/>
          </p:cNvGraphicFramePr>
          <p:nvPr/>
        </p:nvGraphicFramePr>
        <p:xfrm>
          <a:off x="2555776" y="2239230"/>
          <a:ext cx="2304256" cy="572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6" name="Equation" r:id="rId5" imgW="2298700" imgH="571500" progId="Equation.DSMT4">
                  <p:embed/>
                </p:oleObj>
              </mc:Choice>
              <mc:Fallback>
                <p:oleObj name="Equation" r:id="rId5" imgW="2298700" imgH="571500" progId="Equation.DSMT4">
                  <p:embed/>
                  <p:pic>
                    <p:nvPicPr>
                      <p:cNvPr id="133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2239230"/>
                        <a:ext cx="2304256" cy="5728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7"/>
          <p:cNvGraphicFramePr>
            <a:graphicFrameLocks noChangeAspect="1"/>
          </p:cNvGraphicFramePr>
          <p:nvPr/>
        </p:nvGraphicFramePr>
        <p:xfrm>
          <a:off x="646112" y="4847938"/>
          <a:ext cx="6859588" cy="1293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7" name="Equation" r:id="rId7" imgW="7543800" imgH="1422400" progId="Equation.DSMT4">
                  <p:embed/>
                </p:oleObj>
              </mc:Choice>
              <mc:Fallback>
                <p:oleObj name="Equation" r:id="rId7" imgW="7543800" imgH="1422400" progId="Equation.DSMT4">
                  <p:embed/>
                  <p:pic>
                    <p:nvPicPr>
                      <p:cNvPr id="133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2" y="4847938"/>
                        <a:ext cx="6859588" cy="12933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8"/>
          <p:cNvGraphicFramePr>
            <a:graphicFrameLocks noChangeAspect="1"/>
          </p:cNvGraphicFramePr>
          <p:nvPr/>
        </p:nvGraphicFramePr>
        <p:xfrm>
          <a:off x="627022" y="4277613"/>
          <a:ext cx="6859588" cy="44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8" name="Equation" r:id="rId9" imgW="7454900" imgH="482600" progId="Equation.DSMT4">
                  <p:embed/>
                </p:oleObj>
              </mc:Choice>
              <mc:Fallback>
                <p:oleObj name="Equation" r:id="rId9" imgW="7454900" imgH="482600" progId="Equation.DSMT4">
                  <p:embed/>
                  <p:pic>
                    <p:nvPicPr>
                      <p:cNvPr id="133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22" y="4277613"/>
                        <a:ext cx="6859588" cy="44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D62A787E-8D93-4135-BC8D-FD43C40CB9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481784"/>
              </p:ext>
            </p:extLst>
          </p:nvPr>
        </p:nvGraphicFramePr>
        <p:xfrm>
          <a:off x="519915" y="1047750"/>
          <a:ext cx="767080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9" name="Equation" r:id="rId11" imgW="8559720" imgH="1244520" progId="Equation.DSMT4">
                  <p:embed/>
                </p:oleObj>
              </mc:Choice>
              <mc:Fallback>
                <p:oleObj name="Equation" r:id="rId11" imgW="8559720" imgH="1244520" progId="Equation.DSMT4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D62A787E-8D93-4135-BC8D-FD43C40CB9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15" y="1047750"/>
                        <a:ext cx="7670800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3600" b="1" dirty="0"/>
              <a:t>3.</a:t>
            </a:r>
            <a:r>
              <a:rPr lang="en-US" altLang="zh-CN" sz="3600" dirty="0"/>
              <a:t> </a:t>
            </a:r>
            <a:r>
              <a:rPr lang="zh-CN" altLang="en-US" sz="3200" dirty="0">
                <a:ea typeface="楷体_GB2312" pitchFamily="49" charset="-122"/>
              </a:rPr>
              <a:t>凸集分离定理</a:t>
            </a:r>
            <a:endParaRPr lang="zh-CN" altLang="en-US" sz="32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67891" y="3854952"/>
            <a:ext cx="7924800" cy="1295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所以为柯西列，必有极限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且由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为闭集知，此极限点必在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中。</a:t>
            </a:r>
          </a:p>
        </p:txBody>
      </p:sp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827584" y="1194814"/>
          <a:ext cx="6892473" cy="229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3" name="Equation" r:id="rId3" imgW="7874000" imgH="2616200" progId="Equation.DSMT4">
                  <p:embed/>
                </p:oleObj>
              </mc:Choice>
              <mc:Fallback>
                <p:oleObj name="Equation" r:id="rId3" imgW="7874000" imgH="2616200" progId="Equation.DSMT4">
                  <p:embed/>
                  <p:pic>
                    <p:nvPicPr>
                      <p:cNvPr id="143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1194814"/>
                        <a:ext cx="6892473" cy="229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744354" y="5362073"/>
            <a:ext cx="23391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dirty="0"/>
              <a:t>下证唯一性。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build="p"/>
      <p:bldP spid="1434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400" b="1" dirty="0"/>
              <a:t>3.</a:t>
            </a:r>
            <a:r>
              <a:rPr lang="en-US" altLang="zh-CN" sz="4400" dirty="0"/>
              <a:t> </a:t>
            </a:r>
            <a:r>
              <a:rPr lang="zh-CN" altLang="en-US" sz="4000" dirty="0">
                <a:ea typeface="楷体_GB2312" pitchFamily="49" charset="-122"/>
              </a:rPr>
              <a:t>凸集分离定理</a:t>
            </a:r>
            <a:endParaRPr lang="zh-CN" altLang="en-US" sz="3200" dirty="0"/>
          </a:p>
        </p:txBody>
      </p:sp>
      <p:graphicFrame>
        <p:nvGraphicFramePr>
          <p:cNvPr id="3687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93022"/>
              </p:ext>
            </p:extLst>
          </p:nvPr>
        </p:nvGraphicFramePr>
        <p:xfrm>
          <a:off x="496012" y="1117600"/>
          <a:ext cx="8161186" cy="4473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6" name="Equation" r:id="rId3" imgW="8432640" imgH="4622760" progId="Equation.DSMT4">
                  <p:embed/>
                </p:oleObj>
              </mc:Choice>
              <mc:Fallback>
                <p:oleObj name="Equation" r:id="rId3" imgW="8432640" imgH="4622760" progId="Equation.DSMT4">
                  <p:embed/>
                  <p:pic>
                    <p:nvPicPr>
                      <p:cNvPr id="3687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012" y="1117600"/>
                        <a:ext cx="8161186" cy="44739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400" b="1" dirty="0"/>
              <a:t>3.</a:t>
            </a:r>
            <a:r>
              <a:rPr lang="en-US" altLang="zh-CN" sz="4400" dirty="0"/>
              <a:t> </a:t>
            </a:r>
            <a:r>
              <a:rPr lang="zh-CN" altLang="en-US" sz="4000" dirty="0">
                <a:ea typeface="楷体_GB2312" pitchFamily="49" charset="-122"/>
              </a:rPr>
              <a:t>凸集分离定理</a:t>
            </a:r>
            <a:endParaRPr lang="zh-CN" altLang="en-US" sz="3200" dirty="0"/>
          </a:p>
        </p:txBody>
      </p:sp>
      <p:graphicFrame>
        <p:nvGraphicFramePr>
          <p:cNvPr id="37894" name="Object 7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544669949"/>
              </p:ext>
            </p:extLst>
          </p:nvPr>
        </p:nvGraphicFramePr>
        <p:xfrm>
          <a:off x="581025" y="1071563"/>
          <a:ext cx="7981950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9" name="Equation" r:id="rId3" imgW="9423360" imgH="1193760" progId="Equation.DSMT4">
                  <p:embed/>
                </p:oleObj>
              </mc:Choice>
              <mc:Fallback>
                <p:oleObj name="Equation" r:id="rId3" imgW="9423360" imgH="1193760" progId="Equation.DSMT4">
                  <p:embed/>
                  <p:pic>
                    <p:nvPicPr>
                      <p:cNvPr id="3789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1071563"/>
                        <a:ext cx="7981950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5" name="组合 44"/>
          <p:cNvGrpSpPr>
            <a:grpSpLocks/>
          </p:cNvGrpSpPr>
          <p:nvPr/>
        </p:nvGrpSpPr>
        <p:grpSpPr bwMode="auto">
          <a:xfrm>
            <a:off x="5795963" y="2571750"/>
            <a:ext cx="2952750" cy="2081213"/>
            <a:chOff x="5940152" y="2276872"/>
            <a:chExt cx="2952030" cy="2081766"/>
          </a:xfrm>
        </p:grpSpPr>
        <p:grpSp>
          <p:nvGrpSpPr>
            <p:cNvPr id="37898" name="Group 6"/>
            <p:cNvGrpSpPr>
              <a:grpSpLocks/>
            </p:cNvGrpSpPr>
            <p:nvPr/>
          </p:nvGrpSpPr>
          <p:grpSpPr bwMode="auto">
            <a:xfrm>
              <a:off x="5940152" y="2276872"/>
              <a:ext cx="2952030" cy="2081766"/>
              <a:chOff x="1338" y="1979"/>
              <a:chExt cx="2948" cy="1997"/>
            </a:xfrm>
          </p:grpSpPr>
          <p:sp>
            <p:nvSpPr>
              <p:cNvPr id="37903" name="Oval 7"/>
              <p:cNvSpPr>
                <a:spLocks noChangeArrowheads="1"/>
              </p:cNvSpPr>
              <p:nvPr/>
            </p:nvSpPr>
            <p:spPr bwMode="auto">
              <a:xfrm rot="861448">
                <a:off x="1927" y="2115"/>
                <a:ext cx="2314" cy="952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37904" name="Oval 8"/>
              <p:cNvSpPr>
                <a:spLocks noChangeArrowheads="1"/>
              </p:cNvSpPr>
              <p:nvPr/>
            </p:nvSpPr>
            <p:spPr bwMode="auto">
              <a:xfrm rot="1065835">
                <a:off x="2018" y="1979"/>
                <a:ext cx="2268" cy="1134"/>
              </a:xfrm>
              <a:prstGeom prst="ellipse">
                <a:avLst/>
              </a:prstGeom>
              <a:solidFill>
                <a:srgbClr val="CCFFFF"/>
              </a:solidFill>
              <a:ln w="19050" algn="ctr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37905" name="Line 9"/>
              <p:cNvSpPr>
                <a:spLocks noChangeShapeType="1"/>
              </p:cNvSpPr>
              <p:nvPr/>
            </p:nvSpPr>
            <p:spPr bwMode="auto">
              <a:xfrm flipV="1">
                <a:off x="2472" y="2659"/>
                <a:ext cx="1406" cy="181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06" name="Oval 10"/>
              <p:cNvSpPr>
                <a:spLocks noChangeArrowheads="1"/>
              </p:cNvSpPr>
              <p:nvPr/>
            </p:nvSpPr>
            <p:spPr bwMode="auto">
              <a:xfrm>
                <a:off x="2426" y="2795"/>
                <a:ext cx="91" cy="91"/>
              </a:xfrm>
              <a:prstGeom prst="ellipse">
                <a:avLst/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37907" name="Oval 11"/>
              <p:cNvSpPr>
                <a:spLocks noChangeArrowheads="1"/>
              </p:cNvSpPr>
              <p:nvPr/>
            </p:nvSpPr>
            <p:spPr bwMode="auto">
              <a:xfrm>
                <a:off x="3107" y="2704"/>
                <a:ext cx="91" cy="91"/>
              </a:xfrm>
              <a:prstGeom prst="ellipse">
                <a:avLst/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37908" name="Oval 12"/>
              <p:cNvSpPr>
                <a:spLocks noChangeArrowheads="1"/>
              </p:cNvSpPr>
              <p:nvPr/>
            </p:nvSpPr>
            <p:spPr bwMode="auto">
              <a:xfrm>
                <a:off x="3833" y="2614"/>
                <a:ext cx="91" cy="91"/>
              </a:xfrm>
              <a:prstGeom prst="ellipse">
                <a:avLst/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37909" name="Rectangle 13"/>
              <p:cNvSpPr>
                <a:spLocks noChangeArrowheads="1"/>
              </p:cNvSpPr>
              <p:nvPr/>
            </p:nvSpPr>
            <p:spPr bwMode="auto">
              <a:xfrm>
                <a:off x="1565" y="3262"/>
                <a:ext cx="11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endParaRPr lang="zh-CN" altLang="zh-CN" sz="1600" i="1">
                  <a:ea typeface="楷体_GB2312" pitchFamily="49" charset="-122"/>
                </a:endParaRPr>
              </a:p>
            </p:txBody>
          </p:sp>
          <p:sp>
            <p:nvSpPr>
              <p:cNvPr id="37910" name="Rectangle 14"/>
              <p:cNvSpPr>
                <a:spLocks noChangeArrowheads="1"/>
              </p:cNvSpPr>
              <p:nvPr/>
            </p:nvSpPr>
            <p:spPr bwMode="auto">
              <a:xfrm>
                <a:off x="2154" y="2718"/>
                <a:ext cx="11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endParaRPr lang="zh-CN" altLang="zh-CN" sz="1600" i="1">
                  <a:ea typeface="楷体_GB2312" pitchFamily="49" charset="-122"/>
                </a:endParaRPr>
              </a:p>
            </p:txBody>
          </p:sp>
          <p:sp>
            <p:nvSpPr>
              <p:cNvPr id="37911" name="Line 15"/>
              <p:cNvSpPr>
                <a:spLocks noChangeShapeType="1"/>
              </p:cNvSpPr>
              <p:nvPr/>
            </p:nvSpPr>
            <p:spPr bwMode="auto">
              <a:xfrm flipH="1">
                <a:off x="1625" y="2864"/>
                <a:ext cx="823" cy="703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12" name="Oval 16"/>
              <p:cNvSpPr>
                <a:spLocks noChangeArrowheads="1"/>
              </p:cNvSpPr>
              <p:nvPr/>
            </p:nvSpPr>
            <p:spPr bwMode="auto">
              <a:xfrm>
                <a:off x="1746" y="3385"/>
                <a:ext cx="91" cy="9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37913" name="Rectangle 18"/>
              <p:cNvSpPr>
                <a:spLocks noChangeArrowheads="1"/>
              </p:cNvSpPr>
              <p:nvPr/>
            </p:nvSpPr>
            <p:spPr bwMode="auto">
              <a:xfrm>
                <a:off x="3813" y="2296"/>
                <a:ext cx="212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1" i="1">
                    <a:ea typeface="楷体_GB2312" pitchFamily="49" charset="-122"/>
                  </a:rPr>
                  <a:t>x</a:t>
                </a:r>
              </a:p>
            </p:txBody>
          </p:sp>
          <p:sp>
            <p:nvSpPr>
              <p:cNvPr id="37914" name="Rectangle 19"/>
              <p:cNvSpPr>
                <a:spLocks noChangeArrowheads="1"/>
              </p:cNvSpPr>
              <p:nvPr/>
            </p:nvSpPr>
            <p:spPr bwMode="auto">
              <a:xfrm>
                <a:off x="1338" y="3526"/>
                <a:ext cx="287" cy="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endParaRPr lang="en-US" altLang="zh-CN" sz="2400" b="1" i="1">
                  <a:ea typeface="楷体_GB2312" pitchFamily="49" charset="-122"/>
                </a:endParaRPr>
              </a:p>
            </p:txBody>
          </p:sp>
          <p:sp>
            <p:nvSpPr>
              <p:cNvPr id="37915" name="Rectangle 20"/>
              <p:cNvSpPr>
                <a:spLocks noChangeArrowheads="1"/>
              </p:cNvSpPr>
              <p:nvPr/>
            </p:nvSpPr>
            <p:spPr bwMode="auto">
              <a:xfrm>
                <a:off x="2718" y="2026"/>
                <a:ext cx="364" cy="5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2800" i="1" dirty="0">
                    <a:ea typeface="楷体_GB2312" pitchFamily="49" charset="-122"/>
                  </a:rPr>
                  <a:t>S</a:t>
                </a:r>
              </a:p>
            </p:txBody>
          </p:sp>
        </p:grpSp>
        <p:grpSp>
          <p:nvGrpSpPr>
            <p:cNvPr id="37899" name="Group 31"/>
            <p:cNvGrpSpPr>
              <a:grpSpLocks/>
            </p:cNvGrpSpPr>
            <p:nvPr/>
          </p:nvGrpSpPr>
          <p:grpSpPr bwMode="auto">
            <a:xfrm>
              <a:off x="7020272" y="3212976"/>
              <a:ext cx="336550" cy="457200"/>
              <a:chOff x="1562" y="3056"/>
              <a:chExt cx="212" cy="288"/>
            </a:xfrm>
          </p:grpSpPr>
          <p:sp>
            <p:nvSpPr>
              <p:cNvPr id="37901" name="Line 32"/>
              <p:cNvSpPr>
                <a:spLocks noChangeShapeType="1"/>
              </p:cNvSpPr>
              <p:nvPr/>
            </p:nvSpPr>
            <p:spPr bwMode="auto">
              <a:xfrm>
                <a:off x="1608" y="3146"/>
                <a:ext cx="144" cy="5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02" name="Rectangle 33"/>
              <p:cNvSpPr>
                <a:spLocks noChangeArrowheads="1"/>
              </p:cNvSpPr>
              <p:nvPr/>
            </p:nvSpPr>
            <p:spPr bwMode="auto">
              <a:xfrm>
                <a:off x="1562" y="30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chemeClr val="accent2"/>
                    </a:solidFill>
                    <a:ea typeface="楷体_GB2312" pitchFamily="49" charset="-122"/>
                  </a:rPr>
                  <a:t>x</a:t>
                </a:r>
              </a:p>
            </p:txBody>
          </p:sp>
        </p:grpSp>
        <p:sp>
          <p:nvSpPr>
            <p:cNvPr id="37900" name="Rectangle 34"/>
            <p:cNvSpPr>
              <a:spLocks noChangeArrowheads="1"/>
            </p:cNvSpPr>
            <p:nvPr/>
          </p:nvSpPr>
          <p:spPr bwMode="auto">
            <a:xfrm>
              <a:off x="6444853" y="3572520"/>
              <a:ext cx="3190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ea typeface="楷体_GB2312" pitchFamily="49" charset="-122"/>
                </a:rPr>
                <a:t>y</a:t>
              </a:r>
              <a:endParaRPr lang="en-US" altLang="zh-CN" sz="1600" i="1">
                <a:ea typeface="楷体_GB2312" pitchFamily="49" charset="-122"/>
              </a:endParaRPr>
            </a:p>
          </p:txBody>
        </p:sp>
      </p:grpSp>
      <p:graphicFrame>
        <p:nvGraphicFramePr>
          <p:cNvPr id="3789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49890"/>
              </p:ext>
            </p:extLst>
          </p:nvPr>
        </p:nvGraphicFramePr>
        <p:xfrm>
          <a:off x="459438" y="2187974"/>
          <a:ext cx="6142037" cy="229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0" name="Equation" r:id="rId5" imgW="6591240" imgH="2463480" progId="Equation.DSMT4">
                  <p:embed/>
                </p:oleObj>
              </mc:Choice>
              <mc:Fallback>
                <p:oleObj name="Equation" r:id="rId5" imgW="6591240" imgH="2463480" progId="Equation.DSMT4">
                  <p:embed/>
                  <p:pic>
                    <p:nvPicPr>
                      <p:cNvPr id="3789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38" y="2187974"/>
                        <a:ext cx="6142037" cy="229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6"/>
          <p:cNvGraphicFramePr>
            <a:graphicFrameLocks noChangeAspect="1"/>
          </p:cNvGraphicFramePr>
          <p:nvPr/>
        </p:nvGraphicFramePr>
        <p:xfrm>
          <a:off x="507564" y="4756201"/>
          <a:ext cx="45847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1" name="Equation" r:id="rId7" imgW="4584600" imgH="1701720" progId="Equation.DSMT4">
                  <p:embed/>
                </p:oleObj>
              </mc:Choice>
              <mc:Fallback>
                <p:oleObj name="Equation" r:id="rId7" imgW="4584600" imgH="1701720" progId="Equation.DSMT4">
                  <p:embed/>
                  <p:pic>
                    <p:nvPicPr>
                      <p:cNvPr id="3789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64" y="4756201"/>
                        <a:ext cx="45847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400" b="1" dirty="0"/>
              <a:t>3.</a:t>
            </a:r>
            <a:r>
              <a:rPr lang="en-US" altLang="zh-CN" sz="4400" dirty="0"/>
              <a:t> </a:t>
            </a:r>
            <a:r>
              <a:rPr lang="zh-CN" altLang="en-US" sz="4000" dirty="0">
                <a:ea typeface="楷体_GB2312" pitchFamily="49" charset="-122"/>
              </a:rPr>
              <a:t>凸集分离定理</a:t>
            </a:r>
            <a:endParaRPr lang="zh-CN" altLang="en-US" sz="3200" dirty="0"/>
          </a:p>
        </p:txBody>
      </p:sp>
      <p:graphicFrame>
        <p:nvGraphicFramePr>
          <p:cNvPr id="38918" name="Object 6"/>
          <p:cNvGraphicFramePr>
            <a:graphicFrameLocks noChangeAspect="1"/>
          </p:cNvGraphicFramePr>
          <p:nvPr/>
        </p:nvGraphicFramePr>
        <p:xfrm>
          <a:off x="361950" y="3175"/>
          <a:ext cx="190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3" name="Equation" r:id="rId3" imgW="190417" imgH="330057" progId="Equation.DSMT4">
                  <p:embed/>
                </p:oleObj>
              </mc:Choice>
              <mc:Fallback>
                <p:oleObj name="Equation" r:id="rId3" imgW="190417" imgH="330057" progId="Equation.DSMT4">
                  <p:embed/>
                  <p:pic>
                    <p:nvPicPr>
                      <p:cNvPr id="389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" y="3175"/>
                        <a:ext cx="190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539750" y="1052513"/>
          <a:ext cx="7150100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4" name="Equation" r:id="rId5" imgW="7150100" imgH="2184400" progId="Equation.DSMT4">
                  <p:embed/>
                </p:oleObj>
              </mc:Choice>
              <mc:Fallback>
                <p:oleObj name="Equation" r:id="rId5" imgW="7150100" imgH="2184400" progId="Equation.DSMT4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052513"/>
                        <a:ext cx="7150100" cy="218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301308"/>
              </p:ext>
            </p:extLst>
          </p:nvPr>
        </p:nvGraphicFramePr>
        <p:xfrm>
          <a:off x="498860" y="3749675"/>
          <a:ext cx="79375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5" name="Equation" r:id="rId7" imgW="7937280" imgH="1041120" progId="Equation.DSMT4">
                  <p:embed/>
                </p:oleObj>
              </mc:Choice>
              <mc:Fallback>
                <p:oleObj name="Equation" r:id="rId7" imgW="7937280" imgH="1041120" progId="Equation.DSMT4">
                  <p:embed/>
                  <p:pic>
                    <p:nvPicPr>
                      <p:cNvPr id="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860" y="3749675"/>
                        <a:ext cx="79375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400" b="1" dirty="0"/>
              <a:t>3.</a:t>
            </a:r>
            <a:r>
              <a:rPr lang="en-US" altLang="zh-CN" sz="4400" dirty="0"/>
              <a:t> </a:t>
            </a:r>
            <a:r>
              <a:rPr lang="zh-CN" altLang="en-US" sz="4000" dirty="0">
                <a:ea typeface="楷体_GB2312" pitchFamily="49" charset="-122"/>
              </a:rPr>
              <a:t>凸集分离定理</a:t>
            </a:r>
            <a:endParaRPr lang="zh-CN" altLang="en-US" sz="3200" dirty="0"/>
          </a:p>
        </p:txBody>
      </p:sp>
      <p:sp>
        <p:nvSpPr>
          <p:cNvPr id="39947" name="Rectangle 44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74725"/>
            <a:ext cx="2286000" cy="609600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 </a:t>
            </a:r>
            <a:r>
              <a:rPr lang="zh-CN" altLang="en-US" dirty="0"/>
              <a:t>证明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56" name="Text Box 21"/>
              <p:cNvSpPr txBox="1">
                <a:spLocks noChangeArrowheads="1"/>
              </p:cNvSpPr>
              <p:nvPr/>
            </p:nvSpPr>
            <p:spPr bwMode="auto">
              <a:xfrm>
                <a:off x="500063" y="2260297"/>
                <a:ext cx="4129072" cy="566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800" dirty="0">
                    <a:ea typeface="楷体_GB2312" pitchFamily="49" charset="-122"/>
                    <a:sym typeface="Symbol" panose="05050102010706020507" pitchFamily="18" charset="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_GB2312" pitchFamily="49" charset="-122"/>
                        <a:sym typeface="Symbol" panose="05050102010706020507" pitchFamily="18" charset="2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_GB2312" pitchFamily="49" charset="-122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_GB2312" pitchFamily="49" charset="-122"/>
                        <a:sym typeface="Symbol" panose="05050102010706020507" pitchFamily="18" charset="2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_GB2312" pitchFamily="49" charset="-122"/>
                        <a:sym typeface="Symbol" panose="05050102010706020507" pitchFamily="18" charset="2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楷体_GB2312" pitchFamily="49" charset="-122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_GB2312" pitchFamily="49" charset="-122"/>
                            <a:sym typeface="Symbol" panose="05050102010706020507" pitchFamily="18" charset="2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zh-CN" sz="2800" dirty="0">
                    <a:ea typeface="楷体_GB2312" pitchFamily="49" charset="-122"/>
                    <a:sym typeface="Symbol" panose="05050102010706020507" pitchFamily="18" charset="2"/>
                  </a:rPr>
                  <a:t>,</a:t>
                </a:r>
                <a14:m>
                  <m:oMath xmlns:m="http://schemas.openxmlformats.org/officeDocument/2006/math">
                    <m:r>
                      <a:rPr lang="zh-CN" altLang="en-US" sz="2800" i="1" dirty="0" smtClean="0">
                        <a:latin typeface="Cambria Math" panose="02040503050406030204" pitchFamily="18" charset="0"/>
                        <a:ea typeface="楷体_GB2312" pitchFamily="49" charset="-122"/>
                        <a:sym typeface="Symbol" panose="05050102010706020507" pitchFamily="18" charset="2"/>
                      </a:rPr>
                      <m:t>𝜀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_GB2312" pitchFamily="49" charset="-122"/>
                        <a:sym typeface="Symbol" panose="05050102010706020507" pitchFamily="18" charset="2"/>
                      </a:rPr>
                      <m:t>=</m:t>
                    </m:r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_GB2312" pitchFamily="49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_GB2312" pitchFamily="49" charset="-122"/>
                            <a:sym typeface="Symbol" panose="05050102010706020507" pitchFamily="18" charset="2"/>
                          </a:rPr>
                          <m:t>𝑝</m:t>
                        </m:r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_GB2312" pitchFamily="49" charset="-122"/>
                            <a:sym typeface="Symbol" panose="05050102010706020507" pitchFamily="18" charset="2"/>
                          </a:rPr>
                          <m:t>𝑇</m:t>
                        </m:r>
                      </m:sup>
                    </m:sSup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_GB2312" pitchFamily="49" charset="-122"/>
                        <a:sym typeface="Symbol" panose="05050102010706020507" pitchFamily="18" charset="2"/>
                      </a:rPr>
                      <m:t>𝑝</m:t>
                    </m:r>
                  </m:oMath>
                </a14:m>
                <a:endParaRPr lang="en-US" altLang="zh-CN" sz="2800" dirty="0"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39956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063" y="2260297"/>
                <a:ext cx="4129072" cy="566310"/>
              </a:xfrm>
              <a:prstGeom prst="rect">
                <a:avLst/>
              </a:prstGeom>
              <a:blipFill>
                <a:blip r:embed="rId3"/>
                <a:stretch>
                  <a:fillRect l="-2954" t="-13978" b="-2365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4703390" y="1927969"/>
            <a:ext cx="3959970" cy="2735263"/>
            <a:chOff x="4534982" y="2315378"/>
            <a:chExt cx="3959970" cy="2735263"/>
          </a:xfrm>
        </p:grpSpPr>
        <p:grpSp>
          <p:nvGrpSpPr>
            <p:cNvPr id="39955" name="Group 6"/>
            <p:cNvGrpSpPr>
              <a:grpSpLocks/>
            </p:cNvGrpSpPr>
            <p:nvPr/>
          </p:nvGrpSpPr>
          <p:grpSpPr bwMode="auto">
            <a:xfrm>
              <a:off x="4534982" y="2315378"/>
              <a:ext cx="3959970" cy="2735263"/>
              <a:chOff x="1338" y="1979"/>
              <a:chExt cx="2948" cy="1795"/>
            </a:xfrm>
          </p:grpSpPr>
          <p:sp>
            <p:nvSpPr>
              <p:cNvPr id="39957" name="Oval 7"/>
              <p:cNvSpPr>
                <a:spLocks noChangeArrowheads="1"/>
              </p:cNvSpPr>
              <p:nvPr/>
            </p:nvSpPr>
            <p:spPr bwMode="auto">
              <a:xfrm rot="861448">
                <a:off x="1927" y="2115"/>
                <a:ext cx="2314" cy="952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39958" name="Oval 8"/>
              <p:cNvSpPr>
                <a:spLocks noChangeArrowheads="1"/>
              </p:cNvSpPr>
              <p:nvPr/>
            </p:nvSpPr>
            <p:spPr bwMode="auto">
              <a:xfrm rot="1065835">
                <a:off x="2018" y="1979"/>
                <a:ext cx="2268" cy="1134"/>
              </a:xfrm>
              <a:prstGeom prst="ellipse">
                <a:avLst/>
              </a:prstGeom>
              <a:solidFill>
                <a:srgbClr val="CCFFFF"/>
              </a:solidFill>
              <a:ln w="19050" algn="ctr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39959" name="Line 9"/>
              <p:cNvSpPr>
                <a:spLocks noChangeShapeType="1"/>
              </p:cNvSpPr>
              <p:nvPr/>
            </p:nvSpPr>
            <p:spPr bwMode="auto">
              <a:xfrm flipV="1">
                <a:off x="2472" y="2659"/>
                <a:ext cx="1406" cy="181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60" name="Oval 10"/>
              <p:cNvSpPr>
                <a:spLocks noChangeArrowheads="1"/>
              </p:cNvSpPr>
              <p:nvPr/>
            </p:nvSpPr>
            <p:spPr bwMode="auto">
              <a:xfrm>
                <a:off x="2426" y="2795"/>
                <a:ext cx="91" cy="91"/>
              </a:xfrm>
              <a:prstGeom prst="ellipse">
                <a:avLst/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39961" name="Oval 11"/>
              <p:cNvSpPr>
                <a:spLocks noChangeArrowheads="1"/>
              </p:cNvSpPr>
              <p:nvPr/>
            </p:nvSpPr>
            <p:spPr bwMode="auto">
              <a:xfrm>
                <a:off x="3107" y="2704"/>
                <a:ext cx="91" cy="91"/>
              </a:xfrm>
              <a:prstGeom prst="ellipse">
                <a:avLst/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39962" name="Oval 12"/>
              <p:cNvSpPr>
                <a:spLocks noChangeArrowheads="1"/>
              </p:cNvSpPr>
              <p:nvPr/>
            </p:nvSpPr>
            <p:spPr bwMode="auto">
              <a:xfrm>
                <a:off x="3833" y="2614"/>
                <a:ext cx="91" cy="91"/>
              </a:xfrm>
              <a:prstGeom prst="ellipse">
                <a:avLst/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39963" name="Rectangle 13"/>
              <p:cNvSpPr>
                <a:spLocks noChangeArrowheads="1"/>
              </p:cNvSpPr>
              <p:nvPr/>
            </p:nvSpPr>
            <p:spPr bwMode="auto">
              <a:xfrm>
                <a:off x="1565" y="3262"/>
                <a:ext cx="11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endParaRPr lang="zh-CN" altLang="zh-CN" sz="1600" i="1">
                  <a:ea typeface="楷体_GB2312" pitchFamily="49" charset="-122"/>
                </a:endParaRPr>
              </a:p>
            </p:txBody>
          </p:sp>
          <p:sp>
            <p:nvSpPr>
              <p:cNvPr id="39964" name="Rectangle 14"/>
              <p:cNvSpPr>
                <a:spLocks noChangeArrowheads="1"/>
              </p:cNvSpPr>
              <p:nvPr/>
            </p:nvSpPr>
            <p:spPr bwMode="auto">
              <a:xfrm>
                <a:off x="2154" y="2718"/>
                <a:ext cx="11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endParaRPr lang="zh-CN" altLang="zh-CN" sz="1600" i="1">
                  <a:ea typeface="楷体_GB2312" pitchFamily="49" charset="-122"/>
                </a:endParaRPr>
              </a:p>
            </p:txBody>
          </p:sp>
          <p:sp>
            <p:nvSpPr>
              <p:cNvPr id="39965" name="Line 15"/>
              <p:cNvSpPr>
                <a:spLocks noChangeShapeType="1"/>
              </p:cNvSpPr>
              <p:nvPr/>
            </p:nvSpPr>
            <p:spPr bwMode="auto">
              <a:xfrm flipH="1">
                <a:off x="1496" y="2864"/>
                <a:ext cx="952" cy="81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66" name="Oval 16"/>
              <p:cNvSpPr>
                <a:spLocks noChangeArrowheads="1"/>
              </p:cNvSpPr>
              <p:nvPr/>
            </p:nvSpPr>
            <p:spPr bwMode="auto">
              <a:xfrm>
                <a:off x="1746" y="3385"/>
                <a:ext cx="91" cy="9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39967" name="Line 17"/>
              <p:cNvSpPr>
                <a:spLocks noChangeShapeType="1"/>
              </p:cNvSpPr>
              <p:nvPr/>
            </p:nvSpPr>
            <p:spPr bwMode="auto">
              <a:xfrm rot="287626">
                <a:off x="1565" y="2614"/>
                <a:ext cx="1224" cy="1043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968" name="Rectangle 18"/>
              <p:cNvSpPr>
                <a:spLocks noChangeArrowheads="1"/>
              </p:cNvSpPr>
              <p:nvPr/>
            </p:nvSpPr>
            <p:spPr bwMode="auto">
              <a:xfrm>
                <a:off x="3813" y="2296"/>
                <a:ext cx="212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1" i="1">
                    <a:ea typeface="楷体_GB2312" pitchFamily="49" charset="-122"/>
                  </a:rPr>
                  <a:t>x</a:t>
                </a:r>
              </a:p>
            </p:txBody>
          </p:sp>
          <p:sp>
            <p:nvSpPr>
              <p:cNvPr id="39969" name="Rectangle 19"/>
              <p:cNvSpPr>
                <a:spLocks noChangeArrowheads="1"/>
              </p:cNvSpPr>
              <p:nvPr/>
            </p:nvSpPr>
            <p:spPr bwMode="auto">
              <a:xfrm>
                <a:off x="1338" y="3526"/>
                <a:ext cx="188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1" i="1">
                    <a:ea typeface="楷体_GB2312" pitchFamily="49" charset="-122"/>
                  </a:rPr>
                  <a:t>p</a:t>
                </a:r>
              </a:p>
            </p:txBody>
          </p:sp>
          <p:sp>
            <p:nvSpPr>
              <p:cNvPr id="39970" name="Rectangle 20"/>
              <p:cNvSpPr>
                <a:spLocks noChangeArrowheads="1"/>
              </p:cNvSpPr>
              <p:nvPr/>
            </p:nvSpPr>
            <p:spPr bwMode="auto">
              <a:xfrm>
                <a:off x="2653" y="1979"/>
                <a:ext cx="244" cy="3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1" i="1">
                    <a:ea typeface="楷体_GB2312" pitchFamily="49" charset="-122"/>
                  </a:rPr>
                  <a:t>X</a:t>
                </a:r>
                <a:endParaRPr lang="en-US" altLang="zh-CN" sz="1600" i="1">
                  <a:ea typeface="楷体_GB2312" pitchFamily="49" charset="-122"/>
                </a:endParaRPr>
              </a:p>
            </p:txBody>
          </p:sp>
        </p:grpSp>
        <p:grpSp>
          <p:nvGrpSpPr>
            <p:cNvPr id="39944" name="Group 31"/>
            <p:cNvGrpSpPr>
              <a:grpSpLocks/>
            </p:cNvGrpSpPr>
            <p:nvPr/>
          </p:nvGrpSpPr>
          <p:grpSpPr bwMode="auto">
            <a:xfrm>
              <a:off x="6300788" y="2852738"/>
              <a:ext cx="336550" cy="457200"/>
              <a:chOff x="2016" y="3600"/>
              <a:chExt cx="212" cy="288"/>
            </a:xfrm>
          </p:grpSpPr>
          <p:sp>
            <p:nvSpPr>
              <p:cNvPr id="39951" name="Line 32"/>
              <p:cNvSpPr>
                <a:spLocks noChangeShapeType="1"/>
              </p:cNvSpPr>
              <p:nvPr/>
            </p:nvSpPr>
            <p:spPr bwMode="auto">
              <a:xfrm>
                <a:off x="2071" y="3696"/>
                <a:ext cx="89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2" name="Rectangle 33"/>
              <p:cNvSpPr>
                <a:spLocks noChangeArrowheads="1"/>
              </p:cNvSpPr>
              <p:nvPr/>
            </p:nvSpPr>
            <p:spPr bwMode="auto">
              <a:xfrm>
                <a:off x="2016" y="360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chemeClr val="accent2"/>
                    </a:solidFill>
                    <a:ea typeface="楷体_GB2312" pitchFamily="49" charset="-122"/>
                  </a:rPr>
                  <a:t>x</a:t>
                </a:r>
              </a:p>
            </p:txBody>
          </p:sp>
        </p:grpSp>
        <p:sp>
          <p:nvSpPr>
            <p:cNvPr id="39945" name="Rectangle 34"/>
            <p:cNvSpPr>
              <a:spLocks noChangeArrowheads="1"/>
            </p:cNvSpPr>
            <p:nvPr/>
          </p:nvSpPr>
          <p:spPr bwMode="auto">
            <a:xfrm>
              <a:off x="5219700" y="3573463"/>
              <a:ext cx="3190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ea typeface="楷体_GB2312" pitchFamily="49" charset="-122"/>
                </a:rPr>
                <a:t>y</a:t>
              </a:r>
              <a:endParaRPr lang="en-US" altLang="zh-CN" sz="1600" i="1">
                <a:ea typeface="楷体_GB2312" pitchFamily="49" charset="-122"/>
              </a:endParaRPr>
            </a:p>
          </p:txBody>
        </p:sp>
      </p:grpSp>
      <p:graphicFrame>
        <p:nvGraphicFramePr>
          <p:cNvPr id="39948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980164"/>
              </p:ext>
            </p:extLst>
          </p:nvPr>
        </p:nvGraphicFramePr>
        <p:xfrm>
          <a:off x="1400175" y="1125538"/>
          <a:ext cx="5232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7" name="Equation" r:id="rId4" imgW="5232240" imgH="965160" progId="Equation.DSMT4">
                  <p:embed/>
                </p:oleObj>
              </mc:Choice>
              <mc:Fallback>
                <p:oleObj name="Equation" r:id="rId4" imgW="5232240" imgH="965160" progId="Equation.DSMT4">
                  <p:embed/>
                  <p:pic>
                    <p:nvPicPr>
                      <p:cNvPr id="39948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1125538"/>
                        <a:ext cx="5232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9" name="Object 5"/>
          <p:cNvGraphicFramePr>
            <a:graphicFrameLocks noChangeAspect="1"/>
          </p:cNvGraphicFramePr>
          <p:nvPr/>
        </p:nvGraphicFramePr>
        <p:xfrm>
          <a:off x="689538" y="2876885"/>
          <a:ext cx="3276600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8" name="Equation" r:id="rId6" imgW="3276360" imgH="2158920" progId="Equation.DSMT4">
                  <p:embed/>
                </p:oleObj>
              </mc:Choice>
              <mc:Fallback>
                <p:oleObj name="Equation" r:id="rId6" imgW="3276360" imgH="2158920" progId="Equation.DSMT4">
                  <p:embed/>
                  <p:pic>
                    <p:nvPicPr>
                      <p:cNvPr id="399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538" y="2876885"/>
                        <a:ext cx="3276600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518156"/>
              </p:ext>
            </p:extLst>
          </p:nvPr>
        </p:nvGraphicFramePr>
        <p:xfrm>
          <a:off x="657325" y="5184775"/>
          <a:ext cx="7373938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9" name="Equation" r:id="rId8" imgW="6959520" imgH="1041120" progId="Equation.DSMT4">
                  <p:embed/>
                </p:oleObj>
              </mc:Choice>
              <mc:Fallback>
                <p:oleObj name="Equation" r:id="rId8" imgW="6959520" imgH="1041120" progId="Equation.DSMT4">
                  <p:embed/>
                  <p:pic>
                    <p:nvPicPr>
                      <p:cNvPr id="194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325" y="5184775"/>
                        <a:ext cx="7373938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400" b="1" dirty="0"/>
              <a:t>3.</a:t>
            </a:r>
            <a:r>
              <a:rPr lang="en-US" altLang="zh-CN" sz="4400" dirty="0"/>
              <a:t> </a:t>
            </a:r>
            <a:r>
              <a:rPr lang="zh-CN" altLang="en-US" sz="4000" dirty="0">
                <a:ea typeface="楷体_GB2312" pitchFamily="49" charset="-122"/>
              </a:rPr>
              <a:t>凸集分离定理</a:t>
            </a:r>
            <a:endParaRPr lang="zh-CN" altLang="en-US" sz="3200" dirty="0"/>
          </a:p>
        </p:txBody>
      </p:sp>
      <p:graphicFrame>
        <p:nvGraphicFramePr>
          <p:cNvPr id="409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472093"/>
              </p:ext>
            </p:extLst>
          </p:nvPr>
        </p:nvGraphicFramePr>
        <p:xfrm>
          <a:off x="372663" y="1976839"/>
          <a:ext cx="75342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2" name="Equation" r:id="rId3" imgW="7924680" imgH="1041120" progId="Equation.DSMT4">
                  <p:embed/>
                </p:oleObj>
              </mc:Choice>
              <mc:Fallback>
                <p:oleObj name="Equation" r:id="rId3" imgW="7924680" imgH="1041120" progId="Equation.DSMT4">
                  <p:embed/>
                  <p:pic>
                    <p:nvPicPr>
                      <p:cNvPr id="4096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663" y="1976839"/>
                        <a:ext cx="753427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8" name="矩形 9"/>
          <p:cNvSpPr>
            <a:spLocks noChangeArrowheads="1"/>
          </p:cNvSpPr>
          <p:nvPr/>
        </p:nvSpPr>
        <p:spPr bwMode="auto">
          <a:xfrm>
            <a:off x="214313" y="1000125"/>
            <a:ext cx="85725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定理</a:t>
            </a:r>
            <a:r>
              <a:rPr lang="en-US" altLang="zh-CN" sz="2400" dirty="0"/>
              <a:t>13</a:t>
            </a:r>
            <a:r>
              <a:rPr lang="zh-CN" altLang="en-US" sz="2400" dirty="0"/>
              <a:t>表明，</a:t>
            </a:r>
            <a:r>
              <a:rPr lang="en-US" altLang="zh-CN" sz="2400" dirty="0"/>
              <a:t>S</a:t>
            </a:r>
            <a:r>
              <a:rPr lang="zh-CN" altLang="en-US" sz="2400" dirty="0"/>
              <a:t>为闭凸集， </a:t>
            </a:r>
            <a:r>
              <a:rPr lang="en-US" altLang="zh-CN" sz="2400" dirty="0" err="1"/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S</a:t>
            </a:r>
            <a:r>
              <a:rPr lang="zh-CN" altLang="en-US" sz="2400" dirty="0">
                <a:sym typeface="Symbol" panose="05050102010706020507" pitchFamily="18" charset="2"/>
              </a:rPr>
              <a:t>，则</a:t>
            </a:r>
            <a:r>
              <a:rPr lang="en-US" altLang="zh-CN" sz="2400" dirty="0">
                <a:sym typeface="Symbol" panose="05050102010706020507" pitchFamily="18" charset="2"/>
              </a:rPr>
              <a:t>y</a:t>
            </a:r>
            <a:r>
              <a:rPr lang="zh-CN" altLang="en-US" sz="2400" dirty="0">
                <a:sym typeface="Symbol" panose="05050102010706020507" pitchFamily="18" charset="2"/>
              </a:rPr>
              <a:t>与</a:t>
            </a:r>
            <a:r>
              <a:rPr lang="en-US" altLang="zh-CN" sz="2400" dirty="0">
                <a:sym typeface="Symbol" panose="05050102010706020507" pitchFamily="18" charset="2"/>
              </a:rPr>
              <a:t>S</a:t>
            </a:r>
            <a:r>
              <a:rPr lang="zh-CN" altLang="en-US" sz="2400" dirty="0">
                <a:sym typeface="Symbol" panose="05050102010706020507" pitchFamily="18" charset="2"/>
              </a:rPr>
              <a:t>可分离。若</a:t>
            </a:r>
            <a:r>
              <a:rPr lang="zh-CN" altLang="en-US" sz="2400" dirty="0"/>
              <a:t>令</a:t>
            </a:r>
            <a:r>
              <a:rPr lang="en-US" altLang="zh-CN" sz="2400" dirty="0" err="1"/>
              <a:t>clS</a:t>
            </a:r>
            <a:r>
              <a:rPr lang="zh-CN" altLang="en-US" sz="2400" dirty="0"/>
              <a:t>表示非空凸集</a:t>
            </a:r>
            <a:r>
              <a:rPr lang="en-US" altLang="zh-CN" sz="2400" dirty="0"/>
              <a:t>S</a:t>
            </a:r>
            <a:r>
              <a:rPr lang="zh-CN" altLang="en-US" sz="2400" dirty="0"/>
              <a:t>的闭包，则当</a:t>
            </a:r>
            <a:r>
              <a:rPr lang="en-US" altLang="zh-CN" sz="2400" dirty="0" err="1"/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clS</a:t>
            </a:r>
            <a:r>
              <a:rPr lang="zh-CN" altLang="en-US" sz="2400" dirty="0">
                <a:sym typeface="Symbol" panose="05050102010706020507" pitchFamily="18" charset="2"/>
              </a:rPr>
              <a:t>时，定理结论也真。</a:t>
            </a:r>
            <a:endParaRPr lang="zh-CN" altLang="en-US" sz="2400" dirty="0"/>
          </a:p>
        </p:txBody>
      </p:sp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38DC3ABB-C70C-4C07-814B-58489EA070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527030"/>
              </p:ext>
            </p:extLst>
          </p:nvPr>
        </p:nvGraphicFramePr>
        <p:xfrm>
          <a:off x="437148" y="3792622"/>
          <a:ext cx="744855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3" name="Equation" r:id="rId5" imgW="7289640" imgH="1091880" progId="Equation.DSMT4">
                  <p:embed/>
                </p:oleObj>
              </mc:Choice>
              <mc:Fallback>
                <p:oleObj name="Equation" r:id="rId5" imgW="7289640" imgH="1091880" progId="Equation.DSMT4">
                  <p:embed/>
                  <p:pic>
                    <p:nvPicPr>
                      <p:cNvPr id="215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148" y="3792622"/>
                        <a:ext cx="7448550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3BF2D13-8242-4C91-BFE9-E7EEBD065B8E}"/>
              </a:ext>
            </a:extLst>
          </p:cNvPr>
          <p:cNvSpPr txBox="1"/>
          <p:nvPr/>
        </p:nvSpPr>
        <p:spPr>
          <a:xfrm>
            <a:off x="611204" y="510922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证明略</a:t>
            </a:r>
            <a:endParaRPr lang="zh-CN" altLang="en-US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EEC39D-3952-4C42-AEA9-CF2201BFC968}"/>
              </a:ext>
            </a:extLst>
          </p:cNvPr>
          <p:cNvSpPr txBox="1"/>
          <p:nvPr/>
        </p:nvSpPr>
        <p:spPr>
          <a:xfrm>
            <a:off x="418699" y="320342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ym typeface="Symbol" panose="05050102010706020507" pitchFamily="18" charset="2"/>
              </a:rPr>
              <a:t>证明略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400" b="1" dirty="0"/>
              <a:t>3.</a:t>
            </a:r>
            <a:r>
              <a:rPr lang="en-US" altLang="zh-CN" sz="4400" dirty="0"/>
              <a:t> </a:t>
            </a:r>
            <a:r>
              <a:rPr lang="zh-CN" altLang="en-US" sz="4000" dirty="0">
                <a:ea typeface="楷体_GB2312" pitchFamily="49" charset="-122"/>
              </a:rPr>
              <a:t>凸集分离定理</a:t>
            </a:r>
            <a:endParaRPr lang="zh-CN" altLang="en-US" sz="3200" dirty="0"/>
          </a:p>
        </p:txBody>
      </p:sp>
      <p:graphicFrame>
        <p:nvGraphicFramePr>
          <p:cNvPr id="1474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647424"/>
              </p:ext>
            </p:extLst>
          </p:nvPr>
        </p:nvGraphicFramePr>
        <p:xfrm>
          <a:off x="842963" y="1119188"/>
          <a:ext cx="7275512" cy="234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1" name="Equation" r:id="rId3" imgW="6858000" imgH="2209680" progId="Equation.DSMT4">
                  <p:embed/>
                </p:oleObj>
              </mc:Choice>
              <mc:Fallback>
                <p:oleObj name="Equation" r:id="rId3" imgW="6858000" imgH="2209680" progId="Equation.DSMT4">
                  <p:embed/>
                  <p:pic>
                    <p:nvPicPr>
                      <p:cNvPr id="1474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3" y="1119188"/>
                        <a:ext cx="7275512" cy="234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6"/>
          <p:cNvGraphicFramePr>
            <a:graphicFrameLocks noChangeAspect="1"/>
          </p:cNvGraphicFramePr>
          <p:nvPr/>
        </p:nvGraphicFramePr>
        <p:xfrm>
          <a:off x="361950" y="3175"/>
          <a:ext cx="190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2" name="Equation" r:id="rId5" imgW="190417" imgH="330057" progId="Equation.DSMT4">
                  <p:embed/>
                </p:oleObj>
              </mc:Choice>
              <mc:Fallback>
                <p:oleObj name="Equation" r:id="rId5" imgW="190417" imgH="330057" progId="Equation.DSMT4">
                  <p:embed/>
                  <p:pic>
                    <p:nvPicPr>
                      <p:cNvPr id="4301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" y="3175"/>
                        <a:ext cx="190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91B6DED5-6B49-4489-970C-B9BF3C1FA221}"/>
              </a:ext>
            </a:extLst>
          </p:cNvPr>
          <p:cNvSpPr txBox="1"/>
          <p:nvPr/>
        </p:nvSpPr>
        <p:spPr>
          <a:xfrm>
            <a:off x="890336" y="396382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证明略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4000" b="1" dirty="0"/>
              <a:t>3.</a:t>
            </a:r>
            <a:r>
              <a:rPr lang="en-US" altLang="zh-CN" sz="4000" dirty="0"/>
              <a:t> </a:t>
            </a:r>
            <a:r>
              <a:rPr lang="zh-CN" altLang="en-US" sz="3600" dirty="0">
                <a:ea typeface="楷体_GB2312" pitchFamily="49" charset="-122"/>
              </a:rPr>
              <a:t>凸集分离定理</a:t>
            </a:r>
            <a:endParaRPr lang="zh-CN" altLang="en-US" dirty="0"/>
          </a:p>
        </p:txBody>
      </p:sp>
      <p:graphicFrame>
        <p:nvGraphicFramePr>
          <p:cNvPr id="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842255"/>
              </p:ext>
            </p:extLst>
          </p:nvPr>
        </p:nvGraphicFramePr>
        <p:xfrm>
          <a:off x="583907" y="1209054"/>
          <a:ext cx="8072437" cy="164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5" name="Equation" r:id="rId3" imgW="8204040" imgH="1562040" progId="Equation.DSMT4">
                  <p:embed/>
                </p:oleObj>
              </mc:Choice>
              <mc:Fallback>
                <p:oleObj name="Equation" r:id="rId3" imgW="8204040" imgH="1562040" progId="Equation.DSMT4">
                  <p:embed/>
                  <p:pic>
                    <p:nvPicPr>
                      <p:cNvPr id="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907" y="1209054"/>
                        <a:ext cx="8072437" cy="164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800" b="1" dirty="0"/>
              <a:t>3.</a:t>
            </a:r>
            <a:r>
              <a:rPr lang="en-US" altLang="zh-CN" sz="4800" dirty="0"/>
              <a:t> </a:t>
            </a:r>
            <a:r>
              <a:rPr lang="zh-CN" altLang="en-US" sz="4400" dirty="0">
                <a:ea typeface="楷体_GB2312" pitchFamily="49" charset="-122"/>
              </a:rPr>
              <a:t>凸集分离定理</a:t>
            </a:r>
            <a:endParaRPr lang="zh-CN" altLang="en-US" sz="3200" dirty="0"/>
          </a:p>
        </p:txBody>
      </p:sp>
      <p:graphicFrame>
        <p:nvGraphicFramePr>
          <p:cNvPr id="4506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623970"/>
              </p:ext>
            </p:extLst>
          </p:nvPr>
        </p:nvGraphicFramePr>
        <p:xfrm>
          <a:off x="477937" y="1250665"/>
          <a:ext cx="8351837" cy="469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8" name="Equation" r:id="rId3" imgW="9055100" imgH="5092700" progId="Equation.DSMT4">
                  <p:embed/>
                </p:oleObj>
              </mc:Choice>
              <mc:Fallback>
                <p:oleObj name="Equation" r:id="rId3" imgW="9055100" imgH="5092700" progId="Equation.DSMT4">
                  <p:embed/>
                  <p:pic>
                    <p:nvPicPr>
                      <p:cNvPr id="4506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937" y="1250665"/>
                        <a:ext cx="8351837" cy="469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800" b="1" dirty="0"/>
              <a:t>3.</a:t>
            </a:r>
            <a:r>
              <a:rPr lang="en-US" altLang="zh-CN" sz="4800" dirty="0"/>
              <a:t> </a:t>
            </a:r>
            <a:r>
              <a:rPr lang="zh-CN" altLang="en-US" sz="4400" dirty="0">
                <a:ea typeface="楷体_GB2312" pitchFamily="49" charset="-122"/>
              </a:rPr>
              <a:t>凸集分离定理</a:t>
            </a:r>
            <a:endParaRPr lang="zh-CN" altLang="en-US" sz="3200" dirty="0"/>
          </a:p>
        </p:txBody>
      </p:sp>
      <p:graphicFrame>
        <p:nvGraphicFramePr>
          <p:cNvPr id="4608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116197"/>
              </p:ext>
            </p:extLst>
          </p:nvPr>
        </p:nvGraphicFramePr>
        <p:xfrm>
          <a:off x="679450" y="1192213"/>
          <a:ext cx="7242175" cy="470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2" name="Equation" r:id="rId3" imgW="7759440" imgH="5041800" progId="Equation.DSMT4">
                  <p:embed/>
                </p:oleObj>
              </mc:Choice>
              <mc:Fallback>
                <p:oleObj name="Equation" r:id="rId3" imgW="7759440" imgH="5041800" progId="Equation.DSMT4">
                  <p:embed/>
                  <p:pic>
                    <p:nvPicPr>
                      <p:cNvPr id="4608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1192213"/>
                        <a:ext cx="7242175" cy="470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sz="4800" b="1" dirty="0"/>
              <a:t>3.</a:t>
            </a:r>
            <a:r>
              <a:rPr lang="en-US" altLang="zh-CN" sz="4800" dirty="0"/>
              <a:t> </a:t>
            </a:r>
            <a:r>
              <a:rPr lang="zh-CN" altLang="en-US" sz="4400" dirty="0">
                <a:ea typeface="楷体_GB2312" pitchFamily="49" charset="-122"/>
              </a:rPr>
              <a:t>凸集分离定理</a:t>
            </a:r>
            <a:endParaRPr lang="zh-CN" altLang="en-US" sz="3200" dirty="0"/>
          </a:p>
        </p:txBody>
      </p:sp>
      <p:graphicFrame>
        <p:nvGraphicFramePr>
          <p:cNvPr id="47108" name="Object 2"/>
          <p:cNvGraphicFramePr>
            <a:graphicFrameLocks noGrp="1" noChangeAspect="1"/>
          </p:cNvGraphicFramePr>
          <p:nvPr>
            <p:ph type="body" idx="4294967295"/>
            <p:extLst>
              <p:ext uri="{D42A27DB-BD31-4B8C-83A1-F6EECF244321}">
                <p14:modId xmlns:p14="http://schemas.microsoft.com/office/powerpoint/2010/main" val="1959740909"/>
              </p:ext>
            </p:extLst>
          </p:nvPr>
        </p:nvGraphicFramePr>
        <p:xfrm>
          <a:off x="741363" y="1303338"/>
          <a:ext cx="7715250" cy="397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7" name="Equation" r:id="rId3" imgW="8584920" imgH="4419360" progId="Equation.DSMT4">
                  <p:embed/>
                </p:oleObj>
              </mc:Choice>
              <mc:Fallback>
                <p:oleObj name="Equation" r:id="rId3" imgW="8584920" imgH="4419360" progId="Equation.DSMT4">
                  <p:embed/>
                  <p:pic>
                    <p:nvPicPr>
                      <p:cNvPr id="4710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3" y="1303338"/>
                        <a:ext cx="7715250" cy="397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 b="1" dirty="0"/>
              <a:t>3.</a:t>
            </a:r>
            <a:r>
              <a:rPr lang="en-US" altLang="zh-CN" dirty="0"/>
              <a:t> </a:t>
            </a:r>
            <a:r>
              <a:rPr lang="zh-CN" altLang="en-US" dirty="0">
                <a:ea typeface="楷体_GB2312" pitchFamily="49" charset="-122"/>
              </a:rPr>
              <a:t>凸集分离定理</a:t>
            </a:r>
            <a:endParaRPr lang="zh-CN" altLang="en-US" dirty="0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481213" y="1266474"/>
            <a:ext cx="7810500" cy="1746249"/>
            <a:chOff x="291" y="531"/>
            <a:chExt cx="4920" cy="1100"/>
          </a:xfrm>
        </p:grpSpPr>
        <p:graphicFrame>
          <p:nvGraphicFramePr>
            <p:cNvPr id="4813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5296707"/>
                </p:ext>
              </p:extLst>
            </p:nvPr>
          </p:nvGraphicFramePr>
          <p:xfrm>
            <a:off x="291" y="945"/>
            <a:ext cx="4920" cy="6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81" name="Equation" r:id="rId3" imgW="7810500" imgH="990600" progId="Equation.DSMT4">
                    <p:embed/>
                  </p:oleObj>
                </mc:Choice>
                <mc:Fallback>
                  <p:oleObj name="Equation" r:id="rId3" imgW="7810500" imgH="990600" progId="Equation.DSMT4">
                    <p:embed/>
                    <p:pic>
                      <p:nvPicPr>
                        <p:cNvPr id="4813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" y="945"/>
                          <a:ext cx="4920" cy="6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7875683"/>
                </p:ext>
              </p:extLst>
            </p:nvPr>
          </p:nvGraphicFramePr>
          <p:xfrm>
            <a:off x="296" y="531"/>
            <a:ext cx="211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82" name="Equation" r:id="rId5" imgW="3352680" imgH="380880" progId="Equation.DSMT4">
                    <p:embed/>
                  </p:oleObj>
                </mc:Choice>
                <mc:Fallback>
                  <p:oleObj name="Equation" r:id="rId5" imgW="3352680" imgH="380880" progId="Equation.DSMT4">
                    <p:embed/>
                    <p:pic>
                      <p:nvPicPr>
                        <p:cNvPr id="4813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" y="531"/>
                          <a:ext cx="211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E61D5DAE-C1DD-478C-8932-1F4195EC758D}"/>
              </a:ext>
            </a:extLst>
          </p:cNvPr>
          <p:cNvSpPr txBox="1"/>
          <p:nvPr/>
        </p:nvSpPr>
        <p:spPr>
          <a:xfrm>
            <a:off x="794084" y="338149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证明略</a:t>
            </a:r>
            <a:endParaRPr lang="zh-CN" alt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u">
  <a:themeElements>
    <a:clrScheme name="xu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xu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xu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u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HITACHI">
  <a:themeElements>
    <a:clrScheme name="2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2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</TotalTime>
  <Words>2390</Words>
  <Application>Microsoft Office PowerPoint</Application>
  <PresentationFormat>全屏显示(4:3)</PresentationFormat>
  <Paragraphs>219</Paragraphs>
  <Slides>53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43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53</vt:i4>
      </vt:variant>
    </vt:vector>
  </HeadingPairs>
  <TitlesOfParts>
    <vt:vector size="105" baseType="lpstr">
      <vt:lpstr>CMMI10</vt:lpstr>
      <vt:lpstr>CMR10</vt:lpstr>
      <vt:lpstr>CMSY10</vt:lpstr>
      <vt:lpstr>FandolKai-Regular-Identity-H</vt:lpstr>
      <vt:lpstr>FandolSong-Bold-Identity-H</vt:lpstr>
      <vt:lpstr>gkaiu4e</vt:lpstr>
      <vt:lpstr>gkaiu4f</vt:lpstr>
      <vt:lpstr>gkaiu50</vt:lpstr>
      <vt:lpstr>gkaiu51</vt:lpstr>
      <vt:lpstr>gkaiu52</vt:lpstr>
      <vt:lpstr>gkaiu53</vt:lpstr>
      <vt:lpstr>gkaiu57</vt:lpstr>
      <vt:lpstr>gkaiu5c</vt:lpstr>
      <vt:lpstr>gkaiu5f</vt:lpstr>
      <vt:lpstr>gkaiu60</vt:lpstr>
      <vt:lpstr>gkaiu63</vt:lpstr>
      <vt:lpstr>gkaiu66</vt:lpstr>
      <vt:lpstr>gkaiu76</vt:lpstr>
      <vt:lpstr>gkaiu77</vt:lpstr>
      <vt:lpstr>gkaiu7b</vt:lpstr>
      <vt:lpstr>gkaiu7e</vt:lpstr>
      <vt:lpstr>gkaiu89</vt:lpstr>
      <vt:lpstr>gkaiu8b</vt:lpstr>
      <vt:lpstr>gkaiu96</vt:lpstr>
      <vt:lpstr>NimbusRomNo9L-ReguItal</vt:lpstr>
      <vt:lpstr>NimbusSanL-ReguItal</vt:lpstr>
      <vt:lpstr>URWPalladioL-Bold</vt:lpstr>
      <vt:lpstr>URWPalladioL-Ital</vt:lpstr>
      <vt:lpstr>黑体</vt:lpstr>
      <vt:lpstr>华文楷体</vt:lpstr>
      <vt:lpstr>楷体_GB2312</vt:lpstr>
      <vt:lpstr>隶书</vt:lpstr>
      <vt:lpstr>宋体</vt:lpstr>
      <vt:lpstr>Arial</vt:lpstr>
      <vt:lpstr>Arial Black</vt:lpstr>
      <vt:lpstr>Calibri</vt:lpstr>
      <vt:lpstr>Calibri Light</vt:lpstr>
      <vt:lpstr>Cambria Math</vt:lpstr>
      <vt:lpstr>Garamond</vt:lpstr>
      <vt:lpstr>Symbol</vt:lpstr>
      <vt:lpstr>Times New Roman</vt:lpstr>
      <vt:lpstr>Verdana</vt:lpstr>
      <vt:lpstr>Wingdings</vt:lpstr>
      <vt:lpstr>xu</vt:lpstr>
      <vt:lpstr>HITACHI</vt:lpstr>
      <vt:lpstr>1_HITACHI</vt:lpstr>
      <vt:lpstr>4_HITACHI</vt:lpstr>
      <vt:lpstr>2_HITACHI</vt:lpstr>
      <vt:lpstr>3_HITACHI</vt:lpstr>
      <vt:lpstr>2_默认设计模板</vt:lpstr>
      <vt:lpstr>MathType 7.0 Equation</vt:lpstr>
      <vt:lpstr>Equation</vt:lpstr>
      <vt:lpstr>PowerPoint 演示文稿</vt:lpstr>
      <vt:lpstr>凸集与凸函数</vt:lpstr>
      <vt:lpstr>1 凸集</vt:lpstr>
      <vt:lpstr>PowerPoint 演示文稿</vt:lpstr>
      <vt:lpstr>1 凸集</vt:lpstr>
      <vt:lpstr>1 凸集</vt:lpstr>
      <vt:lpstr>1 凸集</vt:lpstr>
      <vt:lpstr>1 凸集</vt:lpstr>
      <vt:lpstr>1 凸集</vt:lpstr>
      <vt:lpstr>1 凸集</vt:lpstr>
      <vt:lpstr>1 凸集</vt:lpstr>
      <vt:lpstr>1  凸集</vt:lpstr>
      <vt:lpstr>1 凸集</vt:lpstr>
      <vt:lpstr>1 凸集 </vt:lpstr>
      <vt:lpstr>1 凸集</vt:lpstr>
      <vt:lpstr>1 凸集</vt:lpstr>
      <vt:lpstr>1 凸集 </vt:lpstr>
      <vt:lpstr>2  凸函数</vt:lpstr>
      <vt:lpstr>2 凸函数</vt:lpstr>
      <vt:lpstr>2 凸函数</vt:lpstr>
      <vt:lpstr>2 凸函数</vt:lpstr>
      <vt:lpstr>2 凸函数</vt:lpstr>
      <vt:lpstr>2 凸函数</vt:lpstr>
      <vt:lpstr>2 凸函数</vt:lpstr>
      <vt:lpstr>2   凸函数</vt:lpstr>
      <vt:lpstr>2 凸函数</vt:lpstr>
      <vt:lpstr>2 凸函数</vt:lpstr>
      <vt:lpstr>2 凸函数</vt:lpstr>
      <vt:lpstr>PowerPoint 演示文稿</vt:lpstr>
      <vt:lpstr>2 凸函数</vt:lpstr>
      <vt:lpstr>2 凸函数</vt:lpstr>
      <vt:lpstr>2 凸函数</vt:lpstr>
      <vt:lpstr>2 凸函数</vt:lpstr>
      <vt:lpstr>2 凸函数</vt:lpstr>
      <vt:lpstr>2 凸函数</vt:lpstr>
      <vt:lpstr>2 凸函数</vt:lpstr>
      <vt:lpstr>2 凸函数</vt:lpstr>
      <vt:lpstr>2 凸函数</vt:lpstr>
      <vt:lpstr>3. 凸集分离定理</vt:lpstr>
      <vt:lpstr>3. 凸集分离定理</vt:lpstr>
      <vt:lpstr>3. 凸集分离定理</vt:lpstr>
      <vt:lpstr>3. 凸集分离定理</vt:lpstr>
      <vt:lpstr>3. 凸集分离定理</vt:lpstr>
      <vt:lpstr>3. 凸集分离定理</vt:lpstr>
      <vt:lpstr>3. 凸集分离定理</vt:lpstr>
      <vt:lpstr>3. 凸集分离定理</vt:lpstr>
      <vt:lpstr>3. 凸集分离定理</vt:lpstr>
      <vt:lpstr>3. 凸集分离定理</vt:lpstr>
      <vt:lpstr>3. 凸集分离定理</vt:lpstr>
      <vt:lpstr>3. 凸集分离定理</vt:lpstr>
      <vt:lpstr>3. 凸集分离定理</vt:lpstr>
      <vt:lpstr>3. 凸集分离定理</vt:lpstr>
      <vt:lpstr>3. 凸集分离定理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tpshuai</dc:creator>
  <cp:lastModifiedBy>tpshu</cp:lastModifiedBy>
  <cp:revision>1715</cp:revision>
  <dcterms:created xsi:type="dcterms:W3CDTF">2012-04-20T06:02:00Z</dcterms:created>
  <dcterms:modified xsi:type="dcterms:W3CDTF">2026-03-17T13:41:36Z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9CF86C79608144ADBEF3A26E5FD9A904</vt:lpwstr>
  </property>
</Properties>
</file>