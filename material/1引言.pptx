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3" r:id="rId3"/>
    <p:sldMasterId id="2147483687" r:id="rId4"/>
    <p:sldMasterId id="2147483699" r:id="rId5"/>
    <p:sldMasterId id="2147483711" r:id="rId6"/>
    <p:sldMasterId id="2147483723" r:id="rId7"/>
  </p:sldMasterIdLst>
  <p:notesMasterIdLst>
    <p:notesMasterId r:id="rId54"/>
  </p:notesMasterIdLst>
  <p:handoutMasterIdLst>
    <p:handoutMasterId r:id="rId55"/>
  </p:handoutMasterIdLst>
  <p:sldIdLst>
    <p:sldId id="377" r:id="rId8"/>
    <p:sldId id="264" r:id="rId9"/>
    <p:sldId id="319" r:id="rId10"/>
    <p:sldId id="257" r:id="rId11"/>
    <p:sldId id="318" r:id="rId12"/>
    <p:sldId id="275" r:id="rId13"/>
    <p:sldId id="276" r:id="rId14"/>
    <p:sldId id="277" r:id="rId15"/>
    <p:sldId id="278" r:id="rId16"/>
    <p:sldId id="282" r:id="rId17"/>
    <p:sldId id="286" r:id="rId18"/>
    <p:sldId id="287" r:id="rId19"/>
    <p:sldId id="288" r:id="rId20"/>
    <p:sldId id="290" r:id="rId21"/>
    <p:sldId id="291" r:id="rId22"/>
    <p:sldId id="292" r:id="rId23"/>
    <p:sldId id="293" r:id="rId24"/>
    <p:sldId id="294" r:id="rId25"/>
    <p:sldId id="295" r:id="rId26"/>
    <p:sldId id="296" r:id="rId27"/>
    <p:sldId id="297" r:id="rId28"/>
    <p:sldId id="298" r:id="rId29"/>
    <p:sldId id="299" r:id="rId30"/>
    <p:sldId id="301" r:id="rId31"/>
    <p:sldId id="302" r:id="rId32"/>
    <p:sldId id="305" r:id="rId33"/>
    <p:sldId id="321" r:id="rId34"/>
    <p:sldId id="322" r:id="rId35"/>
    <p:sldId id="324" r:id="rId36"/>
    <p:sldId id="325" r:id="rId37"/>
    <p:sldId id="326" r:id="rId38"/>
    <p:sldId id="378" r:id="rId39"/>
    <p:sldId id="379" r:id="rId40"/>
    <p:sldId id="356" r:id="rId41"/>
    <p:sldId id="380" r:id="rId42"/>
    <p:sldId id="358" r:id="rId43"/>
    <p:sldId id="359" r:id="rId44"/>
    <p:sldId id="360" r:id="rId45"/>
    <p:sldId id="332" r:id="rId46"/>
    <p:sldId id="331" r:id="rId47"/>
    <p:sldId id="364" r:id="rId48"/>
    <p:sldId id="365" r:id="rId49"/>
    <p:sldId id="366" r:id="rId50"/>
    <p:sldId id="367" r:id="rId51"/>
    <p:sldId id="334" r:id="rId52"/>
    <p:sldId id="333" r:id="rId53"/>
  </p:sldIdLst>
  <p:sldSz cx="9144000" cy="6858000" type="screen4x3"/>
  <p:notesSz cx="7099300" cy="10234613"/>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35"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186">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56F1"/>
    <a:srgbClr val="FF9933"/>
    <a:srgbClr val="FF6600"/>
    <a:srgbClr val="CC6600"/>
    <a:srgbClr val="990000"/>
    <a:srgbClr val="336699"/>
    <a:srgbClr val="CC3300"/>
    <a:srgbClr val="008080"/>
    <a:srgbClr val="00999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827" autoAdjust="0"/>
    <p:restoredTop sz="92552" autoAdjust="0"/>
  </p:normalViewPr>
  <p:slideViewPr>
    <p:cSldViewPr snapToGrid="0" showGuides="1">
      <p:cViewPr varScale="1">
        <p:scale>
          <a:sx n="66" d="100"/>
          <a:sy n="66" d="100"/>
        </p:scale>
        <p:origin x="1196" y="52"/>
      </p:cViewPr>
      <p:guideLst>
        <p:guide orient="horz" pos="2135"/>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49" d="100"/>
          <a:sy n="49" d="100"/>
        </p:scale>
        <p:origin x="-3006" y="-96"/>
      </p:cViewPr>
      <p:guideLst>
        <p:guide orient="horz" pos="3186"/>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handoutMaster" Target="handoutMasters/handout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theme" Target="theme/theme1.xml"/><Relationship Id="rId5" Type="http://schemas.openxmlformats.org/officeDocument/2006/relationships/slideMaster" Target="slideMasters/slideMaster5.xml"/><Relationship Id="rId19"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viewProps" Target="viewProp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lstStyle>
            <a:lvl1pPr defTabSz="990600">
              <a:defRPr sz="1300">
                <a:latin typeface="Calibri" panose="020F0502020204030204" pitchFamily="34" charset="0"/>
                <a:ea typeface="宋体" panose="02010600030101010101" pitchFamily="2" charset="-122"/>
              </a:defRPr>
            </a:lvl1pPr>
          </a:lstStyle>
          <a:p>
            <a:pPr>
              <a:defRPr/>
            </a:pPr>
            <a:endParaRPr lang="zh-CN" altLang="en-US"/>
          </a:p>
        </p:txBody>
      </p:sp>
      <p:sp>
        <p:nvSpPr>
          <p:cNvPr id="3" name="Date Placeholder 2"/>
          <p:cNvSpPr>
            <a:spLocks noGrp="1"/>
          </p:cNvSpPr>
          <p:nvPr>
            <p:ph type="dt" sz="quarter" idx="1"/>
          </p:nvPr>
        </p:nvSpPr>
        <p:spPr bwMode="auto">
          <a:xfrm>
            <a:off x="4021138"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lstStyle>
            <a:lvl1pPr algn="r" defTabSz="990600">
              <a:defRPr sz="1300">
                <a:latin typeface="Calibri" panose="020F0502020204030204" pitchFamily="34" charset="0"/>
                <a:ea typeface="宋体" panose="02010600030101010101" pitchFamily="2" charset="-122"/>
              </a:defRPr>
            </a:lvl1pPr>
          </a:lstStyle>
          <a:p>
            <a:pPr>
              <a:defRPr/>
            </a:pPr>
            <a:fld id="{06A960A1-D56F-4C4A-97CF-4735240BD62C}" type="datetimeFigureOut">
              <a:rPr lang="zh-CN" altLang="en-US"/>
              <a:t>2026/3/2</a:t>
            </a:fld>
            <a:endParaRPr lang="en-US" altLang="zh-CN"/>
          </a:p>
        </p:txBody>
      </p:sp>
      <p:sp>
        <p:nvSpPr>
          <p:cNvPr id="4" name="Footer Placeholder 3"/>
          <p:cNvSpPr>
            <a:spLocks noGrp="1"/>
          </p:cNvSpPr>
          <p:nvPr>
            <p:ph type="ftr" sz="quarter" idx="2"/>
          </p:nvPr>
        </p:nvSpPr>
        <p:spPr bwMode="auto">
          <a:xfrm>
            <a:off x="0"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b" anchorCtr="0" compatLnSpc="1"/>
          <a:lstStyle>
            <a:lvl1pPr defTabSz="990600">
              <a:defRPr sz="1300">
                <a:latin typeface="Calibri" panose="020F0502020204030204" pitchFamily="34" charset="0"/>
                <a:ea typeface="宋体" panose="02010600030101010101" pitchFamily="2" charset="-122"/>
              </a:defRPr>
            </a:lvl1pPr>
          </a:lstStyle>
          <a:p>
            <a:pPr>
              <a:defRPr/>
            </a:pPr>
            <a:endParaRPr lang="zh-CN" altLang="en-US"/>
          </a:p>
        </p:txBody>
      </p:sp>
      <p:sp>
        <p:nvSpPr>
          <p:cNvPr id="5" name="Slide Number Placeholder 4"/>
          <p:cNvSpPr>
            <a:spLocks noGrp="1"/>
          </p:cNvSpPr>
          <p:nvPr>
            <p:ph type="sldNum" sz="quarter" idx="3"/>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b" anchorCtr="0" compatLnSpc="1"/>
          <a:lstStyle>
            <a:lvl1pPr algn="r" defTabSz="990600">
              <a:defRPr sz="1300">
                <a:latin typeface="Calibri" panose="020F0502020204030204" pitchFamily="34" charset="0"/>
                <a:ea typeface="宋体" panose="02010600030101010101" pitchFamily="2" charset="-122"/>
              </a:defRPr>
            </a:lvl1pPr>
          </a:lstStyle>
          <a:p>
            <a:pPr>
              <a:defRPr/>
            </a:pPr>
            <a:fld id="{F4F66F81-A0D2-4A7E-BBC3-CD5E44C9F6A2}"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lstStyle>
            <a:lvl1pPr defTabSz="990600">
              <a:defRPr sz="1300">
                <a:latin typeface="Calibri" panose="020F0502020204030204" pitchFamily="34" charset="0"/>
                <a:ea typeface="宋体" panose="02010600030101010101" pitchFamily="2" charset="-122"/>
              </a:defRPr>
            </a:lvl1pPr>
          </a:lstStyle>
          <a:p>
            <a:pPr>
              <a:defRPr/>
            </a:pPr>
            <a:endParaRPr lang="zh-CN" altLang="en-US"/>
          </a:p>
        </p:txBody>
      </p:sp>
      <p:sp>
        <p:nvSpPr>
          <p:cNvPr id="3" name="Date Placeholder 2"/>
          <p:cNvSpPr>
            <a:spLocks noGrp="1"/>
          </p:cNvSpPr>
          <p:nvPr>
            <p:ph type="dt" idx="1"/>
          </p:nvPr>
        </p:nvSpPr>
        <p:spPr bwMode="auto">
          <a:xfrm>
            <a:off x="4021138"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lstStyle>
            <a:lvl1pPr algn="r" defTabSz="990600">
              <a:defRPr sz="1300">
                <a:latin typeface="Calibri" panose="020F0502020204030204" pitchFamily="34" charset="0"/>
                <a:ea typeface="宋体" panose="02010600030101010101" pitchFamily="2" charset="-122"/>
              </a:defRPr>
            </a:lvl1pPr>
          </a:lstStyle>
          <a:p>
            <a:pPr>
              <a:defRPr/>
            </a:pPr>
            <a:fld id="{B5EE2498-8568-4830-BB85-C81475419C18}" type="datetimeFigureOut">
              <a:rPr lang="zh-CN" altLang="en-US"/>
              <a:t>2026/3/2</a:t>
            </a:fld>
            <a:endParaRPr lang="en-US" altLang="zh-CN"/>
          </a:p>
        </p:txBody>
      </p:sp>
      <p:sp>
        <p:nvSpPr>
          <p:cNvPr id="4" name="Slide Image Placeholder 3"/>
          <p:cNvSpPr>
            <a:spLocks noGrp="1" noRot="1" noChangeAspect="1"/>
          </p:cNvSpPr>
          <p:nvPr>
            <p:ph type="sldImg" idx="2"/>
          </p:nvPr>
        </p:nvSpPr>
        <p:spPr>
          <a:xfrm>
            <a:off x="990600" y="768350"/>
            <a:ext cx="5118100" cy="3836988"/>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Notes Placeholder 4"/>
          <p:cNvSpPr>
            <a:spLocks noGrp="1"/>
          </p:cNvSpPr>
          <p:nvPr>
            <p:ph type="body" sz="quarter" idx="3"/>
          </p:nvPr>
        </p:nvSpPr>
        <p:spPr bwMode="auto">
          <a:xfrm>
            <a:off x="709613" y="4860925"/>
            <a:ext cx="5680075" cy="460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endParaRPr lang="zh-CN" altLang="en-US" noProof="0"/>
          </a:p>
        </p:txBody>
      </p:sp>
      <p:sp>
        <p:nvSpPr>
          <p:cNvPr id="6" name="Footer Placeholder 5"/>
          <p:cNvSpPr>
            <a:spLocks noGrp="1"/>
          </p:cNvSpPr>
          <p:nvPr>
            <p:ph type="ftr" sz="quarter" idx="4"/>
          </p:nvPr>
        </p:nvSpPr>
        <p:spPr bwMode="auto">
          <a:xfrm>
            <a:off x="0"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b" anchorCtr="0" compatLnSpc="1"/>
          <a:lstStyle>
            <a:lvl1pPr defTabSz="990600">
              <a:defRPr sz="1300">
                <a:latin typeface="Calibri" panose="020F0502020204030204" pitchFamily="34" charset="0"/>
                <a:ea typeface="宋体" panose="02010600030101010101" pitchFamily="2" charset="-122"/>
              </a:defRPr>
            </a:lvl1pPr>
          </a:lstStyle>
          <a:p>
            <a:pPr>
              <a:defRPr/>
            </a:pPr>
            <a:endParaRPr lang="zh-CN" altLang="en-US"/>
          </a:p>
        </p:txBody>
      </p:sp>
      <p:sp>
        <p:nvSpPr>
          <p:cNvPr id="7" name="Slide Number Placeholder 6"/>
          <p:cNvSpPr>
            <a:spLocks noGrp="1"/>
          </p:cNvSpPr>
          <p:nvPr>
            <p:ph type="sldNum" sz="quarter" idx="5"/>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b" anchorCtr="0" compatLnSpc="1"/>
          <a:lstStyle>
            <a:lvl1pPr algn="r" defTabSz="990600">
              <a:defRPr sz="1300">
                <a:latin typeface="Calibri" panose="020F0502020204030204" pitchFamily="34" charset="0"/>
                <a:ea typeface="宋体" panose="02010600030101010101" pitchFamily="2" charset="-122"/>
              </a:defRPr>
            </a:lvl1pPr>
          </a:lstStyle>
          <a:p>
            <a:pPr>
              <a:defRPr/>
            </a:pPr>
            <a:fld id="{700F46F3-D1E1-4E94-ABE0-1F205FAA8D8A}"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15C0D57-1861-43A7-9453-49C4449BD5E7}" type="slidenum">
              <a:rPr lang="zh-CN" altLang="en-US" smtClean="0"/>
              <a:t>5</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bwMode="auto">
          <a:xfrm>
            <a:off x="992188" y="768350"/>
            <a:ext cx="5114925" cy="3836988"/>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71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471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1A9824AA-A207-4D56-B7DF-A1248E6B06F6}" type="slidenum">
              <a:rPr lang="zh-CN" altLang="en-US" smtClean="0">
                <a:latin typeface="Arial" panose="020B0604020202020204" pitchFamily="34" charset="0"/>
              </a:rPr>
              <a:t>10</a:t>
            </a:fld>
            <a:endParaRPr lang="zh-CN"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bwMode="auto">
          <a:xfrm>
            <a:off x="992188" y="768350"/>
            <a:ext cx="5114925" cy="3836988"/>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512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ABC55693-9938-4566-B2F6-C600CFF2EEB7}" type="slidenum">
              <a:rPr lang="zh-CN" altLang="en-US" smtClean="0">
                <a:latin typeface="Arial" panose="020B0604020202020204" pitchFamily="34" charset="0"/>
              </a:rPr>
              <a:t>13</a:t>
            </a:fld>
            <a:endParaRPr lang="zh-CN"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bwMode="auto">
          <a:xfrm>
            <a:off x="992188" y="768350"/>
            <a:ext cx="5114925" cy="3836988"/>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34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634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A54C857A-58A0-412D-925F-0366CD61A095}" type="slidenum">
              <a:rPr lang="zh-CN" altLang="en-US" smtClean="0">
                <a:latin typeface="Arial" panose="020B0604020202020204" pitchFamily="34" charset="0"/>
              </a:rPr>
              <a:t>24</a:t>
            </a:fld>
            <a:endParaRPr lang="zh-CN"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bwMode="auto">
          <a:xfrm>
            <a:off x="992188" y="768350"/>
            <a:ext cx="5114925" cy="3836988"/>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65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665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E96261E3-EAE4-4409-98BE-AA60433B26D0}" type="slidenum">
              <a:rPr lang="zh-CN" altLang="en-US" smtClean="0">
                <a:latin typeface="Arial" panose="020B0604020202020204" pitchFamily="34" charset="0"/>
              </a:rPr>
              <a:t>26</a:t>
            </a:fld>
            <a:endParaRPr lang="zh-CN"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bwMode="auto">
          <a:xfrm>
            <a:off x="992188" y="768350"/>
            <a:ext cx="5114925" cy="3836988"/>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86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686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DED9977D-7180-48D1-B848-12539BB8D76F}" type="slidenum">
              <a:rPr lang="zh-CN" altLang="en-US" smtClean="0">
                <a:latin typeface="Arial" panose="020B0604020202020204" pitchFamily="34" charset="0"/>
              </a:rPr>
              <a:t>27</a:t>
            </a:fld>
            <a:endParaRPr lang="zh-CN"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bwMode="auto">
          <a:xfrm>
            <a:off x="992188" y="768350"/>
            <a:ext cx="5114925" cy="3836988"/>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06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706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586B16D-02DE-4E53-863C-B5896801407D}" type="slidenum">
              <a:rPr lang="zh-CN" altLang="en-US" smtClean="0">
                <a:latin typeface="Arial" panose="020B0604020202020204" pitchFamily="34" charset="0"/>
              </a:rPr>
              <a:t>28</a:t>
            </a:fld>
            <a:endParaRPr lang="zh-CN"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Master" Target="../slideMasters/slideMaster7.xml"/><Relationship Id="rId6" Type="http://schemas.openxmlformats.org/officeDocument/2006/relationships/image" Target="../media/image7.jpe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jpeg"/></Relationships>
</file>

<file path=ppt/slideLayouts/_rels/slideLayout7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Master" Target="../slideMasters/slideMaster7.xml"/><Relationship Id="rId6" Type="http://schemas.openxmlformats.org/officeDocument/2006/relationships/image" Target="../media/image7.jpe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jpeg"/></Relationships>
</file>

<file path=ppt/slideLayouts/_rels/slideLayout7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Master" Target="../slideMasters/slideMaster7.xml"/><Relationship Id="rId6" Type="http://schemas.openxmlformats.org/officeDocument/2006/relationships/image" Target="../media/image7.jpe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jpeg"/></Relationships>
</file>

<file path=ppt/slideLayouts/_rels/slideLayout7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Master" Target="../slideMasters/slideMaster7.xml"/><Relationship Id="rId6" Type="http://schemas.openxmlformats.org/officeDocument/2006/relationships/image" Target="../media/image7.jpe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jpeg"/></Relationships>
</file>

<file path=ppt/slideLayouts/_rels/slideLayout7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Master" Target="../slideMasters/slideMaster7.xml"/><Relationship Id="rId6" Type="http://schemas.openxmlformats.org/officeDocument/2006/relationships/image" Target="../media/image7.jpe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jpeg"/></Relationships>
</file>

<file path=ppt/slideLayouts/_rels/slideLayout7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Master" Target="../slideMasters/slideMaster7.xml"/><Relationship Id="rId6" Type="http://schemas.openxmlformats.org/officeDocument/2006/relationships/image" Target="../media/image7.jpe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jpeg"/></Relationships>
</file>

<file path=ppt/slideLayouts/_rels/slideLayout76.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Master" Target="../slideMasters/slideMaster7.xml"/><Relationship Id="rId6" Type="http://schemas.openxmlformats.org/officeDocument/2006/relationships/image" Target="../media/image7.jpeg"/><Relationship Id="rId11" Type="http://schemas.microsoft.com/office/2007/relationships/hdphoto" Target="../media/hdphoto1.wdp"/><Relationship Id="rId5" Type="http://schemas.openxmlformats.org/officeDocument/2006/relationships/image" Target="../media/image6.jpeg"/><Relationship Id="rId10" Type="http://schemas.openxmlformats.org/officeDocument/2006/relationships/image" Target="../media/image12.png"/><Relationship Id="rId4" Type="http://schemas.openxmlformats.org/officeDocument/2006/relationships/image" Target="../media/image5.jpeg"/><Relationship Id="rId9" Type="http://schemas.openxmlformats.org/officeDocument/2006/relationships/image" Target="../media/image10.jpeg"/></Relationships>
</file>

<file path=ppt/slideLayouts/_rels/slideLayout7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Master" Target="../slideMasters/slideMaster7.xml"/><Relationship Id="rId6" Type="http://schemas.openxmlformats.org/officeDocument/2006/relationships/image" Target="../media/image7.jpe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jpeg"/></Relationships>
</file>

<file path=ppt/slideLayouts/_rels/slideLayout78.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Master" Target="../slideMasters/slideMaster7.xml"/><Relationship Id="rId6" Type="http://schemas.openxmlformats.org/officeDocument/2006/relationships/image" Target="../media/image7.jpe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jpeg"/></Relationships>
</file>

<file path=ppt/slideLayouts/_rels/slideLayout79.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Master" Target="../slideMasters/slideMaster7.xml"/><Relationship Id="rId6" Type="http://schemas.openxmlformats.org/officeDocument/2006/relationships/image" Target="../media/image7.jpe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jpe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762000" y="1219200"/>
            <a:ext cx="38100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24400" y="1219200"/>
            <a:ext cx="38100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1300" y="304800"/>
            <a:ext cx="1943100" cy="5791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62000" y="304800"/>
            <a:ext cx="5676900" cy="5791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524000"/>
            <a:ext cx="8229600" cy="4530725"/>
          </a:xfrm>
          <a:prstGeom prst="rect">
            <a:avLst/>
          </a:prstGeom>
        </p:spPr>
        <p:txBody>
          <a:bodyPr/>
          <a:lstStyle>
            <a:lvl1pPr>
              <a:defRPr sz="2400">
                <a:latin typeface="+mn-ea"/>
                <a:ea typeface="+mn-ea"/>
              </a:defRPr>
            </a:lvl1pPr>
            <a:lvl2pPr>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44500" y="73025"/>
            <a:ext cx="8229600" cy="757238"/>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524000"/>
            <a:ext cx="4038600" cy="4530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524000"/>
            <a:ext cx="4038600" cy="4530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44500" y="73025"/>
            <a:ext cx="8229600" cy="757238"/>
          </a:xfrm>
          <a:prstGeom prst="rect">
            <a:avLst/>
          </a:prstGeom>
        </p:spPr>
        <p:txBody>
          <a:bodyPr/>
          <a:lstStyle/>
          <a:p>
            <a:r>
              <a:rPr lang="zh-CN" altLang="en-US"/>
              <a:t>单击此处编辑母版标题样式</a:t>
            </a:r>
          </a:p>
        </p:txBody>
      </p:sp>
    </p:spTree>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44500" y="73025"/>
            <a:ext cx="8229600" cy="757238"/>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524000"/>
            <a:ext cx="8229600" cy="45307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6225" y="73025"/>
            <a:ext cx="2060575" cy="59817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44500" y="73025"/>
            <a:ext cx="6029325" cy="59817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pic>
        <p:nvPicPr>
          <p:cNvPr id="3" name="Picture 7" descr="C:\Users\luye\Desktop\未标题-1.jpg"/>
          <p:cNvPicPr>
            <a:picLocks noChangeAspect="1" noChangeArrowheads="1"/>
          </p:cNvPicPr>
          <p:nvPr userDrawn="1"/>
        </p:nvPicPr>
        <p:blipFill>
          <a:blip r:embed="rId2"/>
          <a:srcRect/>
          <a:stretch>
            <a:fillRect/>
          </a:stretch>
        </p:blipFill>
        <p:spPr bwMode="auto">
          <a:xfrm>
            <a:off x="5715008" y="6067645"/>
            <a:ext cx="3428992" cy="790355"/>
          </a:xfrm>
          <a:prstGeom prst="rect">
            <a:avLst/>
          </a:prstGeom>
          <a:noFill/>
          <a:ln w="9525">
            <a:noFill/>
            <a:miter lim="800000"/>
            <a:headEnd/>
            <a:tailEnd/>
          </a:ln>
        </p:spPr>
      </p:pic>
    </p:spTree>
  </p:cSld>
  <p:clrMapOvr>
    <a:masterClrMapping/>
  </p:clrMapOvr>
  <p:transition spd="slow"/>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transition spd="slow"/>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slow"/>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5240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5240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transition spd="slow"/>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slow"/>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slow"/>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6225" y="73025"/>
            <a:ext cx="2060575" cy="59817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44500" y="73025"/>
            <a:ext cx="6029325" cy="59817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Layouts/slideLayout3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表格占位符 2"/>
          <p:cNvSpPr>
            <a:spLocks noGrp="1"/>
          </p:cNvSpPr>
          <p:nvPr>
            <p:ph type="tbl" idx="1"/>
          </p:nvPr>
        </p:nvSpPr>
        <p:spPr>
          <a:xfrm>
            <a:off x="685800" y="1981200"/>
            <a:ext cx="7772400" cy="4114800"/>
          </a:xfrm>
        </p:spPr>
        <p:txBody>
          <a:bodyPr/>
          <a:lstStyle/>
          <a:p>
            <a:pPr lvl="0"/>
            <a:endParaRPr lang="zh-CN" altLang="en-US" noProof="0"/>
          </a:p>
        </p:txBody>
      </p:sp>
      <p:sp>
        <p:nvSpPr>
          <p:cNvPr id="4" name="Rectangle 4"/>
          <p:cNvSpPr>
            <a:spLocks noGrp="1" noChangeArrowheads="1"/>
          </p:cNvSpPr>
          <p:nvPr>
            <p:ph type="dt" sz="half" idx="10"/>
          </p:nvPr>
        </p:nvSpPr>
        <p:spPr/>
        <p:txBody>
          <a:bodyPr/>
          <a:lstStyle>
            <a:lvl1pPr>
              <a:defRPr/>
            </a:lvl1pPr>
          </a:lstStyle>
          <a:p>
            <a:pPr>
              <a:defRPr/>
            </a:pPr>
            <a:fld id="{A34E2A8A-6DD7-49AA-819F-C2CB0D091BBE}" type="datetime1">
              <a:rPr lang="zh-CN" altLang="en-US"/>
              <a:t>2026/3/2</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TP SHUAI</a:t>
            </a:r>
          </a:p>
        </p:txBody>
      </p:sp>
      <p:sp>
        <p:nvSpPr>
          <p:cNvPr id="6" name="Rectangle 6"/>
          <p:cNvSpPr>
            <a:spLocks noGrp="1" noChangeArrowheads="1"/>
          </p:cNvSpPr>
          <p:nvPr>
            <p:ph type="sldNum" sz="quarter" idx="12"/>
          </p:nvPr>
        </p:nvSpPr>
        <p:spPr/>
        <p:txBody>
          <a:bodyPr/>
          <a:lstStyle>
            <a:lvl1pPr>
              <a:defRPr/>
            </a:lvl1pPr>
          </a:lstStyle>
          <a:p>
            <a:pPr>
              <a:defRPr/>
            </a:pPr>
            <a:fld id="{E212903E-B3D6-4C78-B010-3C3B34D481D3}" type="slidenum">
              <a:rPr lang="en-US" altLang="zh-CN"/>
              <a:t>‹#›</a:t>
            </a:fld>
            <a:endParaRPr lang="en-US" altLang="zh-CN"/>
          </a:p>
        </p:txBody>
      </p:sp>
    </p:spTree>
  </p:cSld>
  <p:clrMapOvr>
    <a:masterClrMapping/>
  </p:clrMapOvr>
  <p:transition spd="slow"/>
</p:sldLayout>
</file>

<file path=ppt/slideLayouts/slideLayout3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fld id="{FCB98945-68EE-4A7A-A52E-22017FEFB17E}" type="datetime1">
              <a:rPr lang="zh-CN" altLang="en-US"/>
              <a:t>2026/3/2</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TP SHUAI</a:t>
            </a:r>
          </a:p>
        </p:txBody>
      </p:sp>
      <p:sp>
        <p:nvSpPr>
          <p:cNvPr id="7" name="Rectangle 6"/>
          <p:cNvSpPr>
            <a:spLocks noGrp="1" noChangeArrowheads="1"/>
          </p:cNvSpPr>
          <p:nvPr>
            <p:ph type="sldNum" sz="quarter" idx="12"/>
          </p:nvPr>
        </p:nvSpPr>
        <p:spPr/>
        <p:txBody>
          <a:bodyPr/>
          <a:lstStyle>
            <a:lvl1pPr>
              <a:defRPr/>
            </a:lvl1pPr>
          </a:lstStyle>
          <a:p>
            <a:pPr>
              <a:defRPr/>
            </a:pPr>
            <a:fld id="{724A9BB3-8335-42DC-A896-CB339B7AEE9B}" type="slidenum">
              <a:rPr lang="en-US" altLang="zh-CN"/>
              <a:t>‹#›</a:t>
            </a:fld>
            <a:endParaRPr lang="en-US" altLang="zh-CN"/>
          </a:p>
        </p:txBody>
      </p:sp>
    </p:spTree>
  </p:cSld>
  <p:clrMapOvr>
    <a:masterClrMapping/>
  </p:clrMapOvr>
  <p:transition spd="slow"/>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transition spd="slow"/>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slow"/>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5240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5240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transition spd="slow"/>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slow"/>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slow"/>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6225" y="73025"/>
            <a:ext cx="2060575" cy="59817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44500" y="73025"/>
            <a:ext cx="6029325" cy="59817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6"/>
          <p:cNvSpPr>
            <a:spLocks noGrp="1" noChangeArrowheads="1"/>
          </p:cNvSpPr>
          <p:nvPr>
            <p:ph type="sldNum" sz="quarter" idx="10"/>
          </p:nvPr>
        </p:nvSpPr>
        <p:spPr/>
        <p:txBody>
          <a:bodyPr/>
          <a:lstStyle>
            <a:lvl1pPr>
              <a:defRPr/>
            </a:lvl1pPr>
          </a:lstStyle>
          <a:p>
            <a:pPr>
              <a:defRPr/>
            </a:pPr>
            <a:fld id="{54885134-EB9D-4805-ABEB-F863D88A05E2}" type="slidenum">
              <a:rPr lang="zh-CN" altLang="en-US"/>
              <a:t>‹#›</a:t>
            </a:fld>
            <a:endParaRPr lang="en-US" altLang="zh-CN"/>
          </a:p>
        </p:txBody>
      </p:sp>
    </p:spTree>
  </p:cSld>
  <p:clrMapOvr>
    <a:masterClrMapping/>
  </p:clrMapOvr>
  <p:transition spd="slow"/>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p:txBody>
          <a:bodyPr/>
          <a:lstStyle>
            <a:lvl1pPr>
              <a:defRPr/>
            </a:lvl1pPr>
          </a:lstStyle>
          <a:p>
            <a:pPr>
              <a:defRPr/>
            </a:pPr>
            <a:fld id="{25FAFBB6-D49A-43F4-87D9-D7681947FD6E}" type="slidenum">
              <a:rPr lang="zh-CN" altLang="en-US"/>
              <a:t>‹#›</a:t>
            </a:fld>
            <a:endParaRPr lang="en-US" altLang="zh-CN"/>
          </a:p>
        </p:txBody>
      </p:sp>
    </p:spTree>
  </p:cSld>
  <p:clrMapOvr>
    <a:masterClrMapping/>
  </p:clrMapOvr>
  <p:transition spd="slow"/>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p:txBody>
          <a:bodyPr/>
          <a:lstStyle>
            <a:lvl1pPr>
              <a:defRPr/>
            </a:lvl1pPr>
          </a:lstStyle>
          <a:p>
            <a:pPr>
              <a:defRPr/>
            </a:pPr>
            <a:fld id="{FB7C021B-CAAC-47EF-8662-3E778FCEF6CC}" type="slidenum">
              <a:rPr lang="zh-CN" altLang="en-US"/>
              <a:t>‹#›</a:t>
            </a:fld>
            <a:endParaRPr lang="en-US" altLang="zh-CN"/>
          </a:p>
        </p:txBody>
      </p:sp>
    </p:spTree>
  </p:cSld>
  <p:clrMapOvr>
    <a:masterClrMapping/>
  </p:clrMapOvr>
  <p:transition spd="slow"/>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5240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5240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sldNum" sz="quarter" idx="10"/>
          </p:nvPr>
        </p:nvSpPr>
        <p:spPr/>
        <p:txBody>
          <a:bodyPr/>
          <a:lstStyle>
            <a:lvl1pPr>
              <a:defRPr/>
            </a:lvl1pPr>
          </a:lstStyle>
          <a:p>
            <a:pPr>
              <a:defRPr/>
            </a:pPr>
            <a:fld id="{AD750BEE-AE29-4505-92DA-41C676A7136E}" type="slidenum">
              <a:rPr lang="zh-CN" altLang="en-US"/>
              <a:t>‹#›</a:t>
            </a:fld>
            <a:endParaRPr lang="en-US" altLang="zh-CN"/>
          </a:p>
        </p:txBody>
      </p:sp>
    </p:spTree>
  </p:cSld>
  <p:clrMapOvr>
    <a:masterClrMapping/>
  </p:clrMapOvr>
  <p:transition spd="slow"/>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p:txBody>
          <a:bodyPr/>
          <a:lstStyle>
            <a:lvl1pPr>
              <a:defRPr/>
            </a:lvl1pPr>
          </a:lstStyle>
          <a:p>
            <a:pPr>
              <a:defRPr/>
            </a:pPr>
            <a:fld id="{31600548-8CF3-4B09-ACBA-0F38896D9169}" type="slidenum">
              <a:rPr lang="zh-CN" altLang="en-US"/>
              <a:t>‹#›</a:t>
            </a:fld>
            <a:endParaRPr lang="en-US" altLang="zh-CN"/>
          </a:p>
        </p:txBody>
      </p:sp>
    </p:spTree>
  </p:cSld>
  <p:clrMapOvr>
    <a:masterClrMapping/>
  </p:clrMapOvr>
  <p:transition spd="slow"/>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p:txBody>
          <a:bodyPr/>
          <a:lstStyle>
            <a:lvl1pPr>
              <a:defRPr/>
            </a:lvl1pPr>
          </a:lstStyle>
          <a:p>
            <a:pPr>
              <a:defRPr/>
            </a:pPr>
            <a:fld id="{2DE0478A-3558-426B-BC99-7BF29E2A8A02}" type="slidenum">
              <a:rPr lang="zh-CN" altLang="en-US"/>
              <a:t>‹#›</a:t>
            </a:fld>
            <a:endParaRPr lang="en-US" altLang="zh-CN"/>
          </a:p>
        </p:txBody>
      </p:sp>
    </p:spTree>
  </p:cSld>
  <p:clrMapOvr>
    <a:masterClrMapping/>
  </p:clrMapOvr>
  <p:transition spd="slow"/>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pPr>
              <a:defRPr/>
            </a:pPr>
            <a:fld id="{20B2B9A6-6288-44F7-B172-15E1AB0493F7}" type="slidenum">
              <a:rPr lang="zh-CN" altLang="en-US"/>
              <a:t>‹#›</a:t>
            </a:fld>
            <a:endParaRPr lang="en-US" altLang="zh-CN"/>
          </a:p>
        </p:txBody>
      </p:sp>
    </p:spTree>
  </p:cSld>
  <p:clrMapOvr>
    <a:masterClrMapping/>
  </p:clrMapOvr>
  <p:transition spd="slow"/>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p:txBody>
          <a:bodyPr/>
          <a:lstStyle>
            <a:lvl1pPr>
              <a:defRPr/>
            </a:lvl1pPr>
          </a:lstStyle>
          <a:p>
            <a:pPr>
              <a:defRPr/>
            </a:pPr>
            <a:fld id="{7E7892A0-0C0A-4500-900B-D87ECC80B772}" type="slidenum">
              <a:rPr lang="zh-CN" altLang="en-US"/>
              <a:t>‹#›</a:t>
            </a:fld>
            <a:endParaRPr lang="en-US" altLang="zh-CN"/>
          </a:p>
        </p:txBody>
      </p:sp>
    </p:spTree>
  </p:cSld>
  <p:clrMapOvr>
    <a:masterClrMapping/>
  </p:clrMapOvr>
  <p:transition spd="slow"/>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p:txBody>
          <a:bodyPr/>
          <a:lstStyle>
            <a:lvl1pPr>
              <a:defRPr/>
            </a:lvl1pPr>
          </a:lstStyle>
          <a:p>
            <a:pPr>
              <a:defRPr/>
            </a:pPr>
            <a:fld id="{8BE2F2B1-744B-4D4E-8150-2AF0605125AE}" type="slidenum">
              <a:rPr lang="zh-CN" altLang="en-US"/>
              <a:t>‹#›</a:t>
            </a:fld>
            <a:endParaRPr lang="en-US" altLang="zh-CN"/>
          </a:p>
        </p:txBody>
      </p:sp>
    </p:spTree>
  </p:cSld>
  <p:clrMapOvr>
    <a:masterClrMapping/>
  </p:clrMapOvr>
  <p:transition spd="slow"/>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p:txBody>
          <a:bodyPr/>
          <a:lstStyle>
            <a:lvl1pPr>
              <a:defRPr/>
            </a:lvl1pPr>
          </a:lstStyle>
          <a:p>
            <a:pPr>
              <a:defRPr/>
            </a:pPr>
            <a:fld id="{B26AACB4-BC2C-4235-93CB-4858018529EB}" type="slidenum">
              <a:rPr lang="zh-CN" altLang="en-US"/>
              <a:t>‹#›</a:t>
            </a:fld>
            <a:endParaRPr lang="en-US" altLang="zh-CN"/>
          </a:p>
        </p:txBody>
      </p:sp>
    </p:spTree>
  </p:cSld>
  <p:clrMapOvr>
    <a:masterClrMapping/>
  </p:clrMapOvr>
  <p:transition spd="slow"/>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6225" y="73025"/>
            <a:ext cx="2060575" cy="59817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44500" y="73025"/>
            <a:ext cx="6029325" cy="59817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p:txBody>
          <a:bodyPr/>
          <a:lstStyle>
            <a:lvl1pPr>
              <a:defRPr/>
            </a:lvl1pPr>
          </a:lstStyle>
          <a:p>
            <a:pPr>
              <a:defRPr/>
            </a:pPr>
            <a:fld id="{953B03A7-9B61-4EE4-AC29-3E0A59EB3FBD}" type="slidenum">
              <a:rPr lang="zh-CN" altLang="en-US"/>
              <a:t>‹#›</a:t>
            </a:fld>
            <a:endParaRPr lang="en-US" altLang="zh-CN"/>
          </a:p>
        </p:txBody>
      </p:sp>
    </p:spTree>
  </p:cSld>
  <p:clrMapOvr>
    <a:masterClrMapping/>
  </p:clrMapOvr>
  <p:transition spd="slow"/>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Tree>
  </p:cSld>
  <p:clrMapOvr>
    <a:masterClrMapping/>
  </p:clrMapOvr>
  <p:transition spd="slow"/>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524000"/>
            <a:ext cx="8229600" cy="4530725"/>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spd="slow"/>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Tree>
  </p:cSld>
  <p:clrMapOvr>
    <a:masterClrMapping/>
  </p:clrMapOvr>
  <p:transition spd="slow"/>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44500" y="73025"/>
            <a:ext cx="8229600" cy="757238"/>
          </a:xfrm>
          <a:prstGeom prst="rect">
            <a:avLst/>
          </a:prstGeom>
        </p:spPr>
        <p:txBody>
          <a:bodyPr/>
          <a:lstStyle/>
          <a:p>
            <a:r>
              <a:rPr lang="zh-CN" altLang="en-US" noProof="1"/>
              <a:t>单击此处编辑母版标题样式</a:t>
            </a:r>
          </a:p>
        </p:txBody>
      </p:sp>
      <p:sp>
        <p:nvSpPr>
          <p:cNvPr id="3" name="内容占位符 2"/>
          <p:cNvSpPr>
            <a:spLocks noGrp="1"/>
          </p:cNvSpPr>
          <p:nvPr>
            <p:ph sz="half" idx="1"/>
          </p:nvPr>
        </p:nvSpPr>
        <p:spPr>
          <a:xfrm>
            <a:off x="457200" y="1524000"/>
            <a:ext cx="4038600" cy="4530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524000"/>
            <a:ext cx="4038600" cy="4530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spd="slow"/>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spd="slow"/>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44500" y="73025"/>
            <a:ext cx="8229600" cy="757238"/>
          </a:xfrm>
          <a:prstGeom prst="rect">
            <a:avLst/>
          </a:prstGeom>
        </p:spPr>
        <p:txBody>
          <a:bodyPr/>
          <a:lstStyle/>
          <a:p>
            <a:r>
              <a:rPr lang="zh-CN" altLang="en-US" noProof="1"/>
              <a:t>单击此处编辑母版标题样式</a:t>
            </a:r>
          </a:p>
        </p:txBody>
      </p:sp>
    </p:spTree>
  </p:cSld>
  <p:clrMapOvr>
    <a:masterClrMapping/>
  </p:clrMapOvr>
  <p:transition spd="slow"/>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cSld>
  <p:clrMapOvr>
    <a:masterClrMapping/>
  </p:clrMapOvr>
  <p:transition spd="slow"/>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cSld>
  <p:clrMapOvr>
    <a:masterClrMapping/>
  </p:clrMapOvr>
  <p:transition spd="slow"/>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44500" y="73025"/>
            <a:ext cx="8229600" cy="757238"/>
          </a:xfrm>
          <a:prstGeom prst="rect">
            <a:avLst/>
          </a:prstGeom>
        </p:spPr>
        <p:txBody>
          <a:bodyPr/>
          <a:lstStyle/>
          <a:p>
            <a:r>
              <a:rPr lang="zh-CN" altLang="en-US" noProof="1"/>
              <a:t>单击此处编辑母版标题样式</a:t>
            </a:r>
          </a:p>
        </p:txBody>
      </p:sp>
      <p:sp>
        <p:nvSpPr>
          <p:cNvPr id="3" name="竖排文字占位符 2"/>
          <p:cNvSpPr>
            <a:spLocks noGrp="1"/>
          </p:cNvSpPr>
          <p:nvPr>
            <p:ph type="body" orient="vert" idx="1"/>
          </p:nvPr>
        </p:nvSpPr>
        <p:spPr>
          <a:xfrm>
            <a:off x="457200" y="1524000"/>
            <a:ext cx="8229600" cy="4530725"/>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spd="slow"/>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6225" y="73025"/>
            <a:ext cx="2060575" cy="5981700"/>
          </a:xfrm>
          <a:prstGeom prst="rect">
            <a:avLst/>
          </a:prstGeo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44500" y="73025"/>
            <a:ext cx="6029325" cy="5981700"/>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spd="slow"/>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pPr defTabSz="685800" fontAlgn="base">
              <a:spcBef>
                <a:spcPct val="0"/>
              </a:spcBef>
              <a:spcAft>
                <a:spcPct val="0"/>
              </a:spcAft>
              <a:defRPr/>
            </a:pPr>
            <a:endParaRPr lang="en-US" altLang="x-none">
              <a:solidFill>
                <a:srgbClr val="000000"/>
              </a:solidFill>
            </a:endParaRPr>
          </a:p>
        </p:txBody>
      </p:sp>
      <p:sp>
        <p:nvSpPr>
          <p:cNvPr id="5" name="Footer Placeholder 4"/>
          <p:cNvSpPr>
            <a:spLocks noGrp="1"/>
          </p:cNvSpPr>
          <p:nvPr>
            <p:ph type="ftr" sz="quarter" idx="11"/>
          </p:nvPr>
        </p:nvSpPr>
        <p:spPr/>
        <p:txBody>
          <a:bodyPr/>
          <a:lstStyle/>
          <a:p>
            <a:pPr defTabSz="685800" fontAlgn="base">
              <a:spcBef>
                <a:spcPct val="0"/>
              </a:spcBef>
              <a:spcAft>
                <a:spcPct val="0"/>
              </a:spcAft>
              <a:defRPr/>
            </a:pPr>
            <a:r>
              <a:rPr lang="zh-CN" altLang="en-US">
                <a:solidFill>
                  <a:srgbClr val="000000"/>
                </a:solidFill>
              </a:rPr>
              <a:t>第</a:t>
            </a:r>
            <a:r>
              <a:rPr lang="en-US" altLang="x-none">
                <a:solidFill>
                  <a:srgbClr val="000000"/>
                </a:solidFill>
              </a:rPr>
              <a:t>1</a:t>
            </a:r>
            <a:r>
              <a:rPr lang="zh-CN" altLang="en-US">
                <a:solidFill>
                  <a:srgbClr val="000000"/>
                </a:solidFill>
              </a:rPr>
              <a:t>页</a:t>
            </a:r>
            <a:endParaRPr lang="en-US" altLang="x-none">
              <a:solidFill>
                <a:srgbClr val="000000"/>
              </a:solidFill>
            </a:endParaRPr>
          </a:p>
        </p:txBody>
      </p:sp>
      <p:sp>
        <p:nvSpPr>
          <p:cNvPr id="6" name="Slide Number Placeholder 5"/>
          <p:cNvSpPr>
            <a:spLocks noGrp="1"/>
          </p:cNvSpPr>
          <p:nvPr>
            <p:ph type="sldNum" sz="quarter" idx="12"/>
          </p:nvPr>
        </p:nvSpPr>
        <p:spPr/>
        <p:txBody>
          <a:bodyPr/>
          <a:lstStyle/>
          <a:p>
            <a:pPr defTabSz="685800" fontAlgn="base">
              <a:spcBef>
                <a:spcPct val="0"/>
              </a:spcBef>
              <a:spcAft>
                <a:spcPct val="0"/>
              </a:spcAft>
              <a:defRPr/>
            </a:pPr>
            <a:fld id="{33CD01DB-5A89-46E1-9C62-8DE24968FCBD}" type="slidenum">
              <a:rPr lang="en-US" altLang="x-none" smtClean="0">
                <a:solidFill>
                  <a:srgbClr val="000000"/>
                </a:solidFill>
              </a:rPr>
              <a:t>‹#›</a:t>
            </a:fld>
            <a:endParaRPr lang="en-US" altLang="x-none">
              <a:solidFill>
                <a:srgbClr val="000000"/>
              </a:solidFill>
            </a:endParaRPr>
          </a:p>
        </p:txBody>
      </p:sp>
      <p:pic>
        <p:nvPicPr>
          <p:cNvPr id="7"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2" descr="a_1"/>
          <p:cNvPicPr>
            <a:picLocks noChangeAspect="1" noChangeArrowheads="1"/>
          </p:cNvPicPr>
          <p:nvPr userDrawn="1"/>
        </p:nvPicPr>
        <p:blipFill>
          <a:blip r:embed="rId3">
            <a:extLst>
              <a:ext uri="{28A0092B-C50C-407E-A947-70E740481C1C}">
                <a14:useLocalDpi xmlns:a14="http://schemas.microsoft.com/office/drawing/2010/main" val="0"/>
              </a:ext>
            </a:extLst>
          </a:blip>
          <a:srcRect l="2174"/>
          <a:stretch>
            <a:fillRect/>
          </a:stretch>
        </p:blipFill>
        <p:spPr bwMode="auto">
          <a:xfrm>
            <a:off x="0" y="0"/>
            <a:ext cx="9144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2"/>
          <p:cNvSpPr>
            <a:spLocks noChangeArrowheads="1"/>
          </p:cNvSpPr>
          <p:nvPr userDrawn="1"/>
        </p:nvSpPr>
        <p:spPr bwMode="auto">
          <a:xfrm>
            <a:off x="0" y="2590800"/>
            <a:ext cx="9144000" cy="1066800"/>
          </a:xfrm>
          <a:prstGeom prst="rect">
            <a:avLst/>
          </a:prstGeom>
          <a:gradFill rotWithShape="1">
            <a:gsLst>
              <a:gs pos="0">
                <a:srgbClr val="3191D3"/>
              </a:gs>
              <a:gs pos="100000">
                <a:srgbClr val="17436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 name="Rectangle 14" descr="mao1-1"/>
          <p:cNvSpPr>
            <a:spLocks noChangeAspect="1" noChangeArrowheads="1"/>
          </p:cNvSpPr>
          <p:nvPr userDrawn="1"/>
        </p:nvSpPr>
        <p:spPr bwMode="auto">
          <a:xfrm>
            <a:off x="8153402" y="4967288"/>
            <a:ext cx="969963" cy="900112"/>
          </a:xfrm>
          <a:prstGeom prst="rect">
            <a:avLst/>
          </a:prstGeom>
          <a:blipFill dpi="0" rotWithShape="1">
            <a:blip r:embed="rId4"/>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 name="Rectangle 15" descr="xmy2-1"/>
          <p:cNvSpPr>
            <a:spLocks noChangeAspect="1" noChangeArrowheads="1"/>
          </p:cNvSpPr>
          <p:nvPr userDrawn="1"/>
        </p:nvSpPr>
        <p:spPr bwMode="auto">
          <a:xfrm>
            <a:off x="8153402" y="3976688"/>
            <a:ext cx="969963" cy="900112"/>
          </a:xfrm>
          <a:prstGeom prst="rect">
            <a:avLst/>
          </a:prstGeom>
          <a:blipFill dpi="0" rotWithShape="1">
            <a:blip r:embed="rId5"/>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2" name="Rectangle 16" descr="xm-1"/>
          <p:cNvSpPr>
            <a:spLocks noChangeArrowheads="1"/>
          </p:cNvSpPr>
          <p:nvPr userDrawn="1"/>
        </p:nvSpPr>
        <p:spPr bwMode="auto">
          <a:xfrm>
            <a:off x="6019800" y="5957888"/>
            <a:ext cx="1066800" cy="900112"/>
          </a:xfrm>
          <a:prstGeom prst="rect">
            <a:avLst/>
          </a:prstGeom>
          <a:blipFill dpi="0" rotWithShape="1">
            <a:blip r:embed="rId6"/>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 name="Rectangle 17" descr="xue2-1"/>
          <p:cNvSpPr>
            <a:spLocks noChangeAspect="1" noChangeArrowheads="1"/>
          </p:cNvSpPr>
          <p:nvPr userDrawn="1"/>
        </p:nvSpPr>
        <p:spPr bwMode="auto">
          <a:xfrm>
            <a:off x="7134227" y="5943608"/>
            <a:ext cx="969963" cy="900113"/>
          </a:xfrm>
          <a:prstGeom prst="rect">
            <a:avLst/>
          </a:prstGeom>
          <a:blipFill dpi="0" rotWithShape="1">
            <a:blip r:embed="rId7"/>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4" name="Rectangle 18" descr="mao-1"/>
          <p:cNvSpPr>
            <a:spLocks noChangeAspect="1" noChangeArrowheads="1"/>
          </p:cNvSpPr>
          <p:nvPr userDrawn="1"/>
        </p:nvSpPr>
        <p:spPr bwMode="auto">
          <a:xfrm>
            <a:off x="7107238" y="4967288"/>
            <a:ext cx="969962" cy="900112"/>
          </a:xfrm>
          <a:prstGeom prst="rect">
            <a:avLst/>
          </a:prstGeom>
          <a:blipFill dpi="0" rotWithShape="1">
            <a:blip r:embed="rId8"/>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 name="Rectangle 19" descr="xiaoxun-1"/>
          <p:cNvSpPr>
            <a:spLocks noChangeAspect="1" noChangeArrowheads="1"/>
          </p:cNvSpPr>
          <p:nvPr userDrawn="1"/>
        </p:nvSpPr>
        <p:spPr bwMode="auto">
          <a:xfrm>
            <a:off x="8153402" y="5943608"/>
            <a:ext cx="969963" cy="900113"/>
          </a:xfrm>
          <a:prstGeom prst="rect">
            <a:avLst/>
          </a:prstGeom>
          <a:blipFill dpi="0" rotWithShape="1">
            <a:blip r:embed="rId9"/>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6" name="Line 26"/>
          <p:cNvSpPr>
            <a:spLocks noChangeShapeType="1"/>
          </p:cNvSpPr>
          <p:nvPr userDrawn="1"/>
        </p:nvSpPr>
        <p:spPr bwMode="auto">
          <a:xfrm>
            <a:off x="0" y="36576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7" name="Line 27"/>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8" name="Rectangle 29"/>
          <p:cNvSpPr>
            <a:spLocks noChangeArrowheads="1"/>
          </p:cNvSpPr>
          <p:nvPr userDrawn="1"/>
        </p:nvSpPr>
        <p:spPr bwMode="auto">
          <a:xfrm>
            <a:off x="2"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9" name="Rectangle 33"/>
          <p:cNvSpPr>
            <a:spLocks noChangeArrowheads="1"/>
          </p:cNvSpPr>
          <p:nvPr userDrawn="1"/>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20" name="Picture 31"/>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905000" y="1219200"/>
            <a:ext cx="5562600"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Line 34"/>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defTabSz="685800" fontAlgn="base">
              <a:spcBef>
                <a:spcPct val="0"/>
              </a:spcBef>
              <a:spcAft>
                <a:spcPct val="0"/>
              </a:spcAft>
              <a:defRPr/>
            </a:pPr>
            <a:endParaRPr lang="en-US" altLang="x-none">
              <a:solidFill>
                <a:srgbClr val="000000"/>
              </a:solidFill>
            </a:endParaRPr>
          </a:p>
        </p:txBody>
      </p:sp>
      <p:sp>
        <p:nvSpPr>
          <p:cNvPr id="5" name="Footer Placeholder 4"/>
          <p:cNvSpPr>
            <a:spLocks noGrp="1"/>
          </p:cNvSpPr>
          <p:nvPr>
            <p:ph type="ftr" sz="quarter" idx="11"/>
          </p:nvPr>
        </p:nvSpPr>
        <p:spPr/>
        <p:txBody>
          <a:bodyPr/>
          <a:lstStyle/>
          <a:p>
            <a:pPr defTabSz="685800" fontAlgn="base">
              <a:spcBef>
                <a:spcPct val="0"/>
              </a:spcBef>
              <a:spcAft>
                <a:spcPct val="0"/>
              </a:spcAft>
              <a:defRPr/>
            </a:pPr>
            <a:r>
              <a:rPr lang="zh-CN" altLang="en-US">
                <a:solidFill>
                  <a:srgbClr val="000000"/>
                </a:solidFill>
              </a:rPr>
              <a:t>第</a:t>
            </a:r>
            <a:r>
              <a:rPr lang="en-US" altLang="x-none">
                <a:solidFill>
                  <a:srgbClr val="000000"/>
                </a:solidFill>
              </a:rPr>
              <a:t>1</a:t>
            </a:r>
            <a:r>
              <a:rPr lang="zh-CN" altLang="en-US">
                <a:solidFill>
                  <a:srgbClr val="000000"/>
                </a:solidFill>
              </a:rPr>
              <a:t>页</a:t>
            </a:r>
            <a:endParaRPr lang="en-US" altLang="x-none">
              <a:solidFill>
                <a:srgbClr val="000000"/>
              </a:solidFill>
            </a:endParaRPr>
          </a:p>
        </p:txBody>
      </p:sp>
      <p:sp>
        <p:nvSpPr>
          <p:cNvPr id="6" name="Slide Number Placeholder 5"/>
          <p:cNvSpPr>
            <a:spLocks noGrp="1"/>
          </p:cNvSpPr>
          <p:nvPr>
            <p:ph type="sldNum" sz="quarter" idx="12"/>
          </p:nvPr>
        </p:nvSpPr>
        <p:spPr/>
        <p:txBody>
          <a:bodyPr/>
          <a:lstStyle/>
          <a:p>
            <a:pPr defTabSz="685800" fontAlgn="base">
              <a:spcBef>
                <a:spcPct val="0"/>
              </a:spcBef>
              <a:spcAft>
                <a:spcPct val="0"/>
              </a:spcAft>
              <a:defRPr/>
            </a:pPr>
            <a:fld id="{EA0A3D38-FDC0-4B4B-A494-56099C1B91F0}" type="slidenum">
              <a:rPr lang="en-US" altLang="x-none" smtClean="0">
                <a:solidFill>
                  <a:srgbClr val="000000"/>
                </a:solidFill>
              </a:rPr>
              <a:t>‹#›</a:t>
            </a:fld>
            <a:endParaRPr lang="en-US" altLang="x-none">
              <a:solidFill>
                <a:srgbClr val="000000"/>
              </a:solidFill>
            </a:endParaRPr>
          </a:p>
        </p:txBody>
      </p:sp>
      <p:pic>
        <p:nvPicPr>
          <p:cNvPr id="7"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2" descr="a_1"/>
          <p:cNvPicPr>
            <a:picLocks noChangeAspect="1" noChangeArrowheads="1"/>
          </p:cNvPicPr>
          <p:nvPr userDrawn="1"/>
        </p:nvPicPr>
        <p:blipFill>
          <a:blip r:embed="rId3">
            <a:extLst>
              <a:ext uri="{28A0092B-C50C-407E-A947-70E740481C1C}">
                <a14:useLocalDpi xmlns:a14="http://schemas.microsoft.com/office/drawing/2010/main" val="0"/>
              </a:ext>
            </a:extLst>
          </a:blip>
          <a:srcRect l="2174"/>
          <a:stretch>
            <a:fillRect/>
          </a:stretch>
        </p:blipFill>
        <p:spPr bwMode="auto">
          <a:xfrm>
            <a:off x="0" y="0"/>
            <a:ext cx="9144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2"/>
          <p:cNvSpPr>
            <a:spLocks noChangeArrowheads="1"/>
          </p:cNvSpPr>
          <p:nvPr userDrawn="1"/>
        </p:nvSpPr>
        <p:spPr bwMode="auto">
          <a:xfrm>
            <a:off x="0" y="2590800"/>
            <a:ext cx="9144000" cy="1066800"/>
          </a:xfrm>
          <a:prstGeom prst="rect">
            <a:avLst/>
          </a:prstGeom>
          <a:gradFill rotWithShape="1">
            <a:gsLst>
              <a:gs pos="0">
                <a:srgbClr val="3191D3"/>
              </a:gs>
              <a:gs pos="100000">
                <a:srgbClr val="17436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 name="Rectangle 14" descr="mao1-1"/>
          <p:cNvSpPr>
            <a:spLocks noChangeAspect="1" noChangeArrowheads="1"/>
          </p:cNvSpPr>
          <p:nvPr userDrawn="1"/>
        </p:nvSpPr>
        <p:spPr bwMode="auto">
          <a:xfrm>
            <a:off x="8153402" y="4967288"/>
            <a:ext cx="969963" cy="900112"/>
          </a:xfrm>
          <a:prstGeom prst="rect">
            <a:avLst/>
          </a:prstGeom>
          <a:blipFill dpi="0" rotWithShape="1">
            <a:blip r:embed="rId4"/>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 name="Rectangle 15" descr="xmy2-1"/>
          <p:cNvSpPr>
            <a:spLocks noChangeAspect="1" noChangeArrowheads="1"/>
          </p:cNvSpPr>
          <p:nvPr userDrawn="1"/>
        </p:nvSpPr>
        <p:spPr bwMode="auto">
          <a:xfrm>
            <a:off x="8153402" y="3976688"/>
            <a:ext cx="969963" cy="900112"/>
          </a:xfrm>
          <a:prstGeom prst="rect">
            <a:avLst/>
          </a:prstGeom>
          <a:blipFill dpi="0" rotWithShape="1">
            <a:blip r:embed="rId5"/>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2" name="Rectangle 16" descr="xm-1"/>
          <p:cNvSpPr>
            <a:spLocks noChangeArrowheads="1"/>
          </p:cNvSpPr>
          <p:nvPr userDrawn="1"/>
        </p:nvSpPr>
        <p:spPr bwMode="auto">
          <a:xfrm>
            <a:off x="6019800" y="5957888"/>
            <a:ext cx="1066800" cy="900112"/>
          </a:xfrm>
          <a:prstGeom prst="rect">
            <a:avLst/>
          </a:prstGeom>
          <a:blipFill dpi="0" rotWithShape="1">
            <a:blip r:embed="rId6"/>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 name="Rectangle 17" descr="xue2-1"/>
          <p:cNvSpPr>
            <a:spLocks noChangeAspect="1" noChangeArrowheads="1"/>
          </p:cNvSpPr>
          <p:nvPr userDrawn="1"/>
        </p:nvSpPr>
        <p:spPr bwMode="auto">
          <a:xfrm>
            <a:off x="7134227" y="5943608"/>
            <a:ext cx="969963" cy="900113"/>
          </a:xfrm>
          <a:prstGeom prst="rect">
            <a:avLst/>
          </a:prstGeom>
          <a:blipFill dpi="0" rotWithShape="1">
            <a:blip r:embed="rId7"/>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4" name="Rectangle 18" descr="mao-1"/>
          <p:cNvSpPr>
            <a:spLocks noChangeAspect="1" noChangeArrowheads="1"/>
          </p:cNvSpPr>
          <p:nvPr userDrawn="1"/>
        </p:nvSpPr>
        <p:spPr bwMode="auto">
          <a:xfrm>
            <a:off x="7107238" y="4967288"/>
            <a:ext cx="969962" cy="900112"/>
          </a:xfrm>
          <a:prstGeom prst="rect">
            <a:avLst/>
          </a:prstGeom>
          <a:blipFill dpi="0" rotWithShape="1">
            <a:blip r:embed="rId8"/>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 name="Rectangle 19" descr="xiaoxun-1"/>
          <p:cNvSpPr>
            <a:spLocks noChangeAspect="1" noChangeArrowheads="1"/>
          </p:cNvSpPr>
          <p:nvPr userDrawn="1"/>
        </p:nvSpPr>
        <p:spPr bwMode="auto">
          <a:xfrm>
            <a:off x="8153402" y="5943608"/>
            <a:ext cx="969963" cy="900113"/>
          </a:xfrm>
          <a:prstGeom prst="rect">
            <a:avLst/>
          </a:prstGeom>
          <a:blipFill dpi="0" rotWithShape="1">
            <a:blip r:embed="rId9"/>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6" name="Line 26"/>
          <p:cNvSpPr>
            <a:spLocks noChangeShapeType="1"/>
          </p:cNvSpPr>
          <p:nvPr userDrawn="1"/>
        </p:nvSpPr>
        <p:spPr bwMode="auto">
          <a:xfrm>
            <a:off x="0" y="36576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7" name="Line 27"/>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8" name="Rectangle 29"/>
          <p:cNvSpPr>
            <a:spLocks noChangeArrowheads="1"/>
          </p:cNvSpPr>
          <p:nvPr userDrawn="1"/>
        </p:nvSpPr>
        <p:spPr bwMode="auto">
          <a:xfrm>
            <a:off x="2"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9" name="Rectangle 33"/>
          <p:cNvSpPr>
            <a:spLocks noChangeArrowheads="1"/>
          </p:cNvSpPr>
          <p:nvPr userDrawn="1"/>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20" name="Picture 31"/>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905000" y="1219200"/>
            <a:ext cx="5562600"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Line 34"/>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pPr defTabSz="685800" fontAlgn="base">
              <a:spcBef>
                <a:spcPct val="0"/>
              </a:spcBef>
              <a:spcAft>
                <a:spcPct val="0"/>
              </a:spcAft>
              <a:defRPr/>
            </a:pPr>
            <a:endParaRPr lang="en-US" altLang="x-none">
              <a:solidFill>
                <a:srgbClr val="000000"/>
              </a:solidFill>
            </a:endParaRPr>
          </a:p>
        </p:txBody>
      </p:sp>
      <p:sp>
        <p:nvSpPr>
          <p:cNvPr id="5" name="Footer Placeholder 4"/>
          <p:cNvSpPr>
            <a:spLocks noGrp="1"/>
          </p:cNvSpPr>
          <p:nvPr>
            <p:ph type="ftr" sz="quarter" idx="11"/>
          </p:nvPr>
        </p:nvSpPr>
        <p:spPr/>
        <p:txBody>
          <a:bodyPr/>
          <a:lstStyle/>
          <a:p>
            <a:pPr defTabSz="685800" fontAlgn="base">
              <a:spcBef>
                <a:spcPct val="0"/>
              </a:spcBef>
              <a:spcAft>
                <a:spcPct val="0"/>
              </a:spcAft>
              <a:defRPr/>
            </a:pPr>
            <a:r>
              <a:rPr lang="zh-CN" altLang="en-US">
                <a:solidFill>
                  <a:srgbClr val="000000"/>
                </a:solidFill>
              </a:rPr>
              <a:t>第</a:t>
            </a:r>
            <a:r>
              <a:rPr lang="en-US" altLang="x-none">
                <a:solidFill>
                  <a:srgbClr val="000000"/>
                </a:solidFill>
              </a:rPr>
              <a:t>1</a:t>
            </a:r>
            <a:r>
              <a:rPr lang="zh-CN" altLang="en-US">
                <a:solidFill>
                  <a:srgbClr val="000000"/>
                </a:solidFill>
              </a:rPr>
              <a:t>页</a:t>
            </a:r>
            <a:endParaRPr lang="en-US" altLang="x-none">
              <a:solidFill>
                <a:srgbClr val="000000"/>
              </a:solidFill>
            </a:endParaRPr>
          </a:p>
        </p:txBody>
      </p:sp>
      <p:sp>
        <p:nvSpPr>
          <p:cNvPr id="6" name="Slide Number Placeholder 5"/>
          <p:cNvSpPr>
            <a:spLocks noGrp="1"/>
          </p:cNvSpPr>
          <p:nvPr>
            <p:ph type="sldNum" sz="quarter" idx="12"/>
          </p:nvPr>
        </p:nvSpPr>
        <p:spPr/>
        <p:txBody>
          <a:bodyPr/>
          <a:lstStyle/>
          <a:p>
            <a:pPr defTabSz="685800" fontAlgn="base">
              <a:spcBef>
                <a:spcPct val="0"/>
              </a:spcBef>
              <a:spcAft>
                <a:spcPct val="0"/>
              </a:spcAft>
              <a:defRPr/>
            </a:pPr>
            <a:fld id="{BDD1DE16-6030-4296-AA83-243A5EBDEF6D}" type="slidenum">
              <a:rPr lang="en-US" altLang="x-none" smtClean="0">
                <a:solidFill>
                  <a:srgbClr val="000000"/>
                </a:solidFill>
              </a:rPr>
              <a:t>‹#›</a:t>
            </a:fld>
            <a:endParaRPr lang="en-US" altLang="x-none">
              <a:solidFill>
                <a:srgbClr val="000000"/>
              </a:solidFill>
            </a:endParaRPr>
          </a:p>
        </p:txBody>
      </p:sp>
      <p:pic>
        <p:nvPicPr>
          <p:cNvPr id="7"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2" descr="a_1"/>
          <p:cNvPicPr>
            <a:picLocks noChangeAspect="1" noChangeArrowheads="1"/>
          </p:cNvPicPr>
          <p:nvPr userDrawn="1"/>
        </p:nvPicPr>
        <p:blipFill>
          <a:blip r:embed="rId3">
            <a:extLst>
              <a:ext uri="{28A0092B-C50C-407E-A947-70E740481C1C}">
                <a14:useLocalDpi xmlns:a14="http://schemas.microsoft.com/office/drawing/2010/main" val="0"/>
              </a:ext>
            </a:extLst>
          </a:blip>
          <a:srcRect l="2174"/>
          <a:stretch>
            <a:fillRect/>
          </a:stretch>
        </p:blipFill>
        <p:spPr bwMode="auto">
          <a:xfrm>
            <a:off x="0" y="0"/>
            <a:ext cx="9144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2"/>
          <p:cNvSpPr>
            <a:spLocks noChangeArrowheads="1"/>
          </p:cNvSpPr>
          <p:nvPr userDrawn="1"/>
        </p:nvSpPr>
        <p:spPr bwMode="auto">
          <a:xfrm>
            <a:off x="0" y="2590800"/>
            <a:ext cx="9144000" cy="1066800"/>
          </a:xfrm>
          <a:prstGeom prst="rect">
            <a:avLst/>
          </a:prstGeom>
          <a:gradFill rotWithShape="1">
            <a:gsLst>
              <a:gs pos="0">
                <a:srgbClr val="3191D3"/>
              </a:gs>
              <a:gs pos="100000">
                <a:srgbClr val="17436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 name="Rectangle 14" descr="mao1-1"/>
          <p:cNvSpPr>
            <a:spLocks noChangeAspect="1" noChangeArrowheads="1"/>
          </p:cNvSpPr>
          <p:nvPr userDrawn="1"/>
        </p:nvSpPr>
        <p:spPr bwMode="auto">
          <a:xfrm>
            <a:off x="8153402" y="4967288"/>
            <a:ext cx="969963" cy="900112"/>
          </a:xfrm>
          <a:prstGeom prst="rect">
            <a:avLst/>
          </a:prstGeom>
          <a:blipFill dpi="0" rotWithShape="1">
            <a:blip r:embed="rId4"/>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 name="Rectangle 15" descr="xmy2-1"/>
          <p:cNvSpPr>
            <a:spLocks noChangeAspect="1" noChangeArrowheads="1"/>
          </p:cNvSpPr>
          <p:nvPr userDrawn="1"/>
        </p:nvSpPr>
        <p:spPr bwMode="auto">
          <a:xfrm>
            <a:off x="8153402" y="3976688"/>
            <a:ext cx="969963" cy="900112"/>
          </a:xfrm>
          <a:prstGeom prst="rect">
            <a:avLst/>
          </a:prstGeom>
          <a:blipFill dpi="0" rotWithShape="1">
            <a:blip r:embed="rId5"/>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2" name="Rectangle 16" descr="xm-1"/>
          <p:cNvSpPr>
            <a:spLocks noChangeArrowheads="1"/>
          </p:cNvSpPr>
          <p:nvPr userDrawn="1"/>
        </p:nvSpPr>
        <p:spPr bwMode="auto">
          <a:xfrm>
            <a:off x="6019800" y="5957888"/>
            <a:ext cx="1066800" cy="900112"/>
          </a:xfrm>
          <a:prstGeom prst="rect">
            <a:avLst/>
          </a:prstGeom>
          <a:blipFill dpi="0" rotWithShape="1">
            <a:blip r:embed="rId6"/>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 name="Rectangle 17" descr="xue2-1"/>
          <p:cNvSpPr>
            <a:spLocks noChangeAspect="1" noChangeArrowheads="1"/>
          </p:cNvSpPr>
          <p:nvPr userDrawn="1"/>
        </p:nvSpPr>
        <p:spPr bwMode="auto">
          <a:xfrm>
            <a:off x="7134227" y="5943608"/>
            <a:ext cx="969963" cy="900113"/>
          </a:xfrm>
          <a:prstGeom prst="rect">
            <a:avLst/>
          </a:prstGeom>
          <a:blipFill dpi="0" rotWithShape="1">
            <a:blip r:embed="rId7"/>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4" name="Rectangle 18" descr="mao-1"/>
          <p:cNvSpPr>
            <a:spLocks noChangeAspect="1" noChangeArrowheads="1"/>
          </p:cNvSpPr>
          <p:nvPr userDrawn="1"/>
        </p:nvSpPr>
        <p:spPr bwMode="auto">
          <a:xfrm>
            <a:off x="7107238" y="4967288"/>
            <a:ext cx="969962" cy="900112"/>
          </a:xfrm>
          <a:prstGeom prst="rect">
            <a:avLst/>
          </a:prstGeom>
          <a:blipFill dpi="0" rotWithShape="1">
            <a:blip r:embed="rId8"/>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 name="Rectangle 19" descr="xiaoxun-1"/>
          <p:cNvSpPr>
            <a:spLocks noChangeAspect="1" noChangeArrowheads="1"/>
          </p:cNvSpPr>
          <p:nvPr userDrawn="1"/>
        </p:nvSpPr>
        <p:spPr bwMode="auto">
          <a:xfrm>
            <a:off x="8153402" y="5943608"/>
            <a:ext cx="969963" cy="900113"/>
          </a:xfrm>
          <a:prstGeom prst="rect">
            <a:avLst/>
          </a:prstGeom>
          <a:blipFill dpi="0" rotWithShape="1">
            <a:blip r:embed="rId9"/>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6" name="Line 26"/>
          <p:cNvSpPr>
            <a:spLocks noChangeShapeType="1"/>
          </p:cNvSpPr>
          <p:nvPr userDrawn="1"/>
        </p:nvSpPr>
        <p:spPr bwMode="auto">
          <a:xfrm>
            <a:off x="0" y="36576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7" name="Line 27"/>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8" name="Rectangle 29"/>
          <p:cNvSpPr>
            <a:spLocks noChangeArrowheads="1"/>
          </p:cNvSpPr>
          <p:nvPr userDrawn="1"/>
        </p:nvSpPr>
        <p:spPr bwMode="auto">
          <a:xfrm>
            <a:off x="2"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9" name="Rectangle 33"/>
          <p:cNvSpPr>
            <a:spLocks noChangeArrowheads="1"/>
          </p:cNvSpPr>
          <p:nvPr userDrawn="1"/>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20" name="Picture 31"/>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905000" y="1219200"/>
            <a:ext cx="5562600"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Line 34"/>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pPr defTabSz="685800" fontAlgn="base">
              <a:spcBef>
                <a:spcPct val="0"/>
              </a:spcBef>
              <a:spcAft>
                <a:spcPct val="0"/>
              </a:spcAft>
              <a:defRPr/>
            </a:pPr>
            <a:endParaRPr lang="en-US" altLang="x-none">
              <a:solidFill>
                <a:srgbClr val="000000"/>
              </a:solidFill>
            </a:endParaRPr>
          </a:p>
        </p:txBody>
      </p:sp>
      <p:sp>
        <p:nvSpPr>
          <p:cNvPr id="6" name="Footer Placeholder 5"/>
          <p:cNvSpPr>
            <a:spLocks noGrp="1"/>
          </p:cNvSpPr>
          <p:nvPr>
            <p:ph type="ftr" sz="quarter" idx="11"/>
          </p:nvPr>
        </p:nvSpPr>
        <p:spPr/>
        <p:txBody>
          <a:bodyPr/>
          <a:lstStyle/>
          <a:p>
            <a:pPr defTabSz="685800" fontAlgn="base">
              <a:spcBef>
                <a:spcPct val="0"/>
              </a:spcBef>
              <a:spcAft>
                <a:spcPct val="0"/>
              </a:spcAft>
              <a:defRPr/>
            </a:pPr>
            <a:r>
              <a:rPr lang="zh-CN" altLang="en-US">
                <a:solidFill>
                  <a:srgbClr val="000000"/>
                </a:solidFill>
              </a:rPr>
              <a:t>第</a:t>
            </a:r>
            <a:r>
              <a:rPr lang="en-US" altLang="x-none">
                <a:solidFill>
                  <a:srgbClr val="000000"/>
                </a:solidFill>
              </a:rPr>
              <a:t>1</a:t>
            </a:r>
            <a:r>
              <a:rPr lang="zh-CN" altLang="en-US">
                <a:solidFill>
                  <a:srgbClr val="000000"/>
                </a:solidFill>
              </a:rPr>
              <a:t>页</a:t>
            </a:r>
            <a:endParaRPr lang="en-US" altLang="x-none">
              <a:solidFill>
                <a:srgbClr val="000000"/>
              </a:solidFill>
            </a:endParaRPr>
          </a:p>
        </p:txBody>
      </p:sp>
      <p:sp>
        <p:nvSpPr>
          <p:cNvPr id="7" name="Slide Number Placeholder 6"/>
          <p:cNvSpPr>
            <a:spLocks noGrp="1"/>
          </p:cNvSpPr>
          <p:nvPr>
            <p:ph type="sldNum" sz="quarter" idx="12"/>
          </p:nvPr>
        </p:nvSpPr>
        <p:spPr/>
        <p:txBody>
          <a:bodyPr/>
          <a:lstStyle/>
          <a:p>
            <a:pPr defTabSz="685800" fontAlgn="base">
              <a:spcBef>
                <a:spcPct val="0"/>
              </a:spcBef>
              <a:spcAft>
                <a:spcPct val="0"/>
              </a:spcAft>
              <a:defRPr/>
            </a:pPr>
            <a:fld id="{CDADCE3F-3FF9-425C-B635-BDEE2469475C}" type="slidenum">
              <a:rPr lang="en-US" altLang="x-none" smtClean="0">
                <a:solidFill>
                  <a:srgbClr val="000000"/>
                </a:solidFill>
              </a:rPr>
              <a:t>‹#›</a:t>
            </a:fld>
            <a:endParaRPr lang="en-US" altLang="x-none">
              <a:solidFill>
                <a:srgbClr val="000000"/>
              </a:solidFill>
            </a:endParaRPr>
          </a:p>
        </p:txBody>
      </p:sp>
      <p:pic>
        <p:nvPicPr>
          <p:cNvPr id="8"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 descr="a_1"/>
          <p:cNvPicPr>
            <a:picLocks noChangeAspect="1" noChangeArrowheads="1"/>
          </p:cNvPicPr>
          <p:nvPr userDrawn="1"/>
        </p:nvPicPr>
        <p:blipFill>
          <a:blip r:embed="rId3">
            <a:extLst>
              <a:ext uri="{28A0092B-C50C-407E-A947-70E740481C1C}">
                <a14:useLocalDpi xmlns:a14="http://schemas.microsoft.com/office/drawing/2010/main" val="0"/>
              </a:ext>
            </a:extLst>
          </a:blip>
          <a:srcRect l="2174"/>
          <a:stretch>
            <a:fillRect/>
          </a:stretch>
        </p:blipFill>
        <p:spPr bwMode="auto">
          <a:xfrm>
            <a:off x="0" y="0"/>
            <a:ext cx="9144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22"/>
          <p:cNvSpPr>
            <a:spLocks noChangeArrowheads="1"/>
          </p:cNvSpPr>
          <p:nvPr userDrawn="1"/>
        </p:nvSpPr>
        <p:spPr bwMode="auto">
          <a:xfrm>
            <a:off x="0" y="2590800"/>
            <a:ext cx="9144000" cy="1066800"/>
          </a:xfrm>
          <a:prstGeom prst="rect">
            <a:avLst/>
          </a:prstGeom>
          <a:gradFill rotWithShape="1">
            <a:gsLst>
              <a:gs pos="0">
                <a:srgbClr val="3191D3"/>
              </a:gs>
              <a:gs pos="100000">
                <a:srgbClr val="17436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 name="Rectangle 14" descr="mao1-1"/>
          <p:cNvSpPr>
            <a:spLocks noChangeAspect="1" noChangeArrowheads="1"/>
          </p:cNvSpPr>
          <p:nvPr userDrawn="1"/>
        </p:nvSpPr>
        <p:spPr bwMode="auto">
          <a:xfrm>
            <a:off x="8153402" y="4967288"/>
            <a:ext cx="969963" cy="900112"/>
          </a:xfrm>
          <a:prstGeom prst="rect">
            <a:avLst/>
          </a:prstGeom>
          <a:blipFill dpi="0" rotWithShape="1">
            <a:blip r:embed="rId4"/>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2" name="Rectangle 15" descr="xmy2-1"/>
          <p:cNvSpPr>
            <a:spLocks noChangeAspect="1" noChangeArrowheads="1"/>
          </p:cNvSpPr>
          <p:nvPr userDrawn="1"/>
        </p:nvSpPr>
        <p:spPr bwMode="auto">
          <a:xfrm>
            <a:off x="8153402" y="3976688"/>
            <a:ext cx="969963" cy="900112"/>
          </a:xfrm>
          <a:prstGeom prst="rect">
            <a:avLst/>
          </a:prstGeom>
          <a:blipFill dpi="0" rotWithShape="1">
            <a:blip r:embed="rId5"/>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 name="Rectangle 16" descr="xm-1"/>
          <p:cNvSpPr>
            <a:spLocks noChangeArrowheads="1"/>
          </p:cNvSpPr>
          <p:nvPr userDrawn="1"/>
        </p:nvSpPr>
        <p:spPr bwMode="auto">
          <a:xfrm>
            <a:off x="6019800" y="5957888"/>
            <a:ext cx="1066800" cy="900112"/>
          </a:xfrm>
          <a:prstGeom prst="rect">
            <a:avLst/>
          </a:prstGeom>
          <a:blipFill dpi="0" rotWithShape="1">
            <a:blip r:embed="rId6"/>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4" name="Rectangle 17" descr="xue2-1"/>
          <p:cNvSpPr>
            <a:spLocks noChangeAspect="1" noChangeArrowheads="1"/>
          </p:cNvSpPr>
          <p:nvPr userDrawn="1"/>
        </p:nvSpPr>
        <p:spPr bwMode="auto">
          <a:xfrm>
            <a:off x="7134227" y="5943608"/>
            <a:ext cx="969963" cy="900113"/>
          </a:xfrm>
          <a:prstGeom prst="rect">
            <a:avLst/>
          </a:prstGeom>
          <a:blipFill dpi="0" rotWithShape="1">
            <a:blip r:embed="rId7"/>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 name="Rectangle 18" descr="mao-1"/>
          <p:cNvSpPr>
            <a:spLocks noChangeAspect="1" noChangeArrowheads="1"/>
          </p:cNvSpPr>
          <p:nvPr userDrawn="1"/>
        </p:nvSpPr>
        <p:spPr bwMode="auto">
          <a:xfrm>
            <a:off x="7107238" y="4967288"/>
            <a:ext cx="969962" cy="900112"/>
          </a:xfrm>
          <a:prstGeom prst="rect">
            <a:avLst/>
          </a:prstGeom>
          <a:blipFill dpi="0" rotWithShape="1">
            <a:blip r:embed="rId8"/>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6" name="Rectangle 19" descr="xiaoxun-1"/>
          <p:cNvSpPr>
            <a:spLocks noChangeAspect="1" noChangeArrowheads="1"/>
          </p:cNvSpPr>
          <p:nvPr userDrawn="1"/>
        </p:nvSpPr>
        <p:spPr bwMode="auto">
          <a:xfrm>
            <a:off x="8153402" y="5943608"/>
            <a:ext cx="969963" cy="900113"/>
          </a:xfrm>
          <a:prstGeom prst="rect">
            <a:avLst/>
          </a:prstGeom>
          <a:blipFill dpi="0" rotWithShape="1">
            <a:blip r:embed="rId9"/>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7" name="Line 26"/>
          <p:cNvSpPr>
            <a:spLocks noChangeShapeType="1"/>
          </p:cNvSpPr>
          <p:nvPr userDrawn="1"/>
        </p:nvSpPr>
        <p:spPr bwMode="auto">
          <a:xfrm>
            <a:off x="0" y="36576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8" name="Line 27"/>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9" name="Rectangle 29"/>
          <p:cNvSpPr>
            <a:spLocks noChangeArrowheads="1"/>
          </p:cNvSpPr>
          <p:nvPr userDrawn="1"/>
        </p:nvSpPr>
        <p:spPr bwMode="auto">
          <a:xfrm>
            <a:off x="2"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0" name="Rectangle 33"/>
          <p:cNvSpPr>
            <a:spLocks noChangeArrowheads="1"/>
          </p:cNvSpPr>
          <p:nvPr userDrawn="1"/>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21" name="Picture 31"/>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905000" y="1219200"/>
            <a:ext cx="5562600"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Line 34"/>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pPr defTabSz="685800" fontAlgn="base">
              <a:spcBef>
                <a:spcPct val="0"/>
              </a:spcBef>
              <a:spcAft>
                <a:spcPct val="0"/>
              </a:spcAft>
              <a:defRPr/>
            </a:pPr>
            <a:endParaRPr lang="en-US" altLang="x-none">
              <a:solidFill>
                <a:srgbClr val="000000"/>
              </a:solidFill>
            </a:endParaRPr>
          </a:p>
        </p:txBody>
      </p:sp>
      <p:sp>
        <p:nvSpPr>
          <p:cNvPr id="8" name="Footer Placeholder 7"/>
          <p:cNvSpPr>
            <a:spLocks noGrp="1"/>
          </p:cNvSpPr>
          <p:nvPr>
            <p:ph type="ftr" sz="quarter" idx="11"/>
          </p:nvPr>
        </p:nvSpPr>
        <p:spPr/>
        <p:txBody>
          <a:bodyPr/>
          <a:lstStyle/>
          <a:p>
            <a:pPr defTabSz="685800" fontAlgn="base">
              <a:spcBef>
                <a:spcPct val="0"/>
              </a:spcBef>
              <a:spcAft>
                <a:spcPct val="0"/>
              </a:spcAft>
              <a:defRPr/>
            </a:pPr>
            <a:r>
              <a:rPr lang="zh-CN" altLang="en-US">
                <a:solidFill>
                  <a:srgbClr val="000000"/>
                </a:solidFill>
              </a:rPr>
              <a:t>第</a:t>
            </a:r>
            <a:r>
              <a:rPr lang="en-US" altLang="x-none">
                <a:solidFill>
                  <a:srgbClr val="000000"/>
                </a:solidFill>
              </a:rPr>
              <a:t>1</a:t>
            </a:r>
            <a:r>
              <a:rPr lang="zh-CN" altLang="en-US">
                <a:solidFill>
                  <a:srgbClr val="000000"/>
                </a:solidFill>
              </a:rPr>
              <a:t>页</a:t>
            </a:r>
            <a:endParaRPr lang="en-US" altLang="x-none">
              <a:solidFill>
                <a:srgbClr val="000000"/>
              </a:solidFill>
            </a:endParaRPr>
          </a:p>
        </p:txBody>
      </p:sp>
      <p:sp>
        <p:nvSpPr>
          <p:cNvPr id="9" name="Slide Number Placeholder 8"/>
          <p:cNvSpPr>
            <a:spLocks noGrp="1"/>
          </p:cNvSpPr>
          <p:nvPr>
            <p:ph type="sldNum" sz="quarter" idx="12"/>
          </p:nvPr>
        </p:nvSpPr>
        <p:spPr/>
        <p:txBody>
          <a:bodyPr/>
          <a:lstStyle/>
          <a:p>
            <a:pPr defTabSz="685800" fontAlgn="base">
              <a:spcBef>
                <a:spcPct val="0"/>
              </a:spcBef>
              <a:spcAft>
                <a:spcPct val="0"/>
              </a:spcAft>
              <a:defRPr/>
            </a:pPr>
            <a:fld id="{9D263FCC-0E9E-4DE0-9191-3A9805C5D772}" type="slidenum">
              <a:rPr lang="en-US" altLang="x-none" smtClean="0">
                <a:solidFill>
                  <a:srgbClr val="000000"/>
                </a:solidFill>
              </a:rPr>
              <a:t>‹#›</a:t>
            </a:fld>
            <a:endParaRPr lang="en-US" altLang="x-none">
              <a:solidFill>
                <a:srgbClr val="000000"/>
              </a:solidFill>
            </a:endParaRPr>
          </a:p>
        </p:txBody>
      </p:sp>
      <p:pic>
        <p:nvPicPr>
          <p:cNvPr id="10"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2" descr="a_1"/>
          <p:cNvPicPr>
            <a:picLocks noChangeAspect="1" noChangeArrowheads="1"/>
          </p:cNvPicPr>
          <p:nvPr userDrawn="1"/>
        </p:nvPicPr>
        <p:blipFill>
          <a:blip r:embed="rId3">
            <a:extLst>
              <a:ext uri="{28A0092B-C50C-407E-A947-70E740481C1C}">
                <a14:useLocalDpi xmlns:a14="http://schemas.microsoft.com/office/drawing/2010/main" val="0"/>
              </a:ext>
            </a:extLst>
          </a:blip>
          <a:srcRect l="2174"/>
          <a:stretch>
            <a:fillRect/>
          </a:stretch>
        </p:blipFill>
        <p:spPr bwMode="auto">
          <a:xfrm>
            <a:off x="0" y="0"/>
            <a:ext cx="9144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22"/>
          <p:cNvSpPr>
            <a:spLocks noChangeArrowheads="1"/>
          </p:cNvSpPr>
          <p:nvPr userDrawn="1"/>
        </p:nvSpPr>
        <p:spPr bwMode="auto">
          <a:xfrm>
            <a:off x="0" y="2590800"/>
            <a:ext cx="9144000" cy="1066800"/>
          </a:xfrm>
          <a:prstGeom prst="rect">
            <a:avLst/>
          </a:prstGeom>
          <a:gradFill rotWithShape="1">
            <a:gsLst>
              <a:gs pos="0">
                <a:srgbClr val="3191D3"/>
              </a:gs>
              <a:gs pos="100000">
                <a:srgbClr val="17436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 name="Rectangle 14" descr="mao1-1"/>
          <p:cNvSpPr>
            <a:spLocks noChangeAspect="1" noChangeArrowheads="1"/>
          </p:cNvSpPr>
          <p:nvPr userDrawn="1"/>
        </p:nvSpPr>
        <p:spPr bwMode="auto">
          <a:xfrm>
            <a:off x="8153402" y="4967288"/>
            <a:ext cx="969963" cy="900112"/>
          </a:xfrm>
          <a:prstGeom prst="rect">
            <a:avLst/>
          </a:prstGeom>
          <a:blipFill dpi="0" rotWithShape="1">
            <a:blip r:embed="rId4"/>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4" name="Rectangle 15" descr="xmy2-1"/>
          <p:cNvSpPr>
            <a:spLocks noChangeAspect="1" noChangeArrowheads="1"/>
          </p:cNvSpPr>
          <p:nvPr userDrawn="1"/>
        </p:nvSpPr>
        <p:spPr bwMode="auto">
          <a:xfrm>
            <a:off x="8153402" y="3976688"/>
            <a:ext cx="969963" cy="900112"/>
          </a:xfrm>
          <a:prstGeom prst="rect">
            <a:avLst/>
          </a:prstGeom>
          <a:blipFill dpi="0" rotWithShape="1">
            <a:blip r:embed="rId5"/>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 name="Rectangle 16" descr="xm-1"/>
          <p:cNvSpPr>
            <a:spLocks noChangeArrowheads="1"/>
          </p:cNvSpPr>
          <p:nvPr userDrawn="1"/>
        </p:nvSpPr>
        <p:spPr bwMode="auto">
          <a:xfrm>
            <a:off x="6019800" y="5957888"/>
            <a:ext cx="1066800" cy="900112"/>
          </a:xfrm>
          <a:prstGeom prst="rect">
            <a:avLst/>
          </a:prstGeom>
          <a:blipFill dpi="0" rotWithShape="1">
            <a:blip r:embed="rId6"/>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6" name="Rectangle 17" descr="xue2-1"/>
          <p:cNvSpPr>
            <a:spLocks noChangeAspect="1" noChangeArrowheads="1"/>
          </p:cNvSpPr>
          <p:nvPr userDrawn="1"/>
        </p:nvSpPr>
        <p:spPr bwMode="auto">
          <a:xfrm>
            <a:off x="7134227" y="5943608"/>
            <a:ext cx="969963" cy="900113"/>
          </a:xfrm>
          <a:prstGeom prst="rect">
            <a:avLst/>
          </a:prstGeom>
          <a:blipFill dpi="0" rotWithShape="1">
            <a:blip r:embed="rId7"/>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7" name="Rectangle 18" descr="mao-1"/>
          <p:cNvSpPr>
            <a:spLocks noChangeAspect="1" noChangeArrowheads="1"/>
          </p:cNvSpPr>
          <p:nvPr userDrawn="1"/>
        </p:nvSpPr>
        <p:spPr bwMode="auto">
          <a:xfrm>
            <a:off x="7107238" y="4967288"/>
            <a:ext cx="969962" cy="900112"/>
          </a:xfrm>
          <a:prstGeom prst="rect">
            <a:avLst/>
          </a:prstGeom>
          <a:blipFill dpi="0" rotWithShape="1">
            <a:blip r:embed="rId8"/>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8" name="Rectangle 19" descr="xiaoxun-1"/>
          <p:cNvSpPr>
            <a:spLocks noChangeAspect="1" noChangeArrowheads="1"/>
          </p:cNvSpPr>
          <p:nvPr userDrawn="1"/>
        </p:nvSpPr>
        <p:spPr bwMode="auto">
          <a:xfrm>
            <a:off x="8153402" y="5943608"/>
            <a:ext cx="969963" cy="900113"/>
          </a:xfrm>
          <a:prstGeom prst="rect">
            <a:avLst/>
          </a:prstGeom>
          <a:blipFill dpi="0" rotWithShape="1">
            <a:blip r:embed="rId9"/>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9" name="Line 26"/>
          <p:cNvSpPr>
            <a:spLocks noChangeShapeType="1"/>
          </p:cNvSpPr>
          <p:nvPr userDrawn="1"/>
        </p:nvSpPr>
        <p:spPr bwMode="auto">
          <a:xfrm>
            <a:off x="0" y="36576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0" name="Line 27"/>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1" name="Rectangle 29"/>
          <p:cNvSpPr>
            <a:spLocks noChangeArrowheads="1"/>
          </p:cNvSpPr>
          <p:nvPr userDrawn="1"/>
        </p:nvSpPr>
        <p:spPr bwMode="auto">
          <a:xfrm>
            <a:off x="2"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2" name="Rectangle 33"/>
          <p:cNvSpPr>
            <a:spLocks noChangeArrowheads="1"/>
          </p:cNvSpPr>
          <p:nvPr userDrawn="1"/>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23" name="Picture 31"/>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905000" y="1219200"/>
            <a:ext cx="5562600"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Line 34"/>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defTabSz="685800" fontAlgn="base">
              <a:spcBef>
                <a:spcPct val="0"/>
              </a:spcBef>
              <a:spcAft>
                <a:spcPct val="0"/>
              </a:spcAft>
              <a:defRPr/>
            </a:pPr>
            <a:endParaRPr lang="en-US" altLang="x-none">
              <a:solidFill>
                <a:srgbClr val="000000"/>
              </a:solidFill>
            </a:endParaRPr>
          </a:p>
        </p:txBody>
      </p:sp>
      <p:sp>
        <p:nvSpPr>
          <p:cNvPr id="4" name="Footer Placeholder 3"/>
          <p:cNvSpPr>
            <a:spLocks noGrp="1"/>
          </p:cNvSpPr>
          <p:nvPr>
            <p:ph type="ftr" sz="quarter" idx="11"/>
          </p:nvPr>
        </p:nvSpPr>
        <p:spPr/>
        <p:txBody>
          <a:bodyPr/>
          <a:lstStyle/>
          <a:p>
            <a:pPr defTabSz="685800" fontAlgn="base">
              <a:spcBef>
                <a:spcPct val="0"/>
              </a:spcBef>
              <a:spcAft>
                <a:spcPct val="0"/>
              </a:spcAft>
              <a:defRPr/>
            </a:pPr>
            <a:r>
              <a:rPr lang="zh-CN" altLang="en-US">
                <a:solidFill>
                  <a:srgbClr val="000000"/>
                </a:solidFill>
              </a:rPr>
              <a:t>第</a:t>
            </a:r>
            <a:r>
              <a:rPr lang="en-US" altLang="x-none">
                <a:solidFill>
                  <a:srgbClr val="000000"/>
                </a:solidFill>
              </a:rPr>
              <a:t>1</a:t>
            </a:r>
            <a:r>
              <a:rPr lang="zh-CN" altLang="en-US">
                <a:solidFill>
                  <a:srgbClr val="000000"/>
                </a:solidFill>
              </a:rPr>
              <a:t>页</a:t>
            </a:r>
            <a:endParaRPr lang="en-US" altLang="x-none">
              <a:solidFill>
                <a:srgbClr val="000000"/>
              </a:solidFill>
            </a:endParaRPr>
          </a:p>
        </p:txBody>
      </p:sp>
      <p:sp>
        <p:nvSpPr>
          <p:cNvPr id="5" name="Slide Number Placeholder 4"/>
          <p:cNvSpPr>
            <a:spLocks noGrp="1"/>
          </p:cNvSpPr>
          <p:nvPr>
            <p:ph type="sldNum" sz="quarter" idx="12"/>
          </p:nvPr>
        </p:nvSpPr>
        <p:spPr/>
        <p:txBody>
          <a:bodyPr/>
          <a:lstStyle/>
          <a:p>
            <a:pPr defTabSz="685800" fontAlgn="base">
              <a:spcBef>
                <a:spcPct val="0"/>
              </a:spcBef>
              <a:spcAft>
                <a:spcPct val="0"/>
              </a:spcAft>
              <a:defRPr/>
            </a:pPr>
            <a:fld id="{A882C6C2-D35D-4B29-9880-EB532D47EA8C}" type="slidenum">
              <a:rPr lang="en-US" altLang="x-none" smtClean="0">
                <a:solidFill>
                  <a:srgbClr val="000000"/>
                </a:solidFill>
              </a:rPr>
              <a:t>‹#›</a:t>
            </a:fld>
            <a:endParaRPr lang="en-US" altLang="x-none">
              <a:solidFill>
                <a:srgbClr val="000000"/>
              </a:solidFill>
            </a:endParaRPr>
          </a:p>
        </p:txBody>
      </p:sp>
      <p:pic>
        <p:nvPicPr>
          <p:cNvPr id="6"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2" descr="a_1"/>
          <p:cNvPicPr>
            <a:picLocks noChangeAspect="1" noChangeArrowheads="1"/>
          </p:cNvPicPr>
          <p:nvPr userDrawn="1"/>
        </p:nvPicPr>
        <p:blipFill>
          <a:blip r:embed="rId3">
            <a:extLst>
              <a:ext uri="{28A0092B-C50C-407E-A947-70E740481C1C}">
                <a14:useLocalDpi xmlns:a14="http://schemas.microsoft.com/office/drawing/2010/main" val="0"/>
              </a:ext>
            </a:extLst>
          </a:blip>
          <a:srcRect l="2174"/>
          <a:stretch>
            <a:fillRect/>
          </a:stretch>
        </p:blipFill>
        <p:spPr bwMode="auto">
          <a:xfrm>
            <a:off x="0" y="0"/>
            <a:ext cx="9144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2"/>
          <p:cNvSpPr>
            <a:spLocks noChangeArrowheads="1"/>
          </p:cNvSpPr>
          <p:nvPr userDrawn="1"/>
        </p:nvSpPr>
        <p:spPr bwMode="auto">
          <a:xfrm>
            <a:off x="0" y="2590800"/>
            <a:ext cx="9144000" cy="1066800"/>
          </a:xfrm>
          <a:prstGeom prst="rect">
            <a:avLst/>
          </a:prstGeom>
          <a:gradFill rotWithShape="1">
            <a:gsLst>
              <a:gs pos="0">
                <a:srgbClr val="3191D3"/>
              </a:gs>
              <a:gs pos="100000">
                <a:srgbClr val="17436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 name="Rectangle 14" descr="mao1-1"/>
          <p:cNvSpPr>
            <a:spLocks noChangeAspect="1" noChangeArrowheads="1"/>
          </p:cNvSpPr>
          <p:nvPr userDrawn="1"/>
        </p:nvSpPr>
        <p:spPr bwMode="auto">
          <a:xfrm>
            <a:off x="8153402" y="4967288"/>
            <a:ext cx="969963" cy="900112"/>
          </a:xfrm>
          <a:prstGeom prst="rect">
            <a:avLst/>
          </a:prstGeom>
          <a:blipFill dpi="0" rotWithShape="1">
            <a:blip r:embed="rId4"/>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 name="Rectangle 15" descr="xmy2-1"/>
          <p:cNvSpPr>
            <a:spLocks noChangeAspect="1" noChangeArrowheads="1"/>
          </p:cNvSpPr>
          <p:nvPr userDrawn="1"/>
        </p:nvSpPr>
        <p:spPr bwMode="auto">
          <a:xfrm>
            <a:off x="8153402" y="3976688"/>
            <a:ext cx="969963" cy="900112"/>
          </a:xfrm>
          <a:prstGeom prst="rect">
            <a:avLst/>
          </a:prstGeom>
          <a:blipFill dpi="0" rotWithShape="1">
            <a:blip r:embed="rId5"/>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 name="Rectangle 16" descr="xm-1"/>
          <p:cNvSpPr>
            <a:spLocks noChangeArrowheads="1"/>
          </p:cNvSpPr>
          <p:nvPr userDrawn="1"/>
        </p:nvSpPr>
        <p:spPr bwMode="auto">
          <a:xfrm>
            <a:off x="6019800" y="5957888"/>
            <a:ext cx="1066800" cy="900112"/>
          </a:xfrm>
          <a:prstGeom prst="rect">
            <a:avLst/>
          </a:prstGeom>
          <a:blipFill dpi="0" rotWithShape="1">
            <a:blip r:embed="rId6"/>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2" name="Rectangle 17" descr="xue2-1"/>
          <p:cNvSpPr>
            <a:spLocks noChangeAspect="1" noChangeArrowheads="1"/>
          </p:cNvSpPr>
          <p:nvPr userDrawn="1"/>
        </p:nvSpPr>
        <p:spPr bwMode="auto">
          <a:xfrm>
            <a:off x="7134227" y="5943608"/>
            <a:ext cx="969963" cy="900113"/>
          </a:xfrm>
          <a:prstGeom prst="rect">
            <a:avLst/>
          </a:prstGeom>
          <a:blipFill dpi="0" rotWithShape="1">
            <a:blip r:embed="rId7"/>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 name="Rectangle 18" descr="mao-1"/>
          <p:cNvSpPr>
            <a:spLocks noChangeAspect="1" noChangeArrowheads="1"/>
          </p:cNvSpPr>
          <p:nvPr userDrawn="1"/>
        </p:nvSpPr>
        <p:spPr bwMode="auto">
          <a:xfrm>
            <a:off x="7107238" y="4967288"/>
            <a:ext cx="969962" cy="900112"/>
          </a:xfrm>
          <a:prstGeom prst="rect">
            <a:avLst/>
          </a:prstGeom>
          <a:blipFill dpi="0" rotWithShape="1">
            <a:blip r:embed="rId8"/>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4" name="Rectangle 19" descr="xiaoxun-1"/>
          <p:cNvSpPr>
            <a:spLocks noChangeAspect="1" noChangeArrowheads="1"/>
          </p:cNvSpPr>
          <p:nvPr userDrawn="1"/>
        </p:nvSpPr>
        <p:spPr bwMode="auto">
          <a:xfrm>
            <a:off x="8153402" y="5943608"/>
            <a:ext cx="969963" cy="900113"/>
          </a:xfrm>
          <a:prstGeom prst="rect">
            <a:avLst/>
          </a:prstGeom>
          <a:blipFill dpi="0" rotWithShape="1">
            <a:blip r:embed="rId9"/>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 name="Line 26"/>
          <p:cNvSpPr>
            <a:spLocks noChangeShapeType="1"/>
          </p:cNvSpPr>
          <p:nvPr userDrawn="1"/>
        </p:nvSpPr>
        <p:spPr bwMode="auto">
          <a:xfrm>
            <a:off x="0" y="36576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6" name="Line 27"/>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7" name="Rectangle 29"/>
          <p:cNvSpPr>
            <a:spLocks noChangeArrowheads="1"/>
          </p:cNvSpPr>
          <p:nvPr userDrawn="1"/>
        </p:nvSpPr>
        <p:spPr bwMode="auto">
          <a:xfrm>
            <a:off x="2"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8" name="Rectangle 33"/>
          <p:cNvSpPr>
            <a:spLocks noChangeArrowheads="1"/>
          </p:cNvSpPr>
          <p:nvPr userDrawn="1"/>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19" name="Picture 31"/>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905000" y="1219200"/>
            <a:ext cx="5562600"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Line 34"/>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85800" fontAlgn="base">
              <a:spcBef>
                <a:spcPct val="0"/>
              </a:spcBef>
              <a:spcAft>
                <a:spcPct val="0"/>
              </a:spcAft>
              <a:defRPr/>
            </a:pPr>
            <a:endParaRPr lang="en-US" altLang="x-none">
              <a:solidFill>
                <a:srgbClr val="000000"/>
              </a:solidFill>
            </a:endParaRPr>
          </a:p>
        </p:txBody>
      </p:sp>
      <p:sp>
        <p:nvSpPr>
          <p:cNvPr id="3" name="Footer Placeholder 2"/>
          <p:cNvSpPr>
            <a:spLocks noGrp="1"/>
          </p:cNvSpPr>
          <p:nvPr>
            <p:ph type="ftr" sz="quarter" idx="11"/>
          </p:nvPr>
        </p:nvSpPr>
        <p:spPr/>
        <p:txBody>
          <a:bodyPr/>
          <a:lstStyle/>
          <a:p>
            <a:pPr defTabSz="685800" fontAlgn="base">
              <a:spcBef>
                <a:spcPct val="0"/>
              </a:spcBef>
              <a:spcAft>
                <a:spcPct val="0"/>
              </a:spcAft>
              <a:defRPr/>
            </a:pPr>
            <a:r>
              <a:rPr lang="zh-CN" altLang="en-US">
                <a:solidFill>
                  <a:srgbClr val="000000"/>
                </a:solidFill>
              </a:rPr>
              <a:t>第</a:t>
            </a:r>
            <a:r>
              <a:rPr lang="en-US" altLang="x-none">
                <a:solidFill>
                  <a:srgbClr val="000000"/>
                </a:solidFill>
              </a:rPr>
              <a:t>1</a:t>
            </a:r>
            <a:r>
              <a:rPr lang="zh-CN" altLang="en-US">
                <a:solidFill>
                  <a:srgbClr val="000000"/>
                </a:solidFill>
              </a:rPr>
              <a:t>页</a:t>
            </a:r>
            <a:endParaRPr lang="en-US" altLang="x-none">
              <a:solidFill>
                <a:srgbClr val="000000"/>
              </a:solidFill>
            </a:endParaRPr>
          </a:p>
        </p:txBody>
      </p:sp>
      <p:sp>
        <p:nvSpPr>
          <p:cNvPr id="4" name="Slide Number Placeholder 3"/>
          <p:cNvSpPr>
            <a:spLocks noGrp="1"/>
          </p:cNvSpPr>
          <p:nvPr>
            <p:ph type="sldNum" sz="quarter" idx="12"/>
          </p:nvPr>
        </p:nvSpPr>
        <p:spPr/>
        <p:txBody>
          <a:bodyPr/>
          <a:lstStyle/>
          <a:p>
            <a:pPr defTabSz="685800" fontAlgn="base">
              <a:spcBef>
                <a:spcPct val="0"/>
              </a:spcBef>
              <a:spcAft>
                <a:spcPct val="0"/>
              </a:spcAft>
              <a:defRPr/>
            </a:pPr>
            <a:fld id="{F1B72FF5-3C7F-4A3E-A69E-E6308AC08448}" type="slidenum">
              <a:rPr lang="en-US" altLang="x-none" smtClean="0">
                <a:solidFill>
                  <a:srgbClr val="000000"/>
                </a:solidFill>
              </a:rPr>
              <a:t>‹#›</a:t>
            </a:fld>
            <a:endParaRPr lang="en-US" altLang="x-none">
              <a:solidFill>
                <a:srgbClr val="000000"/>
              </a:solidFill>
            </a:endParaRPr>
          </a:p>
        </p:txBody>
      </p:sp>
      <p:pic>
        <p:nvPicPr>
          <p:cNvPr id="5"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354" y="764"/>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2" descr="a_1"/>
          <p:cNvPicPr>
            <a:picLocks noChangeAspect="1" noChangeArrowheads="1"/>
          </p:cNvPicPr>
          <p:nvPr userDrawn="1"/>
        </p:nvPicPr>
        <p:blipFill>
          <a:blip r:embed="rId3">
            <a:extLst>
              <a:ext uri="{28A0092B-C50C-407E-A947-70E740481C1C}">
                <a14:useLocalDpi xmlns:a14="http://schemas.microsoft.com/office/drawing/2010/main" val="0"/>
              </a:ext>
            </a:extLst>
          </a:blip>
          <a:srcRect l="2174"/>
          <a:stretch>
            <a:fillRect/>
          </a:stretch>
        </p:blipFill>
        <p:spPr bwMode="auto">
          <a:xfrm>
            <a:off x="51306" y="952229"/>
            <a:ext cx="9072059" cy="5266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2"/>
          <p:cNvSpPr>
            <a:spLocks noChangeArrowheads="1"/>
          </p:cNvSpPr>
          <p:nvPr userDrawn="1"/>
        </p:nvSpPr>
        <p:spPr bwMode="auto">
          <a:xfrm>
            <a:off x="16281" y="2867954"/>
            <a:ext cx="9102730" cy="158795"/>
          </a:xfrm>
          <a:prstGeom prst="rect">
            <a:avLst/>
          </a:prstGeom>
          <a:gradFill rotWithShape="1">
            <a:gsLst>
              <a:gs pos="0">
                <a:srgbClr val="3191D3"/>
              </a:gs>
              <a:gs pos="100000">
                <a:srgbClr val="174362"/>
              </a:gs>
            </a:gsLst>
            <a:lin ang="5400000" scaled="1"/>
          </a:gradFill>
          <a:ln>
            <a:noFill/>
          </a:ln>
          <a:effectLst>
            <a:glow rad="12700">
              <a:srgbClr val="002060">
                <a:alpha val="40000"/>
              </a:srgbClr>
            </a:glo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 name="Rectangle 14" descr="mao1-1"/>
          <p:cNvSpPr>
            <a:spLocks noChangeAspect="1" noChangeArrowheads="1"/>
          </p:cNvSpPr>
          <p:nvPr userDrawn="1"/>
        </p:nvSpPr>
        <p:spPr bwMode="auto">
          <a:xfrm>
            <a:off x="8153402" y="4967288"/>
            <a:ext cx="969963" cy="900112"/>
          </a:xfrm>
          <a:prstGeom prst="rect">
            <a:avLst/>
          </a:prstGeom>
          <a:blipFill dpi="0" rotWithShape="1">
            <a:blip r:embed="rId4"/>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 name="Rectangle 15" descr="xmy2-1"/>
          <p:cNvSpPr>
            <a:spLocks noChangeAspect="1" noChangeArrowheads="1"/>
          </p:cNvSpPr>
          <p:nvPr userDrawn="1"/>
        </p:nvSpPr>
        <p:spPr bwMode="auto">
          <a:xfrm>
            <a:off x="8153402" y="3976688"/>
            <a:ext cx="969963" cy="900112"/>
          </a:xfrm>
          <a:prstGeom prst="rect">
            <a:avLst/>
          </a:prstGeom>
          <a:blipFill dpi="0" rotWithShape="1">
            <a:blip r:embed="rId5"/>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 name="Rectangle 16" descr="xm-1"/>
          <p:cNvSpPr>
            <a:spLocks noChangeArrowheads="1"/>
          </p:cNvSpPr>
          <p:nvPr userDrawn="1"/>
        </p:nvSpPr>
        <p:spPr bwMode="auto">
          <a:xfrm>
            <a:off x="6019800" y="5957888"/>
            <a:ext cx="1066800" cy="900112"/>
          </a:xfrm>
          <a:prstGeom prst="rect">
            <a:avLst/>
          </a:prstGeom>
          <a:blipFill dpi="0" rotWithShape="1">
            <a:blip r:embed="rId6"/>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 name="Rectangle 17" descr="xue2-1"/>
          <p:cNvSpPr>
            <a:spLocks noChangeAspect="1" noChangeArrowheads="1"/>
          </p:cNvSpPr>
          <p:nvPr userDrawn="1"/>
        </p:nvSpPr>
        <p:spPr bwMode="auto">
          <a:xfrm>
            <a:off x="7134227" y="5943608"/>
            <a:ext cx="969963" cy="900113"/>
          </a:xfrm>
          <a:prstGeom prst="rect">
            <a:avLst/>
          </a:prstGeom>
          <a:blipFill dpi="0" rotWithShape="1">
            <a:blip r:embed="rId7"/>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2" name="Rectangle 18" descr="mao-1"/>
          <p:cNvSpPr>
            <a:spLocks noChangeAspect="1" noChangeArrowheads="1"/>
          </p:cNvSpPr>
          <p:nvPr userDrawn="1"/>
        </p:nvSpPr>
        <p:spPr bwMode="auto">
          <a:xfrm>
            <a:off x="7107238" y="4967288"/>
            <a:ext cx="969962" cy="900112"/>
          </a:xfrm>
          <a:prstGeom prst="rect">
            <a:avLst/>
          </a:prstGeom>
          <a:blipFill dpi="0" rotWithShape="1">
            <a:blip r:embed="rId8"/>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 name="Rectangle 19" descr="xiaoxun-1"/>
          <p:cNvSpPr>
            <a:spLocks noChangeAspect="1" noChangeArrowheads="1"/>
          </p:cNvSpPr>
          <p:nvPr userDrawn="1"/>
        </p:nvSpPr>
        <p:spPr bwMode="auto">
          <a:xfrm>
            <a:off x="8153402" y="5943608"/>
            <a:ext cx="969963" cy="900113"/>
          </a:xfrm>
          <a:prstGeom prst="rect">
            <a:avLst/>
          </a:prstGeom>
          <a:blipFill dpi="0" rotWithShape="1">
            <a:blip r:embed="rId9"/>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18" name="Picture 31"/>
          <p:cNvPicPr>
            <a:picLocks noChangeAspect="1" noChangeArrowheads="1"/>
          </p:cNvPicPr>
          <p:nvPr userDrawn="1"/>
        </p:nvPicPr>
        <p:blipFill>
          <a:blip r:embed="rId10">
            <a:clrChange>
              <a:clrFrom>
                <a:srgbClr val="EBFFFF"/>
              </a:clrFrom>
              <a:clrTo>
                <a:srgbClr val="EBFFFF">
                  <a:alpha val="0"/>
                </a:srgbClr>
              </a:clrTo>
            </a:clrChange>
            <a:extLst>
              <a:ext uri="{BEBA8EAE-BF5A-486C-A8C5-ECC9F3942E4B}">
                <a14:imgProps xmlns:a14="http://schemas.microsoft.com/office/drawing/2010/main">
                  <a14:imgLayer r:embed="rId11">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2384987" y="299936"/>
            <a:ext cx="4552551" cy="812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2"/>
          <p:cNvSpPr>
            <a:spLocks noGrp="1" noChangeArrowheads="1"/>
          </p:cNvSpPr>
          <p:nvPr>
            <p:ph type="title"/>
          </p:nvPr>
        </p:nvSpPr>
        <p:spPr>
          <a:xfrm>
            <a:off x="526871" y="1830688"/>
            <a:ext cx="8268785" cy="979376"/>
          </a:xfrm>
        </p:spPr>
        <p:txBody>
          <a:bodyPr>
            <a:normAutofit/>
          </a:bodyPr>
          <a:lstStyle>
            <a:lvl1pPr algn="ctr">
              <a:defRPr sz="5400" baseline="0">
                <a:latin typeface="华文楷体" panose="02010600040101010101" pitchFamily="2" charset="-122"/>
                <a:ea typeface="华文楷体" panose="02010600040101010101" pitchFamily="2" charset="-122"/>
              </a:defRPr>
            </a:lvl1pPr>
          </a:lstStyle>
          <a:p>
            <a:endParaRPr lang="en-US" altLang="zh-CN" dirty="0">
              <a:ea typeface="宋体" panose="02010600030101010101" pitchFamily="2" charset="-122"/>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pPr defTabSz="685800" fontAlgn="base">
              <a:spcBef>
                <a:spcPct val="0"/>
              </a:spcBef>
              <a:spcAft>
                <a:spcPct val="0"/>
              </a:spcAft>
              <a:defRPr/>
            </a:pPr>
            <a:endParaRPr lang="en-US" altLang="x-none">
              <a:solidFill>
                <a:srgbClr val="000000"/>
              </a:solidFill>
            </a:endParaRPr>
          </a:p>
        </p:txBody>
      </p:sp>
      <p:sp>
        <p:nvSpPr>
          <p:cNvPr id="6" name="Footer Placeholder 5"/>
          <p:cNvSpPr>
            <a:spLocks noGrp="1"/>
          </p:cNvSpPr>
          <p:nvPr>
            <p:ph type="ftr" sz="quarter" idx="11"/>
          </p:nvPr>
        </p:nvSpPr>
        <p:spPr/>
        <p:txBody>
          <a:bodyPr/>
          <a:lstStyle/>
          <a:p>
            <a:pPr defTabSz="685800" fontAlgn="base">
              <a:spcBef>
                <a:spcPct val="0"/>
              </a:spcBef>
              <a:spcAft>
                <a:spcPct val="0"/>
              </a:spcAft>
              <a:defRPr/>
            </a:pPr>
            <a:r>
              <a:rPr lang="zh-CN" altLang="en-US">
                <a:solidFill>
                  <a:srgbClr val="000000"/>
                </a:solidFill>
              </a:rPr>
              <a:t>第</a:t>
            </a:r>
            <a:r>
              <a:rPr lang="en-US" altLang="x-none">
                <a:solidFill>
                  <a:srgbClr val="000000"/>
                </a:solidFill>
              </a:rPr>
              <a:t>1</a:t>
            </a:r>
            <a:r>
              <a:rPr lang="zh-CN" altLang="en-US">
                <a:solidFill>
                  <a:srgbClr val="000000"/>
                </a:solidFill>
              </a:rPr>
              <a:t>页</a:t>
            </a:r>
            <a:endParaRPr lang="en-US" altLang="x-none">
              <a:solidFill>
                <a:srgbClr val="000000"/>
              </a:solidFill>
            </a:endParaRPr>
          </a:p>
        </p:txBody>
      </p:sp>
      <p:sp>
        <p:nvSpPr>
          <p:cNvPr id="7" name="Slide Number Placeholder 6"/>
          <p:cNvSpPr>
            <a:spLocks noGrp="1"/>
          </p:cNvSpPr>
          <p:nvPr>
            <p:ph type="sldNum" sz="quarter" idx="12"/>
          </p:nvPr>
        </p:nvSpPr>
        <p:spPr/>
        <p:txBody>
          <a:bodyPr/>
          <a:lstStyle/>
          <a:p>
            <a:pPr defTabSz="685800" fontAlgn="base">
              <a:spcBef>
                <a:spcPct val="0"/>
              </a:spcBef>
              <a:spcAft>
                <a:spcPct val="0"/>
              </a:spcAft>
              <a:defRPr/>
            </a:pPr>
            <a:fld id="{358C92BF-141B-405B-B9C3-41F21423E6DD}" type="slidenum">
              <a:rPr lang="en-US" altLang="x-none" smtClean="0">
                <a:solidFill>
                  <a:srgbClr val="000000"/>
                </a:solidFill>
              </a:rPr>
              <a:t>‹#›</a:t>
            </a:fld>
            <a:endParaRPr lang="en-US" altLang="x-none">
              <a:solidFill>
                <a:srgbClr val="000000"/>
              </a:solidFill>
            </a:endParaRPr>
          </a:p>
        </p:txBody>
      </p:sp>
      <p:pic>
        <p:nvPicPr>
          <p:cNvPr id="8"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 descr="a_1"/>
          <p:cNvPicPr>
            <a:picLocks noChangeAspect="1" noChangeArrowheads="1"/>
          </p:cNvPicPr>
          <p:nvPr userDrawn="1"/>
        </p:nvPicPr>
        <p:blipFill>
          <a:blip r:embed="rId3">
            <a:extLst>
              <a:ext uri="{28A0092B-C50C-407E-A947-70E740481C1C}">
                <a14:useLocalDpi xmlns:a14="http://schemas.microsoft.com/office/drawing/2010/main" val="0"/>
              </a:ext>
            </a:extLst>
          </a:blip>
          <a:srcRect l="2174"/>
          <a:stretch>
            <a:fillRect/>
          </a:stretch>
        </p:blipFill>
        <p:spPr bwMode="auto">
          <a:xfrm>
            <a:off x="0" y="0"/>
            <a:ext cx="9144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22"/>
          <p:cNvSpPr>
            <a:spLocks noChangeArrowheads="1"/>
          </p:cNvSpPr>
          <p:nvPr userDrawn="1"/>
        </p:nvSpPr>
        <p:spPr bwMode="auto">
          <a:xfrm>
            <a:off x="0" y="2590800"/>
            <a:ext cx="9144000" cy="1066800"/>
          </a:xfrm>
          <a:prstGeom prst="rect">
            <a:avLst/>
          </a:prstGeom>
          <a:gradFill rotWithShape="1">
            <a:gsLst>
              <a:gs pos="0">
                <a:srgbClr val="3191D3"/>
              </a:gs>
              <a:gs pos="100000">
                <a:srgbClr val="17436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 name="Rectangle 14" descr="mao1-1"/>
          <p:cNvSpPr>
            <a:spLocks noChangeAspect="1" noChangeArrowheads="1"/>
          </p:cNvSpPr>
          <p:nvPr userDrawn="1"/>
        </p:nvSpPr>
        <p:spPr bwMode="auto">
          <a:xfrm>
            <a:off x="8153402" y="4967288"/>
            <a:ext cx="969963" cy="900112"/>
          </a:xfrm>
          <a:prstGeom prst="rect">
            <a:avLst/>
          </a:prstGeom>
          <a:blipFill dpi="0" rotWithShape="1">
            <a:blip r:embed="rId4"/>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2" name="Rectangle 15" descr="xmy2-1"/>
          <p:cNvSpPr>
            <a:spLocks noChangeAspect="1" noChangeArrowheads="1"/>
          </p:cNvSpPr>
          <p:nvPr userDrawn="1"/>
        </p:nvSpPr>
        <p:spPr bwMode="auto">
          <a:xfrm>
            <a:off x="8153402" y="3976688"/>
            <a:ext cx="969963" cy="900112"/>
          </a:xfrm>
          <a:prstGeom prst="rect">
            <a:avLst/>
          </a:prstGeom>
          <a:blipFill dpi="0" rotWithShape="1">
            <a:blip r:embed="rId5"/>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 name="Rectangle 16" descr="xm-1"/>
          <p:cNvSpPr>
            <a:spLocks noChangeArrowheads="1"/>
          </p:cNvSpPr>
          <p:nvPr userDrawn="1"/>
        </p:nvSpPr>
        <p:spPr bwMode="auto">
          <a:xfrm>
            <a:off x="6019800" y="5957888"/>
            <a:ext cx="1066800" cy="900112"/>
          </a:xfrm>
          <a:prstGeom prst="rect">
            <a:avLst/>
          </a:prstGeom>
          <a:blipFill dpi="0" rotWithShape="1">
            <a:blip r:embed="rId6"/>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4" name="Rectangle 17" descr="xue2-1"/>
          <p:cNvSpPr>
            <a:spLocks noChangeAspect="1" noChangeArrowheads="1"/>
          </p:cNvSpPr>
          <p:nvPr userDrawn="1"/>
        </p:nvSpPr>
        <p:spPr bwMode="auto">
          <a:xfrm>
            <a:off x="7134227" y="5943608"/>
            <a:ext cx="969963" cy="900113"/>
          </a:xfrm>
          <a:prstGeom prst="rect">
            <a:avLst/>
          </a:prstGeom>
          <a:blipFill dpi="0" rotWithShape="1">
            <a:blip r:embed="rId7"/>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 name="Rectangle 18" descr="mao-1"/>
          <p:cNvSpPr>
            <a:spLocks noChangeAspect="1" noChangeArrowheads="1"/>
          </p:cNvSpPr>
          <p:nvPr userDrawn="1"/>
        </p:nvSpPr>
        <p:spPr bwMode="auto">
          <a:xfrm>
            <a:off x="7107238" y="4967288"/>
            <a:ext cx="969962" cy="900112"/>
          </a:xfrm>
          <a:prstGeom prst="rect">
            <a:avLst/>
          </a:prstGeom>
          <a:blipFill dpi="0" rotWithShape="1">
            <a:blip r:embed="rId8"/>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6" name="Rectangle 19" descr="xiaoxun-1"/>
          <p:cNvSpPr>
            <a:spLocks noChangeAspect="1" noChangeArrowheads="1"/>
          </p:cNvSpPr>
          <p:nvPr userDrawn="1"/>
        </p:nvSpPr>
        <p:spPr bwMode="auto">
          <a:xfrm>
            <a:off x="8153402" y="5943608"/>
            <a:ext cx="969963" cy="900113"/>
          </a:xfrm>
          <a:prstGeom prst="rect">
            <a:avLst/>
          </a:prstGeom>
          <a:blipFill dpi="0" rotWithShape="1">
            <a:blip r:embed="rId9"/>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7" name="Line 26"/>
          <p:cNvSpPr>
            <a:spLocks noChangeShapeType="1"/>
          </p:cNvSpPr>
          <p:nvPr userDrawn="1"/>
        </p:nvSpPr>
        <p:spPr bwMode="auto">
          <a:xfrm>
            <a:off x="0" y="36576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8" name="Line 27"/>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9" name="Rectangle 29"/>
          <p:cNvSpPr>
            <a:spLocks noChangeArrowheads="1"/>
          </p:cNvSpPr>
          <p:nvPr userDrawn="1"/>
        </p:nvSpPr>
        <p:spPr bwMode="auto">
          <a:xfrm>
            <a:off x="2"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0" name="Rectangle 33"/>
          <p:cNvSpPr>
            <a:spLocks noChangeArrowheads="1"/>
          </p:cNvSpPr>
          <p:nvPr userDrawn="1"/>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21" name="Picture 31"/>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905000" y="1219200"/>
            <a:ext cx="5562600"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Line 34"/>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pPr defTabSz="685800" fontAlgn="base">
              <a:spcBef>
                <a:spcPct val="0"/>
              </a:spcBef>
              <a:spcAft>
                <a:spcPct val="0"/>
              </a:spcAft>
              <a:defRPr/>
            </a:pPr>
            <a:endParaRPr lang="en-US" altLang="x-none">
              <a:solidFill>
                <a:srgbClr val="000000"/>
              </a:solidFill>
            </a:endParaRPr>
          </a:p>
        </p:txBody>
      </p:sp>
      <p:sp>
        <p:nvSpPr>
          <p:cNvPr id="6" name="Footer Placeholder 5"/>
          <p:cNvSpPr>
            <a:spLocks noGrp="1"/>
          </p:cNvSpPr>
          <p:nvPr>
            <p:ph type="ftr" sz="quarter" idx="11"/>
          </p:nvPr>
        </p:nvSpPr>
        <p:spPr/>
        <p:txBody>
          <a:bodyPr/>
          <a:lstStyle/>
          <a:p>
            <a:pPr defTabSz="685800" fontAlgn="base">
              <a:spcBef>
                <a:spcPct val="0"/>
              </a:spcBef>
              <a:spcAft>
                <a:spcPct val="0"/>
              </a:spcAft>
              <a:defRPr/>
            </a:pPr>
            <a:r>
              <a:rPr lang="zh-CN" altLang="en-US">
                <a:solidFill>
                  <a:srgbClr val="000000"/>
                </a:solidFill>
              </a:rPr>
              <a:t>第</a:t>
            </a:r>
            <a:r>
              <a:rPr lang="en-US" altLang="x-none">
                <a:solidFill>
                  <a:srgbClr val="000000"/>
                </a:solidFill>
              </a:rPr>
              <a:t>1</a:t>
            </a:r>
            <a:r>
              <a:rPr lang="zh-CN" altLang="en-US">
                <a:solidFill>
                  <a:srgbClr val="000000"/>
                </a:solidFill>
              </a:rPr>
              <a:t>页</a:t>
            </a:r>
            <a:endParaRPr lang="en-US" altLang="x-none">
              <a:solidFill>
                <a:srgbClr val="000000"/>
              </a:solidFill>
            </a:endParaRPr>
          </a:p>
        </p:txBody>
      </p:sp>
      <p:sp>
        <p:nvSpPr>
          <p:cNvPr id="7" name="Slide Number Placeholder 6"/>
          <p:cNvSpPr>
            <a:spLocks noGrp="1"/>
          </p:cNvSpPr>
          <p:nvPr>
            <p:ph type="sldNum" sz="quarter" idx="12"/>
          </p:nvPr>
        </p:nvSpPr>
        <p:spPr/>
        <p:txBody>
          <a:bodyPr/>
          <a:lstStyle/>
          <a:p>
            <a:pPr defTabSz="685800" fontAlgn="base">
              <a:spcBef>
                <a:spcPct val="0"/>
              </a:spcBef>
              <a:spcAft>
                <a:spcPct val="0"/>
              </a:spcAft>
              <a:defRPr/>
            </a:pPr>
            <a:fld id="{09B0ED30-E3F2-4215-ADC5-126CA2DD31D4}" type="slidenum">
              <a:rPr lang="en-US" altLang="x-none" smtClean="0">
                <a:solidFill>
                  <a:srgbClr val="000000"/>
                </a:solidFill>
              </a:rPr>
              <a:t>‹#›</a:t>
            </a:fld>
            <a:endParaRPr lang="en-US" altLang="x-none">
              <a:solidFill>
                <a:srgbClr val="000000"/>
              </a:solidFill>
            </a:endParaRPr>
          </a:p>
        </p:txBody>
      </p:sp>
      <p:pic>
        <p:nvPicPr>
          <p:cNvPr id="8"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 descr="a_1"/>
          <p:cNvPicPr>
            <a:picLocks noChangeAspect="1" noChangeArrowheads="1"/>
          </p:cNvPicPr>
          <p:nvPr userDrawn="1"/>
        </p:nvPicPr>
        <p:blipFill>
          <a:blip r:embed="rId3">
            <a:extLst>
              <a:ext uri="{28A0092B-C50C-407E-A947-70E740481C1C}">
                <a14:useLocalDpi xmlns:a14="http://schemas.microsoft.com/office/drawing/2010/main" val="0"/>
              </a:ext>
            </a:extLst>
          </a:blip>
          <a:srcRect l="2174"/>
          <a:stretch>
            <a:fillRect/>
          </a:stretch>
        </p:blipFill>
        <p:spPr bwMode="auto">
          <a:xfrm>
            <a:off x="0" y="0"/>
            <a:ext cx="9144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22"/>
          <p:cNvSpPr>
            <a:spLocks noChangeArrowheads="1"/>
          </p:cNvSpPr>
          <p:nvPr userDrawn="1"/>
        </p:nvSpPr>
        <p:spPr bwMode="auto">
          <a:xfrm>
            <a:off x="0" y="2590800"/>
            <a:ext cx="9144000" cy="1066800"/>
          </a:xfrm>
          <a:prstGeom prst="rect">
            <a:avLst/>
          </a:prstGeom>
          <a:gradFill rotWithShape="1">
            <a:gsLst>
              <a:gs pos="0">
                <a:srgbClr val="3191D3"/>
              </a:gs>
              <a:gs pos="100000">
                <a:srgbClr val="17436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 name="Rectangle 14" descr="mao1-1"/>
          <p:cNvSpPr>
            <a:spLocks noChangeAspect="1" noChangeArrowheads="1"/>
          </p:cNvSpPr>
          <p:nvPr userDrawn="1"/>
        </p:nvSpPr>
        <p:spPr bwMode="auto">
          <a:xfrm>
            <a:off x="8153402" y="4967288"/>
            <a:ext cx="969963" cy="900112"/>
          </a:xfrm>
          <a:prstGeom prst="rect">
            <a:avLst/>
          </a:prstGeom>
          <a:blipFill dpi="0" rotWithShape="1">
            <a:blip r:embed="rId4"/>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2" name="Rectangle 15" descr="xmy2-1"/>
          <p:cNvSpPr>
            <a:spLocks noChangeAspect="1" noChangeArrowheads="1"/>
          </p:cNvSpPr>
          <p:nvPr userDrawn="1"/>
        </p:nvSpPr>
        <p:spPr bwMode="auto">
          <a:xfrm>
            <a:off x="8153402" y="3976688"/>
            <a:ext cx="969963" cy="900112"/>
          </a:xfrm>
          <a:prstGeom prst="rect">
            <a:avLst/>
          </a:prstGeom>
          <a:blipFill dpi="0" rotWithShape="1">
            <a:blip r:embed="rId5"/>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 name="Rectangle 16" descr="xm-1"/>
          <p:cNvSpPr>
            <a:spLocks noChangeArrowheads="1"/>
          </p:cNvSpPr>
          <p:nvPr userDrawn="1"/>
        </p:nvSpPr>
        <p:spPr bwMode="auto">
          <a:xfrm>
            <a:off x="6019800" y="5957888"/>
            <a:ext cx="1066800" cy="900112"/>
          </a:xfrm>
          <a:prstGeom prst="rect">
            <a:avLst/>
          </a:prstGeom>
          <a:blipFill dpi="0" rotWithShape="1">
            <a:blip r:embed="rId6"/>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4" name="Rectangle 17" descr="xue2-1"/>
          <p:cNvSpPr>
            <a:spLocks noChangeAspect="1" noChangeArrowheads="1"/>
          </p:cNvSpPr>
          <p:nvPr userDrawn="1"/>
        </p:nvSpPr>
        <p:spPr bwMode="auto">
          <a:xfrm>
            <a:off x="7134227" y="5943608"/>
            <a:ext cx="969963" cy="900113"/>
          </a:xfrm>
          <a:prstGeom prst="rect">
            <a:avLst/>
          </a:prstGeom>
          <a:blipFill dpi="0" rotWithShape="1">
            <a:blip r:embed="rId7"/>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 name="Rectangle 18" descr="mao-1"/>
          <p:cNvSpPr>
            <a:spLocks noChangeAspect="1" noChangeArrowheads="1"/>
          </p:cNvSpPr>
          <p:nvPr userDrawn="1"/>
        </p:nvSpPr>
        <p:spPr bwMode="auto">
          <a:xfrm>
            <a:off x="7107238" y="4967288"/>
            <a:ext cx="969962" cy="900112"/>
          </a:xfrm>
          <a:prstGeom prst="rect">
            <a:avLst/>
          </a:prstGeom>
          <a:blipFill dpi="0" rotWithShape="1">
            <a:blip r:embed="rId8"/>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6" name="Rectangle 19" descr="xiaoxun-1"/>
          <p:cNvSpPr>
            <a:spLocks noChangeAspect="1" noChangeArrowheads="1"/>
          </p:cNvSpPr>
          <p:nvPr userDrawn="1"/>
        </p:nvSpPr>
        <p:spPr bwMode="auto">
          <a:xfrm>
            <a:off x="8153402" y="5943608"/>
            <a:ext cx="969963" cy="900113"/>
          </a:xfrm>
          <a:prstGeom prst="rect">
            <a:avLst/>
          </a:prstGeom>
          <a:blipFill dpi="0" rotWithShape="1">
            <a:blip r:embed="rId9"/>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7" name="Line 26"/>
          <p:cNvSpPr>
            <a:spLocks noChangeShapeType="1"/>
          </p:cNvSpPr>
          <p:nvPr userDrawn="1"/>
        </p:nvSpPr>
        <p:spPr bwMode="auto">
          <a:xfrm>
            <a:off x="0" y="36576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8" name="Line 27"/>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9" name="Rectangle 29"/>
          <p:cNvSpPr>
            <a:spLocks noChangeArrowheads="1"/>
          </p:cNvSpPr>
          <p:nvPr userDrawn="1"/>
        </p:nvSpPr>
        <p:spPr bwMode="auto">
          <a:xfrm>
            <a:off x="2"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0" name="Rectangle 33"/>
          <p:cNvSpPr>
            <a:spLocks noChangeArrowheads="1"/>
          </p:cNvSpPr>
          <p:nvPr userDrawn="1"/>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21" name="Picture 31"/>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905000" y="1219200"/>
            <a:ext cx="5562600"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Line 34"/>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defTabSz="685800" fontAlgn="base">
              <a:spcBef>
                <a:spcPct val="0"/>
              </a:spcBef>
              <a:spcAft>
                <a:spcPct val="0"/>
              </a:spcAft>
              <a:defRPr/>
            </a:pPr>
            <a:endParaRPr lang="en-US" altLang="x-none">
              <a:solidFill>
                <a:srgbClr val="000000"/>
              </a:solidFill>
            </a:endParaRPr>
          </a:p>
        </p:txBody>
      </p:sp>
      <p:sp>
        <p:nvSpPr>
          <p:cNvPr id="5" name="Footer Placeholder 4"/>
          <p:cNvSpPr>
            <a:spLocks noGrp="1"/>
          </p:cNvSpPr>
          <p:nvPr>
            <p:ph type="ftr" sz="quarter" idx="11"/>
          </p:nvPr>
        </p:nvSpPr>
        <p:spPr/>
        <p:txBody>
          <a:bodyPr/>
          <a:lstStyle/>
          <a:p>
            <a:pPr defTabSz="685800" fontAlgn="base">
              <a:spcBef>
                <a:spcPct val="0"/>
              </a:spcBef>
              <a:spcAft>
                <a:spcPct val="0"/>
              </a:spcAft>
              <a:defRPr/>
            </a:pPr>
            <a:r>
              <a:rPr lang="zh-CN" altLang="en-US">
                <a:solidFill>
                  <a:srgbClr val="000000"/>
                </a:solidFill>
              </a:rPr>
              <a:t>第</a:t>
            </a:r>
            <a:r>
              <a:rPr lang="en-US" altLang="x-none">
                <a:solidFill>
                  <a:srgbClr val="000000"/>
                </a:solidFill>
              </a:rPr>
              <a:t>1</a:t>
            </a:r>
            <a:r>
              <a:rPr lang="zh-CN" altLang="en-US">
                <a:solidFill>
                  <a:srgbClr val="000000"/>
                </a:solidFill>
              </a:rPr>
              <a:t>页</a:t>
            </a:r>
            <a:endParaRPr lang="en-US" altLang="x-none">
              <a:solidFill>
                <a:srgbClr val="000000"/>
              </a:solidFill>
            </a:endParaRPr>
          </a:p>
        </p:txBody>
      </p:sp>
      <p:sp>
        <p:nvSpPr>
          <p:cNvPr id="6" name="Slide Number Placeholder 5"/>
          <p:cNvSpPr>
            <a:spLocks noGrp="1"/>
          </p:cNvSpPr>
          <p:nvPr>
            <p:ph type="sldNum" sz="quarter" idx="12"/>
          </p:nvPr>
        </p:nvSpPr>
        <p:spPr/>
        <p:txBody>
          <a:bodyPr/>
          <a:lstStyle/>
          <a:p>
            <a:pPr defTabSz="685800" fontAlgn="base">
              <a:spcBef>
                <a:spcPct val="0"/>
              </a:spcBef>
              <a:spcAft>
                <a:spcPct val="0"/>
              </a:spcAft>
              <a:defRPr/>
            </a:pPr>
            <a:fld id="{0B5D371D-92C2-44A4-BE04-ECAB734F093F}" type="slidenum">
              <a:rPr lang="en-US" altLang="x-none" smtClean="0">
                <a:solidFill>
                  <a:srgbClr val="000000"/>
                </a:solidFill>
              </a:rPr>
              <a:t>‹#›</a:t>
            </a:fld>
            <a:endParaRPr lang="en-US" altLang="x-none">
              <a:solidFill>
                <a:srgbClr val="000000"/>
              </a:solidFill>
            </a:endParaRPr>
          </a:p>
        </p:txBody>
      </p:sp>
      <p:pic>
        <p:nvPicPr>
          <p:cNvPr id="7"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2" descr="a_1"/>
          <p:cNvPicPr>
            <a:picLocks noChangeAspect="1" noChangeArrowheads="1"/>
          </p:cNvPicPr>
          <p:nvPr userDrawn="1"/>
        </p:nvPicPr>
        <p:blipFill>
          <a:blip r:embed="rId3">
            <a:extLst>
              <a:ext uri="{28A0092B-C50C-407E-A947-70E740481C1C}">
                <a14:useLocalDpi xmlns:a14="http://schemas.microsoft.com/office/drawing/2010/main" val="0"/>
              </a:ext>
            </a:extLst>
          </a:blip>
          <a:srcRect l="2174"/>
          <a:stretch>
            <a:fillRect/>
          </a:stretch>
        </p:blipFill>
        <p:spPr bwMode="auto">
          <a:xfrm>
            <a:off x="0" y="0"/>
            <a:ext cx="9144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2"/>
          <p:cNvSpPr>
            <a:spLocks noChangeArrowheads="1"/>
          </p:cNvSpPr>
          <p:nvPr userDrawn="1"/>
        </p:nvSpPr>
        <p:spPr bwMode="auto">
          <a:xfrm>
            <a:off x="0" y="2590800"/>
            <a:ext cx="9144000" cy="1066800"/>
          </a:xfrm>
          <a:prstGeom prst="rect">
            <a:avLst/>
          </a:prstGeom>
          <a:gradFill rotWithShape="1">
            <a:gsLst>
              <a:gs pos="0">
                <a:srgbClr val="3191D3"/>
              </a:gs>
              <a:gs pos="100000">
                <a:srgbClr val="17436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 name="Rectangle 14" descr="mao1-1"/>
          <p:cNvSpPr>
            <a:spLocks noChangeAspect="1" noChangeArrowheads="1"/>
          </p:cNvSpPr>
          <p:nvPr userDrawn="1"/>
        </p:nvSpPr>
        <p:spPr bwMode="auto">
          <a:xfrm>
            <a:off x="8153402" y="4967288"/>
            <a:ext cx="969963" cy="900112"/>
          </a:xfrm>
          <a:prstGeom prst="rect">
            <a:avLst/>
          </a:prstGeom>
          <a:blipFill dpi="0" rotWithShape="1">
            <a:blip r:embed="rId4"/>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 name="Rectangle 15" descr="xmy2-1"/>
          <p:cNvSpPr>
            <a:spLocks noChangeAspect="1" noChangeArrowheads="1"/>
          </p:cNvSpPr>
          <p:nvPr userDrawn="1"/>
        </p:nvSpPr>
        <p:spPr bwMode="auto">
          <a:xfrm>
            <a:off x="8153402" y="3976688"/>
            <a:ext cx="969963" cy="900112"/>
          </a:xfrm>
          <a:prstGeom prst="rect">
            <a:avLst/>
          </a:prstGeom>
          <a:blipFill dpi="0" rotWithShape="1">
            <a:blip r:embed="rId5"/>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2" name="Rectangle 16" descr="xm-1"/>
          <p:cNvSpPr>
            <a:spLocks noChangeArrowheads="1"/>
          </p:cNvSpPr>
          <p:nvPr userDrawn="1"/>
        </p:nvSpPr>
        <p:spPr bwMode="auto">
          <a:xfrm>
            <a:off x="6019800" y="5957888"/>
            <a:ext cx="1066800" cy="900112"/>
          </a:xfrm>
          <a:prstGeom prst="rect">
            <a:avLst/>
          </a:prstGeom>
          <a:blipFill dpi="0" rotWithShape="1">
            <a:blip r:embed="rId6"/>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 name="Rectangle 17" descr="xue2-1"/>
          <p:cNvSpPr>
            <a:spLocks noChangeAspect="1" noChangeArrowheads="1"/>
          </p:cNvSpPr>
          <p:nvPr userDrawn="1"/>
        </p:nvSpPr>
        <p:spPr bwMode="auto">
          <a:xfrm>
            <a:off x="7134227" y="5943608"/>
            <a:ext cx="969963" cy="900113"/>
          </a:xfrm>
          <a:prstGeom prst="rect">
            <a:avLst/>
          </a:prstGeom>
          <a:blipFill dpi="0" rotWithShape="1">
            <a:blip r:embed="rId7"/>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4" name="Rectangle 18" descr="mao-1"/>
          <p:cNvSpPr>
            <a:spLocks noChangeAspect="1" noChangeArrowheads="1"/>
          </p:cNvSpPr>
          <p:nvPr userDrawn="1"/>
        </p:nvSpPr>
        <p:spPr bwMode="auto">
          <a:xfrm>
            <a:off x="7107238" y="4967288"/>
            <a:ext cx="969962" cy="900112"/>
          </a:xfrm>
          <a:prstGeom prst="rect">
            <a:avLst/>
          </a:prstGeom>
          <a:blipFill dpi="0" rotWithShape="1">
            <a:blip r:embed="rId8"/>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 name="Rectangle 19" descr="xiaoxun-1"/>
          <p:cNvSpPr>
            <a:spLocks noChangeAspect="1" noChangeArrowheads="1"/>
          </p:cNvSpPr>
          <p:nvPr userDrawn="1"/>
        </p:nvSpPr>
        <p:spPr bwMode="auto">
          <a:xfrm>
            <a:off x="8153402" y="5943608"/>
            <a:ext cx="969963" cy="900113"/>
          </a:xfrm>
          <a:prstGeom prst="rect">
            <a:avLst/>
          </a:prstGeom>
          <a:blipFill dpi="0" rotWithShape="1">
            <a:blip r:embed="rId9"/>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6" name="Line 26"/>
          <p:cNvSpPr>
            <a:spLocks noChangeShapeType="1"/>
          </p:cNvSpPr>
          <p:nvPr userDrawn="1"/>
        </p:nvSpPr>
        <p:spPr bwMode="auto">
          <a:xfrm>
            <a:off x="0" y="36576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7" name="Line 27"/>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8" name="Rectangle 29"/>
          <p:cNvSpPr>
            <a:spLocks noChangeArrowheads="1"/>
          </p:cNvSpPr>
          <p:nvPr userDrawn="1"/>
        </p:nvSpPr>
        <p:spPr bwMode="auto">
          <a:xfrm>
            <a:off x="2"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9" name="Rectangle 33"/>
          <p:cNvSpPr>
            <a:spLocks noChangeArrowheads="1"/>
          </p:cNvSpPr>
          <p:nvPr userDrawn="1"/>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20" name="Picture 31"/>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905000" y="1219200"/>
            <a:ext cx="5562600"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Line 34"/>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defTabSz="685800" fontAlgn="base">
              <a:spcBef>
                <a:spcPct val="0"/>
              </a:spcBef>
              <a:spcAft>
                <a:spcPct val="0"/>
              </a:spcAft>
              <a:defRPr/>
            </a:pPr>
            <a:endParaRPr lang="en-US" altLang="x-none">
              <a:solidFill>
                <a:srgbClr val="000000"/>
              </a:solidFill>
            </a:endParaRPr>
          </a:p>
        </p:txBody>
      </p:sp>
      <p:sp>
        <p:nvSpPr>
          <p:cNvPr id="5" name="Footer Placeholder 4"/>
          <p:cNvSpPr>
            <a:spLocks noGrp="1"/>
          </p:cNvSpPr>
          <p:nvPr>
            <p:ph type="ftr" sz="quarter" idx="11"/>
          </p:nvPr>
        </p:nvSpPr>
        <p:spPr/>
        <p:txBody>
          <a:bodyPr/>
          <a:lstStyle/>
          <a:p>
            <a:pPr defTabSz="685800" fontAlgn="base">
              <a:spcBef>
                <a:spcPct val="0"/>
              </a:spcBef>
              <a:spcAft>
                <a:spcPct val="0"/>
              </a:spcAft>
              <a:defRPr/>
            </a:pPr>
            <a:r>
              <a:rPr lang="zh-CN" altLang="en-US">
                <a:solidFill>
                  <a:srgbClr val="000000"/>
                </a:solidFill>
              </a:rPr>
              <a:t>第</a:t>
            </a:r>
            <a:r>
              <a:rPr lang="en-US" altLang="x-none">
                <a:solidFill>
                  <a:srgbClr val="000000"/>
                </a:solidFill>
              </a:rPr>
              <a:t>1</a:t>
            </a:r>
            <a:r>
              <a:rPr lang="zh-CN" altLang="en-US">
                <a:solidFill>
                  <a:srgbClr val="000000"/>
                </a:solidFill>
              </a:rPr>
              <a:t>页</a:t>
            </a:r>
            <a:endParaRPr lang="en-US" altLang="x-none">
              <a:solidFill>
                <a:srgbClr val="000000"/>
              </a:solidFill>
              <a:latin typeface="Arial" panose="020B0604020202020204" pitchFamily="34" charset="0"/>
              <a:ea typeface="宋体" panose="02010600030101010101" pitchFamily="2" charset="-122"/>
            </a:endParaRPr>
          </a:p>
        </p:txBody>
      </p:sp>
      <p:sp>
        <p:nvSpPr>
          <p:cNvPr id="6" name="Slide Number Placeholder 5"/>
          <p:cNvSpPr>
            <a:spLocks noGrp="1"/>
          </p:cNvSpPr>
          <p:nvPr>
            <p:ph type="sldNum" sz="quarter" idx="12"/>
          </p:nvPr>
        </p:nvSpPr>
        <p:spPr/>
        <p:txBody>
          <a:bodyPr/>
          <a:lstStyle/>
          <a:p>
            <a:pPr defTabSz="685800" fontAlgn="base">
              <a:spcBef>
                <a:spcPct val="0"/>
              </a:spcBef>
              <a:spcAft>
                <a:spcPct val="0"/>
              </a:spcAft>
              <a:defRPr/>
            </a:pPr>
            <a:fld id="{39866882-FADF-42D6-8B18-8E28A5DD326B}" type="slidenum">
              <a:rPr lang="en-US" altLang="x-none" smtClean="0">
                <a:solidFill>
                  <a:srgbClr val="000000"/>
                </a:solidFill>
              </a:rPr>
              <a:t>‹#›</a:t>
            </a:fld>
            <a:endParaRPr lang="en-US" altLang="x-none">
              <a:solidFill>
                <a:srgbClr val="000000"/>
              </a:solidFill>
              <a:latin typeface="Arial" panose="020B0604020202020204" pitchFamily="34" charset="0"/>
              <a:ea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image" Target="../media/image2.jpeg"/><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image" Target="../media/image2.jpeg"/><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4.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theme" Target="../theme/theme5.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theme" Target="../theme/theme6.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image" Target="../media/image3.png"/><Relationship Id="rId18" Type="http://schemas.openxmlformats.org/officeDocument/2006/relationships/image" Target="../media/image8.jpeg"/><Relationship Id="rId3" Type="http://schemas.openxmlformats.org/officeDocument/2006/relationships/slideLayout" Target="../slideLayouts/slideLayout72.xml"/><Relationship Id="rId21" Type="http://schemas.openxmlformats.org/officeDocument/2006/relationships/image" Target="../media/image11.png"/><Relationship Id="rId7" Type="http://schemas.openxmlformats.org/officeDocument/2006/relationships/slideLayout" Target="../slideLayouts/slideLayout76.xml"/><Relationship Id="rId12" Type="http://schemas.openxmlformats.org/officeDocument/2006/relationships/theme" Target="../theme/theme7.xml"/><Relationship Id="rId17" Type="http://schemas.openxmlformats.org/officeDocument/2006/relationships/image" Target="../media/image7.jpeg"/><Relationship Id="rId2" Type="http://schemas.openxmlformats.org/officeDocument/2006/relationships/slideLayout" Target="../slideLayouts/slideLayout71.xml"/><Relationship Id="rId16" Type="http://schemas.openxmlformats.org/officeDocument/2006/relationships/image" Target="../media/image6.jpeg"/><Relationship Id="rId20" Type="http://schemas.openxmlformats.org/officeDocument/2006/relationships/image" Target="../media/image10.jpeg"/><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image" Target="../media/image5.jpeg"/><Relationship Id="rId10" Type="http://schemas.openxmlformats.org/officeDocument/2006/relationships/slideLayout" Target="../slideLayouts/slideLayout79.xml"/><Relationship Id="rId19" Type="http://schemas.openxmlformats.org/officeDocument/2006/relationships/image" Target="../media/image9.jpeg"/><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3"/>
          <a:srcRect/>
          <a:stretch>
            <a:fillRect/>
          </a:stretch>
        </p:blipFill>
        <p:spPr bwMode="auto">
          <a:xfrm>
            <a:off x="0" y="0"/>
            <a:ext cx="1552575" cy="1333500"/>
          </a:xfrm>
          <a:prstGeom prst="rect">
            <a:avLst/>
          </a:prstGeom>
          <a:noFill/>
          <a:ln w="9525">
            <a:noFill/>
            <a:miter lim="800000"/>
            <a:headEnd/>
            <a:tailEnd/>
          </a:ln>
        </p:spPr>
      </p:pic>
      <p:sp>
        <p:nvSpPr>
          <p:cNvPr id="1027" name="Freeform 3"/>
          <p:cNvSpPr/>
          <p:nvPr/>
        </p:nvSpPr>
        <p:spPr bwMode="auto">
          <a:xfrm>
            <a:off x="1588" y="914400"/>
            <a:ext cx="1219200" cy="4838700"/>
          </a:xfrm>
          <a:custGeom>
            <a:avLst/>
            <a:gdLst>
              <a:gd name="T0" fmla="*/ 2147483647 w 768"/>
              <a:gd name="T1" fmla="*/ 2147483647 h 2856"/>
              <a:gd name="T2" fmla="*/ 2147483647 w 768"/>
              <a:gd name="T3" fmla="*/ 2147483647 h 2856"/>
              <a:gd name="T4" fmla="*/ 0 w 768"/>
              <a:gd name="T5" fmla="*/ 2147483647 h 2856"/>
              <a:gd name="T6" fmla="*/ 0 w 768"/>
              <a:gd name="T7" fmla="*/ 2147483647 h 2856"/>
              <a:gd name="T8" fmla="*/ 2147483647 w 768"/>
              <a:gd name="T9" fmla="*/ 0 h 2856"/>
              <a:gd name="T10" fmla="*/ 2147483647 w 768"/>
              <a:gd name="T11" fmla="*/ 2147483647 h 28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68" h="2856">
                <a:moveTo>
                  <a:pt x="619" y="1461"/>
                </a:moveTo>
                <a:cubicBezTo>
                  <a:pt x="635" y="2144"/>
                  <a:pt x="683" y="2331"/>
                  <a:pt x="760" y="2856"/>
                </a:cubicBezTo>
                <a:lnTo>
                  <a:pt x="0" y="2856"/>
                </a:lnTo>
                <a:lnTo>
                  <a:pt x="0" y="1"/>
                </a:lnTo>
                <a:lnTo>
                  <a:pt x="768" y="0"/>
                </a:lnTo>
                <a:cubicBezTo>
                  <a:pt x="736" y="196"/>
                  <a:pt x="635" y="672"/>
                  <a:pt x="619" y="1461"/>
                </a:cubicBezTo>
                <a:close/>
              </a:path>
            </a:pathLst>
          </a:custGeom>
          <a:gradFill rotWithShape="0">
            <a:gsLst>
              <a:gs pos="0">
                <a:srgbClr val="7C7EAC"/>
              </a:gs>
              <a:gs pos="100000">
                <a:schemeClr val="bg1"/>
              </a:gs>
            </a:gsLst>
            <a:lin ang="5400000" scaled="1"/>
          </a:gradFill>
          <a:ln w="9525" cap="flat" cmpd="sng">
            <a:noFill/>
            <a:prstDash val="solid"/>
            <a:round/>
          </a:ln>
          <a:effectLst/>
        </p:spPr>
        <p:txBody>
          <a:bodyPr wrap="none" anchor="ctr"/>
          <a:lstStyle/>
          <a:p>
            <a:endParaRPr lang="zh-CN" altLang="en-US"/>
          </a:p>
        </p:txBody>
      </p:sp>
      <p:sp>
        <p:nvSpPr>
          <p:cNvPr id="1028" name="Rectangle 4"/>
          <p:cNvSpPr>
            <a:spLocks noGrp="1" noChangeArrowheads="1"/>
          </p:cNvSpPr>
          <p:nvPr>
            <p:ph type="title"/>
          </p:nvPr>
        </p:nvSpPr>
        <p:spPr bwMode="auto">
          <a:xfrm>
            <a:off x="762000" y="304800"/>
            <a:ext cx="7772400" cy="685800"/>
          </a:xfrm>
          <a:prstGeom prst="rect">
            <a:avLst/>
          </a:prstGeom>
          <a:noFill/>
          <a:ln w="9525">
            <a:noFill/>
            <a:miter lim="800000"/>
          </a:ln>
          <a:effectLst/>
        </p:spPr>
        <p:txBody>
          <a:bodyPr vert="horz" wrap="square" lIns="91440" tIns="45720" rIns="91440" bIns="45720" numCol="1" anchor="ctr" anchorCtr="0" compatLnSpc="1"/>
          <a:lstStyle/>
          <a:p>
            <a:pPr lvl="0"/>
            <a:r>
              <a:rPr lang="zh-CN" altLang="en-US"/>
              <a:t>单击此处编辑母版标题样式</a:t>
            </a:r>
          </a:p>
        </p:txBody>
      </p:sp>
      <p:sp>
        <p:nvSpPr>
          <p:cNvPr id="1029" name="Rectangle 5"/>
          <p:cNvSpPr>
            <a:spLocks noGrp="1" noChangeArrowheads="1"/>
          </p:cNvSpPr>
          <p:nvPr>
            <p:ph type="body" idx="1"/>
          </p:nvPr>
        </p:nvSpPr>
        <p:spPr bwMode="auto">
          <a:xfrm>
            <a:off x="762000" y="1219200"/>
            <a:ext cx="7772400" cy="4876800"/>
          </a:xfrm>
          <a:prstGeom prst="rect">
            <a:avLst/>
          </a:prstGeom>
          <a:noFill/>
          <a:ln w="9525">
            <a:noFill/>
            <a:miter lim="800000"/>
          </a:ln>
          <a:effec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200" b="1">
          <a:solidFill>
            <a:srgbClr val="FF6600"/>
          </a:solidFill>
          <a:latin typeface="+mj-lt"/>
          <a:ea typeface="+mj-ea"/>
          <a:cs typeface="+mj-cs"/>
        </a:defRPr>
      </a:lvl1pPr>
      <a:lvl2pPr algn="ctr" rtl="0" eaLnBrk="0" fontAlgn="base" hangingPunct="0">
        <a:spcBef>
          <a:spcPct val="0"/>
        </a:spcBef>
        <a:spcAft>
          <a:spcPct val="0"/>
        </a:spcAft>
        <a:defRPr sz="3200" b="1">
          <a:solidFill>
            <a:srgbClr val="FF6600"/>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3200" b="1">
          <a:solidFill>
            <a:srgbClr val="FF6600"/>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3200" b="1">
          <a:solidFill>
            <a:srgbClr val="FF6600"/>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3200" b="1">
          <a:solidFill>
            <a:srgbClr val="FF6600"/>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3200" b="1">
          <a:solidFill>
            <a:srgbClr val="FF6600"/>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3200" b="1">
          <a:solidFill>
            <a:srgbClr val="FF6600"/>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3200" b="1">
          <a:solidFill>
            <a:srgbClr val="FF6600"/>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3200" b="1">
          <a:solidFill>
            <a:srgbClr val="FF66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Font typeface="Wingdings" panose="05000000000000000000" pitchFamily="2" charset="2"/>
        <a:buChar char="v"/>
        <a:defRPr sz="2000" b="1">
          <a:solidFill>
            <a:srgbClr val="3366CC"/>
          </a:solidFill>
          <a:latin typeface="+mn-lt"/>
          <a:ea typeface="+mn-ea"/>
          <a:cs typeface="+mn-cs"/>
        </a:defRPr>
      </a:lvl1pPr>
      <a:lvl2pPr marL="742950" indent="-285750" algn="l" rtl="0" eaLnBrk="0" fontAlgn="base" hangingPunct="0">
        <a:spcBef>
          <a:spcPct val="20000"/>
        </a:spcBef>
        <a:spcAft>
          <a:spcPct val="0"/>
        </a:spcAft>
        <a:buFont typeface="Wingdings" panose="05000000000000000000" pitchFamily="2" charset="2"/>
        <a:buChar char="q"/>
        <a:defRPr b="1">
          <a:solidFill>
            <a:srgbClr val="3366CC"/>
          </a:solidFill>
          <a:latin typeface="+mn-lt"/>
          <a:ea typeface="+mn-ea"/>
        </a:defRPr>
      </a:lvl2pPr>
      <a:lvl3pPr marL="1143000" indent="-228600" algn="l" rtl="0" eaLnBrk="0" fontAlgn="base" hangingPunct="0">
        <a:spcBef>
          <a:spcPct val="20000"/>
        </a:spcBef>
        <a:spcAft>
          <a:spcPct val="0"/>
        </a:spcAft>
        <a:buFont typeface="Wingdings" panose="05000000000000000000" pitchFamily="2" charset="2"/>
        <a:buChar char="§"/>
        <a:defRPr sz="1600" b="1">
          <a:solidFill>
            <a:srgbClr val="3366CC"/>
          </a:solidFill>
          <a:latin typeface="+mn-lt"/>
          <a:ea typeface="+mn-ea"/>
        </a:defRPr>
      </a:lvl3pPr>
      <a:lvl4pPr marL="1600200" indent="-228600" algn="l" rtl="0" eaLnBrk="0" fontAlgn="base" hangingPunct="0">
        <a:spcBef>
          <a:spcPct val="20000"/>
        </a:spcBef>
        <a:spcAft>
          <a:spcPct val="0"/>
        </a:spcAft>
        <a:buChar char="–"/>
        <a:defRPr sz="1400" b="1">
          <a:solidFill>
            <a:srgbClr val="3366CC"/>
          </a:solidFill>
          <a:latin typeface="+mn-lt"/>
          <a:ea typeface="+mn-ea"/>
        </a:defRPr>
      </a:lvl4pPr>
      <a:lvl5pPr marL="2057400" indent="-228600" algn="l" rtl="0" eaLnBrk="0" fontAlgn="base" hangingPunct="0">
        <a:spcBef>
          <a:spcPct val="20000"/>
        </a:spcBef>
        <a:spcAft>
          <a:spcPct val="0"/>
        </a:spcAft>
        <a:defRPr sz="1200" b="1">
          <a:solidFill>
            <a:srgbClr val="3366CC"/>
          </a:solidFill>
          <a:latin typeface="+mn-lt"/>
          <a:ea typeface="+mn-ea"/>
        </a:defRPr>
      </a:lvl5pPr>
      <a:lvl6pPr marL="2514600" indent="-228600" algn="l" rtl="0" fontAlgn="base">
        <a:spcBef>
          <a:spcPct val="20000"/>
        </a:spcBef>
        <a:spcAft>
          <a:spcPct val="0"/>
        </a:spcAft>
        <a:defRPr sz="1200" b="1">
          <a:solidFill>
            <a:srgbClr val="3366CC"/>
          </a:solidFill>
          <a:latin typeface="+mn-lt"/>
          <a:ea typeface="+mn-ea"/>
        </a:defRPr>
      </a:lvl6pPr>
      <a:lvl7pPr marL="2971800" indent="-228600" algn="l" rtl="0" fontAlgn="base">
        <a:spcBef>
          <a:spcPct val="20000"/>
        </a:spcBef>
        <a:spcAft>
          <a:spcPct val="0"/>
        </a:spcAft>
        <a:defRPr sz="1200" b="1">
          <a:solidFill>
            <a:srgbClr val="3366CC"/>
          </a:solidFill>
          <a:latin typeface="+mn-lt"/>
          <a:ea typeface="+mn-ea"/>
        </a:defRPr>
      </a:lvl7pPr>
      <a:lvl8pPr marL="3429000" indent="-228600" algn="l" rtl="0" fontAlgn="base">
        <a:spcBef>
          <a:spcPct val="20000"/>
        </a:spcBef>
        <a:spcAft>
          <a:spcPct val="0"/>
        </a:spcAft>
        <a:defRPr sz="1200" b="1">
          <a:solidFill>
            <a:srgbClr val="3366CC"/>
          </a:solidFill>
          <a:latin typeface="+mn-lt"/>
          <a:ea typeface="+mn-ea"/>
        </a:defRPr>
      </a:lvl8pPr>
      <a:lvl9pPr marL="3886200" indent="-228600" algn="l" rtl="0" fontAlgn="base">
        <a:spcBef>
          <a:spcPct val="20000"/>
        </a:spcBef>
        <a:spcAft>
          <a:spcPct val="0"/>
        </a:spcAft>
        <a:defRPr sz="1200" b="1">
          <a:solidFill>
            <a:srgbClr val="3366CC"/>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Line 8"/>
          <p:cNvSpPr>
            <a:spLocks noChangeShapeType="1"/>
          </p:cNvSpPr>
          <p:nvPr/>
        </p:nvSpPr>
        <p:spPr bwMode="auto">
          <a:xfrm>
            <a:off x="457200" y="920750"/>
            <a:ext cx="8077200" cy="0"/>
          </a:xfrm>
          <a:prstGeom prst="line">
            <a:avLst/>
          </a:prstGeom>
          <a:noFill/>
          <a:ln w="19050">
            <a:solidFill>
              <a:schemeClr val="tx2"/>
            </a:solidFill>
            <a:round/>
          </a:ln>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spd="slow"/>
  <p:txStyles>
    <p:titleStyle>
      <a:lvl1pPr algn="l" rtl="0" eaLnBrk="0" fontAlgn="base" hangingPunct="0">
        <a:spcBef>
          <a:spcPct val="0"/>
        </a:spcBef>
        <a:spcAft>
          <a:spcPct val="0"/>
        </a:spcAft>
        <a:defRPr sz="4000" b="1">
          <a:solidFill>
            <a:schemeClr val="tx1"/>
          </a:solidFill>
          <a:latin typeface="+mj-lt"/>
          <a:ea typeface="+mj-ea"/>
          <a:cs typeface="+mj-cs"/>
        </a:defRPr>
      </a:lvl1pPr>
      <a:lvl2pPr algn="l" rtl="0" eaLnBrk="0" fontAlgn="base" hangingPunct="0">
        <a:spcBef>
          <a:spcPct val="0"/>
        </a:spcBef>
        <a:spcAft>
          <a:spcPct val="0"/>
        </a:spcAft>
        <a:defRPr sz="4000" b="1">
          <a:solidFill>
            <a:schemeClr val="tx1"/>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4000" b="1">
          <a:solidFill>
            <a:schemeClr val="tx1"/>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4000" b="1">
          <a:solidFill>
            <a:schemeClr val="tx1"/>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4000" b="1">
          <a:solidFill>
            <a:schemeClr val="tx1"/>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4000" b="1">
          <a:solidFill>
            <a:schemeClr val="tx1"/>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4000" b="1">
          <a:solidFill>
            <a:schemeClr val="tx1"/>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4000" b="1">
          <a:solidFill>
            <a:schemeClr val="tx1"/>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4000" b="1">
          <a:solidFill>
            <a:schemeClr val="tx1"/>
          </a:solidFill>
          <a:latin typeface="Garamond" panose="02020404030301010803"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800">
          <a:solidFill>
            <a:srgbClr val="336600"/>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400">
          <a:solidFill>
            <a:schemeClr val="folHlink"/>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Line 8"/>
          <p:cNvSpPr>
            <a:spLocks noChangeShapeType="1"/>
          </p:cNvSpPr>
          <p:nvPr/>
        </p:nvSpPr>
        <p:spPr bwMode="auto">
          <a:xfrm>
            <a:off x="457200" y="920750"/>
            <a:ext cx="8077200" cy="0"/>
          </a:xfrm>
          <a:prstGeom prst="line">
            <a:avLst/>
          </a:prstGeom>
          <a:noFill/>
          <a:ln w="19050">
            <a:solidFill>
              <a:schemeClr val="tx2"/>
            </a:solidFill>
            <a:round/>
          </a:ln>
        </p:spPr>
        <p:txBody>
          <a:bodyPr/>
          <a:lstStyle/>
          <a:p>
            <a:endParaRPr lang="zh-CN" altLang="en-US"/>
          </a:p>
        </p:txBody>
      </p:sp>
      <p:sp>
        <p:nvSpPr>
          <p:cNvPr id="1030" name="Text Box 21"/>
          <p:cNvSpPr txBox="1">
            <a:spLocks noChangeArrowheads="1"/>
          </p:cNvSpPr>
          <p:nvPr/>
        </p:nvSpPr>
        <p:spPr bwMode="auto">
          <a:xfrm>
            <a:off x="4329113" y="6465888"/>
            <a:ext cx="436562" cy="290512"/>
          </a:xfrm>
          <a:prstGeom prst="rect">
            <a:avLst/>
          </a:prstGeom>
          <a:noFill/>
          <a:ln>
            <a:noFill/>
          </a:ln>
        </p:spPr>
        <p:txBody>
          <a:bodyPr>
            <a:spAutoFit/>
          </a:bodyPr>
          <a:lstStyle>
            <a:lvl1pPr eaLnBrk="0" hangingPunct="0">
              <a:defRPr kumimoji="1" sz="1600" b="1">
                <a:solidFill>
                  <a:schemeClr val="folHlink"/>
                </a:solidFill>
                <a:latin typeface="黑体" panose="02010609060101010101" pitchFamily="2" charset="-122"/>
                <a:ea typeface="黑体" panose="02010609060101010101" pitchFamily="2" charset="-122"/>
              </a:defRPr>
            </a:lvl1pPr>
            <a:lvl2pPr marL="742950" indent="-285750" eaLnBrk="0" hangingPunct="0">
              <a:defRPr kumimoji="1" sz="1600" b="1">
                <a:solidFill>
                  <a:schemeClr val="folHlink"/>
                </a:solidFill>
                <a:latin typeface="黑体" panose="02010609060101010101" pitchFamily="2" charset="-122"/>
                <a:ea typeface="黑体" panose="02010609060101010101" pitchFamily="2" charset="-122"/>
              </a:defRPr>
            </a:lvl2pPr>
            <a:lvl3pPr marL="1143000" indent="-228600" eaLnBrk="0" hangingPunct="0">
              <a:defRPr kumimoji="1" sz="1600" b="1">
                <a:solidFill>
                  <a:schemeClr val="folHlink"/>
                </a:solidFill>
                <a:latin typeface="黑体" panose="02010609060101010101" pitchFamily="2" charset="-122"/>
                <a:ea typeface="黑体" panose="02010609060101010101" pitchFamily="2" charset="-122"/>
              </a:defRPr>
            </a:lvl3pPr>
            <a:lvl4pPr marL="1600200" indent="-228600" eaLnBrk="0" hangingPunct="0">
              <a:defRPr kumimoji="1" sz="1600" b="1">
                <a:solidFill>
                  <a:schemeClr val="folHlink"/>
                </a:solidFill>
                <a:latin typeface="黑体" panose="02010609060101010101" pitchFamily="2" charset="-122"/>
                <a:ea typeface="黑体" panose="02010609060101010101" pitchFamily="2" charset="-122"/>
              </a:defRPr>
            </a:lvl4pPr>
            <a:lvl5pPr marL="2057400" indent="-228600" eaLnBrk="0" hangingPunct="0">
              <a:defRPr kumimoji="1" sz="1600" b="1">
                <a:solidFill>
                  <a:schemeClr val="folHlink"/>
                </a:solidFill>
                <a:latin typeface="黑体" panose="02010609060101010101" pitchFamily="2" charset="-122"/>
                <a:ea typeface="黑体" panose="02010609060101010101" pitchFamily="2" charset="-122"/>
              </a:defRPr>
            </a:lvl5pPr>
            <a:lvl6pPr marL="2514600" indent="-228600" eaLnBrk="0" fontAlgn="base" hangingPunct="0">
              <a:spcBef>
                <a:spcPct val="0"/>
              </a:spcBef>
              <a:spcAft>
                <a:spcPct val="0"/>
              </a:spcAft>
              <a:defRPr kumimoji="1" sz="1600" b="1">
                <a:solidFill>
                  <a:schemeClr val="folHlink"/>
                </a:solidFill>
                <a:latin typeface="黑体" panose="02010609060101010101" pitchFamily="2" charset="-122"/>
                <a:ea typeface="黑体" panose="02010609060101010101" pitchFamily="2" charset="-122"/>
              </a:defRPr>
            </a:lvl6pPr>
            <a:lvl7pPr marL="2971800" indent="-228600" eaLnBrk="0" fontAlgn="base" hangingPunct="0">
              <a:spcBef>
                <a:spcPct val="0"/>
              </a:spcBef>
              <a:spcAft>
                <a:spcPct val="0"/>
              </a:spcAft>
              <a:defRPr kumimoji="1" sz="1600" b="1">
                <a:solidFill>
                  <a:schemeClr val="folHlink"/>
                </a:solidFill>
                <a:latin typeface="黑体" panose="02010609060101010101" pitchFamily="2" charset="-122"/>
                <a:ea typeface="黑体" panose="02010609060101010101" pitchFamily="2" charset="-122"/>
              </a:defRPr>
            </a:lvl7pPr>
            <a:lvl8pPr marL="3429000" indent="-228600" eaLnBrk="0" fontAlgn="base" hangingPunct="0">
              <a:spcBef>
                <a:spcPct val="0"/>
              </a:spcBef>
              <a:spcAft>
                <a:spcPct val="0"/>
              </a:spcAft>
              <a:defRPr kumimoji="1" sz="1600" b="1">
                <a:solidFill>
                  <a:schemeClr val="folHlink"/>
                </a:solidFill>
                <a:latin typeface="黑体" panose="02010609060101010101" pitchFamily="2" charset="-122"/>
                <a:ea typeface="黑体" panose="02010609060101010101" pitchFamily="2" charset="-122"/>
              </a:defRPr>
            </a:lvl8pPr>
            <a:lvl9pPr marL="3886200" indent="-228600" eaLnBrk="0" fontAlgn="base" hangingPunct="0">
              <a:spcBef>
                <a:spcPct val="0"/>
              </a:spcBef>
              <a:spcAft>
                <a:spcPct val="0"/>
              </a:spcAft>
              <a:defRPr kumimoji="1" sz="1600" b="1">
                <a:solidFill>
                  <a:schemeClr val="folHlink"/>
                </a:solidFill>
                <a:latin typeface="黑体" panose="02010609060101010101" pitchFamily="2" charset="-122"/>
                <a:ea typeface="黑体" panose="02010609060101010101" pitchFamily="2" charset="-122"/>
              </a:defRPr>
            </a:lvl9pPr>
          </a:lstStyle>
          <a:p>
            <a:pPr eaLnBrk="1" hangingPunct="1">
              <a:defRPr/>
            </a:pPr>
            <a:fld id="{049B564E-0B73-4E53-9544-126FC7B95D79}" type="slidenum">
              <a:rPr lang="en-US" altLang="zh-CN" sz="1300" smtClean="0">
                <a:solidFill>
                  <a:srgbClr val="009900"/>
                </a:solidFill>
                <a:latin typeface="Times New Roman" panose="02020603050405020304" pitchFamily="18" charset="0"/>
                <a:ea typeface="宋体" panose="02010600030101010101" pitchFamily="2" charset="-122"/>
              </a:rPr>
              <a:t>‹#›</a:t>
            </a:fld>
            <a:endParaRPr lang="en-US" altLang="zh-CN" sz="1300">
              <a:solidFill>
                <a:srgbClr val="009900"/>
              </a:solidFill>
              <a:latin typeface="Times New Roman" panose="02020603050405020304" pitchFamily="18" charset="0"/>
              <a:ea typeface="宋体" panose="02010600030101010101" pitchFamily="2" charset="-122"/>
            </a:endParaRPr>
          </a:p>
        </p:txBody>
      </p:sp>
      <p:sp>
        <p:nvSpPr>
          <p:cNvPr id="3078" name="Rectangle 2"/>
          <p:cNvSpPr>
            <a:spLocks noGrp="1" noChangeArrowheads="1"/>
          </p:cNvSpPr>
          <p:nvPr>
            <p:ph type="title"/>
          </p:nvPr>
        </p:nvSpPr>
        <p:spPr bwMode="auto">
          <a:xfrm>
            <a:off x="304800" y="187333"/>
            <a:ext cx="8229600" cy="757238"/>
          </a:xfrm>
          <a:prstGeom prst="rect">
            <a:avLst/>
          </a:prstGeom>
          <a:noFill/>
          <a:ln w="9525">
            <a:noFill/>
            <a:miter lim="800000"/>
          </a:ln>
        </p:spPr>
        <p:txBody>
          <a:bodyPr vert="horz" wrap="square" lIns="91440" tIns="45720" rIns="91440" bIns="45720" numCol="1" anchor="b" anchorCtr="0" compatLnSpc="1"/>
          <a:lstStyle/>
          <a:p>
            <a:pPr lvl="0"/>
            <a:r>
              <a:rPr lang="zh-CN" altLang="en-US" dirty="0"/>
              <a:t>单击此处编辑母版标题样式</a:t>
            </a:r>
          </a:p>
        </p:txBody>
      </p:sp>
      <p:sp>
        <p:nvSpPr>
          <p:cNvPr id="3079" name="Rectangle 3"/>
          <p:cNvSpPr>
            <a:spLocks noGrp="1" noChangeArrowheads="1"/>
          </p:cNvSpPr>
          <p:nvPr>
            <p:ph type="body" idx="1"/>
          </p:nvPr>
        </p:nvSpPr>
        <p:spPr bwMode="auto">
          <a:xfrm>
            <a:off x="457200" y="1244414"/>
            <a:ext cx="8229600" cy="4530725"/>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8" name="Picture 7" descr="C:\Users\luye\Desktop\未标题-1.jpg"/>
          <p:cNvPicPr>
            <a:picLocks noChangeAspect="1" noChangeArrowheads="1"/>
          </p:cNvPicPr>
          <p:nvPr userDrawn="1"/>
        </p:nvPicPr>
        <p:blipFill>
          <a:blip r:embed="rId15"/>
          <a:srcRect/>
          <a:stretch>
            <a:fillRect/>
          </a:stretch>
        </p:blipFill>
        <p:spPr bwMode="auto">
          <a:xfrm>
            <a:off x="5745565" y="6023291"/>
            <a:ext cx="3146188" cy="725171"/>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transition spd="slow"/>
  <p:txStyles>
    <p:titleStyle>
      <a:lvl1pPr algn="l" rtl="0" eaLnBrk="0" fontAlgn="base" hangingPunct="0">
        <a:spcBef>
          <a:spcPct val="0"/>
        </a:spcBef>
        <a:spcAft>
          <a:spcPct val="0"/>
        </a:spcAft>
        <a:defRPr sz="3600" b="1">
          <a:solidFill>
            <a:schemeClr val="tx1"/>
          </a:solidFill>
          <a:latin typeface="+mn-ea"/>
          <a:ea typeface="+mn-ea"/>
          <a:cs typeface="+mj-cs"/>
        </a:defRPr>
      </a:lvl1pPr>
      <a:lvl2pPr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2pPr>
      <a:lvl3pPr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3pPr>
      <a:lvl4pPr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4pPr>
      <a:lvl5pPr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5pPr>
      <a:lvl6pPr marL="457200"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6pPr>
      <a:lvl7pPr marL="914400"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7pPr>
      <a:lvl8pPr marL="1371600"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8pPr>
      <a:lvl9pPr marL="1828800"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24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400">
          <a:solidFill>
            <a:srgbClr val="336600"/>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400">
          <a:solidFill>
            <a:schemeClr val="folHlink"/>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4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400">
          <a:solidFill>
            <a:schemeClr val="tx1"/>
          </a:solidFill>
          <a:latin typeface="+mn-lt"/>
          <a:ea typeface="+mn-ea"/>
        </a:defRPr>
      </a:lvl5pPr>
      <a:lvl6pPr marL="25146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Line 8"/>
          <p:cNvSpPr>
            <a:spLocks noChangeShapeType="1"/>
          </p:cNvSpPr>
          <p:nvPr/>
        </p:nvSpPr>
        <p:spPr bwMode="auto">
          <a:xfrm>
            <a:off x="457200" y="920750"/>
            <a:ext cx="8077200" cy="0"/>
          </a:xfrm>
          <a:prstGeom prst="line">
            <a:avLst/>
          </a:prstGeom>
          <a:noFill/>
          <a:ln w="19050">
            <a:solidFill>
              <a:schemeClr val="tx2"/>
            </a:solidFill>
            <a:round/>
          </a:ln>
        </p:spPr>
        <p:txBody>
          <a:bodyPr/>
          <a:lstStyle/>
          <a:p>
            <a:endParaRPr lang="zh-CN" altLang="en-US"/>
          </a:p>
        </p:txBody>
      </p:sp>
      <p:sp>
        <p:nvSpPr>
          <p:cNvPr id="1030" name="Text Box 21"/>
          <p:cNvSpPr txBox="1">
            <a:spLocks noChangeArrowheads="1"/>
          </p:cNvSpPr>
          <p:nvPr/>
        </p:nvSpPr>
        <p:spPr bwMode="auto">
          <a:xfrm>
            <a:off x="4329113" y="6465888"/>
            <a:ext cx="436562" cy="290512"/>
          </a:xfrm>
          <a:prstGeom prst="rect">
            <a:avLst/>
          </a:prstGeom>
          <a:noFill/>
          <a:ln>
            <a:noFill/>
          </a:ln>
        </p:spPr>
        <p:txBody>
          <a:bodyPr>
            <a:spAutoFit/>
          </a:bodyPr>
          <a:lstStyle>
            <a:lvl1pPr eaLnBrk="0" hangingPunct="0">
              <a:defRPr kumimoji="1" sz="1600" b="1">
                <a:solidFill>
                  <a:schemeClr val="folHlink"/>
                </a:solidFill>
                <a:latin typeface="黑体" panose="02010609060101010101" pitchFamily="2" charset="-122"/>
                <a:ea typeface="黑体" panose="02010609060101010101" pitchFamily="2" charset="-122"/>
              </a:defRPr>
            </a:lvl1pPr>
            <a:lvl2pPr marL="742950" indent="-285750" eaLnBrk="0" hangingPunct="0">
              <a:defRPr kumimoji="1" sz="1600" b="1">
                <a:solidFill>
                  <a:schemeClr val="folHlink"/>
                </a:solidFill>
                <a:latin typeface="黑体" panose="02010609060101010101" pitchFamily="2" charset="-122"/>
                <a:ea typeface="黑体" panose="02010609060101010101" pitchFamily="2" charset="-122"/>
              </a:defRPr>
            </a:lvl2pPr>
            <a:lvl3pPr marL="1143000" indent="-228600" eaLnBrk="0" hangingPunct="0">
              <a:defRPr kumimoji="1" sz="1600" b="1">
                <a:solidFill>
                  <a:schemeClr val="folHlink"/>
                </a:solidFill>
                <a:latin typeface="黑体" panose="02010609060101010101" pitchFamily="2" charset="-122"/>
                <a:ea typeface="黑体" panose="02010609060101010101" pitchFamily="2" charset="-122"/>
              </a:defRPr>
            </a:lvl3pPr>
            <a:lvl4pPr marL="1600200" indent="-228600" eaLnBrk="0" hangingPunct="0">
              <a:defRPr kumimoji="1" sz="1600" b="1">
                <a:solidFill>
                  <a:schemeClr val="folHlink"/>
                </a:solidFill>
                <a:latin typeface="黑体" panose="02010609060101010101" pitchFamily="2" charset="-122"/>
                <a:ea typeface="黑体" panose="02010609060101010101" pitchFamily="2" charset="-122"/>
              </a:defRPr>
            </a:lvl4pPr>
            <a:lvl5pPr marL="2057400" indent="-228600" eaLnBrk="0" hangingPunct="0">
              <a:defRPr kumimoji="1" sz="1600" b="1">
                <a:solidFill>
                  <a:schemeClr val="folHlink"/>
                </a:solidFill>
                <a:latin typeface="黑体" panose="02010609060101010101" pitchFamily="2" charset="-122"/>
                <a:ea typeface="黑体" panose="02010609060101010101" pitchFamily="2" charset="-122"/>
              </a:defRPr>
            </a:lvl5pPr>
            <a:lvl6pPr marL="2514600" indent="-228600" eaLnBrk="0" fontAlgn="base" hangingPunct="0">
              <a:spcBef>
                <a:spcPct val="0"/>
              </a:spcBef>
              <a:spcAft>
                <a:spcPct val="0"/>
              </a:spcAft>
              <a:defRPr kumimoji="1" sz="1600" b="1">
                <a:solidFill>
                  <a:schemeClr val="folHlink"/>
                </a:solidFill>
                <a:latin typeface="黑体" panose="02010609060101010101" pitchFamily="2" charset="-122"/>
                <a:ea typeface="黑体" panose="02010609060101010101" pitchFamily="2" charset="-122"/>
              </a:defRPr>
            </a:lvl6pPr>
            <a:lvl7pPr marL="2971800" indent="-228600" eaLnBrk="0" fontAlgn="base" hangingPunct="0">
              <a:spcBef>
                <a:spcPct val="0"/>
              </a:spcBef>
              <a:spcAft>
                <a:spcPct val="0"/>
              </a:spcAft>
              <a:defRPr kumimoji="1" sz="1600" b="1">
                <a:solidFill>
                  <a:schemeClr val="folHlink"/>
                </a:solidFill>
                <a:latin typeface="黑体" panose="02010609060101010101" pitchFamily="2" charset="-122"/>
                <a:ea typeface="黑体" panose="02010609060101010101" pitchFamily="2" charset="-122"/>
              </a:defRPr>
            </a:lvl7pPr>
            <a:lvl8pPr marL="3429000" indent="-228600" eaLnBrk="0" fontAlgn="base" hangingPunct="0">
              <a:spcBef>
                <a:spcPct val="0"/>
              </a:spcBef>
              <a:spcAft>
                <a:spcPct val="0"/>
              </a:spcAft>
              <a:defRPr kumimoji="1" sz="1600" b="1">
                <a:solidFill>
                  <a:schemeClr val="folHlink"/>
                </a:solidFill>
                <a:latin typeface="黑体" panose="02010609060101010101" pitchFamily="2" charset="-122"/>
                <a:ea typeface="黑体" panose="02010609060101010101" pitchFamily="2" charset="-122"/>
              </a:defRPr>
            </a:lvl8pPr>
            <a:lvl9pPr marL="3886200" indent="-228600" eaLnBrk="0" fontAlgn="base" hangingPunct="0">
              <a:spcBef>
                <a:spcPct val="0"/>
              </a:spcBef>
              <a:spcAft>
                <a:spcPct val="0"/>
              </a:spcAft>
              <a:defRPr kumimoji="1" sz="1600" b="1">
                <a:solidFill>
                  <a:schemeClr val="folHlink"/>
                </a:solidFill>
                <a:latin typeface="黑体" panose="02010609060101010101" pitchFamily="2" charset="-122"/>
                <a:ea typeface="黑体" panose="02010609060101010101" pitchFamily="2" charset="-122"/>
              </a:defRPr>
            </a:lvl9pPr>
          </a:lstStyle>
          <a:p>
            <a:pPr eaLnBrk="1" hangingPunct="1">
              <a:defRPr/>
            </a:pPr>
            <a:fld id="{049B564E-0B73-4E53-9544-126FC7B95D79}" type="slidenum">
              <a:rPr lang="en-US" altLang="zh-CN" sz="1300" smtClean="0">
                <a:solidFill>
                  <a:srgbClr val="009900"/>
                </a:solidFill>
                <a:latin typeface="Times New Roman" panose="02020603050405020304" pitchFamily="18" charset="0"/>
                <a:ea typeface="宋体" panose="02010600030101010101" pitchFamily="2" charset="-122"/>
              </a:rPr>
              <a:t>‹#›</a:t>
            </a:fld>
            <a:endParaRPr lang="en-US" altLang="zh-CN" sz="1300">
              <a:solidFill>
                <a:srgbClr val="009900"/>
              </a:solidFill>
              <a:latin typeface="Times New Roman" panose="02020603050405020304" pitchFamily="18" charset="0"/>
              <a:ea typeface="宋体" panose="02010600030101010101" pitchFamily="2" charset="-122"/>
            </a:endParaRPr>
          </a:p>
        </p:txBody>
      </p:sp>
      <p:sp>
        <p:nvSpPr>
          <p:cNvPr id="3078" name="Rectangle 2"/>
          <p:cNvSpPr>
            <a:spLocks noGrp="1" noChangeArrowheads="1"/>
          </p:cNvSpPr>
          <p:nvPr>
            <p:ph type="title"/>
          </p:nvPr>
        </p:nvSpPr>
        <p:spPr bwMode="auto">
          <a:xfrm>
            <a:off x="304800" y="187333"/>
            <a:ext cx="8229600" cy="757238"/>
          </a:xfrm>
          <a:prstGeom prst="rect">
            <a:avLst/>
          </a:prstGeom>
          <a:noFill/>
          <a:ln w="9525">
            <a:noFill/>
            <a:miter lim="800000"/>
          </a:ln>
        </p:spPr>
        <p:txBody>
          <a:bodyPr vert="horz" wrap="square" lIns="91440" tIns="45720" rIns="91440" bIns="45720" numCol="1" anchor="b" anchorCtr="0" compatLnSpc="1"/>
          <a:lstStyle/>
          <a:p>
            <a:pPr lvl="0"/>
            <a:r>
              <a:rPr lang="zh-CN" altLang="en-US" dirty="0"/>
              <a:t>单击此处编辑母版标题样式</a:t>
            </a:r>
          </a:p>
        </p:txBody>
      </p:sp>
      <p:sp>
        <p:nvSpPr>
          <p:cNvPr id="3079" name="Rectangle 3"/>
          <p:cNvSpPr>
            <a:spLocks noGrp="1" noChangeArrowheads="1"/>
          </p:cNvSpPr>
          <p:nvPr>
            <p:ph type="body" idx="1"/>
          </p:nvPr>
        </p:nvSpPr>
        <p:spPr bwMode="auto">
          <a:xfrm>
            <a:off x="457200" y="1244414"/>
            <a:ext cx="8229600" cy="4530725"/>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8" name="Picture 7" descr="C:\Users\luye\Desktop\未标题-1.jpg"/>
          <p:cNvPicPr>
            <a:picLocks noChangeAspect="1" noChangeArrowheads="1"/>
          </p:cNvPicPr>
          <p:nvPr userDrawn="1"/>
        </p:nvPicPr>
        <p:blipFill>
          <a:blip r:embed="rId13"/>
          <a:srcRect/>
          <a:stretch>
            <a:fillRect/>
          </a:stretch>
        </p:blipFill>
        <p:spPr bwMode="auto">
          <a:xfrm>
            <a:off x="5745565" y="6023291"/>
            <a:ext cx="3146188" cy="725171"/>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ransition spd="slow"/>
  <p:txStyles>
    <p:titleStyle>
      <a:lvl1pPr algn="l" rtl="0" eaLnBrk="0" fontAlgn="base" hangingPunct="0">
        <a:spcBef>
          <a:spcPct val="0"/>
        </a:spcBef>
        <a:spcAft>
          <a:spcPct val="0"/>
        </a:spcAft>
        <a:defRPr sz="3600" b="1">
          <a:solidFill>
            <a:schemeClr val="tx1"/>
          </a:solidFill>
          <a:latin typeface="+mn-ea"/>
          <a:ea typeface="+mn-ea"/>
          <a:cs typeface="+mj-cs"/>
        </a:defRPr>
      </a:lvl1pPr>
      <a:lvl2pPr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2pPr>
      <a:lvl3pPr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3pPr>
      <a:lvl4pPr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4pPr>
      <a:lvl5pPr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5pPr>
      <a:lvl6pPr marL="457200"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6pPr>
      <a:lvl7pPr marL="914400"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7pPr>
      <a:lvl8pPr marL="1371600"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8pPr>
      <a:lvl9pPr marL="1828800"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24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400">
          <a:solidFill>
            <a:srgbClr val="336600"/>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400">
          <a:solidFill>
            <a:schemeClr val="folHlink"/>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4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400">
          <a:solidFill>
            <a:schemeClr val="tx1"/>
          </a:solidFill>
          <a:latin typeface="+mn-lt"/>
          <a:ea typeface="+mn-ea"/>
        </a:defRPr>
      </a:lvl5pPr>
      <a:lvl6pPr marL="25146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Line 8"/>
          <p:cNvSpPr>
            <a:spLocks noChangeShapeType="1"/>
          </p:cNvSpPr>
          <p:nvPr/>
        </p:nvSpPr>
        <p:spPr bwMode="auto">
          <a:xfrm>
            <a:off x="457200" y="920750"/>
            <a:ext cx="8077200" cy="0"/>
          </a:xfrm>
          <a:prstGeom prst="line">
            <a:avLst/>
          </a:prstGeom>
          <a:noFill/>
          <a:ln w="19050">
            <a:solidFill>
              <a:schemeClr val="tx2"/>
            </a:solidFill>
            <a:round/>
          </a:ln>
        </p:spPr>
        <p:txBody>
          <a:bodyPr/>
          <a:lstStyle/>
          <a:p>
            <a:endParaRPr lang="zh-CN" altLang="en-US"/>
          </a:p>
        </p:txBody>
      </p:sp>
      <p:sp>
        <p:nvSpPr>
          <p:cNvPr id="1030" name="Text Box 21"/>
          <p:cNvSpPr txBox="1">
            <a:spLocks noChangeArrowheads="1"/>
          </p:cNvSpPr>
          <p:nvPr/>
        </p:nvSpPr>
        <p:spPr bwMode="auto">
          <a:xfrm>
            <a:off x="4329113" y="6465888"/>
            <a:ext cx="436562" cy="290512"/>
          </a:xfrm>
          <a:prstGeom prst="rect">
            <a:avLst/>
          </a:prstGeom>
          <a:noFill/>
          <a:ln>
            <a:noFill/>
          </a:ln>
        </p:spPr>
        <p:txBody>
          <a:bodyPr>
            <a:spAutoFit/>
          </a:bodyPr>
          <a:lstStyle>
            <a:lvl1pPr eaLnBrk="0" hangingPunct="0">
              <a:defRPr kumimoji="1" sz="1600" b="1">
                <a:solidFill>
                  <a:schemeClr val="folHlink"/>
                </a:solidFill>
                <a:latin typeface="黑体" panose="02010609060101010101" pitchFamily="2" charset="-122"/>
                <a:ea typeface="黑体" panose="02010609060101010101" pitchFamily="2" charset="-122"/>
              </a:defRPr>
            </a:lvl1pPr>
            <a:lvl2pPr marL="742950" indent="-285750" eaLnBrk="0" hangingPunct="0">
              <a:defRPr kumimoji="1" sz="1600" b="1">
                <a:solidFill>
                  <a:schemeClr val="folHlink"/>
                </a:solidFill>
                <a:latin typeface="黑体" panose="02010609060101010101" pitchFamily="2" charset="-122"/>
                <a:ea typeface="黑体" panose="02010609060101010101" pitchFamily="2" charset="-122"/>
              </a:defRPr>
            </a:lvl2pPr>
            <a:lvl3pPr marL="1143000" indent="-228600" eaLnBrk="0" hangingPunct="0">
              <a:defRPr kumimoji="1" sz="1600" b="1">
                <a:solidFill>
                  <a:schemeClr val="folHlink"/>
                </a:solidFill>
                <a:latin typeface="黑体" panose="02010609060101010101" pitchFamily="2" charset="-122"/>
                <a:ea typeface="黑体" panose="02010609060101010101" pitchFamily="2" charset="-122"/>
              </a:defRPr>
            </a:lvl3pPr>
            <a:lvl4pPr marL="1600200" indent="-228600" eaLnBrk="0" hangingPunct="0">
              <a:defRPr kumimoji="1" sz="1600" b="1">
                <a:solidFill>
                  <a:schemeClr val="folHlink"/>
                </a:solidFill>
                <a:latin typeface="黑体" panose="02010609060101010101" pitchFamily="2" charset="-122"/>
                <a:ea typeface="黑体" panose="02010609060101010101" pitchFamily="2" charset="-122"/>
              </a:defRPr>
            </a:lvl4pPr>
            <a:lvl5pPr marL="2057400" indent="-228600" eaLnBrk="0" hangingPunct="0">
              <a:defRPr kumimoji="1" sz="1600" b="1">
                <a:solidFill>
                  <a:schemeClr val="folHlink"/>
                </a:solidFill>
                <a:latin typeface="黑体" panose="02010609060101010101" pitchFamily="2" charset="-122"/>
                <a:ea typeface="黑体" panose="02010609060101010101" pitchFamily="2" charset="-122"/>
              </a:defRPr>
            </a:lvl5pPr>
            <a:lvl6pPr marL="2514600" indent="-228600" eaLnBrk="0" fontAlgn="base" hangingPunct="0">
              <a:spcBef>
                <a:spcPct val="0"/>
              </a:spcBef>
              <a:spcAft>
                <a:spcPct val="0"/>
              </a:spcAft>
              <a:defRPr kumimoji="1" sz="1600" b="1">
                <a:solidFill>
                  <a:schemeClr val="folHlink"/>
                </a:solidFill>
                <a:latin typeface="黑体" panose="02010609060101010101" pitchFamily="2" charset="-122"/>
                <a:ea typeface="黑体" panose="02010609060101010101" pitchFamily="2" charset="-122"/>
              </a:defRPr>
            </a:lvl6pPr>
            <a:lvl7pPr marL="2971800" indent="-228600" eaLnBrk="0" fontAlgn="base" hangingPunct="0">
              <a:spcBef>
                <a:spcPct val="0"/>
              </a:spcBef>
              <a:spcAft>
                <a:spcPct val="0"/>
              </a:spcAft>
              <a:defRPr kumimoji="1" sz="1600" b="1">
                <a:solidFill>
                  <a:schemeClr val="folHlink"/>
                </a:solidFill>
                <a:latin typeface="黑体" panose="02010609060101010101" pitchFamily="2" charset="-122"/>
                <a:ea typeface="黑体" panose="02010609060101010101" pitchFamily="2" charset="-122"/>
              </a:defRPr>
            </a:lvl7pPr>
            <a:lvl8pPr marL="3429000" indent="-228600" eaLnBrk="0" fontAlgn="base" hangingPunct="0">
              <a:spcBef>
                <a:spcPct val="0"/>
              </a:spcBef>
              <a:spcAft>
                <a:spcPct val="0"/>
              </a:spcAft>
              <a:defRPr kumimoji="1" sz="1600" b="1">
                <a:solidFill>
                  <a:schemeClr val="folHlink"/>
                </a:solidFill>
                <a:latin typeface="黑体" panose="02010609060101010101" pitchFamily="2" charset="-122"/>
                <a:ea typeface="黑体" panose="02010609060101010101" pitchFamily="2" charset="-122"/>
              </a:defRPr>
            </a:lvl8pPr>
            <a:lvl9pPr marL="3886200" indent="-228600" eaLnBrk="0" fontAlgn="base" hangingPunct="0">
              <a:spcBef>
                <a:spcPct val="0"/>
              </a:spcBef>
              <a:spcAft>
                <a:spcPct val="0"/>
              </a:spcAft>
              <a:defRPr kumimoji="1" sz="1600" b="1">
                <a:solidFill>
                  <a:schemeClr val="folHlink"/>
                </a:solidFill>
                <a:latin typeface="黑体" panose="02010609060101010101" pitchFamily="2" charset="-122"/>
                <a:ea typeface="黑体" panose="02010609060101010101" pitchFamily="2" charset="-122"/>
              </a:defRPr>
            </a:lvl9pPr>
          </a:lstStyle>
          <a:p>
            <a:pPr eaLnBrk="1" hangingPunct="1">
              <a:defRPr/>
            </a:pPr>
            <a:fld id="{32057243-54D8-446D-9769-A38AE30FAB60}" type="slidenum">
              <a:rPr lang="en-US" altLang="zh-CN" sz="1300" smtClean="0">
                <a:solidFill>
                  <a:srgbClr val="009900"/>
                </a:solidFill>
                <a:latin typeface="Times New Roman" panose="02020603050405020304" pitchFamily="18" charset="0"/>
                <a:ea typeface="宋体" panose="02010600030101010101" pitchFamily="2" charset="-122"/>
              </a:rPr>
              <a:t>‹#›</a:t>
            </a:fld>
            <a:endParaRPr lang="en-US" altLang="zh-CN" sz="1300">
              <a:solidFill>
                <a:srgbClr val="009900"/>
              </a:solidFill>
              <a:latin typeface="Times New Roman" panose="02020603050405020304" pitchFamily="18" charset="0"/>
              <a:ea typeface="宋体" panose="02010600030101010101" pitchFamily="2" charset="-122"/>
            </a:endParaRPr>
          </a:p>
        </p:txBody>
      </p:sp>
      <p:sp>
        <p:nvSpPr>
          <p:cNvPr id="6" name="矩形 5"/>
          <p:cNvSpPr/>
          <p:nvPr/>
        </p:nvSpPr>
        <p:spPr bwMode="auto">
          <a:xfrm>
            <a:off x="7674849" y="215308"/>
            <a:ext cx="1216904" cy="584775"/>
          </a:xfrm>
          <a:prstGeom prst="rect">
            <a:avLst/>
          </a:prstGeom>
          <a:noFill/>
        </p:spPr>
        <p:txBody>
          <a:bodyPr>
            <a:spAutoFit/>
            <a:scene3d>
              <a:camera prst="orthographicFront"/>
              <a:lightRig rig="threePt" dir="t"/>
            </a:scene3d>
            <a:sp3d extrusionH="57150">
              <a:bevelT w="38100" h="38100" prst="angle"/>
            </a:sp3d>
          </a:bodyPr>
          <a:lstStyle/>
          <a:p>
            <a:pPr algn="ctr">
              <a:defRPr/>
            </a:pPr>
            <a:r>
              <a:rPr kumimoji="1" lang="en-US" altLang="zh-CN" sz="3200" b="1" i="1" dirty="0">
                <a:ln w="10541" cmpd="sng">
                  <a:noFill/>
                  <a:prstDash val="solid"/>
                </a:ln>
                <a:gradFill flip="none" rotWithShape="1">
                  <a:gsLst>
                    <a:gs pos="0">
                      <a:srgbClr val="A603AB"/>
                    </a:gs>
                    <a:gs pos="21001">
                      <a:srgbClr val="0819FB"/>
                    </a:gs>
                    <a:gs pos="35001">
                      <a:srgbClr val="1A8D48"/>
                    </a:gs>
                    <a:gs pos="52000">
                      <a:srgbClr val="FFFF00"/>
                    </a:gs>
                    <a:gs pos="73000">
                      <a:srgbClr val="EE3F17"/>
                    </a:gs>
                    <a:gs pos="88000">
                      <a:srgbClr val="E81766"/>
                    </a:gs>
                    <a:gs pos="100000">
                      <a:srgbClr val="A603AB"/>
                    </a:gs>
                  </a:gsLst>
                  <a:lin ang="0" scaled="1"/>
                  <a:tileRect/>
                </a:gradFill>
                <a:effectLst>
                  <a:outerShdw blurRad="60007" dist="200025" dir="15000000" sy="30000" kx="-1800000" algn="bl" rotWithShape="0">
                    <a:prstClr val="black">
                      <a:alpha val="32000"/>
                    </a:prstClr>
                  </a:outerShdw>
                </a:effectLst>
                <a:latin typeface="Arial Black" panose="020B0A04020102020204" pitchFamily="34" charset="0"/>
                <a:ea typeface="黑体" panose="02010609060101010101" pitchFamily="2" charset="-122"/>
              </a:rPr>
              <a:t>SBN</a:t>
            </a:r>
            <a:endParaRPr kumimoji="1" lang="zh-CN" altLang="en-US" sz="3200" b="1" i="1" dirty="0">
              <a:ln w="10541" cmpd="sng">
                <a:noFill/>
                <a:prstDash val="solid"/>
              </a:ln>
              <a:gradFill flip="none" rotWithShape="1">
                <a:gsLst>
                  <a:gs pos="0">
                    <a:srgbClr val="A603AB"/>
                  </a:gs>
                  <a:gs pos="21001">
                    <a:srgbClr val="0819FB"/>
                  </a:gs>
                  <a:gs pos="35001">
                    <a:srgbClr val="1A8D48"/>
                  </a:gs>
                  <a:gs pos="52000">
                    <a:srgbClr val="FFFF00"/>
                  </a:gs>
                  <a:gs pos="73000">
                    <a:srgbClr val="EE3F17"/>
                  </a:gs>
                  <a:gs pos="88000">
                    <a:srgbClr val="E81766"/>
                  </a:gs>
                  <a:gs pos="100000">
                    <a:srgbClr val="A603AB"/>
                  </a:gs>
                </a:gsLst>
                <a:lin ang="0" scaled="1"/>
                <a:tileRect/>
              </a:gradFill>
              <a:effectLst>
                <a:outerShdw blurRad="60007" dist="200025" dir="15000000" sy="30000" kx="-1800000" algn="bl" rotWithShape="0">
                  <a:prstClr val="black">
                    <a:alpha val="32000"/>
                  </a:prstClr>
                </a:outerShdw>
              </a:effectLst>
              <a:latin typeface="Arial Black" panose="020B0A04020102020204" pitchFamily="34" charset="0"/>
              <a:ea typeface="黑体" panose="02010609060101010101" pitchFamily="2" charset="-122"/>
            </a:endParaRPr>
          </a:p>
        </p:txBody>
      </p:sp>
      <p:sp>
        <p:nvSpPr>
          <p:cNvPr id="4101" name="Rectangle 2"/>
          <p:cNvSpPr>
            <a:spLocks noGrp="1" noChangeArrowheads="1"/>
          </p:cNvSpPr>
          <p:nvPr>
            <p:ph type="title"/>
          </p:nvPr>
        </p:nvSpPr>
        <p:spPr bwMode="auto">
          <a:xfrm>
            <a:off x="444500" y="73025"/>
            <a:ext cx="8229600" cy="757238"/>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4102" name="Rectangle 3"/>
          <p:cNvSpPr>
            <a:spLocks noGrp="1" noChangeArrowheads="1"/>
          </p:cNvSpPr>
          <p:nvPr>
            <p:ph type="body" idx="1"/>
          </p:nvPr>
        </p:nvSpPr>
        <p:spPr bwMode="auto">
          <a:xfrm>
            <a:off x="457200" y="1524000"/>
            <a:ext cx="8229600" cy="4530725"/>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4"/>
          </p:nvPr>
        </p:nvSpPr>
        <p:spPr>
          <a:xfrm>
            <a:off x="3124200" y="6477000"/>
            <a:ext cx="2133600" cy="320675"/>
          </a:xfrm>
          <a:prstGeom prst="rect">
            <a:avLst/>
          </a:prstGeom>
        </p:spPr>
        <p:txBody>
          <a:bodyPr/>
          <a:lstStyle>
            <a:lvl1pPr>
              <a:defRPr kumimoji="1" sz="1600" b="1">
                <a:solidFill>
                  <a:schemeClr val="folHlink"/>
                </a:solidFill>
                <a:latin typeface="+mj-ea"/>
                <a:ea typeface="+mj-ea"/>
              </a:defRPr>
            </a:lvl1pPr>
          </a:lstStyle>
          <a:p>
            <a:pPr>
              <a:defRPr/>
            </a:pPr>
            <a:fld id="{56ED39A5-D7E9-45ED-9C73-9E366D6A377B}" type="slidenum">
              <a:rPr lang="zh-CN" altLang="en-US"/>
              <a:t>‹#›</a:t>
            </a:fld>
            <a:endParaRPr lang="en-US" altLang="zh-CN"/>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transition spd="slow"/>
  <p:txStyles>
    <p:titleStyle>
      <a:lvl1pPr algn="l" rtl="0" eaLnBrk="0" fontAlgn="base" hangingPunct="0">
        <a:spcBef>
          <a:spcPct val="0"/>
        </a:spcBef>
        <a:spcAft>
          <a:spcPct val="0"/>
        </a:spcAft>
        <a:defRPr sz="4000" b="1">
          <a:solidFill>
            <a:schemeClr val="tx1"/>
          </a:solidFill>
          <a:latin typeface="+mj-lt"/>
          <a:ea typeface="+mj-ea"/>
          <a:cs typeface="+mj-cs"/>
        </a:defRPr>
      </a:lvl1pPr>
      <a:lvl2pPr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2pPr>
      <a:lvl3pPr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3pPr>
      <a:lvl4pPr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4pPr>
      <a:lvl5pPr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5pPr>
      <a:lvl6pPr marL="457200"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6pPr>
      <a:lvl7pPr marL="914400"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7pPr>
      <a:lvl8pPr marL="1371600"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8pPr>
      <a:lvl9pPr marL="1828800" algn="l" rtl="0" eaLnBrk="0" fontAlgn="base" hangingPunct="0">
        <a:spcBef>
          <a:spcPct val="0"/>
        </a:spcBef>
        <a:spcAft>
          <a:spcPct val="0"/>
        </a:spcAft>
        <a:defRPr sz="4000" b="1">
          <a:solidFill>
            <a:schemeClr val="tx1"/>
          </a:solidFill>
          <a:latin typeface="Garamond" panose="02020404030301010803" pitchFamily="18" charset="0"/>
          <a:ea typeface="黑体" panose="0201060906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800">
          <a:solidFill>
            <a:srgbClr val="336600"/>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400">
          <a:solidFill>
            <a:schemeClr val="folHlink"/>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5pPr>
      <a:lvl6pPr marL="25146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Line 8"/>
          <p:cNvSpPr>
            <a:spLocks noChangeShapeType="1"/>
          </p:cNvSpPr>
          <p:nvPr/>
        </p:nvSpPr>
        <p:spPr bwMode="auto">
          <a:xfrm>
            <a:off x="457200" y="920750"/>
            <a:ext cx="8077200" cy="0"/>
          </a:xfrm>
          <a:prstGeom prst="line">
            <a:avLst/>
          </a:prstGeom>
          <a:noFill/>
          <a:ln w="19050">
            <a:solidFill>
              <a:schemeClr val="tx2"/>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transition spd="slow"/>
  <p:txStyles>
    <p:titleStyle>
      <a:lvl1pPr algn="l" rtl="0" eaLnBrk="0" fontAlgn="base" hangingPunct="0">
        <a:spcBef>
          <a:spcPct val="0"/>
        </a:spcBef>
        <a:spcAft>
          <a:spcPct val="0"/>
        </a:spcAft>
        <a:defRPr sz="4000" b="1">
          <a:solidFill>
            <a:schemeClr val="tx1"/>
          </a:solidFill>
          <a:latin typeface="+mj-lt"/>
          <a:ea typeface="+mj-ea"/>
          <a:cs typeface="+mj-cs"/>
        </a:defRPr>
      </a:lvl1pPr>
      <a:lvl2pPr algn="l" rtl="0" eaLnBrk="0" fontAlgn="base" hangingPunct="0">
        <a:spcBef>
          <a:spcPct val="0"/>
        </a:spcBef>
        <a:spcAft>
          <a:spcPct val="0"/>
        </a:spcAft>
        <a:defRPr sz="4000" b="1">
          <a:solidFill>
            <a:schemeClr val="tx1"/>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4000" b="1">
          <a:solidFill>
            <a:schemeClr val="tx1"/>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4000" b="1">
          <a:solidFill>
            <a:schemeClr val="tx1"/>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4000" b="1">
          <a:solidFill>
            <a:schemeClr val="tx1"/>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4000" b="1">
          <a:solidFill>
            <a:schemeClr val="tx1"/>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4000" b="1">
          <a:solidFill>
            <a:schemeClr val="tx1"/>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4000" b="1">
          <a:solidFill>
            <a:schemeClr val="tx1"/>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4000" b="1">
          <a:solidFill>
            <a:schemeClr val="tx1"/>
          </a:solidFill>
          <a:latin typeface="Garamond" panose="02020404030301010803"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800">
          <a:solidFill>
            <a:srgbClr val="336600"/>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400">
          <a:solidFill>
            <a:schemeClr val="folHlink"/>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4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4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685800" fontAlgn="base">
              <a:spcBef>
                <a:spcPct val="0"/>
              </a:spcBef>
              <a:spcAft>
                <a:spcPct val="0"/>
              </a:spcAft>
              <a:defRPr/>
            </a:pPr>
            <a:endParaRPr lang="en-US" altLang="x-none">
              <a:solidFill>
                <a:srgbClr val="000000"/>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685800" fontAlgn="base">
              <a:spcBef>
                <a:spcPct val="0"/>
              </a:spcBef>
              <a:spcAft>
                <a:spcPct val="0"/>
              </a:spcAft>
              <a:defRPr/>
            </a:pPr>
            <a:r>
              <a:rPr lang="zh-CN" altLang="en-US">
                <a:solidFill>
                  <a:srgbClr val="000000"/>
                </a:solidFill>
              </a:rPr>
              <a:t>第</a:t>
            </a:r>
            <a:r>
              <a:rPr lang="en-US" altLang="x-none">
                <a:solidFill>
                  <a:srgbClr val="000000"/>
                </a:solidFill>
              </a:rPr>
              <a:t>1</a:t>
            </a:r>
            <a:r>
              <a:rPr lang="zh-CN" altLang="en-US">
                <a:solidFill>
                  <a:srgbClr val="000000"/>
                </a:solidFill>
              </a:rPr>
              <a:t>页</a:t>
            </a:r>
            <a:endParaRPr lang="en-US" altLang="x-none">
              <a:solidFill>
                <a:srgbClr val="000000"/>
              </a:solidFill>
              <a:latin typeface="Arial" panose="020B0604020202020204" pitchFamily="34" charset="0"/>
              <a:ea typeface="宋体" panose="02010600030101010101" pitchFamily="2" charset="-122"/>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685800" fontAlgn="base">
              <a:spcBef>
                <a:spcPct val="0"/>
              </a:spcBef>
              <a:spcAft>
                <a:spcPct val="0"/>
              </a:spcAft>
              <a:defRPr/>
            </a:pPr>
            <a:fld id="{39866882-FADF-42D6-8B18-8E28A5DD326B}" type="slidenum">
              <a:rPr lang="en-US" altLang="x-none" smtClean="0">
                <a:solidFill>
                  <a:srgbClr val="000000"/>
                </a:solidFill>
              </a:rPr>
              <a:t>‹#›</a:t>
            </a:fld>
            <a:endParaRPr lang="en-US" altLang="x-none">
              <a:solidFill>
                <a:srgbClr val="000000"/>
              </a:solidFill>
              <a:latin typeface="Arial" panose="020B0604020202020204" pitchFamily="34" charset="0"/>
              <a:ea typeface="宋体" panose="02010600030101010101" pitchFamily="2" charset="-122"/>
            </a:endParaRPr>
          </a:p>
        </p:txBody>
      </p:sp>
      <p:pic>
        <p:nvPicPr>
          <p:cNvPr id="7" name="Picture 10"/>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2" descr="a_1"/>
          <p:cNvPicPr>
            <a:picLocks noChangeAspect="1" noChangeArrowheads="1"/>
          </p:cNvPicPr>
          <p:nvPr userDrawn="1"/>
        </p:nvPicPr>
        <p:blipFill>
          <a:blip r:embed="rId14">
            <a:extLst>
              <a:ext uri="{28A0092B-C50C-407E-A947-70E740481C1C}">
                <a14:useLocalDpi xmlns:a14="http://schemas.microsoft.com/office/drawing/2010/main" val="0"/>
              </a:ext>
            </a:extLst>
          </a:blip>
          <a:srcRect l="2174"/>
          <a:stretch>
            <a:fillRect/>
          </a:stretch>
        </p:blipFill>
        <p:spPr bwMode="auto">
          <a:xfrm>
            <a:off x="0" y="0"/>
            <a:ext cx="9144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2"/>
          <p:cNvSpPr>
            <a:spLocks noChangeArrowheads="1"/>
          </p:cNvSpPr>
          <p:nvPr userDrawn="1"/>
        </p:nvSpPr>
        <p:spPr bwMode="auto">
          <a:xfrm>
            <a:off x="0" y="2590800"/>
            <a:ext cx="9144000" cy="1066800"/>
          </a:xfrm>
          <a:prstGeom prst="rect">
            <a:avLst/>
          </a:prstGeom>
          <a:gradFill rotWithShape="1">
            <a:gsLst>
              <a:gs pos="0">
                <a:srgbClr val="3191D3"/>
              </a:gs>
              <a:gs pos="100000">
                <a:srgbClr val="17436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 name="Rectangle 14" descr="mao1-1"/>
          <p:cNvSpPr>
            <a:spLocks noChangeAspect="1" noChangeArrowheads="1"/>
          </p:cNvSpPr>
          <p:nvPr userDrawn="1"/>
        </p:nvSpPr>
        <p:spPr bwMode="auto">
          <a:xfrm>
            <a:off x="8153402" y="4967288"/>
            <a:ext cx="969963" cy="900112"/>
          </a:xfrm>
          <a:prstGeom prst="rect">
            <a:avLst/>
          </a:prstGeom>
          <a:blipFill dpi="0" rotWithShape="1">
            <a:blip r:embed="rId15"/>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 name="Rectangle 15" descr="xmy2-1"/>
          <p:cNvSpPr>
            <a:spLocks noChangeAspect="1" noChangeArrowheads="1"/>
          </p:cNvSpPr>
          <p:nvPr userDrawn="1"/>
        </p:nvSpPr>
        <p:spPr bwMode="auto">
          <a:xfrm>
            <a:off x="8153402" y="3976688"/>
            <a:ext cx="969963" cy="900112"/>
          </a:xfrm>
          <a:prstGeom prst="rect">
            <a:avLst/>
          </a:prstGeom>
          <a:blipFill dpi="0" rotWithShape="1">
            <a:blip r:embed="rId16"/>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2" name="Rectangle 16" descr="xm-1"/>
          <p:cNvSpPr>
            <a:spLocks noChangeArrowheads="1"/>
          </p:cNvSpPr>
          <p:nvPr userDrawn="1"/>
        </p:nvSpPr>
        <p:spPr bwMode="auto">
          <a:xfrm>
            <a:off x="6019800" y="5957888"/>
            <a:ext cx="1066800" cy="900112"/>
          </a:xfrm>
          <a:prstGeom prst="rect">
            <a:avLst/>
          </a:prstGeom>
          <a:blipFill dpi="0" rotWithShape="1">
            <a:blip r:embed="rId17"/>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 name="Rectangle 17" descr="xue2-1"/>
          <p:cNvSpPr>
            <a:spLocks noChangeAspect="1" noChangeArrowheads="1"/>
          </p:cNvSpPr>
          <p:nvPr userDrawn="1"/>
        </p:nvSpPr>
        <p:spPr bwMode="auto">
          <a:xfrm>
            <a:off x="7134227" y="5943608"/>
            <a:ext cx="969963" cy="900113"/>
          </a:xfrm>
          <a:prstGeom prst="rect">
            <a:avLst/>
          </a:prstGeom>
          <a:blipFill dpi="0" rotWithShape="1">
            <a:blip r:embed="rId18"/>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4" name="Rectangle 18" descr="mao-1"/>
          <p:cNvSpPr>
            <a:spLocks noChangeAspect="1" noChangeArrowheads="1"/>
          </p:cNvSpPr>
          <p:nvPr userDrawn="1"/>
        </p:nvSpPr>
        <p:spPr bwMode="auto">
          <a:xfrm>
            <a:off x="7107238" y="4967288"/>
            <a:ext cx="969962" cy="900112"/>
          </a:xfrm>
          <a:prstGeom prst="rect">
            <a:avLst/>
          </a:prstGeom>
          <a:blipFill dpi="0" rotWithShape="1">
            <a:blip r:embed="rId19"/>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 name="Rectangle 19" descr="xiaoxun-1"/>
          <p:cNvSpPr>
            <a:spLocks noChangeAspect="1" noChangeArrowheads="1"/>
          </p:cNvSpPr>
          <p:nvPr userDrawn="1"/>
        </p:nvSpPr>
        <p:spPr bwMode="auto">
          <a:xfrm>
            <a:off x="8153402" y="5943608"/>
            <a:ext cx="969963" cy="900113"/>
          </a:xfrm>
          <a:prstGeom prst="rect">
            <a:avLst/>
          </a:prstGeom>
          <a:blipFill dpi="0" rotWithShape="1">
            <a:blip r:embed="rId20"/>
            <a:srcRect/>
            <a:stretch>
              <a:fillRect/>
            </a:stretch>
          </a:blipFill>
          <a:ln w="22225">
            <a:solidFill>
              <a:schemeClr val="bg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6" name="Line 26"/>
          <p:cNvSpPr>
            <a:spLocks noChangeShapeType="1"/>
          </p:cNvSpPr>
          <p:nvPr userDrawn="1"/>
        </p:nvSpPr>
        <p:spPr bwMode="auto">
          <a:xfrm>
            <a:off x="0" y="36576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7" name="Line 27"/>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8" name="Rectangle 29"/>
          <p:cNvSpPr>
            <a:spLocks noChangeArrowheads="1"/>
          </p:cNvSpPr>
          <p:nvPr userDrawn="1"/>
        </p:nvSpPr>
        <p:spPr bwMode="auto">
          <a:xfrm>
            <a:off x="2"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9" name="Rectangle 33"/>
          <p:cNvSpPr>
            <a:spLocks noChangeArrowheads="1"/>
          </p:cNvSpPr>
          <p:nvPr userDrawn="1"/>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20" name="Picture 31"/>
          <p:cNvPicPr>
            <a:picLocks noChangeAspect="1" noChangeArrowheads="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1905000" y="1219200"/>
            <a:ext cx="5562600"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Line 34"/>
          <p:cNvSpPr>
            <a:spLocks noChangeShapeType="1"/>
          </p:cNvSpPr>
          <p:nvPr userDrawn="1"/>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pPr marL="0" marR="0" lvl="0" indent="0" algn="l" defTabSz="6858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3.xml"/><Relationship Id="rId7" Type="http://schemas.openxmlformats.org/officeDocument/2006/relationships/image" Target="../media/image17.wmf"/><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6.wmf"/><Relationship Id="rId4" Type="http://schemas.openxmlformats.org/officeDocument/2006/relationships/oleObject" Target="../embeddings/oleObject1.bin"/><Relationship Id="rId9" Type="http://schemas.openxmlformats.org/officeDocument/2006/relationships/image" Target="../media/image18.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17.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3.xml"/><Relationship Id="rId1" Type="http://schemas.openxmlformats.org/officeDocument/2006/relationships/vmlDrawing" Target="../drawings/vmlDrawing3.vml"/><Relationship Id="rId4" Type="http://schemas.openxmlformats.org/officeDocument/2006/relationships/image" Target="../media/image22.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3.xml"/><Relationship Id="rId1" Type="http://schemas.openxmlformats.org/officeDocument/2006/relationships/vmlDrawing" Target="../drawings/vmlDrawing4.vml"/><Relationship Id="rId4" Type="http://schemas.openxmlformats.org/officeDocument/2006/relationships/image" Target="../media/image23.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3.xml"/><Relationship Id="rId1" Type="http://schemas.openxmlformats.org/officeDocument/2006/relationships/vmlDrawing" Target="../drawings/vmlDrawing5.vml"/><Relationship Id="rId5" Type="http://schemas.openxmlformats.org/officeDocument/2006/relationships/image" Target="../media/image25.png"/><Relationship Id="rId4" Type="http://schemas.openxmlformats.org/officeDocument/2006/relationships/image" Target="../media/image24.wm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vmlDrawing" Target="../drawings/vmlDrawing6.vml"/><Relationship Id="rId5" Type="http://schemas.openxmlformats.org/officeDocument/2006/relationships/image" Target="../media/image26.wmf"/><Relationship Id="rId4" Type="http://schemas.openxmlformats.org/officeDocument/2006/relationships/oleObject" Target="../embeddings/oleObject8.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3.xml"/><Relationship Id="rId1" Type="http://schemas.openxmlformats.org/officeDocument/2006/relationships/vmlDrawing" Target="../drawings/vmlDrawing7.vml"/><Relationship Id="rId4" Type="http://schemas.openxmlformats.org/officeDocument/2006/relationships/image" Target="../media/image27.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3.xml"/><Relationship Id="rId1" Type="http://schemas.openxmlformats.org/officeDocument/2006/relationships/vmlDrawing" Target="../drawings/vmlDrawing8.vml"/><Relationship Id="rId6" Type="http://schemas.openxmlformats.org/officeDocument/2006/relationships/image" Target="../media/image29.wmf"/><Relationship Id="rId5" Type="http://schemas.openxmlformats.org/officeDocument/2006/relationships/oleObject" Target="../embeddings/oleObject11.bin"/><Relationship Id="rId4" Type="http://schemas.openxmlformats.org/officeDocument/2006/relationships/image" Target="../media/image28.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3.xml"/><Relationship Id="rId1" Type="http://schemas.openxmlformats.org/officeDocument/2006/relationships/vmlDrawing" Target="../drawings/vmlDrawing9.vml"/><Relationship Id="rId4" Type="http://schemas.openxmlformats.org/officeDocument/2006/relationships/image" Target="../media/image30.wmf"/></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3.xml"/><Relationship Id="rId1" Type="http://schemas.openxmlformats.org/officeDocument/2006/relationships/vmlDrawing" Target="../drawings/vmlDrawing10.vml"/><Relationship Id="rId4" Type="http://schemas.openxmlformats.org/officeDocument/2006/relationships/image" Target="../media/image35.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3.xml"/><Relationship Id="rId1" Type="http://schemas.openxmlformats.org/officeDocument/2006/relationships/vmlDrawing" Target="../drawings/vmlDrawing11.vml"/><Relationship Id="rId4" Type="http://schemas.openxmlformats.org/officeDocument/2006/relationships/image" Target="../media/image36.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17"/>
          <p:cNvSpPr>
            <a:spLocks noChangeArrowheads="1"/>
          </p:cNvSpPr>
          <p:nvPr/>
        </p:nvSpPr>
        <p:spPr bwMode="auto">
          <a:xfrm>
            <a:off x="2240915" y="3352800"/>
            <a:ext cx="5478780"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685800" rtl="0" eaLnBrk="0" fontAlgn="ctr" latinLnBrk="0" hangingPunct="0">
              <a:lnSpc>
                <a:spcPct val="120000"/>
              </a:lnSpc>
              <a:spcBef>
                <a:spcPct val="20000"/>
              </a:spcBef>
              <a:spcAft>
                <a:spcPct val="0"/>
              </a:spcAft>
              <a:buClr>
                <a:srgbClr val="BBE0E3"/>
              </a:buClr>
              <a:buSzPct val="60000"/>
              <a:buFont typeface="Arial" panose="020B0604020202020204" pitchFamily="34" charset="0"/>
              <a:buNone/>
              <a:defRPr/>
            </a:pPr>
            <a:r>
              <a:rPr kumimoji="0" lang="zh-CN" altLang="en-US"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帅天平</a:t>
            </a:r>
            <a:endParaRPr kumimoji="0" lang="en-US" altLang="zh-CN"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ctr" defTabSz="685800" rtl="0" eaLnBrk="0" fontAlgn="ctr" latinLnBrk="0" hangingPunct="0">
              <a:lnSpc>
                <a:spcPct val="120000"/>
              </a:lnSpc>
              <a:spcBef>
                <a:spcPct val="20000"/>
              </a:spcBef>
              <a:spcAft>
                <a:spcPct val="0"/>
              </a:spcAft>
              <a:buClr>
                <a:srgbClr val="BBE0E3"/>
              </a:buClr>
              <a:buSzPct val="60000"/>
              <a:buFont typeface="Arial" panose="020B0604020202020204" pitchFamily="34" charset="0"/>
              <a:buNone/>
              <a:defRPr/>
            </a:pPr>
            <a:r>
              <a:rPr kumimoji="0" lang="zh-CN" altLang="en-US"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数学</a:t>
            </a:r>
            <a:r>
              <a:rPr kumimoji="0" lang="zh-CN" altLang="en-US"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科学学院</a:t>
            </a:r>
            <a:endParaRPr kumimoji="0" lang="en-US" altLang="zh-CN"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ctr" defTabSz="685800" rtl="0" eaLnBrk="0" fontAlgn="ctr" latinLnBrk="0" hangingPunct="0">
              <a:lnSpc>
                <a:spcPct val="120000"/>
              </a:lnSpc>
              <a:spcBef>
                <a:spcPct val="20000"/>
              </a:spcBef>
              <a:spcAft>
                <a:spcPct val="0"/>
              </a:spcAft>
              <a:buClr>
                <a:srgbClr val="BBE0E3"/>
              </a:buClr>
              <a:buSzPct val="60000"/>
              <a:buFont typeface="Arial" panose="020B0604020202020204" pitchFamily="34" charset="0"/>
              <a:buNone/>
              <a:defRPr/>
            </a:pPr>
            <a:r>
              <a:rPr kumimoji="0" lang="en-US" altLang="zh-CN"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tpshuai@bupt.edu.cn</a:t>
            </a:r>
            <a:endParaRPr kumimoji="0" lang="zh-CN" altLang="en-US"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2" name="矩形 1"/>
          <p:cNvSpPr/>
          <p:nvPr/>
        </p:nvSpPr>
        <p:spPr>
          <a:xfrm>
            <a:off x="1191636" y="1609507"/>
            <a:ext cx="7148800" cy="1200329"/>
          </a:xfrm>
          <a:prstGeom prst="rect">
            <a:avLst/>
          </a:prstGeom>
        </p:spPr>
        <p:txBody>
          <a:bodyPr wrap="square">
            <a:spAutoFit/>
          </a:bodyPr>
          <a:lstStyle/>
          <a:p>
            <a:pPr marL="0" marR="0" lvl="0" indent="0" algn="ctr" defTabSz="685800" rtl="0" eaLnBrk="0" fontAlgn="ctr" latinLnBrk="0" hangingPunct="0">
              <a:lnSpc>
                <a:spcPct val="120000"/>
              </a:lnSpc>
              <a:spcBef>
                <a:spcPts val="0"/>
              </a:spcBef>
              <a:spcAft>
                <a:spcPct val="0"/>
              </a:spcAft>
              <a:buClr>
                <a:srgbClr val="BBE0E3"/>
              </a:buClr>
              <a:buSzPct val="60000"/>
              <a:buFontTx/>
              <a:buNone/>
              <a:defRPr/>
            </a:pPr>
            <a:r>
              <a:rPr kumimoji="0" lang="zh-CN" altLang="en-US" sz="60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rPr>
              <a:t>最优化理论与算法</a:t>
            </a:r>
            <a:endParaRPr kumimoji="0" lang="en-US" altLang="zh-CN" sz="6000" b="0" i="0" u="none" strike="noStrike" kern="1200" cap="none" spc="0" normalizeH="0" baseline="0" noProof="0" dirty="0">
              <a:ln>
                <a:noFill/>
              </a:ln>
              <a:solidFill>
                <a:prstClr val="black"/>
              </a:solidFill>
              <a:effectLst/>
              <a:uLnTx/>
              <a:uFillTx/>
              <a:latin typeface="隶书" panose="02010509060101010101" pitchFamily="49" charset="-122"/>
              <a:ea typeface="隶书" panose="02010509060101010101" pitchFamily="49" charset="-122"/>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211756" y="235451"/>
            <a:ext cx="8229600" cy="757555"/>
          </a:xfrm>
        </p:spPr>
        <p:txBody>
          <a:bodyPr/>
          <a:lstStyle/>
          <a:p>
            <a:pPr eaLnBrk="1" hangingPunct="1"/>
            <a:r>
              <a:rPr lang="zh-CN" altLang="en-US" dirty="0"/>
              <a:t>教材</a:t>
            </a:r>
            <a:r>
              <a:rPr lang="en-US" altLang="zh-CN" dirty="0"/>
              <a:t>/ </a:t>
            </a:r>
            <a:r>
              <a:rPr lang="zh-CN" altLang="en-US" dirty="0"/>
              <a:t>参考书</a:t>
            </a:r>
            <a:r>
              <a:rPr lang="en-US" altLang="zh-CN" dirty="0"/>
              <a:t> :</a:t>
            </a:r>
          </a:p>
        </p:txBody>
      </p:sp>
      <p:sp>
        <p:nvSpPr>
          <p:cNvPr id="4099" name="Rectangle 3"/>
          <p:cNvSpPr>
            <a:spLocks noGrp="1" noChangeArrowheads="1"/>
          </p:cNvSpPr>
          <p:nvPr>
            <p:ph idx="1"/>
          </p:nvPr>
        </p:nvSpPr>
        <p:spPr>
          <a:xfrm>
            <a:off x="229902" y="1053263"/>
            <a:ext cx="8663839" cy="5193532"/>
          </a:xfrm>
        </p:spPr>
        <p:txBody>
          <a:bodyPr/>
          <a:lstStyle/>
          <a:p>
            <a:pPr>
              <a:lnSpc>
                <a:spcPct val="90000"/>
              </a:lnSpc>
              <a:buFont typeface="Arial" panose="020B0604020202020204" pitchFamily="34" charset="0"/>
              <a:buNone/>
              <a:defRPr/>
            </a:pPr>
            <a:r>
              <a:rPr lang="en-US" altLang="zh-CN" sz="2400" b="0" dirty="0">
                <a:latin typeface="宋体" panose="02010600030101010101" pitchFamily="2" charset="-122"/>
                <a:ea typeface="宋体" panose="02010600030101010101" pitchFamily="2" charset="-122"/>
                <a:cs typeface="宋体" panose="02010600030101010101" pitchFamily="2" charset="-122"/>
              </a:rPr>
              <a:t>1 </a:t>
            </a:r>
            <a:r>
              <a:rPr lang="zh-CN" altLang="en-US" sz="2400" b="0" dirty="0">
                <a:latin typeface="宋体" panose="02010600030101010101" pitchFamily="2" charset="-122"/>
                <a:ea typeface="宋体" panose="02010600030101010101" pitchFamily="2" charset="-122"/>
                <a:cs typeface="宋体" panose="02010600030101010101" pitchFamily="2" charset="-122"/>
              </a:rPr>
              <a:t>最优化理论与算法</a:t>
            </a:r>
            <a:r>
              <a:rPr lang="en-US" altLang="zh-CN" sz="2400" b="0" dirty="0">
                <a:latin typeface="宋体" panose="02010600030101010101" pitchFamily="2" charset="-122"/>
                <a:ea typeface="宋体" panose="02010600030101010101" pitchFamily="2" charset="-122"/>
                <a:cs typeface="宋体" panose="02010600030101010101" pitchFamily="2" charset="-122"/>
              </a:rPr>
              <a:t>(</a:t>
            </a:r>
            <a:r>
              <a:rPr lang="zh-CN" altLang="en-US" sz="2400" b="0" dirty="0">
                <a:latin typeface="宋体" panose="02010600030101010101" pitchFamily="2" charset="-122"/>
                <a:ea typeface="宋体" panose="02010600030101010101" pitchFamily="2" charset="-122"/>
                <a:cs typeface="宋体" panose="02010600030101010101" pitchFamily="2" charset="-122"/>
              </a:rPr>
              <a:t>第</a:t>
            </a:r>
            <a:r>
              <a:rPr lang="en-US" altLang="zh-CN" sz="2400" b="0" dirty="0">
                <a:latin typeface="宋体" panose="02010600030101010101" pitchFamily="2" charset="-122"/>
                <a:ea typeface="宋体" panose="02010600030101010101" pitchFamily="2" charset="-122"/>
                <a:cs typeface="宋体" panose="02010600030101010101" pitchFamily="2" charset="-122"/>
              </a:rPr>
              <a:t>2</a:t>
            </a:r>
            <a:r>
              <a:rPr lang="zh-CN" altLang="en-US" sz="2400" b="0" dirty="0">
                <a:latin typeface="宋体" panose="02010600030101010101" pitchFamily="2" charset="-122"/>
                <a:ea typeface="宋体" panose="02010600030101010101" pitchFamily="2" charset="-122"/>
                <a:cs typeface="宋体" panose="02010600030101010101" pitchFamily="2" charset="-122"/>
              </a:rPr>
              <a:t>版</a:t>
            </a:r>
            <a:r>
              <a:rPr lang="en-US" altLang="zh-CN" sz="2400" b="0" dirty="0">
                <a:latin typeface="宋体" panose="02010600030101010101" pitchFamily="2" charset="-122"/>
                <a:ea typeface="宋体" panose="02010600030101010101" pitchFamily="2" charset="-122"/>
                <a:cs typeface="宋体" panose="02010600030101010101" pitchFamily="2" charset="-122"/>
              </a:rPr>
              <a:t>) </a:t>
            </a:r>
            <a:r>
              <a:rPr lang="zh-CN" altLang="en-US" sz="2400" b="0" dirty="0">
                <a:latin typeface="宋体" panose="02010600030101010101" pitchFamily="2" charset="-122"/>
                <a:ea typeface="宋体" panose="02010600030101010101" pitchFamily="2" charset="-122"/>
                <a:cs typeface="宋体" panose="02010600030101010101" pitchFamily="2" charset="-122"/>
              </a:rPr>
              <a:t>陈宝林 清华大学出版社 </a:t>
            </a:r>
            <a:r>
              <a:rPr lang="en-US" altLang="zh-CN" sz="2400" b="0" dirty="0">
                <a:latin typeface="宋体" panose="02010600030101010101" pitchFamily="2" charset="-122"/>
                <a:ea typeface="宋体" panose="02010600030101010101" pitchFamily="2" charset="-122"/>
                <a:cs typeface="宋体" panose="02010600030101010101" pitchFamily="2" charset="-122"/>
              </a:rPr>
              <a:t>2006</a:t>
            </a:r>
            <a:r>
              <a:rPr lang="zh-CN" altLang="en-US" sz="2400" b="0" dirty="0">
                <a:latin typeface="宋体" panose="02010600030101010101" pitchFamily="2" charset="-122"/>
                <a:ea typeface="宋体" panose="02010600030101010101" pitchFamily="2" charset="-122"/>
                <a:cs typeface="宋体" panose="02010600030101010101" pitchFamily="2" charset="-122"/>
              </a:rPr>
              <a:t>；</a:t>
            </a:r>
            <a:endParaRPr lang="en-US" altLang="zh-CN" sz="2400" b="0" dirty="0">
              <a:latin typeface="宋体" panose="02010600030101010101" pitchFamily="2" charset="-122"/>
              <a:ea typeface="宋体" panose="02010600030101010101" pitchFamily="2" charset="-122"/>
              <a:cs typeface="宋体" panose="02010600030101010101" pitchFamily="2" charset="-122"/>
            </a:endParaRPr>
          </a:p>
          <a:p>
            <a:pPr marL="0" indent="0">
              <a:buNone/>
              <a:defRPr/>
            </a:pPr>
            <a:r>
              <a:rPr lang="en-US" altLang="zh-CN" sz="2400" b="0" dirty="0">
                <a:latin typeface="宋体" panose="02010600030101010101" pitchFamily="2" charset="-122"/>
                <a:ea typeface="宋体" panose="02010600030101010101" pitchFamily="2" charset="-122"/>
                <a:cs typeface="宋体" panose="02010600030101010101" pitchFamily="2" charset="-122"/>
              </a:rPr>
              <a:t>2 </a:t>
            </a:r>
            <a:r>
              <a:rPr lang="zh-CN" altLang="en-US" b="0" dirty="0">
                <a:latin typeface="宋体" panose="02010600030101010101" pitchFamily="2" charset="-122"/>
                <a:ea typeface="宋体" panose="02010600030101010101" pitchFamily="2" charset="-122"/>
                <a:cs typeface="宋体" panose="02010600030101010101" pitchFamily="2" charset="-122"/>
              </a:rPr>
              <a:t>最优化方法与理论 文再文 袁亚湘 高等教育出版社 </a:t>
            </a:r>
            <a:r>
              <a:rPr lang="en-US" altLang="zh-CN" b="0" dirty="0">
                <a:latin typeface="宋体" panose="02010600030101010101" pitchFamily="2" charset="-122"/>
                <a:ea typeface="宋体" panose="02010600030101010101" pitchFamily="2" charset="-122"/>
                <a:cs typeface="宋体" panose="02010600030101010101" pitchFamily="2" charset="-122"/>
              </a:rPr>
              <a:t>2025</a:t>
            </a:r>
          </a:p>
          <a:p>
            <a:pPr marL="0" indent="0">
              <a:buNone/>
              <a:defRPr/>
            </a:pPr>
            <a:r>
              <a:rPr kumimoji="1" lang="en-US" altLang="zh-CN" sz="2400" b="0" dirty="0">
                <a:latin typeface="宋体" panose="02010600030101010101" pitchFamily="2" charset="-122"/>
                <a:ea typeface="宋体" panose="02010600030101010101" pitchFamily="2" charset="-122"/>
                <a:cs typeface="宋体" panose="02010600030101010101" pitchFamily="2" charset="-122"/>
              </a:rPr>
              <a:t>3 </a:t>
            </a:r>
            <a:r>
              <a:rPr lang="zh-CN" altLang="en-US" b="0" dirty="0">
                <a:latin typeface="宋体" panose="02010600030101010101" pitchFamily="2" charset="-122"/>
                <a:ea typeface="宋体" panose="02010600030101010101" pitchFamily="2" charset="-122"/>
                <a:cs typeface="宋体" panose="02010600030101010101" pitchFamily="2" charset="-122"/>
              </a:rPr>
              <a:t>最优化</a:t>
            </a:r>
            <a:r>
              <a:rPr lang="en-US" altLang="zh-CN" b="0" dirty="0">
                <a:latin typeface="宋体" panose="02010600030101010101" pitchFamily="2" charset="-122"/>
                <a:ea typeface="宋体" panose="02010600030101010101" pitchFamily="2" charset="-122"/>
                <a:cs typeface="宋体" panose="02010600030101010101" pitchFamily="2" charset="-122"/>
              </a:rPr>
              <a:t>: </a:t>
            </a:r>
            <a:r>
              <a:rPr lang="zh-CN" altLang="en-US" b="0" dirty="0">
                <a:latin typeface="宋体" panose="02010600030101010101" pitchFamily="2" charset="-122"/>
                <a:ea typeface="宋体" panose="02010600030101010101" pitchFamily="2" charset="-122"/>
                <a:cs typeface="宋体" panose="02010600030101010101" pitchFamily="2" charset="-122"/>
              </a:rPr>
              <a:t>建模、算法与理论 刘浩洋等 高等教育出版社 </a:t>
            </a:r>
            <a:r>
              <a:rPr lang="en-US" altLang="zh-CN" b="0" dirty="0">
                <a:latin typeface="宋体" panose="02010600030101010101" pitchFamily="2" charset="-122"/>
                <a:ea typeface="宋体" panose="02010600030101010101" pitchFamily="2" charset="-122"/>
                <a:cs typeface="宋体" panose="02010600030101010101" pitchFamily="2" charset="-122"/>
              </a:rPr>
              <a:t>2020</a:t>
            </a:r>
          </a:p>
          <a:p>
            <a:pPr marL="0" indent="0">
              <a:buNone/>
              <a:defRPr/>
            </a:pPr>
            <a:r>
              <a:rPr kumimoji="1" lang="en-US" altLang="zh-CN" sz="2400" b="0" dirty="0">
                <a:latin typeface="宋体" panose="02010600030101010101" pitchFamily="2" charset="-122"/>
                <a:ea typeface="宋体" panose="02010600030101010101" pitchFamily="2" charset="-122"/>
                <a:cs typeface="宋体" panose="02010600030101010101" pitchFamily="2" charset="-122"/>
              </a:rPr>
              <a:t>4  </a:t>
            </a:r>
            <a:r>
              <a:rPr lang="en-US" altLang="zh-CN" sz="2400" b="0" dirty="0">
                <a:latin typeface="宋体" panose="02010600030101010101" pitchFamily="2" charset="-122"/>
                <a:ea typeface="宋体" panose="02010600030101010101" pitchFamily="2" charset="-122"/>
                <a:cs typeface="宋体" panose="02010600030101010101" pitchFamily="2" charset="-122"/>
              </a:rPr>
              <a:t>Numerical Optimization</a:t>
            </a:r>
            <a:r>
              <a:rPr kumimoji="1" lang="en-US" altLang="zh-CN" sz="2400" b="0" dirty="0">
                <a:latin typeface="宋体" panose="02010600030101010101" pitchFamily="2" charset="-122"/>
                <a:ea typeface="宋体" panose="02010600030101010101" pitchFamily="2" charset="-122"/>
                <a:cs typeface="宋体" panose="02010600030101010101" pitchFamily="2" charset="-122"/>
              </a:rPr>
              <a:t> </a:t>
            </a:r>
            <a:r>
              <a:rPr kumimoji="1" lang="zh-CN" altLang="en-US" sz="2400" b="0" dirty="0">
                <a:latin typeface="宋体" panose="02010600030101010101" pitchFamily="2" charset="-122"/>
                <a:ea typeface="宋体" panose="02010600030101010101" pitchFamily="2" charset="-122"/>
                <a:cs typeface="宋体" panose="02010600030101010101" pitchFamily="2" charset="-122"/>
              </a:rPr>
              <a:t>第</a:t>
            </a:r>
            <a:r>
              <a:rPr kumimoji="1" lang="en-US" altLang="zh-CN" sz="2400" b="0" dirty="0">
                <a:latin typeface="宋体" panose="02010600030101010101" pitchFamily="2" charset="-122"/>
                <a:ea typeface="宋体" panose="02010600030101010101" pitchFamily="2" charset="-122"/>
                <a:cs typeface="宋体" panose="02010600030101010101" pitchFamily="2" charset="-122"/>
              </a:rPr>
              <a:t>2</a:t>
            </a:r>
            <a:r>
              <a:rPr kumimoji="1" lang="zh-CN" altLang="en-US" sz="2400" b="0" dirty="0">
                <a:latin typeface="宋体" panose="02010600030101010101" pitchFamily="2" charset="-122"/>
                <a:ea typeface="宋体" panose="02010600030101010101" pitchFamily="2" charset="-122"/>
                <a:cs typeface="宋体" panose="02010600030101010101" pitchFamily="2" charset="-122"/>
              </a:rPr>
              <a:t>版，</a:t>
            </a:r>
            <a:r>
              <a:rPr lang="en-US" altLang="zh-CN" sz="2400" b="0" dirty="0">
                <a:latin typeface="宋体" panose="02010600030101010101" pitchFamily="2" charset="-122"/>
                <a:ea typeface="宋体" panose="02010600030101010101" pitchFamily="2" charset="-122"/>
                <a:cs typeface="宋体" panose="02010600030101010101" pitchFamily="2" charset="-122"/>
              </a:rPr>
              <a:t>Jorge </a:t>
            </a:r>
            <a:r>
              <a:rPr lang="en-US" altLang="zh-CN" sz="2400" b="0" dirty="0" err="1">
                <a:latin typeface="宋体" panose="02010600030101010101" pitchFamily="2" charset="-122"/>
                <a:ea typeface="宋体" panose="02010600030101010101" pitchFamily="2" charset="-122"/>
                <a:cs typeface="宋体" panose="02010600030101010101" pitchFamily="2" charset="-122"/>
              </a:rPr>
              <a:t>Nocedal</a:t>
            </a:r>
            <a:r>
              <a:rPr lang="en-US" altLang="zh-CN" sz="2400" b="0" dirty="0">
                <a:latin typeface="宋体" panose="02010600030101010101" pitchFamily="2" charset="-122"/>
                <a:ea typeface="宋体" panose="02010600030101010101" pitchFamily="2" charset="-122"/>
                <a:cs typeface="宋体" panose="02010600030101010101" pitchFamily="2" charset="-122"/>
              </a:rPr>
              <a:t>, Stephen </a:t>
            </a:r>
            <a:r>
              <a:rPr lang="en-US" altLang="zh-CN" sz="2400" b="0" dirty="0" err="1">
                <a:latin typeface="宋体" panose="02010600030101010101" pitchFamily="2" charset="-122"/>
                <a:ea typeface="宋体" panose="02010600030101010101" pitchFamily="2" charset="-122"/>
                <a:cs typeface="宋体" panose="02010600030101010101" pitchFamily="2" charset="-122"/>
              </a:rPr>
              <a:t>J.Wright</a:t>
            </a:r>
            <a:r>
              <a:rPr lang="en-US" altLang="zh-CN" sz="2400" b="0" dirty="0">
                <a:latin typeface="宋体" panose="02010600030101010101" pitchFamily="2" charset="-122"/>
                <a:ea typeface="宋体" panose="02010600030101010101" pitchFamily="2" charset="-122"/>
                <a:cs typeface="宋体" panose="02010600030101010101" pitchFamily="2" charset="-122"/>
              </a:rPr>
              <a:t>, Springer  2006</a:t>
            </a:r>
            <a:r>
              <a:rPr lang="zh-CN" altLang="en-US" sz="2400" b="0" dirty="0">
                <a:latin typeface="宋体" panose="02010600030101010101" pitchFamily="2" charset="-122"/>
                <a:ea typeface="宋体" panose="02010600030101010101" pitchFamily="2" charset="-122"/>
                <a:cs typeface="宋体" panose="02010600030101010101" pitchFamily="2" charset="-122"/>
              </a:rPr>
              <a:t>。</a:t>
            </a:r>
            <a:r>
              <a:rPr lang="en-US" altLang="zh-CN" sz="2400" b="0" dirty="0">
                <a:latin typeface="宋体" panose="02010600030101010101" pitchFamily="2" charset="-122"/>
                <a:ea typeface="宋体" panose="02010600030101010101" pitchFamily="2" charset="-122"/>
                <a:cs typeface="宋体" panose="02010600030101010101" pitchFamily="2" charset="-122"/>
              </a:rPr>
              <a:t> </a:t>
            </a:r>
            <a:r>
              <a:rPr lang="zh-CN" altLang="en-US" sz="2400" b="0" dirty="0">
                <a:latin typeface="宋体" panose="02010600030101010101" pitchFamily="2" charset="-122"/>
                <a:ea typeface="宋体" panose="02010600030101010101" pitchFamily="2" charset="-122"/>
                <a:cs typeface="宋体" panose="02010600030101010101" pitchFamily="2" charset="-122"/>
              </a:rPr>
              <a:t>中文版（上、下）王鼎等译，高等教育出版社，</a:t>
            </a:r>
            <a:r>
              <a:rPr lang="en-US" altLang="zh-CN" sz="2400" b="0" dirty="0">
                <a:latin typeface="宋体" panose="02010600030101010101" pitchFamily="2" charset="-122"/>
                <a:ea typeface="宋体" panose="02010600030101010101" pitchFamily="2" charset="-122"/>
                <a:cs typeface="宋体" panose="02010600030101010101" pitchFamily="2" charset="-122"/>
              </a:rPr>
              <a:t>2024</a:t>
            </a:r>
            <a:r>
              <a:rPr lang="en-US" altLang="zh-CN" b="0" dirty="0">
                <a:latin typeface="宋体" panose="02010600030101010101" pitchFamily="2" charset="-122"/>
                <a:ea typeface="宋体" panose="02010600030101010101" pitchFamily="2" charset="-122"/>
                <a:cs typeface="宋体" panose="02010600030101010101" pitchFamily="2" charset="-122"/>
              </a:rPr>
              <a:t>/2026.</a:t>
            </a:r>
            <a:endParaRPr lang="zh-CN" sz="2400" b="0" dirty="0">
              <a:latin typeface="宋体" panose="02010600030101010101" pitchFamily="2" charset="-122"/>
              <a:ea typeface="宋体" panose="02010600030101010101" pitchFamily="2" charset="-122"/>
              <a:cs typeface="宋体" panose="02010600030101010101" pitchFamily="2" charset="-122"/>
            </a:endParaRPr>
          </a:p>
          <a:p>
            <a:pPr eaLnBrk="1" hangingPunct="1">
              <a:buFontTx/>
              <a:buNone/>
              <a:defRPr/>
            </a:pPr>
            <a:r>
              <a:rPr lang="en-US" altLang="zh-CN" sz="2400" b="0" dirty="0">
                <a:latin typeface="宋体" panose="02010600030101010101" pitchFamily="2" charset="-122"/>
                <a:ea typeface="宋体" panose="02010600030101010101" pitchFamily="2" charset="-122"/>
                <a:cs typeface="宋体" panose="02010600030101010101" pitchFamily="2" charset="-122"/>
              </a:rPr>
              <a:t>5 Convex optimization Stephen Boyd </a:t>
            </a:r>
            <a:r>
              <a:rPr lang="zh-CN" altLang="en-US" sz="2400" b="0" dirty="0">
                <a:latin typeface="宋体" panose="02010600030101010101" pitchFamily="2" charset="-122"/>
                <a:ea typeface="宋体" panose="02010600030101010101" pitchFamily="2" charset="-122"/>
                <a:cs typeface="宋体" panose="02010600030101010101" pitchFamily="2" charset="-122"/>
              </a:rPr>
              <a:t>等，世界图书出版公司，</a:t>
            </a:r>
            <a:r>
              <a:rPr lang="en-US" altLang="zh-CN" sz="2400" b="0" dirty="0">
                <a:latin typeface="宋体" panose="02010600030101010101" pitchFamily="2" charset="-122"/>
                <a:ea typeface="宋体" panose="02010600030101010101" pitchFamily="2" charset="-122"/>
                <a:cs typeface="宋体" panose="02010600030101010101" pitchFamily="2" charset="-122"/>
              </a:rPr>
              <a:t>2013</a:t>
            </a:r>
            <a:r>
              <a:rPr lang="zh-CN" altLang="en-US" sz="2400" b="0" dirty="0">
                <a:latin typeface="宋体" panose="02010600030101010101" pitchFamily="2" charset="-122"/>
                <a:ea typeface="宋体" panose="02010600030101010101" pitchFamily="2" charset="-122"/>
                <a:cs typeface="宋体" panose="02010600030101010101" pitchFamily="2" charset="-122"/>
              </a:rPr>
              <a:t>。中文版王书宁等译，清华大学出版社，</a:t>
            </a:r>
            <a:r>
              <a:rPr lang="en-US" altLang="zh-CN" sz="2400" b="0" dirty="0">
                <a:latin typeface="宋体" panose="02010600030101010101" pitchFamily="2" charset="-122"/>
                <a:ea typeface="宋体" panose="02010600030101010101" pitchFamily="2" charset="-122"/>
                <a:cs typeface="宋体" panose="02010600030101010101" pitchFamily="2" charset="-122"/>
              </a:rPr>
              <a:t>2013</a:t>
            </a:r>
          </a:p>
          <a:p>
            <a:pPr>
              <a:spcBef>
                <a:spcPct val="50000"/>
              </a:spcBef>
              <a:buFontTx/>
              <a:buNone/>
              <a:defRPr/>
            </a:pPr>
            <a:r>
              <a:rPr lang="en-US" altLang="zh-CN" sz="2400" b="0" dirty="0">
                <a:latin typeface="宋体" panose="02010600030101010101" pitchFamily="2" charset="-122"/>
                <a:ea typeface="宋体" panose="02010600030101010101" pitchFamily="2" charset="-122"/>
                <a:cs typeface="宋体" panose="02010600030101010101" pitchFamily="2" charset="-122"/>
              </a:rPr>
              <a:t>6.</a:t>
            </a:r>
            <a:r>
              <a:rPr lang="zh-CN" altLang="en-US" sz="2400" b="0" dirty="0">
                <a:latin typeface="宋体" panose="02010600030101010101" pitchFamily="2" charset="-122"/>
                <a:ea typeface="宋体" panose="02010600030101010101" pitchFamily="2" charset="-122"/>
                <a:cs typeface="宋体" panose="02010600030101010101" pitchFamily="2" charset="-122"/>
              </a:rPr>
              <a:t>数学优化 中国科学院编 科学出版社  </a:t>
            </a:r>
            <a:r>
              <a:rPr lang="en-US" altLang="zh-CN" sz="2400" b="0" dirty="0">
                <a:latin typeface="宋体" panose="02010600030101010101" pitchFamily="2" charset="-122"/>
                <a:ea typeface="宋体" panose="02010600030101010101" pitchFamily="2" charset="-122"/>
                <a:cs typeface="宋体" panose="02010600030101010101" pitchFamily="2" charset="-122"/>
              </a:rPr>
              <a:t>2020.9</a:t>
            </a:r>
          </a:p>
          <a:p>
            <a:pPr marL="0" indent="0">
              <a:buNone/>
            </a:pPr>
            <a:r>
              <a:rPr lang="en-US" altLang="zh-CN" sz="2400" b="0" dirty="0">
                <a:latin typeface="+mj-lt"/>
              </a:rPr>
              <a:t>7. </a:t>
            </a:r>
            <a:r>
              <a:rPr lang="zh-CN" altLang="en-US" sz="2400" b="0" dirty="0">
                <a:latin typeface="+mj-lt"/>
              </a:rPr>
              <a:t>运筹优化常用模型算法及案例实战 </a:t>
            </a:r>
            <a:r>
              <a:rPr lang="en-US" altLang="zh-CN" sz="2400" b="0" dirty="0" err="1">
                <a:latin typeface="+mj-lt"/>
              </a:rPr>
              <a:t>Python+Java</a:t>
            </a:r>
            <a:r>
              <a:rPr lang="zh-CN" altLang="en-US" sz="2400" b="0" dirty="0">
                <a:latin typeface="+mj-lt"/>
              </a:rPr>
              <a:t>实现，刘兴禄主编，清华大学出版社，</a:t>
            </a:r>
            <a:r>
              <a:rPr lang="en-US" altLang="zh-CN" sz="2400" b="0" dirty="0">
                <a:latin typeface="+mj-lt"/>
              </a:rPr>
              <a:t>2022</a:t>
            </a:r>
            <a:r>
              <a:rPr lang="zh-CN" altLang="en-US" sz="2400" b="0" dirty="0">
                <a:latin typeface="+mj-lt"/>
              </a:rPr>
              <a:t>。</a:t>
            </a:r>
            <a:endParaRPr lang="en-US" altLang="zh-CN" sz="2400" b="0" dirty="0">
              <a:latin typeface="+mj-lt"/>
            </a:endParaRPr>
          </a:p>
          <a:p>
            <a:pPr marL="0" indent="0">
              <a:buNone/>
            </a:pPr>
            <a:r>
              <a:rPr lang="en-US" altLang="zh-CN" sz="2400" b="0" dirty="0">
                <a:latin typeface="+mj-lt"/>
              </a:rPr>
              <a:t>8. Python</a:t>
            </a:r>
            <a:r>
              <a:rPr lang="zh-CN" altLang="en-US" sz="2400" b="0" dirty="0">
                <a:latin typeface="+mj-lt"/>
              </a:rPr>
              <a:t>最优化算法实战</a:t>
            </a:r>
            <a:r>
              <a:rPr lang="en-US" altLang="zh-CN" sz="2400" b="0" dirty="0">
                <a:latin typeface="+mj-lt"/>
              </a:rPr>
              <a:t>,</a:t>
            </a:r>
            <a:r>
              <a:rPr lang="zh-CN" altLang="en-US" sz="2400" b="0" dirty="0">
                <a:latin typeface="+mj-lt"/>
              </a:rPr>
              <a:t>苏振裕著</a:t>
            </a:r>
            <a:r>
              <a:rPr lang="en-US" altLang="zh-CN" sz="2400" b="0" dirty="0">
                <a:latin typeface="+mj-lt"/>
              </a:rPr>
              <a:t>,</a:t>
            </a:r>
            <a:r>
              <a:rPr lang="zh-CN" altLang="en-US" sz="2400" b="0" dirty="0">
                <a:latin typeface="+mj-lt"/>
              </a:rPr>
              <a:t>北京大学出版社</a:t>
            </a:r>
            <a:r>
              <a:rPr lang="en-US" altLang="zh-CN" sz="2400" b="0" dirty="0">
                <a:latin typeface="+mj-lt"/>
              </a:rPr>
              <a:t>, 2020</a:t>
            </a:r>
            <a:r>
              <a:rPr lang="zh-CN" altLang="en-US" sz="2400" b="0" dirty="0">
                <a:latin typeface="+mj-lt"/>
              </a:rPr>
              <a:t>。</a:t>
            </a:r>
            <a:endParaRPr lang="en-US" altLang="zh-CN" sz="2400" b="0" dirty="0">
              <a:latin typeface="+mj-lt"/>
            </a:endParaRPr>
          </a:p>
          <a:p>
            <a:pPr>
              <a:spcBef>
                <a:spcPct val="50000"/>
              </a:spcBef>
              <a:buFontTx/>
              <a:buNone/>
              <a:defRPr/>
            </a:pPr>
            <a:endParaRPr lang="en-US" altLang="zh-CN" sz="2400" b="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0" y="187325"/>
            <a:ext cx="8229600" cy="757555"/>
          </a:xfrm>
        </p:spPr>
        <p:txBody>
          <a:bodyPr/>
          <a:lstStyle/>
          <a:p>
            <a:pPr eaLnBrk="1" hangingPunct="1"/>
            <a:r>
              <a:rPr lang="en-US" altLang="zh-CN" sz="3600"/>
              <a:t> </a:t>
            </a:r>
            <a:r>
              <a:rPr lang="zh-CN" altLang="en-US" sz="3600"/>
              <a:t>课程内容</a:t>
            </a:r>
            <a:endParaRPr lang="en-US" altLang="zh-CN" sz="3600"/>
          </a:p>
        </p:txBody>
      </p:sp>
      <p:sp>
        <p:nvSpPr>
          <p:cNvPr id="5123" name="Rectangle 3"/>
          <p:cNvSpPr>
            <a:spLocks noGrp="1" noChangeArrowheads="1"/>
          </p:cNvSpPr>
          <p:nvPr>
            <p:ph idx="1"/>
          </p:nvPr>
        </p:nvSpPr>
        <p:spPr>
          <a:xfrm>
            <a:off x="505326" y="1100488"/>
            <a:ext cx="8022657" cy="4106779"/>
          </a:xfrm>
        </p:spPr>
        <p:txBody>
          <a:bodyPr/>
          <a:lstStyle/>
          <a:p>
            <a:pPr eaLnBrk="1" hangingPunct="1">
              <a:defRPr/>
            </a:pPr>
            <a:r>
              <a:rPr lang="zh-CN" altLang="en-US" sz="2400" dirty="0">
                <a:latin typeface="Times New Roman" panose="02020603050405020304" pitchFamily="18" charset="0"/>
              </a:rPr>
              <a:t>数学基础</a:t>
            </a:r>
            <a:endParaRPr lang="en-US" altLang="zh-CN" sz="2400" dirty="0">
              <a:latin typeface="Times New Roman" panose="02020603050405020304" pitchFamily="18" charset="0"/>
            </a:endParaRPr>
          </a:p>
          <a:p>
            <a:pPr eaLnBrk="1" hangingPunct="1">
              <a:buFontTx/>
              <a:buNone/>
              <a:defRPr/>
            </a:pPr>
            <a:r>
              <a:rPr lang="en-US" altLang="zh-CN" sz="2400" dirty="0">
                <a:latin typeface="Times New Roman" panose="02020603050405020304" pitchFamily="18" charset="0"/>
              </a:rPr>
              <a:t>     – </a:t>
            </a:r>
            <a:r>
              <a:rPr lang="zh-CN" altLang="en-US" sz="2400" dirty="0">
                <a:latin typeface="Times New Roman" panose="02020603050405020304" pitchFamily="18" charset="0"/>
              </a:rPr>
              <a:t>凸集与凸函数</a:t>
            </a:r>
            <a:endParaRPr lang="en-US" altLang="zh-CN" sz="2400" dirty="0">
              <a:latin typeface="Times New Roman" panose="02020603050405020304" pitchFamily="18" charset="0"/>
            </a:endParaRPr>
          </a:p>
          <a:p>
            <a:pPr eaLnBrk="1" hangingPunct="1">
              <a:defRPr/>
            </a:pPr>
            <a:r>
              <a:rPr lang="zh-CN" altLang="en-US" sz="2400" dirty="0">
                <a:latin typeface="Times New Roman" panose="02020603050405020304" pitchFamily="18" charset="0"/>
              </a:rPr>
              <a:t>最优性条件</a:t>
            </a:r>
            <a:endParaRPr lang="en-US" altLang="zh-CN" sz="2400" dirty="0">
              <a:latin typeface="Times New Roman" panose="02020603050405020304" pitchFamily="18" charset="0"/>
            </a:endParaRPr>
          </a:p>
          <a:p>
            <a:pPr eaLnBrk="1" hangingPunct="1">
              <a:buFontTx/>
              <a:buNone/>
              <a:defRPr/>
            </a:pPr>
            <a:r>
              <a:rPr lang="en-US" altLang="zh-CN" dirty="0">
                <a:latin typeface="Times New Roman" panose="02020603050405020304" pitchFamily="18" charset="0"/>
              </a:rPr>
              <a:t>    </a:t>
            </a:r>
            <a:r>
              <a:rPr lang="en-US" altLang="zh-CN" sz="2400" dirty="0">
                <a:latin typeface="Times New Roman" panose="02020603050405020304" pitchFamily="18" charset="0"/>
              </a:rPr>
              <a:t>– </a:t>
            </a:r>
            <a:r>
              <a:rPr lang="zh-CN" altLang="en-US" sz="2400" dirty="0">
                <a:latin typeface="Times New Roman" panose="02020603050405020304" pitchFamily="18" charset="0"/>
              </a:rPr>
              <a:t>无约束优化</a:t>
            </a:r>
            <a:endParaRPr lang="en-US" altLang="zh-CN" sz="2400" dirty="0">
              <a:latin typeface="Times New Roman" panose="02020603050405020304" pitchFamily="18" charset="0"/>
            </a:endParaRPr>
          </a:p>
          <a:p>
            <a:pPr eaLnBrk="1" hangingPunct="1">
              <a:buFontTx/>
              <a:buNone/>
              <a:defRPr/>
            </a:pPr>
            <a:r>
              <a:rPr lang="en-US" altLang="zh-CN" sz="2400" dirty="0">
                <a:latin typeface="Times New Roman" panose="02020603050405020304" pitchFamily="18" charset="0"/>
              </a:rPr>
              <a:t>    – </a:t>
            </a:r>
            <a:r>
              <a:rPr lang="zh-CN" altLang="en-US" sz="2400" dirty="0">
                <a:latin typeface="Times New Roman" panose="02020603050405020304" pitchFamily="18" charset="0"/>
              </a:rPr>
              <a:t>约束优化</a:t>
            </a:r>
            <a:endParaRPr lang="en-US" altLang="zh-CN" sz="2400" dirty="0">
              <a:latin typeface="Times New Roman" panose="02020603050405020304" pitchFamily="18" charset="0"/>
            </a:endParaRPr>
          </a:p>
          <a:p>
            <a:pPr eaLnBrk="1" hangingPunct="1">
              <a:defRPr/>
            </a:pPr>
            <a:r>
              <a:rPr lang="zh-CN" altLang="en-US" sz="2400" dirty="0">
                <a:latin typeface="Times New Roman" panose="02020603050405020304" pitchFamily="18" charset="0"/>
              </a:rPr>
              <a:t>对偶理论</a:t>
            </a:r>
            <a:endParaRPr lang="en-US" altLang="zh-CN" sz="2400" dirty="0">
              <a:latin typeface="Times New Roman" panose="02020603050405020304" pitchFamily="18" charset="0"/>
            </a:endParaRPr>
          </a:p>
          <a:p>
            <a:pPr eaLnBrk="1" hangingPunct="1">
              <a:defRPr/>
            </a:pPr>
            <a:r>
              <a:rPr lang="zh-CN" altLang="en-US" sz="2400" dirty="0">
                <a:latin typeface="Times New Roman" panose="02020603050405020304" pitchFamily="18" charset="0"/>
              </a:rPr>
              <a:t>优化算法</a:t>
            </a:r>
            <a:endParaRPr lang="en-US" altLang="zh-CN" sz="2400" dirty="0">
              <a:latin typeface="Times New Roman" panose="02020603050405020304" pitchFamily="18" charset="0"/>
            </a:endParaRPr>
          </a:p>
          <a:p>
            <a:pPr marL="0" indent="0" eaLnBrk="1" hangingPunct="1">
              <a:buFontTx/>
              <a:buNone/>
              <a:defRPr/>
            </a:pPr>
            <a:r>
              <a:rPr lang="en-US" altLang="zh-CN" sz="2400" dirty="0">
                <a:latin typeface="Times New Roman" panose="02020603050405020304" pitchFamily="18" charset="0"/>
              </a:rPr>
              <a:t>     – </a:t>
            </a:r>
            <a:r>
              <a:rPr lang="zh-CN" altLang="en-US" sz="2400" dirty="0">
                <a:latin typeface="Times New Roman" panose="02020603050405020304" pitchFamily="18" charset="0"/>
              </a:rPr>
              <a:t>线性规划算法</a:t>
            </a:r>
            <a:endParaRPr lang="en-US" altLang="zh-CN" sz="2400" dirty="0">
              <a:latin typeface="Times New Roman" panose="02020603050405020304" pitchFamily="18" charset="0"/>
            </a:endParaRPr>
          </a:p>
          <a:p>
            <a:pPr marL="0" indent="0" eaLnBrk="1" hangingPunct="1">
              <a:buFontTx/>
              <a:buNone/>
              <a:defRPr/>
            </a:pPr>
            <a:r>
              <a:rPr lang="en-US" altLang="zh-CN" sz="2400" dirty="0">
                <a:latin typeface="Times New Roman" panose="02020603050405020304" pitchFamily="18" charset="0"/>
              </a:rPr>
              <a:t>     –</a:t>
            </a:r>
            <a:r>
              <a:rPr lang="zh-CN" altLang="en-US" sz="2400" dirty="0">
                <a:latin typeface="Times New Roman" panose="02020603050405020304" pitchFamily="18" charset="0"/>
              </a:rPr>
              <a:t>非线性规划算法</a:t>
            </a:r>
            <a:r>
              <a:rPr lang="en-US" altLang="zh-CN" sz="2400" dirty="0">
                <a:latin typeface="Times New Roman" panose="02020603050405020304" pitchFamily="18" charset="0"/>
              </a:rPr>
              <a:t>  </a:t>
            </a:r>
          </a:p>
          <a:p>
            <a:pPr marL="0" indent="0" eaLnBrk="1" hangingPunct="1">
              <a:buFontTx/>
              <a:buNone/>
              <a:defRPr/>
            </a:pPr>
            <a:endParaRPr lang="en-US" altLang="zh-CN" sz="2400" dirty="0">
              <a:latin typeface="+mj-lt"/>
            </a:endParaRPr>
          </a:p>
          <a:p>
            <a:pPr marL="0" indent="0" eaLnBrk="1" hangingPunct="1">
              <a:buFontTx/>
              <a:buNone/>
              <a:defRPr/>
            </a:pPr>
            <a:endParaRPr lang="en-US" altLang="zh-CN" sz="2400" dirty="0">
              <a:latin typeface="+mj-lt"/>
            </a:endParaRPr>
          </a:p>
          <a:p>
            <a:pPr marL="0" indent="0" eaLnBrk="1" hangingPunct="1">
              <a:buFontTx/>
              <a:buNone/>
              <a:defRPr/>
            </a:pPr>
            <a:endParaRPr lang="en-US" altLang="zh-CN" dirty="0"/>
          </a:p>
        </p:txBody>
      </p:sp>
      <p:sp>
        <p:nvSpPr>
          <p:cNvPr id="4" name="Rectangle 3">
            <a:extLst>
              <a:ext uri="{FF2B5EF4-FFF2-40B4-BE49-F238E27FC236}">
                <a16:creationId xmlns:a16="http://schemas.microsoft.com/office/drawing/2014/main" id="{5D625C9B-CDF2-40F7-BF04-583A1AFD8C9C}"/>
              </a:ext>
            </a:extLst>
          </p:cNvPr>
          <p:cNvSpPr txBox="1">
            <a:spLocks noChangeArrowheads="1"/>
          </p:cNvSpPr>
          <p:nvPr/>
        </p:nvSpPr>
        <p:spPr>
          <a:xfrm>
            <a:off x="505326" y="5141394"/>
            <a:ext cx="7531770" cy="1365283"/>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2400" b="1">
                <a:solidFill>
                  <a:schemeClr val="tx1"/>
                </a:solidFill>
                <a:latin typeface="+mn-ea"/>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400">
                <a:solidFill>
                  <a:srgbClr val="336600"/>
                </a:solidFill>
                <a:latin typeface="+mn-ea"/>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400">
                <a:solidFill>
                  <a:schemeClr val="folHlink"/>
                </a:solidFill>
                <a:latin typeface="+mn-ea"/>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400">
                <a:solidFill>
                  <a:schemeClr val="tx1"/>
                </a:solidFill>
                <a:latin typeface="+mn-ea"/>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400">
                <a:solidFill>
                  <a:schemeClr val="tx1"/>
                </a:solidFill>
                <a:latin typeface="+mn-ea"/>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a:lstStyle>
          <a:p>
            <a:pPr eaLnBrk="1" hangingPunct="1"/>
            <a:r>
              <a:rPr lang="zh-CN" altLang="en-US" kern="0" dirty="0">
                <a:latin typeface="Times New Roman" panose="02020603050405020304" pitchFamily="18" charset="0"/>
              </a:rPr>
              <a:t>成绩评定</a:t>
            </a:r>
            <a:r>
              <a:rPr lang="en-US" altLang="zh-CN" kern="0" dirty="0">
                <a:latin typeface="Times New Roman" panose="02020603050405020304" pitchFamily="18" charset="0"/>
              </a:rPr>
              <a:t> </a:t>
            </a:r>
          </a:p>
          <a:p>
            <a:pPr eaLnBrk="1" hangingPunct="1">
              <a:buFontTx/>
              <a:buNone/>
            </a:pPr>
            <a:r>
              <a:rPr lang="en-US" altLang="zh-CN" kern="0" dirty="0">
                <a:latin typeface="Times New Roman" panose="02020603050405020304" pitchFamily="18" charset="0"/>
              </a:rPr>
              <a:t>   – 50%  </a:t>
            </a:r>
            <a:r>
              <a:rPr lang="zh-CN" altLang="en-US" kern="0" dirty="0">
                <a:latin typeface="Times New Roman" panose="02020603050405020304" pitchFamily="18" charset="0"/>
              </a:rPr>
              <a:t>平 时（作业、测试、考勤等）</a:t>
            </a:r>
            <a:endParaRPr lang="en-US" altLang="zh-CN" kern="0" dirty="0">
              <a:latin typeface="Times New Roman" panose="02020603050405020304" pitchFamily="18" charset="0"/>
            </a:endParaRPr>
          </a:p>
          <a:p>
            <a:pPr eaLnBrk="1" hangingPunct="1">
              <a:buFontTx/>
              <a:buNone/>
            </a:pPr>
            <a:r>
              <a:rPr lang="en-US" altLang="zh-CN" kern="0" dirty="0">
                <a:latin typeface="Times New Roman" panose="02020603050405020304" pitchFamily="18" charset="0"/>
              </a:rPr>
              <a:t>   – 50% </a:t>
            </a:r>
            <a:r>
              <a:rPr lang="zh-CN" altLang="en-US" kern="0" dirty="0">
                <a:latin typeface="Times New Roman" panose="02020603050405020304" pitchFamily="18" charset="0"/>
              </a:rPr>
              <a:t> 期 末考试</a:t>
            </a:r>
            <a:endParaRPr lang="en-US" altLang="zh-CN" kern="0" dirty="0">
              <a:latin typeface="Times New Roman" panose="02020603050405020304" pitchFamily="18" charset="0"/>
            </a:endParaRPr>
          </a:p>
          <a:p>
            <a:pPr eaLnBrk="1" hangingPunct="1">
              <a:buFontTx/>
              <a:buNone/>
            </a:pPr>
            <a:endParaRPr lang="en-US" altLang="zh-CN" kern="0" dirty="0">
              <a:latin typeface="Times New Roman" panose="02020603050405020304" pitchFamily="18" charset="0"/>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567890" y="308477"/>
            <a:ext cx="7652085" cy="615549"/>
          </a:xfrm>
        </p:spPr>
        <p:txBody>
          <a:bodyPr/>
          <a:lstStyle/>
          <a:p>
            <a:pPr eaLnBrk="1" hangingPunct="1"/>
            <a:r>
              <a:rPr lang="zh-CN" altLang="en-US" sz="3200" dirty="0"/>
              <a:t>课程目标</a:t>
            </a:r>
            <a:endParaRPr lang="en-US" altLang="zh-CN" sz="3200" dirty="0"/>
          </a:p>
        </p:txBody>
      </p:sp>
      <p:sp>
        <p:nvSpPr>
          <p:cNvPr id="6147" name="Rectangle 3"/>
          <p:cNvSpPr>
            <a:spLocks noGrp="1" noChangeArrowheads="1"/>
          </p:cNvSpPr>
          <p:nvPr>
            <p:ph idx="1"/>
          </p:nvPr>
        </p:nvSpPr>
        <p:spPr>
          <a:xfrm>
            <a:off x="553453" y="1138990"/>
            <a:ext cx="8229600" cy="4530725"/>
          </a:xfrm>
        </p:spPr>
        <p:txBody>
          <a:bodyPr/>
          <a:lstStyle/>
          <a:p>
            <a:pPr eaLnBrk="1" hangingPunct="1">
              <a:lnSpc>
                <a:spcPct val="90000"/>
              </a:lnSpc>
              <a:buFontTx/>
              <a:buNone/>
              <a:defRPr/>
            </a:pPr>
            <a:r>
              <a:rPr lang="en-US" altLang="zh-CN" sz="2400" b="0" dirty="0">
                <a:latin typeface="Times New Roman" panose="02020603050405020304" pitchFamily="18" charset="0"/>
              </a:rPr>
              <a:t>  </a:t>
            </a:r>
            <a:r>
              <a:rPr lang="zh-CN" altLang="en-US" sz="2400" b="0" dirty="0">
                <a:latin typeface="Times New Roman" panose="02020603050405020304" pitchFamily="18" charset="0"/>
              </a:rPr>
              <a:t>通过学习本课程</a:t>
            </a:r>
            <a:endParaRPr lang="en-US" altLang="zh-CN" sz="2400" b="0" dirty="0">
              <a:latin typeface="Times New Roman" panose="02020603050405020304" pitchFamily="18" charset="0"/>
            </a:endParaRPr>
          </a:p>
          <a:p>
            <a:pPr eaLnBrk="1" hangingPunct="1">
              <a:lnSpc>
                <a:spcPct val="90000"/>
              </a:lnSpc>
              <a:buFontTx/>
              <a:buNone/>
              <a:defRPr/>
            </a:pPr>
            <a:endParaRPr lang="en-US" altLang="zh-CN" sz="2400" b="0" dirty="0">
              <a:latin typeface="Times New Roman" panose="02020603050405020304" pitchFamily="18" charset="0"/>
            </a:endParaRPr>
          </a:p>
          <a:p>
            <a:pPr eaLnBrk="1" hangingPunct="1">
              <a:lnSpc>
                <a:spcPct val="90000"/>
              </a:lnSpc>
              <a:defRPr/>
            </a:pPr>
            <a:r>
              <a:rPr lang="en-US" altLang="zh-CN" sz="2400" b="0" dirty="0">
                <a:latin typeface="Times New Roman" panose="02020603050405020304" pitchFamily="18" charset="0"/>
              </a:rPr>
              <a:t> </a:t>
            </a:r>
            <a:r>
              <a:rPr lang="zh-CN" altLang="en-US" sz="2400" b="0" dirty="0">
                <a:latin typeface="+mj-lt"/>
              </a:rPr>
              <a:t>掌握优化的数学基础</a:t>
            </a:r>
            <a:endParaRPr lang="en-US" altLang="zh-CN" sz="2400" b="0" dirty="0">
              <a:latin typeface="+mj-lt"/>
            </a:endParaRPr>
          </a:p>
          <a:p>
            <a:pPr eaLnBrk="1" hangingPunct="1">
              <a:lnSpc>
                <a:spcPct val="90000"/>
              </a:lnSpc>
              <a:defRPr/>
            </a:pPr>
            <a:endParaRPr lang="en-US" altLang="zh-CN" sz="1400" b="0" dirty="0">
              <a:latin typeface="+mj-lt"/>
            </a:endParaRPr>
          </a:p>
          <a:p>
            <a:pPr eaLnBrk="1" hangingPunct="1">
              <a:lnSpc>
                <a:spcPct val="90000"/>
              </a:lnSpc>
              <a:defRPr/>
            </a:pPr>
            <a:r>
              <a:rPr lang="en-US" altLang="zh-CN" sz="2400" b="0" i="1" dirty="0">
                <a:latin typeface="+mj-lt"/>
              </a:rPr>
              <a:t> </a:t>
            </a:r>
            <a:r>
              <a:rPr lang="zh-CN" altLang="en-US" sz="2400" b="0" dirty="0">
                <a:latin typeface="+mj-lt"/>
              </a:rPr>
              <a:t>掌握优化的基本理论（最优性条件、</a:t>
            </a:r>
            <a:r>
              <a:rPr lang="zh-CN" altLang="en-US" b="0" dirty="0">
                <a:latin typeface="+mj-lt"/>
              </a:rPr>
              <a:t>对偶理论）</a:t>
            </a:r>
            <a:r>
              <a:rPr lang="en-US" altLang="zh-CN" sz="2400" b="0" dirty="0">
                <a:latin typeface="+mj-lt"/>
              </a:rPr>
              <a:t>.</a:t>
            </a:r>
          </a:p>
          <a:p>
            <a:pPr marL="0" indent="0" eaLnBrk="1" hangingPunct="1">
              <a:lnSpc>
                <a:spcPct val="90000"/>
              </a:lnSpc>
              <a:buFontTx/>
              <a:buNone/>
              <a:defRPr/>
            </a:pPr>
            <a:endParaRPr lang="en-US" altLang="zh-CN" sz="1200" b="0" dirty="0">
              <a:latin typeface="+mj-lt"/>
            </a:endParaRPr>
          </a:p>
          <a:p>
            <a:pPr eaLnBrk="1" hangingPunct="1">
              <a:lnSpc>
                <a:spcPct val="90000"/>
              </a:lnSpc>
              <a:defRPr/>
            </a:pPr>
            <a:r>
              <a:rPr lang="zh-CN" altLang="en-US" sz="2400" b="0" dirty="0">
                <a:latin typeface="+mj-lt"/>
              </a:rPr>
              <a:t>掌握优化的基本算法和计算方法</a:t>
            </a:r>
            <a:r>
              <a:rPr lang="en-US" altLang="zh-CN" sz="2400" b="0" dirty="0">
                <a:latin typeface="+mj-lt"/>
              </a:rPr>
              <a:t>.</a:t>
            </a:r>
          </a:p>
          <a:p>
            <a:pPr eaLnBrk="1" hangingPunct="1">
              <a:lnSpc>
                <a:spcPct val="90000"/>
              </a:lnSpc>
              <a:defRPr/>
            </a:pPr>
            <a:endParaRPr lang="en-US" altLang="zh-CN" sz="1050" b="0" dirty="0">
              <a:latin typeface="+mj-lt"/>
            </a:endParaRPr>
          </a:p>
          <a:p>
            <a:pPr eaLnBrk="1" hangingPunct="1">
              <a:lnSpc>
                <a:spcPct val="90000"/>
              </a:lnSpc>
              <a:defRPr/>
            </a:pPr>
            <a:r>
              <a:rPr lang="en-US" altLang="zh-CN" sz="2400" b="0" i="1" dirty="0">
                <a:latin typeface="+mj-lt"/>
              </a:rPr>
              <a:t> </a:t>
            </a:r>
            <a:r>
              <a:rPr lang="zh-CN" altLang="en-US" sz="2400" b="0" dirty="0">
                <a:latin typeface="+mj-lt"/>
              </a:rPr>
              <a:t>能较好的使用优化理论与方法来帮助解决实际工作中遇到的相关优化决策问题</a:t>
            </a:r>
            <a:r>
              <a:rPr lang="en-US" altLang="zh-CN" sz="2400" b="0" dirty="0">
                <a:latin typeface="+mj-lt"/>
              </a:rPr>
              <a:t>.</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idx="4294967295"/>
          </p:nvPr>
        </p:nvSpPr>
        <p:spPr>
          <a:xfrm>
            <a:off x="0" y="187325"/>
            <a:ext cx="8229600" cy="757555"/>
          </a:xfrm>
        </p:spPr>
        <p:txBody>
          <a:bodyPr/>
          <a:lstStyle/>
          <a:p>
            <a:r>
              <a:rPr lang="zh-CN" altLang="en-US" sz="3600" dirty="0"/>
              <a:t>学科介绍</a:t>
            </a:r>
          </a:p>
        </p:txBody>
      </p:sp>
      <p:sp>
        <p:nvSpPr>
          <p:cNvPr id="11267" name="内容占位符 2"/>
          <p:cNvSpPr>
            <a:spLocks noGrp="1"/>
          </p:cNvSpPr>
          <p:nvPr>
            <p:ph idx="1"/>
          </p:nvPr>
        </p:nvSpPr>
        <p:spPr>
          <a:xfrm>
            <a:off x="321310" y="1013461"/>
            <a:ext cx="8505056" cy="2490136"/>
          </a:xfrm>
        </p:spPr>
        <p:txBody>
          <a:bodyPr/>
          <a:lstStyle/>
          <a:p>
            <a:r>
              <a:rPr lang="zh-CN" altLang="en-US" sz="2400" dirty="0"/>
              <a:t>最优化问题</a:t>
            </a:r>
            <a:r>
              <a:rPr lang="zh-CN" altLang="en-US" sz="2400" b="0" dirty="0"/>
              <a:t>泛指定量决策问题，主要关心如何对有限资源进行有效分配和控制，并达到某种意义上的最优</a:t>
            </a:r>
            <a:r>
              <a:rPr lang="zh-CN" altLang="en-US" sz="2400" dirty="0"/>
              <a:t>．</a:t>
            </a:r>
            <a:endParaRPr lang="en-US" altLang="zh-CN" sz="2400" dirty="0"/>
          </a:p>
          <a:p>
            <a:r>
              <a:rPr lang="zh-CN" altLang="en-US" sz="2400" dirty="0"/>
              <a:t>最优化理论</a:t>
            </a:r>
            <a:r>
              <a:rPr lang="zh-CN" altLang="en-US" sz="2400" b="0" dirty="0"/>
              <a:t>是研究如何从</a:t>
            </a:r>
            <a:r>
              <a:rPr lang="zh-CN" altLang="en-US" sz="2400" b="0" dirty="0">
                <a:solidFill>
                  <a:srgbClr val="3333FF"/>
                </a:solidFill>
              </a:rPr>
              <a:t>所有可能</a:t>
            </a:r>
            <a:r>
              <a:rPr lang="zh-CN" altLang="en-US" sz="2400" b="0" dirty="0"/>
              <a:t>的方案中选择</a:t>
            </a:r>
            <a:r>
              <a:rPr lang="zh-CN" altLang="en-US" sz="2400" b="0" dirty="0">
                <a:solidFill>
                  <a:srgbClr val="3333FF"/>
                </a:solidFill>
              </a:rPr>
              <a:t>最合理 </a:t>
            </a:r>
            <a:r>
              <a:rPr lang="zh-CN" altLang="en-US" sz="2400" b="0" dirty="0"/>
              <a:t>的一种方案</a:t>
            </a:r>
            <a:r>
              <a:rPr lang="en-US" altLang="zh-CN" sz="2400" b="0" dirty="0"/>
              <a:t>,</a:t>
            </a:r>
            <a:r>
              <a:rPr lang="zh-CN" altLang="en-US" sz="2400" b="0" dirty="0"/>
              <a:t>以达到</a:t>
            </a:r>
            <a:r>
              <a:rPr lang="zh-CN" altLang="en-US" sz="2400" b="0" dirty="0">
                <a:solidFill>
                  <a:srgbClr val="3333FF"/>
                </a:solidFill>
              </a:rPr>
              <a:t>最佳目标</a:t>
            </a:r>
            <a:r>
              <a:rPr lang="zh-CN" altLang="en-US" sz="2400" b="0" dirty="0"/>
              <a:t>的科学</a:t>
            </a:r>
            <a:r>
              <a:rPr lang="en-US" altLang="zh-CN" sz="2400" dirty="0"/>
              <a:t>.</a:t>
            </a:r>
          </a:p>
          <a:p>
            <a:r>
              <a:rPr lang="zh-CN" altLang="en-US" sz="2400" b="0" dirty="0"/>
              <a:t>达到最佳目标的方案就是</a:t>
            </a:r>
            <a:r>
              <a:rPr lang="zh-CN" altLang="en-US" sz="2400" dirty="0">
                <a:solidFill>
                  <a:srgbClr val="3333FF"/>
                </a:solidFill>
              </a:rPr>
              <a:t>最优方案</a:t>
            </a:r>
            <a:r>
              <a:rPr lang="en-US" altLang="zh-CN" sz="2400" dirty="0"/>
              <a:t>,</a:t>
            </a:r>
            <a:r>
              <a:rPr lang="zh-CN" altLang="en-US" sz="2400" b="0" dirty="0"/>
              <a:t>寻找最优方案的方法</a:t>
            </a:r>
            <a:r>
              <a:rPr lang="en-US" altLang="zh-CN" sz="2400" dirty="0"/>
              <a:t>----</a:t>
            </a:r>
            <a:r>
              <a:rPr lang="zh-CN" altLang="en-US" sz="2400" dirty="0">
                <a:solidFill>
                  <a:srgbClr val="3333FF"/>
                </a:solidFill>
              </a:rPr>
              <a:t>最优化方法</a:t>
            </a:r>
            <a:r>
              <a:rPr lang="en-US" altLang="zh-CN" sz="2400" dirty="0"/>
              <a:t>(</a:t>
            </a:r>
            <a:r>
              <a:rPr lang="zh-CN" altLang="en-US" sz="2400" dirty="0"/>
              <a:t>算法</a:t>
            </a:r>
            <a:r>
              <a:rPr lang="en-US" altLang="zh-CN" sz="2400" dirty="0"/>
              <a:t>)</a:t>
            </a:r>
          </a:p>
        </p:txBody>
      </p:sp>
      <p:sp>
        <p:nvSpPr>
          <p:cNvPr id="4" name="矩形 3"/>
          <p:cNvSpPr/>
          <p:nvPr/>
        </p:nvSpPr>
        <p:spPr>
          <a:xfrm>
            <a:off x="3945949" y="5330778"/>
            <a:ext cx="4726413" cy="839017"/>
          </a:xfrm>
          <a:prstGeom prst="rect">
            <a:avLst/>
          </a:prstGeom>
          <a:solidFill>
            <a:schemeClr val="accent5">
              <a:lumMod val="75000"/>
            </a:schemeClr>
          </a:solidFill>
        </p:spPr>
        <p:txBody>
          <a:bodyPr wrap="square">
            <a:spAutoFit/>
          </a:bodyPr>
          <a:lstStyle/>
          <a:p>
            <a:pPr eaLnBrk="1" hangingPunct="1">
              <a:defRPr/>
            </a:pPr>
            <a:r>
              <a:rPr lang="zh-CN" altLang="en-US" sz="2400" b="1" dirty="0">
                <a:solidFill>
                  <a:srgbClr val="FF3300"/>
                </a:solidFill>
                <a:latin typeface="华文隶书" panose="02010800040101010101" pitchFamily="2" charset="-122"/>
                <a:ea typeface="华文隶书" panose="02010800040101010101" pitchFamily="2" charset="-122"/>
              </a:rPr>
              <a:t>最优化首先是一种理念</a:t>
            </a:r>
            <a:r>
              <a:rPr lang="en-US" altLang="zh-CN" sz="2400" b="1" dirty="0">
                <a:solidFill>
                  <a:srgbClr val="FF3300"/>
                </a:solidFill>
                <a:latin typeface="华文隶书" panose="02010800040101010101" pitchFamily="2" charset="-122"/>
                <a:ea typeface="华文隶书" panose="02010800040101010101" pitchFamily="2" charset="-122"/>
              </a:rPr>
              <a:t>,</a:t>
            </a:r>
            <a:r>
              <a:rPr lang="zh-CN" altLang="en-US" sz="2400" b="1" dirty="0">
                <a:solidFill>
                  <a:srgbClr val="FF3300"/>
                </a:solidFill>
                <a:latin typeface="华文隶书" panose="02010800040101010101" pitchFamily="2" charset="-122"/>
                <a:ea typeface="华文隶书" panose="02010800040101010101" pitchFamily="2" charset="-122"/>
              </a:rPr>
              <a:t>其次才是一种方法</a:t>
            </a:r>
            <a:r>
              <a:rPr lang="en-US" altLang="zh-CN" sz="2400" b="1" dirty="0">
                <a:solidFill>
                  <a:srgbClr val="FF3300"/>
                </a:solidFill>
                <a:latin typeface="华文隶书" panose="02010800040101010101" pitchFamily="2" charset="-122"/>
                <a:ea typeface="华文隶书" panose="02010800040101010101" pitchFamily="2" charset="-122"/>
              </a:rPr>
              <a:t>.</a:t>
            </a:r>
          </a:p>
        </p:txBody>
      </p:sp>
      <p:sp>
        <p:nvSpPr>
          <p:cNvPr id="5" name="Text Box 6"/>
          <p:cNvSpPr txBox="1">
            <a:spLocks noChangeArrowheads="1"/>
          </p:cNvSpPr>
          <p:nvPr/>
        </p:nvSpPr>
        <p:spPr bwMode="auto">
          <a:xfrm>
            <a:off x="448896" y="3783319"/>
            <a:ext cx="3208702" cy="24622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dirty="0">
                <a:ea typeface="黑体" panose="02010609060101010101" pitchFamily="2" charset="-122"/>
              </a:rPr>
              <a:t>内涵：“三个代表”</a:t>
            </a:r>
            <a:endParaRPr lang="zh-CN" altLang="en-US" dirty="0">
              <a:latin typeface="黑体" panose="02010609060101010101" pitchFamily="2" charset="-122"/>
              <a:ea typeface="黑体" panose="02010609060101010101" pitchFamily="2" charset="-122"/>
            </a:endParaRPr>
          </a:p>
          <a:p>
            <a:pPr eaLnBrk="1" hangingPunct="1">
              <a:spcBef>
                <a:spcPct val="50000"/>
              </a:spcBef>
            </a:pPr>
            <a:r>
              <a:rPr lang="zh-CN" altLang="en-US" b="1" dirty="0">
                <a:latin typeface="楷体_GB2312" panose="02010609030101010101" pitchFamily="49" charset="-122"/>
                <a:ea typeface="楷体_GB2312" panose="02010609030101010101" pitchFamily="49" charset="-122"/>
              </a:rPr>
              <a:t>模型</a:t>
            </a:r>
          </a:p>
          <a:p>
            <a:pPr eaLnBrk="1" hangingPunct="1">
              <a:spcBef>
                <a:spcPct val="50000"/>
              </a:spcBef>
            </a:pPr>
            <a:r>
              <a:rPr lang="zh-CN" altLang="en-US" b="1" dirty="0">
                <a:latin typeface="楷体_GB2312" panose="02010609030101010101" pitchFamily="49" charset="-122"/>
                <a:ea typeface="楷体_GB2312" panose="02010609030101010101" pitchFamily="49" charset="-122"/>
              </a:rPr>
              <a:t>理论</a:t>
            </a:r>
          </a:p>
          <a:p>
            <a:pPr eaLnBrk="1" hangingPunct="1">
              <a:spcBef>
                <a:spcPct val="50000"/>
              </a:spcBef>
            </a:pPr>
            <a:r>
              <a:rPr lang="zh-CN" altLang="en-US" b="1" dirty="0">
                <a:latin typeface="楷体_GB2312" panose="02010609030101010101" pitchFamily="49" charset="-122"/>
                <a:ea typeface="楷体_GB2312" panose="02010609030101010101" pitchFamily="49" charset="-122"/>
              </a:rPr>
              <a:t>算法</a:t>
            </a:r>
          </a:p>
        </p:txBody>
      </p:sp>
      <p:sp>
        <p:nvSpPr>
          <p:cNvPr id="7" name="文本框 6"/>
          <p:cNvSpPr txBox="1"/>
          <p:nvPr/>
        </p:nvSpPr>
        <p:spPr>
          <a:xfrm>
            <a:off x="3999295" y="3520517"/>
            <a:ext cx="4673066" cy="1643527"/>
          </a:xfrm>
          <a:prstGeom prst="rect">
            <a:avLst/>
          </a:prstGeom>
          <a:solidFill>
            <a:srgbClr val="FFFF00"/>
          </a:solidFill>
        </p:spPr>
        <p:txBody>
          <a:bodyPr wrap="square">
            <a:spAutoFit/>
          </a:bodyPr>
          <a:lstStyle/>
          <a:p>
            <a:pPr eaLnBrk="1" hangingPunct="1">
              <a:spcBef>
                <a:spcPct val="20000"/>
              </a:spcBef>
              <a:defRPr/>
            </a:pPr>
            <a:r>
              <a:rPr lang="en-US" altLang="zh-CN" sz="2400" i="1" kern="0" dirty="0">
                <a:solidFill>
                  <a:srgbClr val="000066"/>
                </a:solidFill>
                <a:latin typeface="Times New Roman" panose="02020603050405020304" pitchFamily="18" charset="0"/>
                <a:ea typeface="宋体" panose="02010600030101010101" pitchFamily="2" charset="-122"/>
              </a:rPr>
              <a:t>Nothing takes place in the world whose meaning is not that of some maximum or minimum.    </a:t>
            </a:r>
          </a:p>
          <a:p>
            <a:pPr eaLnBrk="1" hangingPunct="1">
              <a:spcBef>
                <a:spcPct val="20000"/>
              </a:spcBef>
              <a:defRPr/>
            </a:pPr>
            <a:r>
              <a:rPr lang="en-US" altLang="zh-CN" sz="2400" i="1" kern="0" dirty="0">
                <a:solidFill>
                  <a:srgbClr val="000066"/>
                </a:solidFill>
                <a:latin typeface="Times New Roman" panose="02020603050405020304" pitchFamily="18" charset="0"/>
                <a:ea typeface="宋体" panose="02010600030101010101" pitchFamily="2" charset="-122"/>
              </a:rPr>
              <a:t>----L. Euler (1707 – 1783)</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idx="4294967295"/>
          </p:nvPr>
        </p:nvSpPr>
        <p:spPr>
          <a:xfrm>
            <a:off x="306070" y="194310"/>
            <a:ext cx="8142605" cy="712470"/>
          </a:xfrm>
        </p:spPr>
        <p:txBody>
          <a:bodyPr/>
          <a:lstStyle/>
          <a:p>
            <a:r>
              <a:rPr lang="zh-CN" altLang="en-US" sz="3600" dirty="0"/>
              <a:t>一个简单的优化例子</a:t>
            </a:r>
          </a:p>
        </p:txBody>
      </p:sp>
      <p:sp>
        <p:nvSpPr>
          <p:cNvPr id="39939" name="内容占位符 2"/>
          <p:cNvSpPr>
            <a:spLocks noGrp="1"/>
          </p:cNvSpPr>
          <p:nvPr>
            <p:ph idx="1"/>
          </p:nvPr>
        </p:nvSpPr>
        <p:spPr>
          <a:xfrm>
            <a:off x="434340" y="1013460"/>
            <a:ext cx="8308340" cy="3259455"/>
          </a:xfrm>
        </p:spPr>
        <p:txBody>
          <a:bodyPr/>
          <a:lstStyle/>
          <a:p>
            <a:r>
              <a:rPr lang="zh-CN" altLang="en-US" sz="2400" b="0" dirty="0">
                <a:latin typeface="Times New Roman" panose="02020603050405020304" pitchFamily="18" charset="0"/>
                <a:cs typeface="Times New Roman" panose="02020603050405020304" pitchFamily="18" charset="0"/>
              </a:rPr>
              <a:t>马特经营一家中等规模的钻石批发店</a:t>
            </a: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每年马特都要到比利时的</a:t>
            </a:r>
            <a:r>
              <a:rPr lang="zh-CN" altLang="en-US" sz="2400" b="0" dirty="0"/>
              <a:t>安特卫普</a:t>
            </a:r>
            <a:r>
              <a:rPr lang="en-US" altLang="zh-CN" sz="2400" b="0" dirty="0"/>
              <a:t>(</a:t>
            </a:r>
            <a:r>
              <a:rPr lang="en-US" altLang="zh-CN" sz="2400" b="0" dirty="0">
                <a:latin typeface="Times New Roman" panose="02020603050405020304" pitchFamily="18" charset="0"/>
                <a:cs typeface="Times New Roman" panose="02020603050405020304" pitchFamily="18" charset="0"/>
              </a:rPr>
              <a:t>Antwerp</a:t>
            </a:r>
            <a:r>
              <a:rPr lang="en-US" altLang="zh-CN" sz="2400" b="0" dirty="0"/>
              <a:t>)</a:t>
            </a:r>
            <a:r>
              <a:rPr lang="zh-CN" altLang="en-US" sz="2400" b="0" dirty="0">
                <a:latin typeface="Times New Roman" panose="02020603050405020304" pitchFamily="18" charset="0"/>
                <a:cs typeface="Times New Roman" panose="02020603050405020304" pitchFamily="18" charset="0"/>
              </a:rPr>
              <a:t>国际市场进行采购</a:t>
            </a: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钻石的批发价是每一克拉大约</a:t>
            </a:r>
            <a:r>
              <a:rPr lang="en-US" altLang="zh-CN" sz="2400" b="0" dirty="0">
                <a:latin typeface="Times New Roman" panose="02020603050405020304" pitchFamily="18" charset="0"/>
                <a:cs typeface="Times New Roman" panose="02020603050405020304" pitchFamily="18" charset="0"/>
              </a:rPr>
              <a:t>700 </a:t>
            </a:r>
            <a:r>
              <a:rPr lang="zh-CN" altLang="en-US" sz="2400" b="0" dirty="0">
                <a:latin typeface="Times New Roman" panose="02020603050405020304" pitchFamily="18" charset="0"/>
                <a:cs typeface="Times New Roman" panose="02020603050405020304" pitchFamily="18" charset="0"/>
              </a:rPr>
              <a:t>元</a:t>
            </a: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根据</a:t>
            </a:r>
            <a:r>
              <a:rPr lang="zh-CN" altLang="en-US" sz="2400" b="0" dirty="0"/>
              <a:t>安特卫普</a:t>
            </a:r>
            <a:r>
              <a:rPr lang="zh-CN" altLang="en-US" sz="2400" b="0" dirty="0">
                <a:latin typeface="Times New Roman" panose="02020603050405020304" pitchFamily="18" charset="0"/>
                <a:cs typeface="Times New Roman" panose="02020603050405020304" pitchFamily="18" charset="0"/>
              </a:rPr>
              <a:t>的市场规则，每次他要购买至少</a:t>
            </a:r>
            <a:r>
              <a:rPr lang="en-US" altLang="zh-CN" sz="2400" b="0" dirty="0">
                <a:latin typeface="Times New Roman" panose="02020603050405020304" pitchFamily="18" charset="0"/>
                <a:cs typeface="Times New Roman" panose="02020603050405020304" pitchFamily="18" charset="0"/>
              </a:rPr>
              <a:t>100</a:t>
            </a:r>
            <a:r>
              <a:rPr lang="zh-CN" altLang="en-US" sz="2400" b="0" dirty="0">
                <a:latin typeface="Times New Roman" panose="02020603050405020304" pitchFamily="18" charset="0"/>
                <a:cs typeface="Times New Roman" panose="02020603050405020304" pitchFamily="18" charset="0"/>
              </a:rPr>
              <a:t>克拉</a:t>
            </a: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马特和他的员工将买回的钻石卖给珠宝商，利润是每克拉</a:t>
            </a:r>
            <a:r>
              <a:rPr lang="en-US" altLang="zh-CN" sz="2400" b="0" dirty="0">
                <a:latin typeface="Times New Roman" panose="02020603050405020304" pitchFamily="18" charset="0"/>
                <a:cs typeface="Times New Roman" panose="02020603050405020304" pitchFamily="18" charset="0"/>
              </a:rPr>
              <a:t>200</a:t>
            </a:r>
            <a:r>
              <a:rPr lang="zh-CN" altLang="en-US" sz="2400" b="0" dirty="0">
                <a:latin typeface="Times New Roman" panose="02020603050405020304" pitchFamily="18" charset="0"/>
                <a:cs typeface="Times New Roman" panose="02020603050405020304" pitchFamily="18" charset="0"/>
              </a:rPr>
              <a:t>元</a:t>
            </a: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每一次</a:t>
            </a:r>
            <a:r>
              <a:rPr lang="zh-CN" altLang="en-US" sz="2400" b="0" dirty="0"/>
              <a:t>安特卫普</a:t>
            </a:r>
            <a:r>
              <a:rPr lang="zh-CN" altLang="en-US" sz="2400" b="0" dirty="0">
                <a:latin typeface="Times New Roman" panose="02020603050405020304" pitchFamily="18" charset="0"/>
                <a:cs typeface="Times New Roman" panose="02020603050405020304" pitchFamily="18" charset="0"/>
              </a:rPr>
              <a:t>之行需要</a:t>
            </a:r>
            <a:r>
              <a:rPr lang="en-US" altLang="zh-CN" sz="2400" b="0" dirty="0">
                <a:latin typeface="Times New Roman" panose="02020603050405020304" pitchFamily="18" charset="0"/>
                <a:cs typeface="Times New Roman" panose="02020603050405020304" pitchFamily="18" charset="0"/>
              </a:rPr>
              <a:t>1</a:t>
            </a:r>
            <a:r>
              <a:rPr lang="zh-CN" altLang="en-US" sz="2400" b="0" dirty="0">
                <a:latin typeface="Times New Roman" panose="02020603050405020304" pitchFamily="18" charset="0"/>
                <a:cs typeface="Times New Roman" panose="02020603050405020304" pitchFamily="18" charset="0"/>
              </a:rPr>
              <a:t>周的时间</a:t>
            </a:r>
            <a:r>
              <a:rPr lang="en-US" altLang="zh-CN" sz="2400" b="0" dirty="0">
                <a:latin typeface="Times New Roman" panose="02020603050405020304" pitchFamily="18" charset="0"/>
                <a:cs typeface="Times New Roman" panose="02020603050405020304" pitchFamily="18" charset="0"/>
              </a:rPr>
              <a:t>(</a:t>
            </a:r>
            <a:r>
              <a:rPr lang="zh-CN" altLang="en-US" sz="2400" b="0" dirty="0">
                <a:latin typeface="Times New Roman" panose="02020603050405020304" pitchFamily="18" charset="0"/>
                <a:cs typeface="Times New Roman" panose="02020603050405020304" pitchFamily="18" charset="0"/>
              </a:rPr>
              <a:t>包括其准备时间</a:t>
            </a:r>
            <a:r>
              <a:rPr lang="en-US" altLang="zh-CN" sz="2400" b="0" dirty="0">
                <a:latin typeface="Times New Roman" panose="02020603050405020304" pitchFamily="18" charset="0"/>
                <a:cs typeface="Times New Roman" panose="02020603050405020304" pitchFamily="18" charset="0"/>
              </a:rPr>
              <a:t>)</a:t>
            </a:r>
            <a:r>
              <a:rPr lang="zh-CN" altLang="en-US" sz="2400" b="0" dirty="0">
                <a:latin typeface="Times New Roman" panose="02020603050405020304" pitchFamily="18" charset="0"/>
                <a:cs typeface="Times New Roman" panose="02020603050405020304" pitchFamily="18" charset="0"/>
              </a:rPr>
              <a:t>，花费大概</a:t>
            </a:r>
            <a:r>
              <a:rPr lang="en-US" altLang="zh-CN" sz="2400" b="0" dirty="0">
                <a:latin typeface="Times New Roman" panose="02020603050405020304" pitchFamily="18" charset="0"/>
                <a:cs typeface="Times New Roman" panose="02020603050405020304" pitchFamily="18" charset="0"/>
              </a:rPr>
              <a:t> 2000</a:t>
            </a:r>
            <a:r>
              <a:rPr lang="zh-CN" altLang="en-US" sz="2400" b="0" dirty="0">
                <a:latin typeface="Times New Roman" panose="02020603050405020304" pitchFamily="18" charset="0"/>
                <a:cs typeface="Times New Roman" panose="02020603050405020304" pitchFamily="18" charset="0"/>
              </a:rPr>
              <a:t>元</a:t>
            </a:r>
            <a:r>
              <a:rPr lang="en-US" altLang="zh-CN" sz="2400" b="0" dirty="0">
                <a:latin typeface="Times New Roman" panose="02020603050405020304" pitchFamily="18" charset="0"/>
                <a:cs typeface="Times New Roman" panose="02020603050405020304" pitchFamily="18" charset="0"/>
              </a:rPr>
              <a:t>.</a:t>
            </a:r>
          </a:p>
          <a:p>
            <a:pPr>
              <a:buFontTx/>
              <a:buNone/>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顾客的需求如图表</a:t>
            </a:r>
            <a:r>
              <a:rPr lang="en-US" altLang="zh-CN" sz="2400" b="0" dirty="0">
                <a:latin typeface="Times New Roman" panose="02020603050405020304" pitchFamily="18" charset="0"/>
                <a:cs typeface="Times New Roman" panose="02020603050405020304" pitchFamily="18" charset="0"/>
              </a:rPr>
              <a:t>(a)</a:t>
            </a:r>
            <a:r>
              <a:rPr lang="zh-CN" altLang="en-US" sz="2400" b="0" dirty="0">
                <a:latin typeface="Times New Roman" panose="02020603050405020304" pitchFamily="18" charset="0"/>
                <a:cs typeface="Times New Roman" panose="02020603050405020304" pitchFamily="18" charset="0"/>
              </a:rPr>
              <a:t>所示，看起来其生意很不错</a:t>
            </a: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根据以往销售情况，他每周的销量大概有</a:t>
            </a:r>
            <a:r>
              <a:rPr lang="en-US" altLang="zh-CN" sz="2400" b="0" dirty="0">
                <a:latin typeface="Times New Roman" panose="02020603050405020304" pitchFamily="18" charset="0"/>
                <a:cs typeface="Times New Roman" panose="02020603050405020304" pitchFamily="18" charset="0"/>
              </a:rPr>
              <a:t> 55 </a:t>
            </a:r>
            <a:r>
              <a:rPr lang="zh-CN" altLang="en-US" sz="2400" b="0" dirty="0">
                <a:latin typeface="Times New Roman" panose="02020603050405020304" pitchFamily="18" charset="0"/>
                <a:cs typeface="Times New Roman" panose="02020603050405020304" pitchFamily="18" charset="0"/>
              </a:rPr>
              <a:t>克拉</a:t>
            </a:r>
            <a:r>
              <a:rPr lang="en-US" altLang="zh-CN" sz="2400" b="0" dirty="0">
                <a:latin typeface="Times New Roman" panose="02020603050405020304" pitchFamily="18" charset="0"/>
                <a:cs typeface="Times New Roman" panose="02020603050405020304" pitchFamily="18" charset="0"/>
              </a:rPr>
              <a:t>. </a:t>
            </a:r>
            <a:endParaRPr lang="zh-CN" altLang="en-US" sz="2400" b="0"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F812CE6A-F1AE-4760-B38D-29D6E14DB536}"/>
              </a:ext>
            </a:extLst>
          </p:cNvPr>
          <p:cNvPicPr>
            <a:picLocks noChangeAspect="1"/>
          </p:cNvPicPr>
          <p:nvPr/>
        </p:nvPicPr>
        <p:blipFill>
          <a:blip r:embed="rId2"/>
          <a:stretch>
            <a:fillRect/>
          </a:stretch>
        </p:blipFill>
        <p:spPr>
          <a:xfrm>
            <a:off x="1097526" y="4396091"/>
            <a:ext cx="7460702" cy="1003682"/>
          </a:xfrm>
          <a:prstGeom prst="rect">
            <a:avLst/>
          </a:prstGeom>
        </p:spPr>
      </p:pic>
      <p:sp>
        <p:nvSpPr>
          <p:cNvPr id="8" name="文本框 7">
            <a:extLst>
              <a:ext uri="{FF2B5EF4-FFF2-40B4-BE49-F238E27FC236}">
                <a16:creationId xmlns:a16="http://schemas.microsoft.com/office/drawing/2014/main" id="{8E4117D6-2E58-46F6-818D-09D36E8844B2}"/>
              </a:ext>
            </a:extLst>
          </p:cNvPr>
          <p:cNvSpPr txBox="1"/>
          <p:nvPr/>
        </p:nvSpPr>
        <p:spPr>
          <a:xfrm>
            <a:off x="2719137" y="5653057"/>
            <a:ext cx="4572000" cy="369332"/>
          </a:xfrm>
          <a:prstGeom prst="rect">
            <a:avLst/>
          </a:prstGeom>
          <a:noFill/>
        </p:spPr>
        <p:txBody>
          <a:bodyPr wrap="square">
            <a:spAutoFit/>
          </a:bodyPr>
          <a:lstStyle/>
          <a:p>
            <a:r>
              <a:rPr lang="en-US" altLang="zh-CN" sz="1800" dirty="0">
                <a:latin typeface="Times New Roman" panose="02020603050405020304" pitchFamily="18" charset="0"/>
                <a:cs typeface="Times New Roman" panose="02020603050405020304" pitchFamily="18" charset="0"/>
              </a:rPr>
              <a:t>(a)</a:t>
            </a:r>
            <a:r>
              <a:rPr lang="zh-CN" altLang="en-US"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周顾客需求，平均</a:t>
            </a:r>
            <a:r>
              <a:rPr lang="en-US" altLang="zh-CN" sz="1800" dirty="0">
                <a:latin typeface="Times New Roman" panose="02020603050405020304" pitchFamily="18" charset="0"/>
                <a:cs typeface="Times New Roman" panose="02020603050405020304" pitchFamily="18" charset="0"/>
              </a:rPr>
              <a:t>55</a:t>
            </a:r>
            <a:r>
              <a:rPr lang="zh-CN" altLang="en-US" sz="1800" dirty="0">
                <a:latin typeface="Times New Roman" panose="02020603050405020304" pitchFamily="18" charset="0"/>
                <a:cs typeface="Times New Roman" panose="02020603050405020304" pitchFamily="18" charset="0"/>
              </a:rPr>
              <a:t>克拉</a:t>
            </a:r>
            <a:endParaRPr lang="zh-CN" altLang="en-US" dirty="0"/>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E47E3EC6-3D13-46CB-BC7B-2CAA41F3DF15}"/>
              </a:ext>
            </a:extLst>
          </p:cNvPr>
          <p:cNvPicPr>
            <a:picLocks noGrp="1" noChangeAspect="1"/>
          </p:cNvPicPr>
          <p:nvPr>
            <p:ph idx="1"/>
          </p:nvPr>
        </p:nvPicPr>
        <p:blipFill>
          <a:blip r:embed="rId2"/>
          <a:stretch>
            <a:fillRect/>
          </a:stretch>
        </p:blipFill>
        <p:spPr>
          <a:xfrm>
            <a:off x="692657" y="1397047"/>
            <a:ext cx="8038930" cy="3377084"/>
          </a:xfrm>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BD9C1F62-ACF5-4AFD-9BCD-48C62740D470}"/>
              </a:ext>
            </a:extLst>
          </p:cNvPr>
          <p:cNvPicPr>
            <a:picLocks noGrp="1" noChangeAspect="1"/>
          </p:cNvPicPr>
          <p:nvPr>
            <p:ph idx="1"/>
          </p:nvPr>
        </p:nvPicPr>
        <p:blipFill>
          <a:blip r:embed="rId2"/>
          <a:stretch>
            <a:fillRect/>
          </a:stretch>
        </p:blipFill>
        <p:spPr>
          <a:xfrm>
            <a:off x="929238" y="1555217"/>
            <a:ext cx="6799848" cy="4583826"/>
          </a:xfrm>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矩形 4"/>
          <p:cNvSpPr>
            <a:spLocks noChangeArrowheads="1"/>
          </p:cNvSpPr>
          <p:nvPr/>
        </p:nvSpPr>
        <p:spPr bwMode="auto">
          <a:xfrm>
            <a:off x="401854" y="1049688"/>
            <a:ext cx="8643938"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dirty="0">
                <a:latin typeface="Times New Roman" panose="02020603050405020304" pitchFamily="18" charset="0"/>
                <a:cs typeface="Times New Roman" panose="02020603050405020304" pitchFamily="18" charset="0"/>
              </a:rPr>
              <a:t>(C)</a:t>
            </a:r>
            <a:r>
              <a:rPr lang="zh-CN" altLang="en-US" sz="2400" dirty="0">
                <a:latin typeface="Times New Roman" panose="02020603050405020304" pitchFamily="18" charset="0"/>
                <a:cs typeface="Times New Roman" panose="02020603050405020304" pitchFamily="18" charset="0"/>
              </a:rPr>
              <a:t>图反映了马特的烦恼</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根据马特的采购和销售情况来看，每周的库存量差异很大。</a:t>
            </a:r>
            <a:endParaRPr lang="en-US" altLang="zh-CN" sz="2400" dirty="0">
              <a:latin typeface="Times New Roman" panose="02020603050405020304" pitchFamily="18" charset="0"/>
              <a:cs typeface="Times New Roman" panose="02020603050405020304" pitchFamily="18" charset="0"/>
            </a:endParaRPr>
          </a:p>
          <a:p>
            <a:pPr eaLnBrk="1" hangingPunct="1">
              <a:spcBef>
                <a:spcPct val="0"/>
              </a:spcBef>
              <a:buFontTx/>
              <a:buNone/>
            </a:pPr>
            <a:r>
              <a:rPr lang="zh-CN" altLang="en-US" sz="2400" dirty="0">
                <a:latin typeface="Times New Roman" panose="02020603050405020304" pitchFamily="18" charset="0"/>
                <a:cs typeface="Times New Roman" panose="02020603050405020304" pitchFamily="18" charset="0"/>
              </a:rPr>
              <a:t>有时候马特觉得他的库存太多，几百克拉的钻石库存数周会占用很大一块资金，而这些资金他原本可以用于投资其他领域。</a:t>
            </a:r>
            <a:endParaRPr lang="en-US" altLang="zh-CN" sz="2400" dirty="0">
              <a:latin typeface="Times New Roman" panose="02020603050405020304" pitchFamily="18" charset="0"/>
              <a:cs typeface="Times New Roman" panose="02020603050405020304" pitchFamily="18" charset="0"/>
            </a:endParaRPr>
          </a:p>
        </p:txBody>
      </p:sp>
      <p:sp>
        <p:nvSpPr>
          <p:cNvPr id="6" name="内容占位符 2">
            <a:extLst>
              <a:ext uri="{FF2B5EF4-FFF2-40B4-BE49-F238E27FC236}">
                <a16:creationId xmlns:a16="http://schemas.microsoft.com/office/drawing/2014/main" id="{C2F18EF2-489B-4C24-A2DD-A035FF453BAC}"/>
              </a:ext>
            </a:extLst>
          </p:cNvPr>
          <p:cNvSpPr>
            <a:spLocks noGrp="1"/>
          </p:cNvSpPr>
          <p:nvPr>
            <p:ph idx="1"/>
          </p:nvPr>
        </p:nvSpPr>
        <p:spPr>
          <a:xfrm>
            <a:off x="370571" y="2698283"/>
            <a:ext cx="8195913" cy="2018096"/>
          </a:xfrm>
        </p:spPr>
        <p:txBody>
          <a:bodyPr/>
          <a:lstStyle/>
          <a:p>
            <a:pPr>
              <a:buFontTx/>
              <a:buNone/>
            </a:pPr>
            <a:r>
              <a:rPr lang="zh-CN" altLang="en-US" sz="2400" b="0" dirty="0">
                <a:latin typeface="Times New Roman" panose="02020603050405020304" pitchFamily="18" charset="0"/>
                <a:cs typeface="Times New Roman" panose="02020603050405020304" pitchFamily="18" charset="0"/>
              </a:rPr>
              <a:t>马特估计了一下他的库存费用，每周每克拉大概要占价值额</a:t>
            </a:r>
            <a:r>
              <a:rPr lang="en-US" altLang="zh-CN" sz="2400" b="0" dirty="0">
                <a:latin typeface="Times New Roman" panose="02020603050405020304" pitchFamily="18" charset="0"/>
                <a:cs typeface="Times New Roman" panose="02020603050405020304" pitchFamily="18" charset="0"/>
              </a:rPr>
              <a:t>0.5%</a:t>
            </a:r>
            <a:r>
              <a:rPr lang="zh-CN" altLang="en-US" sz="2400" b="0" dirty="0">
                <a:latin typeface="Times New Roman" panose="02020603050405020304" pitchFamily="18" charset="0"/>
                <a:cs typeface="Times New Roman" panose="02020603050405020304" pitchFamily="18" charset="0"/>
              </a:rPr>
              <a:t>的比率</a:t>
            </a: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即</a:t>
            </a:r>
            <a:r>
              <a:rPr lang="en-US" altLang="zh-CN" sz="2400" b="0" dirty="0">
                <a:latin typeface="Times New Roman" panose="02020603050405020304" pitchFamily="18" charset="0"/>
                <a:cs typeface="Times New Roman" panose="02020603050405020304" pitchFamily="18" charset="0"/>
              </a:rPr>
              <a:t> 0.005</a:t>
            </a:r>
            <a:r>
              <a:rPr lang="en-US" altLang="zh-CN" sz="2400" b="0" dirty="0">
                <a:latin typeface="Times New Roman" panose="02020603050405020304" pitchFamily="18" charset="0"/>
                <a:cs typeface="Times New Roman" panose="02020603050405020304" pitchFamily="18" charset="0"/>
                <a:sym typeface="Symbol" panose="05050102010706020507" pitchFamily="18" charset="2"/>
              </a:rPr>
              <a:t>700=3.5 </a:t>
            </a:r>
            <a:r>
              <a:rPr lang="zh-CN" altLang="en-US" sz="2400" b="0" dirty="0">
                <a:latin typeface="Times New Roman" panose="02020603050405020304" pitchFamily="18" charset="0"/>
                <a:cs typeface="Times New Roman" panose="02020603050405020304" pitchFamily="18" charset="0"/>
                <a:sym typeface="Symbol" panose="05050102010706020507" pitchFamily="18" charset="2"/>
              </a:rPr>
              <a:t>元</a:t>
            </a:r>
            <a:r>
              <a:rPr lang="en-US" altLang="zh-CN" sz="2400" b="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0" dirty="0">
                <a:latin typeface="Times New Roman" panose="02020603050405020304" pitchFamily="18" charset="0"/>
                <a:cs typeface="Times New Roman" panose="02020603050405020304" pitchFamily="18" charset="0"/>
                <a:sym typeface="Symbol" panose="05050102010706020507" pitchFamily="18" charset="2"/>
              </a:rPr>
              <a:t>每周每克拉</a:t>
            </a:r>
            <a:r>
              <a:rPr lang="en-US" altLang="zh-CN" sz="2400" b="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0"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0" dirty="0">
              <a:latin typeface="Times New Roman" panose="02020603050405020304" pitchFamily="18" charset="0"/>
              <a:cs typeface="Times New Roman" panose="02020603050405020304" pitchFamily="18" charset="0"/>
              <a:sym typeface="Symbol" panose="05050102010706020507" pitchFamily="18" charset="2"/>
            </a:endParaRPr>
          </a:p>
          <a:p>
            <a:pPr>
              <a:buFontTx/>
              <a:buNone/>
            </a:pPr>
            <a:r>
              <a:rPr lang="zh-CN" altLang="en-US" sz="2400" b="0" dirty="0">
                <a:latin typeface="Times New Roman" panose="02020603050405020304" pitchFamily="18" charset="0"/>
                <a:cs typeface="Times New Roman" panose="02020603050405020304" pitchFamily="18" charset="0"/>
                <a:sym typeface="Symbol" panose="05050102010706020507" pitchFamily="18" charset="2"/>
              </a:rPr>
              <a:t>有时候马特又觉得库存不足，由于缺货导致其利润损失。</a:t>
            </a:r>
            <a:endParaRPr lang="zh-CN" altLang="en-US" sz="2400" b="0"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D56CCF05-19EA-4758-9B73-F0F118D983E6}"/>
              </a:ext>
            </a:extLst>
          </p:cNvPr>
          <p:cNvSpPr txBox="1"/>
          <p:nvPr/>
        </p:nvSpPr>
        <p:spPr>
          <a:xfrm>
            <a:off x="380198" y="4067543"/>
            <a:ext cx="8128536" cy="2369880"/>
          </a:xfrm>
          <a:prstGeom prst="rect">
            <a:avLst/>
          </a:prstGeom>
          <a:noFill/>
        </p:spPr>
        <p:txBody>
          <a:bodyPr wrap="square">
            <a:spAutoFit/>
          </a:bodyPr>
          <a:lstStyle/>
          <a:p>
            <a:pPr marL="0" indent="0">
              <a:buNone/>
            </a:pPr>
            <a:r>
              <a:rPr lang="zh-CN" altLang="en-US" sz="2400" b="0" dirty="0">
                <a:latin typeface="Times New Roman" panose="02020603050405020304" pitchFamily="18" charset="0"/>
                <a:cs typeface="Times New Roman" panose="02020603050405020304" pitchFamily="18" charset="0"/>
              </a:rPr>
              <a:t>把前一年这些所有的费用相加：</a:t>
            </a:r>
            <a:endParaRPr lang="en-US" altLang="zh-CN" sz="2400" b="0" dirty="0">
              <a:latin typeface="Times New Roman" panose="02020603050405020304" pitchFamily="18" charset="0"/>
              <a:cs typeface="Times New Roman" panose="02020603050405020304" pitchFamily="18" charset="0"/>
            </a:endParaRPr>
          </a:p>
          <a:p>
            <a:pPr marL="0" indent="0">
              <a:buNone/>
            </a:pPr>
            <a:endParaRPr lang="en-US" altLang="zh-CN" sz="1200" b="0" dirty="0">
              <a:latin typeface="Times New Roman" panose="02020603050405020304" pitchFamily="18" charset="0"/>
              <a:cs typeface="Times New Roman" panose="02020603050405020304" pitchFamily="18" charset="0"/>
            </a:endParaRPr>
          </a:p>
          <a:p>
            <a:pPr marL="0" indent="0">
              <a:buNone/>
            </a:pPr>
            <a:r>
              <a:rPr lang="zh-CN" altLang="en-US" sz="2400" b="0" dirty="0">
                <a:latin typeface="Times New Roman" panose="02020603050405020304" pitchFamily="18" charset="0"/>
                <a:cs typeface="Times New Roman" panose="02020603050405020304" pitchFamily="18" charset="0"/>
              </a:rPr>
              <a:t> 马特估计其库存费用大约</a:t>
            </a:r>
            <a:r>
              <a:rPr lang="en-US" altLang="zh-CN" sz="2400" b="0" dirty="0">
                <a:latin typeface="Times New Roman" panose="02020603050405020304" pitchFamily="18" charset="0"/>
                <a:cs typeface="Times New Roman" panose="02020603050405020304" pitchFamily="18" charset="0"/>
              </a:rPr>
              <a:t>38,409</a:t>
            </a:r>
            <a:r>
              <a:rPr lang="zh-CN" altLang="en-US" sz="2400" b="0" dirty="0">
                <a:latin typeface="Times New Roman" panose="02020603050405020304" pitchFamily="18" charset="0"/>
                <a:cs typeface="Times New Roman" panose="02020603050405020304" pitchFamily="18" charset="0"/>
              </a:rPr>
              <a:t>元</a:t>
            </a: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因缺货而导致的利润损失（未实现利润）</a:t>
            </a:r>
            <a:r>
              <a:rPr lang="en-US" altLang="zh-CN" sz="2400" b="0" dirty="0">
                <a:latin typeface="Times New Roman" panose="02020603050405020304" pitchFamily="18" charset="0"/>
                <a:cs typeface="Times New Roman" panose="02020603050405020304" pitchFamily="18" charset="0"/>
              </a:rPr>
              <a:t>31,600</a:t>
            </a:r>
            <a:r>
              <a:rPr lang="zh-CN" altLang="en-US" sz="2400" b="0" dirty="0">
                <a:latin typeface="Times New Roman" panose="02020603050405020304" pitchFamily="18" charset="0"/>
                <a:cs typeface="Times New Roman" panose="02020603050405020304" pitchFamily="18" charset="0"/>
              </a:rPr>
              <a:t>元</a:t>
            </a: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采购费用</a:t>
            </a:r>
            <a:r>
              <a:rPr lang="en-US" altLang="zh-CN" sz="2400" b="0" dirty="0">
                <a:latin typeface="Times New Roman" panose="02020603050405020304" pitchFamily="18" charset="0"/>
                <a:cs typeface="Times New Roman" panose="02020603050405020304" pitchFamily="18" charset="0"/>
              </a:rPr>
              <a:t>24,000</a:t>
            </a:r>
            <a:r>
              <a:rPr lang="zh-CN" altLang="en-US" sz="2400" b="0" dirty="0">
                <a:latin typeface="Times New Roman" panose="02020603050405020304" pitchFamily="18" charset="0"/>
                <a:cs typeface="Times New Roman" panose="02020603050405020304" pitchFamily="18" charset="0"/>
              </a:rPr>
              <a:t>元，从而，每年的费用为</a:t>
            </a:r>
            <a:r>
              <a:rPr lang="en-US" altLang="zh-CN" sz="2400" b="0" dirty="0">
                <a:latin typeface="Times New Roman" panose="02020603050405020304" pitchFamily="18" charset="0"/>
                <a:cs typeface="Times New Roman" panose="02020603050405020304" pitchFamily="18" charset="0"/>
              </a:rPr>
              <a:t>94,009</a:t>
            </a:r>
            <a:r>
              <a:rPr lang="zh-CN" altLang="en-US" sz="2400" b="0" dirty="0">
                <a:latin typeface="Times New Roman" panose="02020603050405020304" pitchFamily="18" charset="0"/>
                <a:cs typeface="Times New Roman" panose="02020603050405020304" pitchFamily="18" charset="0"/>
              </a:rPr>
              <a:t>元。</a:t>
            </a:r>
            <a:endParaRPr lang="en-US" altLang="zh-CN" sz="2400" b="0" dirty="0">
              <a:latin typeface="Times New Roman" panose="02020603050405020304" pitchFamily="18" charset="0"/>
              <a:cs typeface="Times New Roman" panose="02020603050405020304" pitchFamily="18" charset="0"/>
            </a:endParaRPr>
          </a:p>
          <a:p>
            <a:pPr marL="0" indent="0">
              <a:buNone/>
            </a:pPr>
            <a:endParaRPr lang="en-US" altLang="zh-CN" sz="1050" b="0" dirty="0">
              <a:latin typeface="Times New Roman" panose="02020603050405020304" pitchFamily="18" charset="0"/>
              <a:cs typeface="Times New Roman" panose="02020603050405020304" pitchFamily="18" charset="0"/>
            </a:endParaRPr>
          </a:p>
          <a:p>
            <a:pPr marL="0" indent="0">
              <a:buNone/>
            </a:pPr>
            <a:r>
              <a:rPr lang="zh-CN" altLang="en-US" sz="2400" b="0" dirty="0">
                <a:latin typeface="Times New Roman" panose="02020603050405020304" pitchFamily="18" charset="0"/>
                <a:cs typeface="Times New Roman" panose="02020603050405020304" pitchFamily="18" charset="0"/>
              </a:rPr>
              <a:t>他能把这个费用降下来，做的更好一些吗？</a:t>
            </a:r>
            <a:endParaRPr lang="en-US" altLang="zh-CN" sz="2400" b="0" dirty="0">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idx="4294967295"/>
          </p:nvPr>
        </p:nvSpPr>
        <p:spPr>
          <a:xfrm>
            <a:off x="0" y="299085"/>
            <a:ext cx="7658100" cy="647700"/>
          </a:xfrm>
        </p:spPr>
        <p:txBody>
          <a:bodyPr/>
          <a:lstStyle/>
          <a:p>
            <a:r>
              <a:rPr lang="en-US" altLang="zh-CN" sz="3200" dirty="0"/>
              <a:t> </a:t>
            </a:r>
            <a:r>
              <a:rPr lang="zh-CN" altLang="en-US" sz="3200" dirty="0"/>
              <a:t>优化流程</a:t>
            </a:r>
          </a:p>
        </p:txBody>
      </p:sp>
      <p:sp>
        <p:nvSpPr>
          <p:cNvPr id="46083" name="内容占位符 2"/>
          <p:cNvSpPr>
            <a:spLocks noGrp="1"/>
          </p:cNvSpPr>
          <p:nvPr>
            <p:ph idx="1"/>
          </p:nvPr>
        </p:nvSpPr>
        <p:spPr>
          <a:xfrm>
            <a:off x="242569" y="946785"/>
            <a:ext cx="8420167" cy="1016769"/>
          </a:xfrm>
        </p:spPr>
        <p:txBody>
          <a:bodyPr/>
          <a:lstStyle/>
          <a:p>
            <a:r>
              <a:rPr lang="zh-CN" altLang="en-US" sz="2400" b="0" dirty="0">
                <a:latin typeface="Times New Roman" panose="02020603050405020304" pitchFamily="18" charset="0"/>
                <a:cs typeface="Times New Roman" panose="02020603050405020304" pitchFamily="18" charset="0"/>
              </a:rPr>
              <a:t>马特遇到的这种问题也是大多数决策者会碰到的问题，其解决的途径之一就是利用</a:t>
            </a:r>
            <a:r>
              <a:rPr lang="zh-CN" altLang="en-US" sz="2400" b="0" dirty="0">
                <a:solidFill>
                  <a:srgbClr val="FF0000"/>
                </a:solidFill>
                <a:latin typeface="Times New Roman" panose="02020603050405020304" pitchFamily="18" charset="0"/>
                <a:cs typeface="Times New Roman" panose="02020603050405020304" pitchFamily="18" charset="0"/>
              </a:rPr>
              <a:t>数学优化</a:t>
            </a:r>
            <a:r>
              <a:rPr lang="zh-CN" altLang="en-US" sz="2400" b="0" dirty="0">
                <a:latin typeface="Times New Roman" panose="02020603050405020304" pitchFamily="18" charset="0"/>
                <a:cs typeface="Times New Roman" panose="02020603050405020304" pitchFamily="18" charset="0"/>
              </a:rPr>
              <a:t>的方法。</a:t>
            </a:r>
            <a:endParaRPr lang="en-US" altLang="zh-CN" sz="2400" b="0" dirty="0">
              <a:latin typeface="Times New Roman" panose="02020603050405020304" pitchFamily="18" charset="0"/>
              <a:cs typeface="Times New Roman" panose="02020603050405020304" pitchFamily="18" charset="0"/>
            </a:endParaRPr>
          </a:p>
        </p:txBody>
      </p:sp>
      <p:sp>
        <p:nvSpPr>
          <p:cNvPr id="4" name="流程图: 可选过程 3"/>
          <p:cNvSpPr/>
          <p:nvPr/>
        </p:nvSpPr>
        <p:spPr>
          <a:xfrm>
            <a:off x="5500688" y="5072063"/>
            <a:ext cx="2141771" cy="452838"/>
          </a:xfrm>
          <a:prstGeom prst="flowChartAlternateProcess">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800" dirty="0">
                <a:solidFill>
                  <a:srgbClr val="FF0000"/>
                </a:solidFill>
              </a:rPr>
              <a:t>  结论（解）</a:t>
            </a:r>
          </a:p>
        </p:txBody>
      </p:sp>
      <p:sp>
        <p:nvSpPr>
          <p:cNvPr id="8" name="流程图: 可选过程 7"/>
          <p:cNvSpPr/>
          <p:nvPr/>
        </p:nvSpPr>
        <p:spPr>
          <a:xfrm>
            <a:off x="1214438" y="3071813"/>
            <a:ext cx="2071687" cy="714375"/>
          </a:xfrm>
          <a:prstGeom prst="flowChartAlternateProcess">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800" dirty="0">
                <a:solidFill>
                  <a:srgbClr val="FF0000"/>
                </a:solidFill>
              </a:rPr>
              <a:t>问题</a:t>
            </a:r>
          </a:p>
        </p:txBody>
      </p:sp>
      <p:sp>
        <p:nvSpPr>
          <p:cNvPr id="9" name="流程图: 可选过程 8"/>
          <p:cNvSpPr/>
          <p:nvPr/>
        </p:nvSpPr>
        <p:spPr>
          <a:xfrm>
            <a:off x="5429250" y="3071813"/>
            <a:ext cx="2071688" cy="714375"/>
          </a:xfrm>
          <a:prstGeom prst="flowChartAlternateProcess">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800" dirty="0">
                <a:solidFill>
                  <a:srgbClr val="FF0000"/>
                </a:solidFill>
              </a:rPr>
              <a:t>模型</a:t>
            </a:r>
          </a:p>
        </p:txBody>
      </p:sp>
      <p:sp>
        <p:nvSpPr>
          <p:cNvPr id="10" name="流程图: 可选过程 9"/>
          <p:cNvSpPr/>
          <p:nvPr/>
        </p:nvSpPr>
        <p:spPr>
          <a:xfrm>
            <a:off x="1214438" y="5000625"/>
            <a:ext cx="2071687" cy="714375"/>
          </a:xfrm>
          <a:prstGeom prst="flowChartAlternateProcess">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800" dirty="0">
                <a:solidFill>
                  <a:srgbClr val="FF0000"/>
                </a:solidFill>
              </a:rPr>
              <a:t>做出决策</a:t>
            </a:r>
          </a:p>
        </p:txBody>
      </p:sp>
      <p:cxnSp>
        <p:nvCxnSpPr>
          <p:cNvPr id="12" name="直接箭头连接符 11"/>
          <p:cNvCxnSpPr>
            <a:stCxn id="8" idx="3"/>
            <a:endCxn id="9" idx="1"/>
          </p:cNvCxnSpPr>
          <p:nvPr/>
        </p:nvCxnSpPr>
        <p:spPr>
          <a:xfrm>
            <a:off x="3286125" y="3429000"/>
            <a:ext cx="2143125" cy="1588"/>
          </a:xfrm>
          <a:prstGeom prst="straightConnector1">
            <a:avLst/>
          </a:prstGeom>
          <a:ln w="22225">
            <a:solidFill>
              <a:srgbClr val="000099"/>
            </a:solidFill>
            <a:tailEnd type="arrow"/>
          </a:ln>
        </p:spPr>
        <p:style>
          <a:lnRef idx="1">
            <a:schemeClr val="accent1"/>
          </a:lnRef>
          <a:fillRef idx="0">
            <a:schemeClr val="accent1"/>
          </a:fillRef>
          <a:effectRef idx="0">
            <a:schemeClr val="accent1"/>
          </a:effectRef>
          <a:fontRef idx="minor">
            <a:schemeClr val="tx1"/>
          </a:fontRef>
        </p:style>
      </p:cxnSp>
      <p:sp>
        <p:nvSpPr>
          <p:cNvPr id="46089" name="矩形 12"/>
          <p:cNvSpPr>
            <a:spLocks noChangeArrowheads="1"/>
          </p:cNvSpPr>
          <p:nvPr/>
        </p:nvSpPr>
        <p:spPr bwMode="auto">
          <a:xfrm>
            <a:off x="3857347" y="2967335"/>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dirty="0">
                <a:latin typeface="Calibri" panose="020F0502020204030204" pitchFamily="34" charset="0"/>
              </a:rPr>
              <a:t>建模</a:t>
            </a:r>
          </a:p>
        </p:txBody>
      </p:sp>
      <p:sp>
        <p:nvSpPr>
          <p:cNvPr id="14" name="下箭头 13"/>
          <p:cNvSpPr/>
          <p:nvPr/>
        </p:nvSpPr>
        <p:spPr>
          <a:xfrm>
            <a:off x="6357938" y="3786188"/>
            <a:ext cx="214312" cy="12858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7" name="左箭头 16"/>
          <p:cNvSpPr/>
          <p:nvPr/>
        </p:nvSpPr>
        <p:spPr>
          <a:xfrm>
            <a:off x="3357563" y="5286375"/>
            <a:ext cx="2143125" cy="14287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8" name="上箭头 17"/>
          <p:cNvSpPr/>
          <p:nvPr/>
        </p:nvSpPr>
        <p:spPr>
          <a:xfrm>
            <a:off x="2143125" y="3857625"/>
            <a:ext cx="71438" cy="11430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6093" name="矩形 18"/>
          <p:cNvSpPr>
            <a:spLocks noChangeArrowheads="1"/>
          </p:cNvSpPr>
          <p:nvPr/>
        </p:nvSpPr>
        <p:spPr bwMode="auto">
          <a:xfrm>
            <a:off x="755576" y="4013627"/>
            <a:ext cx="162195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dirty="0">
                <a:latin typeface="Calibri" panose="020F0502020204030204" pitchFamily="34" charset="0"/>
              </a:rPr>
              <a:t>对决策进行评估</a:t>
            </a:r>
          </a:p>
        </p:txBody>
      </p:sp>
      <p:sp>
        <p:nvSpPr>
          <p:cNvPr id="46094" name="矩形 19"/>
          <p:cNvSpPr>
            <a:spLocks noChangeArrowheads="1"/>
          </p:cNvSpPr>
          <p:nvPr/>
        </p:nvSpPr>
        <p:spPr bwMode="auto">
          <a:xfrm>
            <a:off x="6572250" y="4143375"/>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dirty="0">
                <a:latin typeface="Calibri" panose="020F0502020204030204" pitchFamily="34" charset="0"/>
              </a:rPr>
              <a:t>求解</a:t>
            </a:r>
          </a:p>
        </p:txBody>
      </p:sp>
      <p:sp>
        <p:nvSpPr>
          <p:cNvPr id="46095" name="矩形 20"/>
          <p:cNvSpPr>
            <a:spLocks noChangeArrowheads="1"/>
          </p:cNvSpPr>
          <p:nvPr/>
        </p:nvSpPr>
        <p:spPr bwMode="auto">
          <a:xfrm>
            <a:off x="3574432" y="5429250"/>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Calibri" panose="020F0502020204030204" pitchFamily="34" charset="0"/>
              </a:rPr>
              <a:t>分析，推理</a:t>
            </a:r>
          </a:p>
        </p:txBody>
      </p:sp>
      <p:sp>
        <p:nvSpPr>
          <p:cNvPr id="46096" name="矩形 18"/>
          <p:cNvSpPr>
            <a:spLocks noChangeArrowheads="1"/>
          </p:cNvSpPr>
          <p:nvPr/>
        </p:nvSpPr>
        <p:spPr bwMode="auto">
          <a:xfrm>
            <a:off x="378892" y="1933546"/>
            <a:ext cx="77152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dirty="0"/>
              <a:t>利用数学优化方法来解决这种问题的一般流程是</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idx="4294967295"/>
          </p:nvPr>
        </p:nvSpPr>
        <p:spPr>
          <a:xfrm>
            <a:off x="308008" y="295676"/>
            <a:ext cx="8159750" cy="628650"/>
          </a:xfrm>
        </p:spPr>
        <p:txBody>
          <a:bodyPr/>
          <a:lstStyle/>
          <a:p>
            <a:r>
              <a:rPr lang="zh-CN" altLang="en-US" sz="3600" dirty="0">
                <a:cs typeface="Times New Roman" panose="02020603050405020304" pitchFamily="18" charset="0"/>
              </a:rPr>
              <a:t>优化模型的三个代表</a:t>
            </a:r>
          </a:p>
        </p:txBody>
      </p:sp>
      <p:sp>
        <p:nvSpPr>
          <p:cNvPr id="3" name="内容占位符 2"/>
          <p:cNvSpPr>
            <a:spLocks noGrp="1"/>
          </p:cNvSpPr>
          <p:nvPr>
            <p:ph idx="1"/>
          </p:nvPr>
        </p:nvSpPr>
        <p:spPr>
          <a:xfrm>
            <a:off x="347345" y="1092835"/>
            <a:ext cx="8229600" cy="4530725"/>
          </a:xfrm>
        </p:spPr>
        <p:txBody>
          <a:bodyPr/>
          <a:lstStyle/>
          <a:p>
            <a:r>
              <a:rPr lang="en-US" altLang="zh-CN" sz="2800" b="0" dirty="0">
                <a:latin typeface="Times New Roman" panose="02020603050405020304" pitchFamily="18" charset="0"/>
                <a:cs typeface="Times New Roman" panose="02020603050405020304" pitchFamily="18" charset="0"/>
              </a:rPr>
              <a:t> </a:t>
            </a:r>
            <a:r>
              <a:rPr lang="zh-CN" altLang="en-US" sz="2800" b="0" dirty="0">
                <a:latin typeface="Times New Roman" panose="02020603050405020304" pitchFamily="18" charset="0"/>
                <a:cs typeface="Times New Roman" panose="02020603050405020304" pitchFamily="18" charset="0"/>
              </a:rPr>
              <a:t>形成优化模型的三要素（三个代表）</a:t>
            </a:r>
            <a:endParaRPr lang="en-US" altLang="zh-CN" sz="2800" b="0" dirty="0">
              <a:latin typeface="Times New Roman" panose="02020603050405020304" pitchFamily="18" charset="0"/>
              <a:cs typeface="Times New Roman" panose="02020603050405020304" pitchFamily="18" charset="0"/>
            </a:endParaRPr>
          </a:p>
          <a:p>
            <a:pPr marL="0" indent="0">
              <a:buNone/>
            </a:pPr>
            <a:r>
              <a:rPr lang="en-US" altLang="zh-CN" sz="2800" b="0" dirty="0">
                <a:latin typeface="Times New Roman" panose="02020603050405020304" pitchFamily="18" charset="0"/>
                <a:cs typeface="Times New Roman" panose="02020603050405020304" pitchFamily="18" charset="0"/>
              </a:rPr>
              <a:t>   (a) </a:t>
            </a:r>
            <a:r>
              <a:rPr lang="zh-CN" altLang="en-US" sz="2800" b="0" dirty="0">
                <a:latin typeface="Times New Roman" panose="02020603050405020304" pitchFamily="18" charset="0"/>
                <a:cs typeface="Times New Roman" panose="02020603050405020304" pitchFamily="18" charset="0"/>
              </a:rPr>
              <a:t>决策变量</a:t>
            </a:r>
            <a:r>
              <a:rPr lang="en-US" altLang="zh-CN" sz="2800" b="0" dirty="0">
                <a:latin typeface="Times New Roman" panose="02020603050405020304" pitchFamily="18" charset="0"/>
                <a:cs typeface="Times New Roman" panose="02020603050405020304" pitchFamily="18" charset="0"/>
              </a:rPr>
              <a:t>;</a:t>
            </a:r>
          </a:p>
          <a:p>
            <a:pPr marL="0" indent="0">
              <a:buNone/>
            </a:pPr>
            <a:r>
              <a:rPr lang="en-US" altLang="zh-CN" sz="2800" b="0" dirty="0">
                <a:latin typeface="Times New Roman" panose="02020603050405020304" pitchFamily="18" charset="0"/>
                <a:cs typeface="Times New Roman" panose="02020603050405020304" pitchFamily="18" charset="0"/>
              </a:rPr>
              <a:t>   (b) </a:t>
            </a:r>
            <a:r>
              <a:rPr lang="zh-CN" altLang="en-US" sz="2800" b="0" dirty="0">
                <a:latin typeface="Times New Roman" panose="02020603050405020304" pitchFamily="18" charset="0"/>
                <a:cs typeface="Times New Roman" panose="02020603050405020304" pitchFamily="18" charset="0"/>
              </a:rPr>
              <a:t>约束条件</a:t>
            </a:r>
            <a:r>
              <a:rPr lang="en-US" altLang="zh-CN" sz="2800" b="0" dirty="0">
                <a:latin typeface="Times New Roman" panose="02020603050405020304" pitchFamily="18" charset="0"/>
                <a:cs typeface="Times New Roman" panose="02020603050405020304" pitchFamily="18" charset="0"/>
              </a:rPr>
              <a:t>;</a:t>
            </a:r>
          </a:p>
          <a:p>
            <a:pPr marL="0" indent="0">
              <a:buNone/>
            </a:pPr>
            <a:r>
              <a:rPr lang="en-US" altLang="zh-CN" sz="2800" b="0" dirty="0">
                <a:latin typeface="Times New Roman" panose="02020603050405020304" pitchFamily="18" charset="0"/>
                <a:cs typeface="Times New Roman" panose="02020603050405020304" pitchFamily="18" charset="0"/>
              </a:rPr>
              <a:t>   (c) </a:t>
            </a:r>
            <a:r>
              <a:rPr lang="zh-CN" altLang="en-US" sz="2800" b="0" dirty="0">
                <a:latin typeface="Times New Roman" panose="02020603050405020304" pitchFamily="18" charset="0"/>
                <a:cs typeface="Times New Roman" panose="02020603050405020304" pitchFamily="18" charset="0"/>
              </a:rPr>
              <a:t>目标函数</a:t>
            </a:r>
            <a:r>
              <a:rPr lang="en-US" altLang="zh-CN" sz="2800" b="0" dirty="0">
                <a:latin typeface="Times New Roman" panose="02020603050405020304" pitchFamily="18" charset="0"/>
                <a:cs typeface="Times New Roman" panose="02020603050405020304" pitchFamily="18" charset="0"/>
              </a:rPr>
              <a:t>(</a:t>
            </a:r>
            <a:r>
              <a:rPr lang="zh-CN" altLang="en-US" sz="2800" b="0" dirty="0">
                <a:latin typeface="Times New Roman" panose="02020603050405020304" pitchFamily="18" charset="0"/>
                <a:cs typeface="Times New Roman" panose="02020603050405020304" pitchFamily="18" charset="0"/>
              </a:rPr>
              <a:t>评价准则</a:t>
            </a:r>
            <a:r>
              <a:rPr lang="en-US" altLang="zh-CN" sz="2800" b="0" dirty="0">
                <a:latin typeface="Times New Roman" panose="02020603050405020304" pitchFamily="18" charset="0"/>
                <a:cs typeface="Times New Roman" panose="02020603050405020304" pitchFamily="18" charset="0"/>
              </a:rPr>
              <a:t>)</a:t>
            </a:r>
            <a:r>
              <a:rPr lang="zh-CN" altLang="en-US" sz="2800" b="0" dirty="0">
                <a:latin typeface="Times New Roman" panose="02020603050405020304" pitchFamily="18" charset="0"/>
                <a:cs typeface="Times New Roman" panose="02020603050405020304" pitchFamily="18" charset="0"/>
              </a:rPr>
              <a:t>。</a:t>
            </a:r>
          </a:p>
        </p:txBody>
      </p:sp>
      <p:sp>
        <p:nvSpPr>
          <p:cNvPr id="4" name="矩形 3"/>
          <p:cNvSpPr>
            <a:spLocks noChangeArrowheads="1"/>
          </p:cNvSpPr>
          <p:nvPr/>
        </p:nvSpPr>
        <p:spPr bwMode="auto">
          <a:xfrm>
            <a:off x="347563" y="3648426"/>
            <a:ext cx="77152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p"/>
            </a:pPr>
            <a:r>
              <a:rPr lang="zh-CN" altLang="en-US" sz="2400" dirty="0">
                <a:solidFill>
                  <a:srgbClr val="000000"/>
                </a:solidFill>
                <a:latin typeface="Times New Roman" panose="02020603050405020304" pitchFamily="18" charset="0"/>
                <a:cs typeface="Times New Roman" panose="02020603050405020304" pitchFamily="18" charset="0"/>
              </a:rPr>
              <a:t>回到马特的问题</a:t>
            </a:r>
            <a:r>
              <a:rPr lang="en-US" altLang="zh-CN" sz="2400" dirty="0">
                <a:solidFill>
                  <a:srgbClr val="000000"/>
                </a:solidFill>
                <a:latin typeface="Times New Roman" panose="02020603050405020304" pitchFamily="18" charset="0"/>
                <a:cs typeface="Times New Roman" panose="02020603050405020304" pitchFamily="18" charset="0"/>
              </a:rPr>
              <a:t>, </a:t>
            </a:r>
            <a:r>
              <a:rPr lang="zh-CN" altLang="en-US" sz="2400" dirty="0">
                <a:solidFill>
                  <a:srgbClr val="000000"/>
                </a:solidFill>
                <a:latin typeface="Times New Roman" panose="02020603050405020304" pitchFamily="18" charset="0"/>
                <a:cs typeface="Times New Roman" panose="02020603050405020304" pitchFamily="18" charset="0"/>
              </a:rPr>
              <a:t>显然，马特是决策者，他要做出哪样的决策呢？</a:t>
            </a:r>
            <a:r>
              <a:rPr lang="en-US" altLang="zh-CN" sz="2400" dirty="0">
                <a:solidFill>
                  <a:srgbClr val="000000"/>
                </a:solidFill>
                <a:latin typeface="Times New Roman" panose="02020603050405020304" pitchFamily="18" charset="0"/>
                <a:cs typeface="Times New Roman" panose="02020603050405020304" pitchFamily="18" charset="0"/>
              </a:rPr>
              <a:t>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10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10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box(in)">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2433" y="2192589"/>
            <a:ext cx="7978173" cy="2870300"/>
          </a:xfrm>
        </p:spPr>
        <p:txBody>
          <a:bodyPr/>
          <a:lstStyle/>
          <a:p>
            <a:pPr marL="0" indent="0">
              <a:buNone/>
              <a:defRPr/>
            </a:pPr>
            <a:r>
              <a:rPr lang="zh-CN" altLang="en-US" sz="2400" b="0" dirty="0">
                <a:latin typeface="Times New Roman" panose="02020603050405020304" pitchFamily="18" charset="0"/>
                <a:cs typeface="Times New Roman" panose="02020603050405020304" pitchFamily="18" charset="0"/>
              </a:rPr>
              <a:t>这是库存管理的基本模型，它简化成如下两个决策变量</a:t>
            </a:r>
            <a:r>
              <a:rPr lang="en-US" altLang="zh-CN" sz="2400" b="0" dirty="0">
                <a:latin typeface="Times New Roman" panose="02020603050405020304" pitchFamily="18" charset="0"/>
                <a:cs typeface="Times New Roman" panose="02020603050405020304" pitchFamily="18" charset="0"/>
              </a:rPr>
              <a:t>:</a:t>
            </a:r>
          </a:p>
          <a:p>
            <a:pPr>
              <a:buFontTx/>
              <a:buNone/>
              <a:defRPr/>
            </a:pPr>
            <a:r>
              <a:rPr lang="zh-CN" altLang="en-US" sz="2400" b="0" dirty="0">
                <a:solidFill>
                  <a:srgbClr val="3333CC"/>
                </a:solidFill>
                <a:latin typeface="Times New Roman" panose="02020603050405020304" pitchFamily="18" charset="0"/>
                <a:cs typeface="Times New Roman" panose="02020603050405020304" pitchFamily="18" charset="0"/>
              </a:rPr>
              <a:t>再订购点</a:t>
            </a:r>
            <a:r>
              <a:rPr lang="en-US" altLang="zh-CN" sz="2400" b="0" dirty="0">
                <a:solidFill>
                  <a:srgbClr val="3333CC"/>
                </a:solidFill>
                <a:latin typeface="Times New Roman" panose="02020603050405020304" pitchFamily="18" charset="0"/>
                <a:cs typeface="Times New Roman" panose="02020603050405020304" pitchFamily="18" charset="0"/>
              </a:rPr>
              <a:t>(</a:t>
            </a:r>
            <a:r>
              <a:rPr lang="en-US" altLang="zh-CN" sz="2400" b="0" i="1" dirty="0">
                <a:solidFill>
                  <a:srgbClr val="3333CC"/>
                </a:solidFill>
                <a:latin typeface="Times New Roman" panose="02020603050405020304" pitchFamily="18" charset="0"/>
                <a:cs typeface="Times New Roman" panose="02020603050405020304" pitchFamily="18" charset="0"/>
              </a:rPr>
              <a:t>reorder point</a:t>
            </a:r>
            <a:r>
              <a:rPr lang="zh-CN" altLang="en-US" sz="2400" b="0" dirty="0">
                <a:solidFill>
                  <a:srgbClr val="3333CC"/>
                </a:solidFill>
                <a:latin typeface="Times New Roman" panose="02020603050405020304" pitchFamily="18" charset="0"/>
                <a:cs typeface="Times New Roman" panose="02020603050405020304" pitchFamily="18" charset="0"/>
              </a:rPr>
              <a:t>）</a:t>
            </a:r>
            <a:r>
              <a:rPr lang="en-US" altLang="zh-CN" sz="2400" b="0" i="1" dirty="0">
                <a:solidFill>
                  <a:srgbClr val="3333CC"/>
                </a:solidFill>
                <a:latin typeface="Times New Roman" panose="02020603050405020304" pitchFamily="18" charset="0"/>
                <a:cs typeface="Times New Roman" panose="02020603050405020304" pitchFamily="18" charset="0"/>
              </a:rPr>
              <a:t> </a:t>
            </a:r>
          </a:p>
          <a:p>
            <a:pPr>
              <a:buFontTx/>
              <a:buNone/>
              <a:defRPr/>
            </a:pPr>
            <a:r>
              <a:rPr lang="en-US" altLang="zh-CN" sz="2400" b="0" i="1" dirty="0">
                <a:solidFill>
                  <a:srgbClr val="3333CC"/>
                </a:solidFill>
                <a:latin typeface="Times New Roman" panose="02020603050405020304" pitchFamily="18" charset="0"/>
                <a:cs typeface="Times New Roman" panose="02020603050405020304" pitchFamily="18" charset="0"/>
              </a:rPr>
              <a:t>    </a:t>
            </a:r>
            <a:r>
              <a:rPr lang="zh-CN" altLang="en-US" sz="2400" b="0" dirty="0">
                <a:solidFill>
                  <a:schemeClr val="accent4"/>
                </a:solidFill>
                <a:latin typeface="Times New Roman" panose="02020603050405020304" pitchFamily="18" charset="0"/>
                <a:cs typeface="Times New Roman" panose="02020603050405020304" pitchFamily="18" charset="0"/>
              </a:rPr>
              <a:t>当库存数量低于某值时决策者需要去采购货物，此临界库存数量称为再订购点</a:t>
            </a:r>
            <a:endParaRPr lang="en-US" altLang="zh-CN" sz="2400" b="0" dirty="0">
              <a:solidFill>
                <a:schemeClr val="accent4"/>
              </a:solidFill>
              <a:latin typeface="Times New Roman" panose="02020603050405020304" pitchFamily="18" charset="0"/>
              <a:cs typeface="Times New Roman" panose="02020603050405020304" pitchFamily="18" charset="0"/>
            </a:endParaRPr>
          </a:p>
          <a:p>
            <a:pPr>
              <a:buFontTx/>
              <a:buNone/>
              <a:defRPr/>
            </a:pPr>
            <a:r>
              <a:rPr lang="zh-CN" altLang="en-US" sz="2400" b="0" dirty="0">
                <a:solidFill>
                  <a:srgbClr val="000099"/>
                </a:solidFill>
                <a:latin typeface="Times New Roman" panose="02020603050405020304" pitchFamily="18" charset="0"/>
                <a:cs typeface="Times New Roman" panose="02020603050405020304" pitchFamily="18" charset="0"/>
              </a:rPr>
              <a:t>订购批量（</a:t>
            </a:r>
            <a:r>
              <a:rPr lang="en-US" altLang="zh-CN" sz="2400" b="0" dirty="0">
                <a:solidFill>
                  <a:srgbClr val="000099"/>
                </a:solidFill>
                <a:latin typeface="Times New Roman" panose="02020603050405020304" pitchFamily="18" charset="0"/>
                <a:cs typeface="Times New Roman" panose="02020603050405020304" pitchFamily="18" charset="0"/>
              </a:rPr>
              <a:t>order quantity </a:t>
            </a:r>
            <a:r>
              <a:rPr lang="zh-CN" altLang="en-US" sz="2400" b="0" dirty="0">
                <a:solidFill>
                  <a:srgbClr val="000099"/>
                </a:solidFill>
                <a:latin typeface="Times New Roman" panose="02020603050405020304" pitchFamily="18" charset="0"/>
                <a:cs typeface="Times New Roman" panose="02020603050405020304" pitchFamily="18" charset="0"/>
              </a:rPr>
              <a:t>）</a:t>
            </a:r>
            <a:r>
              <a:rPr lang="en-US" altLang="zh-CN" sz="2400" b="0" dirty="0">
                <a:solidFill>
                  <a:srgbClr val="000099"/>
                </a:solidFill>
                <a:latin typeface="Times New Roman" panose="02020603050405020304" pitchFamily="18" charset="0"/>
                <a:cs typeface="Times New Roman" panose="02020603050405020304" pitchFamily="18" charset="0"/>
              </a:rPr>
              <a:t>  </a:t>
            </a:r>
          </a:p>
          <a:p>
            <a:pPr>
              <a:buFontTx/>
              <a:buNone/>
              <a:defRPr/>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每次订购的货物数量</a:t>
            </a:r>
            <a:endParaRPr lang="en-US" altLang="zh-CN" sz="2400" b="0" dirty="0">
              <a:latin typeface="Times New Roman" panose="02020603050405020304" pitchFamily="18" charset="0"/>
              <a:cs typeface="Times New Roman" panose="02020603050405020304" pitchFamily="18" charset="0"/>
            </a:endParaRPr>
          </a:p>
          <a:p>
            <a:pPr>
              <a:buFontTx/>
              <a:buNone/>
              <a:defRPr/>
            </a:pPr>
            <a:r>
              <a:rPr lang="en-US" altLang="zh-CN" sz="2400" b="0" dirty="0">
                <a:latin typeface="Times New Roman" panose="02020603050405020304" pitchFamily="18" charset="0"/>
                <a:cs typeface="Times New Roman" panose="02020603050405020304" pitchFamily="18" charset="0"/>
              </a:rPr>
              <a:t> </a:t>
            </a:r>
            <a:endParaRPr lang="zh-CN" altLang="en-US" sz="2400" b="0" dirty="0">
              <a:latin typeface="Times New Roman" panose="02020603050405020304" pitchFamily="18" charset="0"/>
              <a:cs typeface="Times New Roman" panose="02020603050405020304" pitchFamily="18" charset="0"/>
            </a:endParaRPr>
          </a:p>
        </p:txBody>
      </p:sp>
      <p:sp>
        <p:nvSpPr>
          <p:cNvPr id="49155" name="矩形 3"/>
          <p:cNvSpPr>
            <a:spLocks noChangeArrowheads="1"/>
          </p:cNvSpPr>
          <p:nvPr/>
        </p:nvSpPr>
        <p:spPr bwMode="auto">
          <a:xfrm>
            <a:off x="448510" y="1000225"/>
            <a:ext cx="8236585"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marL="0" indent="0" eaLnBrk="1" hangingPunct="1">
              <a:buNone/>
            </a:pPr>
            <a:r>
              <a:rPr lang="zh-CN" altLang="en-US" sz="2400" dirty="0">
                <a:solidFill>
                  <a:srgbClr val="000000"/>
                </a:solidFill>
                <a:latin typeface="Times New Roman" panose="02020603050405020304" pitchFamily="18" charset="0"/>
                <a:cs typeface="Times New Roman" panose="02020603050405020304" pitchFamily="18" charset="0"/>
              </a:rPr>
              <a:t>实际上，马特每年都要做很多次这种相同的决策：       </a:t>
            </a:r>
            <a:endParaRPr lang="en-US" altLang="zh-CN" sz="2400" dirty="0">
              <a:solidFill>
                <a:srgbClr val="000000"/>
              </a:solidFill>
              <a:latin typeface="Times New Roman" panose="02020603050405020304" pitchFamily="18" charset="0"/>
              <a:cs typeface="Times New Roman" panose="02020603050405020304" pitchFamily="18" charset="0"/>
            </a:endParaRPr>
          </a:p>
          <a:p>
            <a:pPr algn="ctr" eaLnBrk="1" hangingPunct="1"/>
            <a:r>
              <a:rPr lang="zh-CN" altLang="en-US" sz="2400" dirty="0">
                <a:solidFill>
                  <a:srgbClr val="3333CC"/>
                </a:solidFill>
                <a:latin typeface="Times New Roman" panose="02020603050405020304" pitchFamily="18" charset="0"/>
                <a:cs typeface="Times New Roman" panose="02020603050405020304" pitchFamily="18" charset="0"/>
              </a:rPr>
              <a:t>什么时候去采购钻石？采购多少钻石？</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10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10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10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矩形 3"/>
          <p:cNvSpPr>
            <a:spLocks noChangeArrowheads="1"/>
          </p:cNvSpPr>
          <p:nvPr/>
        </p:nvSpPr>
        <p:spPr bwMode="auto">
          <a:xfrm>
            <a:off x="479308" y="2941119"/>
            <a:ext cx="7858125" cy="461665"/>
          </a:xfrm>
          <a:prstGeom prst="rect">
            <a:avLst/>
          </a:prstGeom>
          <a:noFill/>
          <a:ln w="9525">
            <a:noFill/>
            <a:miter lim="800000"/>
          </a:ln>
        </p:spPr>
        <p:txBody>
          <a:bodyPr>
            <a:spAutoFit/>
          </a:bodyPr>
          <a:lstStyle/>
          <a:p>
            <a:pPr marL="342900" indent="-342900" eaLnBrk="1" hangingPunct="1">
              <a:spcBef>
                <a:spcPct val="20000"/>
              </a:spcBef>
              <a:buFont typeface="Arial" panose="020B0604020202020204" pitchFamily="34" charset="0"/>
              <a:buChar char="•"/>
              <a:defRPr/>
            </a:pPr>
            <a:r>
              <a:rPr lang="zh-CN" altLang="en-US" sz="2400" b="1" dirty="0">
                <a:solidFill>
                  <a:schemeClr val="accent4"/>
                </a:solidFill>
                <a:latin typeface="Times New Roman" panose="02020603050405020304" pitchFamily="18" charset="0"/>
                <a:cs typeface="Times New Roman" panose="02020603050405020304" pitchFamily="18" charset="0"/>
              </a:rPr>
              <a:t>下一个问题是约束条件</a:t>
            </a:r>
            <a:r>
              <a:rPr lang="zh-CN" altLang="en-US" sz="2400" b="1" dirty="0">
                <a:solidFill>
                  <a:srgbClr val="000000"/>
                </a:solidFill>
                <a:latin typeface="Times New Roman" panose="02020603050405020304" pitchFamily="18" charset="0"/>
                <a:cs typeface="Times New Roman" panose="02020603050405020304" pitchFamily="18" charset="0"/>
              </a:rPr>
              <a:t>：是什么因素限制其决策？</a:t>
            </a:r>
            <a:endParaRPr lang="en-US" altLang="zh-CN" sz="2400" b="1" dirty="0">
              <a:solidFill>
                <a:srgbClr val="000000"/>
              </a:solidFill>
              <a:latin typeface="Times New Roman" panose="02020603050405020304" pitchFamily="18" charset="0"/>
              <a:cs typeface="Times New Roman" panose="02020603050405020304" pitchFamily="18" charset="0"/>
            </a:endParaRPr>
          </a:p>
        </p:txBody>
      </p:sp>
      <p:sp>
        <p:nvSpPr>
          <p:cNvPr id="5" name="矩形 4"/>
          <p:cNvSpPr>
            <a:spLocks noChangeArrowheads="1"/>
          </p:cNvSpPr>
          <p:nvPr/>
        </p:nvSpPr>
        <p:spPr bwMode="auto">
          <a:xfrm>
            <a:off x="457501" y="4487931"/>
            <a:ext cx="815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000000"/>
                </a:solidFill>
                <a:latin typeface="Times New Roman" panose="02020603050405020304" pitchFamily="18" charset="0"/>
                <a:cs typeface="Times New Roman" panose="02020603050405020304" pitchFamily="18" charset="0"/>
              </a:rPr>
              <a:t>最后一个是目标函数：如何评价一个决策好于另一个决策</a:t>
            </a:r>
            <a:r>
              <a:rPr lang="en-US" altLang="zh-CN" sz="2400" dirty="0">
                <a:solidFill>
                  <a:srgbClr val="000000"/>
                </a:solidFill>
                <a:latin typeface="Times New Roman" panose="02020603050405020304" pitchFamily="18" charset="0"/>
                <a:cs typeface="Times New Roman" panose="02020603050405020304" pitchFamily="18" charset="0"/>
              </a:rPr>
              <a:t>?</a:t>
            </a:r>
          </a:p>
        </p:txBody>
      </p:sp>
      <p:sp>
        <p:nvSpPr>
          <p:cNvPr id="50180" name="内容占位符 2"/>
          <p:cNvSpPr>
            <a:spLocks noGrp="1"/>
          </p:cNvSpPr>
          <p:nvPr>
            <p:ph idx="1"/>
          </p:nvPr>
        </p:nvSpPr>
        <p:spPr>
          <a:xfrm>
            <a:off x="294005" y="1163955"/>
            <a:ext cx="8229600" cy="4530725"/>
          </a:xfrm>
        </p:spPr>
        <p:txBody>
          <a:bodyPr/>
          <a:lstStyle/>
          <a:p>
            <a:r>
              <a:rPr lang="zh-CN" altLang="en-US" sz="2400" dirty="0">
                <a:latin typeface="Times New Roman" panose="02020603050405020304" pitchFamily="18" charset="0"/>
                <a:cs typeface="Times New Roman" panose="02020603050405020304" pitchFamily="18" charset="0"/>
              </a:rPr>
              <a:t>对马特来说，其决策变量为</a:t>
            </a:r>
          </a:p>
        </p:txBody>
      </p:sp>
      <p:graphicFrame>
        <p:nvGraphicFramePr>
          <p:cNvPr id="2" name="Object 2"/>
          <p:cNvGraphicFramePr>
            <a:graphicFrameLocks noChangeAspect="1"/>
          </p:cNvGraphicFramePr>
          <p:nvPr>
            <p:extLst>
              <p:ext uri="{D42A27DB-BD31-4B8C-83A1-F6EECF244321}">
                <p14:modId xmlns:p14="http://schemas.microsoft.com/office/powerpoint/2010/main" val="3967086096"/>
              </p:ext>
            </p:extLst>
          </p:nvPr>
        </p:nvGraphicFramePr>
        <p:xfrm>
          <a:off x="1380022" y="1872549"/>
          <a:ext cx="6269037" cy="877888"/>
        </p:xfrm>
        <a:graphic>
          <a:graphicData uri="http://schemas.openxmlformats.org/presentationml/2006/ole">
            <mc:AlternateContent xmlns:mc="http://schemas.openxmlformats.org/markup-compatibility/2006">
              <mc:Choice xmlns:v="urn:schemas-microsoft-com:vml" Requires="v">
                <p:oleObj spid="_x0000_s2220" name="Equation" r:id="rId4" imgW="3086100" imgH="431800" progId="Equation.DSMT4">
                  <p:embed/>
                </p:oleObj>
              </mc:Choice>
              <mc:Fallback>
                <p:oleObj name="Equation" r:id="rId4" imgW="3086100" imgH="4318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0022" y="1872549"/>
                        <a:ext cx="6269037"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3"/>
          <p:cNvGraphicFramePr>
            <a:graphicFrameLocks noChangeAspect="1"/>
          </p:cNvGraphicFramePr>
          <p:nvPr/>
        </p:nvGraphicFramePr>
        <p:xfrm>
          <a:off x="3448251" y="3622559"/>
          <a:ext cx="1000125" cy="842962"/>
        </p:xfrm>
        <a:graphic>
          <a:graphicData uri="http://schemas.openxmlformats.org/presentationml/2006/ole">
            <mc:AlternateContent xmlns:mc="http://schemas.openxmlformats.org/markup-compatibility/2006">
              <mc:Choice xmlns:v="urn:schemas-microsoft-com:vml" Requires="v">
                <p:oleObj spid="_x0000_s2221" name="Equation" r:id="rId6" imgW="482600" imgH="406400" progId="Equation.DSMT4">
                  <p:embed/>
                </p:oleObj>
              </mc:Choice>
              <mc:Fallback>
                <p:oleObj name="Equation" r:id="rId6" imgW="482600" imgH="40640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48251" y="3622559"/>
                        <a:ext cx="1000125" cy="84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8" name="Object 4"/>
          <p:cNvGraphicFramePr>
            <a:graphicFrameLocks noChangeAspect="1"/>
          </p:cNvGraphicFramePr>
          <p:nvPr/>
        </p:nvGraphicFramePr>
        <p:xfrm>
          <a:off x="1211446" y="5120791"/>
          <a:ext cx="6548438" cy="404812"/>
        </p:xfrm>
        <a:graphic>
          <a:graphicData uri="http://schemas.openxmlformats.org/presentationml/2006/ole">
            <mc:AlternateContent xmlns:mc="http://schemas.openxmlformats.org/markup-compatibility/2006">
              <mc:Choice xmlns:v="urn:schemas-microsoft-com:vml" Requires="v">
                <p:oleObj spid="_x0000_s2222" name="Equation" r:id="rId8" imgW="3492500" imgH="215900" progId="Equation.DSMT4">
                  <p:embed/>
                </p:oleObj>
              </mc:Choice>
              <mc:Fallback>
                <p:oleObj name="Equation" r:id="rId8" imgW="3492500" imgH="21590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11446" y="5120791"/>
                        <a:ext cx="6548438"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1746"/>
                                        </p:tgtEl>
                                        <p:attrNameLst>
                                          <p:attrName>style.visibility</p:attrName>
                                        </p:attrNameLst>
                                      </p:cBhvr>
                                      <p:to>
                                        <p:strVal val="visible"/>
                                      </p:to>
                                    </p:set>
                                    <p:anim calcmode="lin" valueType="num">
                                      <p:cBhvr additive="base">
                                        <p:cTn id="13" dur="500" fill="hold"/>
                                        <p:tgtEl>
                                          <p:spTgt spid="31746"/>
                                        </p:tgtEl>
                                        <p:attrNameLst>
                                          <p:attrName>ppt_x</p:attrName>
                                        </p:attrNameLst>
                                      </p:cBhvr>
                                      <p:tavLst>
                                        <p:tav tm="0">
                                          <p:val>
                                            <p:strVal val="#ppt_x"/>
                                          </p:val>
                                        </p:tav>
                                        <p:tav tm="100000">
                                          <p:val>
                                            <p:strVal val="#ppt_x"/>
                                          </p:val>
                                        </p:tav>
                                      </p:tavLst>
                                    </p:anim>
                                    <p:anim calcmode="lin" valueType="num">
                                      <p:cBhvr additive="base">
                                        <p:cTn id="14" dur="500" fill="hold"/>
                                        <p:tgtEl>
                                          <p:spTgt spid="3174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28"/>
                                        </p:tgtEl>
                                        <p:attrNameLst>
                                          <p:attrName>style.visibility</p:attrName>
                                        </p:attrNameLst>
                                      </p:cBhvr>
                                      <p:to>
                                        <p:strVal val="visible"/>
                                      </p:to>
                                    </p:set>
                                    <p:anim calcmode="lin" valueType="num">
                                      <p:cBhvr additive="base">
                                        <p:cTn id="31" dur="500" fill="hold"/>
                                        <p:tgtEl>
                                          <p:spTgt spid="1028"/>
                                        </p:tgtEl>
                                        <p:attrNameLst>
                                          <p:attrName>ppt_x</p:attrName>
                                        </p:attrNameLst>
                                      </p:cBhvr>
                                      <p:tavLst>
                                        <p:tav tm="0">
                                          <p:val>
                                            <p:strVal val="#ppt_x"/>
                                          </p:val>
                                        </p:tav>
                                        <p:tav tm="100000">
                                          <p:val>
                                            <p:strVal val="#ppt_x"/>
                                          </p:val>
                                        </p:tav>
                                      </p:tavLst>
                                    </p:anim>
                                    <p:anim calcmode="lin" valueType="num">
                                      <p:cBhvr additive="base">
                                        <p:cTn id="32"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内容占位符 2"/>
          <p:cNvSpPr>
            <a:spLocks noGrp="1"/>
          </p:cNvSpPr>
          <p:nvPr>
            <p:ph idx="1"/>
          </p:nvPr>
        </p:nvSpPr>
        <p:spPr>
          <a:xfrm>
            <a:off x="457200" y="1163320"/>
            <a:ext cx="8229600" cy="4530725"/>
          </a:xfrm>
        </p:spPr>
        <p:txBody>
          <a:bodyPr/>
          <a:lstStyle/>
          <a:p>
            <a:r>
              <a:rPr lang="zh-CN" altLang="en-US" sz="2800" dirty="0">
                <a:latin typeface="Times New Roman" panose="02020603050405020304" pitchFamily="18" charset="0"/>
                <a:cs typeface="Times New Roman" panose="02020603050405020304" pitchFamily="18" charset="0"/>
              </a:rPr>
              <a:t>于是问题变成</a:t>
            </a:r>
            <a:r>
              <a:rPr lang="en-US" altLang="zh-CN" sz="2800" dirty="0">
                <a:latin typeface="Times New Roman" panose="02020603050405020304" pitchFamily="18" charset="0"/>
                <a:cs typeface="Times New Roman" panose="02020603050405020304" pitchFamily="18" charset="0"/>
              </a:rPr>
              <a:t>:</a:t>
            </a:r>
          </a:p>
        </p:txBody>
      </p:sp>
      <p:graphicFrame>
        <p:nvGraphicFramePr>
          <p:cNvPr id="5" name="Object 3"/>
          <p:cNvGraphicFramePr>
            <a:graphicFrameLocks noChangeAspect="1"/>
          </p:cNvGraphicFramePr>
          <p:nvPr/>
        </p:nvGraphicFramePr>
        <p:xfrm>
          <a:off x="2143125" y="2500313"/>
          <a:ext cx="1000125" cy="842962"/>
        </p:xfrm>
        <a:graphic>
          <a:graphicData uri="http://schemas.openxmlformats.org/presentationml/2006/ole">
            <mc:AlternateContent xmlns:mc="http://schemas.openxmlformats.org/markup-compatibility/2006">
              <mc:Choice xmlns:v="urn:schemas-microsoft-com:vml" Requires="v">
                <p:oleObj spid="_x0000_s3131" name="Equation" r:id="rId3" imgW="482600" imgH="406400" progId="Equation.DSMT4">
                  <p:embed/>
                </p:oleObj>
              </mc:Choice>
              <mc:Fallback>
                <p:oleObj name="Equation" r:id="rId3" imgW="482600" imgH="4064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25" y="2500313"/>
                        <a:ext cx="1000125" cy="84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矩形 5"/>
          <p:cNvSpPr>
            <a:spLocks noChangeArrowheads="1"/>
          </p:cNvSpPr>
          <p:nvPr/>
        </p:nvSpPr>
        <p:spPr bwMode="auto">
          <a:xfrm>
            <a:off x="2000250" y="1857375"/>
            <a:ext cx="3000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a:latin typeface="Times New Roman" panose="02020603050405020304" pitchFamily="18" charset="0"/>
                <a:cs typeface="Times New Roman" panose="02020603050405020304" pitchFamily="18" charset="0"/>
              </a:rPr>
              <a:t>Min  c(q,r)</a:t>
            </a:r>
            <a:endParaRPr lang="zh-CN" altLang="en-US">
              <a:latin typeface="Times New Roman" panose="02020603050405020304" pitchFamily="18" charset="0"/>
              <a:cs typeface="Times New Roman" panose="02020603050405020304" pitchFamily="18" charset="0"/>
            </a:endParaRPr>
          </a:p>
        </p:txBody>
      </p:sp>
      <p:sp>
        <p:nvSpPr>
          <p:cNvPr id="8" name="矩形 7"/>
          <p:cNvSpPr>
            <a:spLocks noChangeArrowheads="1"/>
          </p:cNvSpPr>
          <p:nvPr/>
        </p:nvSpPr>
        <p:spPr bwMode="auto">
          <a:xfrm>
            <a:off x="744754" y="3774005"/>
            <a:ext cx="28007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marL="457200" indent="-457200">
              <a:spcBef>
                <a:spcPct val="0"/>
              </a:spcBef>
            </a:pPr>
            <a:r>
              <a:rPr lang="zh-CN" altLang="en-US" dirty="0">
                <a:solidFill>
                  <a:srgbClr val="000000"/>
                </a:solidFill>
                <a:latin typeface="Times New Roman" panose="02020603050405020304" pitchFamily="18" charset="0"/>
                <a:cs typeface="Times New Roman" panose="02020603050405020304" pitchFamily="18" charset="0"/>
              </a:rPr>
              <a:t>模型完备吗？</a:t>
            </a:r>
            <a:endParaRPr lang="zh-CN" altLang="en-US" sz="1800" dirty="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idx="4294967295"/>
          </p:nvPr>
        </p:nvSpPr>
        <p:spPr>
          <a:xfrm>
            <a:off x="362585" y="187325"/>
            <a:ext cx="8229600" cy="757555"/>
          </a:xfrm>
        </p:spPr>
        <p:txBody>
          <a:bodyPr/>
          <a:lstStyle/>
          <a:p>
            <a:r>
              <a:rPr lang="zh-CN" altLang="en-US" sz="3600" dirty="0"/>
              <a:t>模型假设：需求为定值</a:t>
            </a:r>
          </a:p>
        </p:txBody>
      </p:sp>
      <p:sp>
        <p:nvSpPr>
          <p:cNvPr id="53251" name="内容占位符 2"/>
          <p:cNvSpPr>
            <a:spLocks noGrp="1"/>
          </p:cNvSpPr>
          <p:nvPr>
            <p:ph idx="1"/>
          </p:nvPr>
        </p:nvSpPr>
        <p:spPr>
          <a:xfrm>
            <a:off x="457200" y="1263650"/>
            <a:ext cx="8229600" cy="4530725"/>
          </a:xfrm>
        </p:spPr>
        <p:txBody>
          <a:bodyPr/>
          <a:lstStyle/>
          <a:p>
            <a:r>
              <a:rPr lang="zh-CN" altLang="en-US" sz="2800" b="0" dirty="0">
                <a:latin typeface="Times New Roman" panose="02020603050405020304" pitchFamily="18" charset="0"/>
                <a:cs typeface="Times New Roman" panose="02020603050405020304" pitchFamily="18" charset="0"/>
              </a:rPr>
              <a:t>如何刻画约束与目标函数依赖于系统的模型假设</a:t>
            </a:r>
            <a:endParaRPr lang="en-US" altLang="zh-CN" sz="2800" b="0" dirty="0">
              <a:latin typeface="Times New Roman" panose="02020603050405020304" pitchFamily="18" charset="0"/>
              <a:cs typeface="Times New Roman" panose="02020603050405020304" pitchFamily="18" charset="0"/>
            </a:endParaRPr>
          </a:p>
          <a:p>
            <a:endParaRPr lang="en-US" altLang="zh-CN" sz="2800" b="0" dirty="0">
              <a:latin typeface="Times New Roman" panose="02020603050405020304" pitchFamily="18" charset="0"/>
              <a:cs typeface="Times New Roman" panose="02020603050405020304" pitchFamily="18" charset="0"/>
            </a:endParaRPr>
          </a:p>
          <a:p>
            <a:r>
              <a:rPr lang="zh-CN" altLang="en-US" sz="2800" b="0" dirty="0">
                <a:latin typeface="Times New Roman" panose="02020603050405020304" pitchFamily="18" charset="0"/>
                <a:cs typeface="Times New Roman" panose="02020603050405020304" pitchFamily="18" charset="0"/>
              </a:rPr>
              <a:t>为简单起见，在马特的例子中，我们做如下强的模型假设：假设每周的需求量是一个定值</a:t>
            </a:r>
            <a:r>
              <a:rPr lang="en-US" altLang="zh-CN" sz="2800" b="0" dirty="0">
                <a:latin typeface="Times New Roman" panose="02020603050405020304" pitchFamily="18" charset="0"/>
                <a:cs typeface="Times New Roman" panose="02020603050405020304" pitchFamily="18" charset="0"/>
              </a:rPr>
              <a:t> </a:t>
            </a:r>
            <a:r>
              <a:rPr lang="zh-CN" altLang="en-US" sz="2800" b="0" dirty="0">
                <a:latin typeface="Times New Roman" panose="02020603050405020304" pitchFamily="18" charset="0"/>
                <a:cs typeface="Times New Roman" panose="02020603050405020304" pitchFamily="18" charset="0"/>
              </a:rPr>
              <a:t>，每周</a:t>
            </a:r>
            <a:r>
              <a:rPr lang="en-US" altLang="zh-CN" sz="2800" b="0" dirty="0">
                <a:latin typeface="Times New Roman" panose="02020603050405020304" pitchFamily="18" charset="0"/>
                <a:cs typeface="Times New Roman" panose="02020603050405020304" pitchFamily="18" charset="0"/>
              </a:rPr>
              <a:t>55 </a:t>
            </a:r>
            <a:r>
              <a:rPr lang="zh-CN" altLang="en-US" sz="2800" b="0" dirty="0">
                <a:latin typeface="Times New Roman" panose="02020603050405020304" pitchFamily="18" charset="0"/>
                <a:cs typeface="Times New Roman" panose="02020603050405020304" pitchFamily="18" charset="0"/>
              </a:rPr>
              <a:t>克拉</a:t>
            </a:r>
            <a:r>
              <a:rPr lang="en-US" altLang="zh-CN" sz="2800" b="0" dirty="0">
                <a:latin typeface="Times New Roman" panose="02020603050405020304" pitchFamily="18" charset="0"/>
                <a:cs typeface="Times New Roman" panose="02020603050405020304" pitchFamily="18" charset="0"/>
              </a:rPr>
              <a:t>.</a:t>
            </a:r>
          </a:p>
          <a:p>
            <a:endParaRPr lang="en-US" altLang="zh-CN" sz="2800" b="0" dirty="0">
              <a:latin typeface="Times New Roman" panose="02020603050405020304" pitchFamily="18" charset="0"/>
              <a:cs typeface="Times New Roman" panose="02020603050405020304" pitchFamily="18" charset="0"/>
            </a:endParaRPr>
          </a:p>
          <a:p>
            <a:r>
              <a:rPr lang="zh-CN" altLang="en-US" sz="2800" b="0" dirty="0">
                <a:latin typeface="Times New Roman" panose="02020603050405020304" pitchFamily="18" charset="0"/>
                <a:cs typeface="Times New Roman" panose="02020603050405020304" pitchFamily="18" charset="0"/>
              </a:rPr>
              <a:t>如果需求是定值，则对给定的</a:t>
            </a:r>
            <a:r>
              <a:rPr lang="en-US" altLang="zh-CN" sz="2800" b="0" dirty="0">
                <a:latin typeface="Times New Roman" panose="02020603050405020304" pitchFamily="18" charset="0"/>
                <a:cs typeface="Times New Roman" panose="02020603050405020304" pitchFamily="18" charset="0"/>
              </a:rPr>
              <a:t>q</a:t>
            </a:r>
            <a:r>
              <a:rPr lang="zh-CN" altLang="en-US" sz="2800" b="0" dirty="0">
                <a:latin typeface="Times New Roman" panose="02020603050405020304" pitchFamily="18" charset="0"/>
                <a:cs typeface="Times New Roman" panose="02020603050405020304" pitchFamily="18" charset="0"/>
              </a:rPr>
              <a:t>，</a:t>
            </a:r>
            <a:r>
              <a:rPr lang="en-US" altLang="zh-CN" sz="2800" b="0" dirty="0">
                <a:latin typeface="Times New Roman" panose="02020603050405020304" pitchFamily="18" charset="0"/>
                <a:cs typeface="Times New Roman" panose="02020603050405020304" pitchFamily="18" charset="0"/>
              </a:rPr>
              <a:t>r</a:t>
            </a:r>
            <a:r>
              <a:rPr lang="zh-CN" altLang="en-US" sz="2800" b="0" dirty="0">
                <a:latin typeface="Times New Roman" panose="02020603050405020304" pitchFamily="18" charset="0"/>
                <a:cs typeface="Times New Roman" panose="02020603050405020304" pitchFamily="18" charset="0"/>
              </a:rPr>
              <a:t>，其库存图像呈锯齿形，见下图</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5C0D604E-2BA7-4D4A-A787-E0B97889C5AF}"/>
              </a:ext>
            </a:extLst>
          </p:cNvPr>
          <p:cNvPicPr>
            <a:picLocks noGrp="1" noChangeAspect="1"/>
          </p:cNvPicPr>
          <p:nvPr>
            <p:ph idx="1"/>
          </p:nvPr>
        </p:nvPicPr>
        <p:blipFill>
          <a:blip r:embed="rId2"/>
          <a:stretch>
            <a:fillRect/>
          </a:stretch>
        </p:blipFill>
        <p:spPr>
          <a:xfrm>
            <a:off x="1351931" y="1118428"/>
            <a:ext cx="6332373" cy="4300595"/>
          </a:xfrm>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AF3B627D-5DF8-4C69-8039-4ADBB8CE2B57}"/>
              </a:ext>
            </a:extLst>
          </p:cNvPr>
          <p:cNvPicPr>
            <a:picLocks noGrp="1" noChangeAspect="1"/>
          </p:cNvPicPr>
          <p:nvPr>
            <p:ph idx="1"/>
          </p:nvPr>
        </p:nvPicPr>
        <p:blipFill>
          <a:blip r:embed="rId2"/>
          <a:stretch>
            <a:fillRect/>
          </a:stretch>
        </p:blipFill>
        <p:spPr>
          <a:xfrm>
            <a:off x="659217" y="1303534"/>
            <a:ext cx="7484608" cy="4356121"/>
          </a:xfrm>
        </p:spPr>
      </p:pic>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12157646-B982-44E4-A0EB-9F31F1AE199B}"/>
              </a:ext>
            </a:extLst>
          </p:cNvPr>
          <p:cNvPicPr>
            <a:picLocks noGrp="1" noChangeAspect="1"/>
          </p:cNvPicPr>
          <p:nvPr>
            <p:ph idx="1"/>
          </p:nvPr>
        </p:nvPicPr>
        <p:blipFill>
          <a:blip r:embed="rId2"/>
          <a:stretch>
            <a:fillRect/>
          </a:stretch>
        </p:blipFill>
        <p:spPr>
          <a:xfrm>
            <a:off x="735305" y="1203534"/>
            <a:ext cx="7215162" cy="4612973"/>
          </a:xfrm>
        </p:spPr>
      </p:pic>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idx="4294967295"/>
          </p:nvPr>
        </p:nvSpPr>
        <p:spPr>
          <a:xfrm>
            <a:off x="0" y="187325"/>
            <a:ext cx="8229600" cy="757555"/>
          </a:xfrm>
        </p:spPr>
        <p:txBody>
          <a:bodyPr/>
          <a:lstStyle/>
          <a:p>
            <a:r>
              <a:rPr lang="zh-CN" altLang="en-US"/>
              <a:t>更进一步的分析</a:t>
            </a:r>
          </a:p>
        </p:txBody>
      </p:sp>
      <p:sp>
        <p:nvSpPr>
          <p:cNvPr id="3" name="内容占位符 2"/>
          <p:cNvSpPr>
            <a:spLocks noGrp="1"/>
          </p:cNvSpPr>
          <p:nvPr>
            <p:ph idx="1"/>
          </p:nvPr>
        </p:nvSpPr>
        <p:spPr>
          <a:xfrm>
            <a:off x="287020" y="1163955"/>
            <a:ext cx="8229600" cy="4530725"/>
          </a:xfrm>
        </p:spPr>
        <p:txBody>
          <a:bodyPr/>
          <a:lstStyle/>
          <a:p>
            <a:r>
              <a:rPr lang="zh-CN" altLang="en-US" sz="2800" dirty="0">
                <a:latin typeface="Times New Roman" panose="02020603050405020304" pitchFamily="18" charset="0"/>
                <a:cs typeface="Times New Roman" panose="02020603050405020304" pitchFamily="18" charset="0"/>
              </a:rPr>
              <a:t>在不允许缺货的假设下，很容易计算锯齿的周期</a:t>
            </a:r>
            <a:r>
              <a:rPr lang="en-US" altLang="zh-CN" sz="2800" dirty="0">
                <a:latin typeface="Times New Roman" panose="02020603050405020304" pitchFamily="18" charset="0"/>
                <a:cs typeface="Times New Roman" panose="02020603050405020304" pitchFamily="18" charset="0"/>
              </a:rPr>
              <a:t>, </a:t>
            </a:r>
          </a:p>
        </p:txBody>
      </p:sp>
      <p:graphicFrame>
        <p:nvGraphicFramePr>
          <p:cNvPr id="4" name="Object 2"/>
          <p:cNvGraphicFramePr>
            <a:graphicFrameLocks noChangeAspect="1"/>
          </p:cNvGraphicFramePr>
          <p:nvPr/>
        </p:nvGraphicFramePr>
        <p:xfrm>
          <a:off x="2565400" y="1757363"/>
          <a:ext cx="2322513" cy="969962"/>
        </p:xfrm>
        <a:graphic>
          <a:graphicData uri="http://schemas.openxmlformats.org/presentationml/2006/ole">
            <mc:AlternateContent xmlns:mc="http://schemas.openxmlformats.org/markup-compatibility/2006">
              <mc:Choice xmlns:v="urn:schemas-microsoft-com:vml" Requires="v">
                <p:oleObj spid="_x0000_s4155" name="Equation" r:id="rId3" imgW="1002665" imgH="419100" progId="Equation.DSMT4">
                  <p:embed/>
                </p:oleObj>
              </mc:Choice>
              <mc:Fallback>
                <p:oleObj name="Equation" r:id="rId3" imgW="1002665" imgH="4191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5400" y="1757363"/>
                        <a:ext cx="2322513"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p:cNvSpPr>
            <a:spLocks noChangeArrowheads="1"/>
          </p:cNvSpPr>
          <p:nvPr/>
        </p:nvSpPr>
        <p:spPr bwMode="auto">
          <a:xfrm>
            <a:off x="357188" y="4214813"/>
            <a:ext cx="8286750" cy="1557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r>
              <a:rPr lang="zh-CN" altLang="en-US" dirty="0">
                <a:solidFill>
                  <a:srgbClr val="000000"/>
                </a:solidFill>
                <a:latin typeface="Times New Roman" panose="02020603050405020304" pitchFamily="18" charset="0"/>
                <a:cs typeface="Times New Roman" panose="02020603050405020304" pitchFamily="18" charset="0"/>
              </a:rPr>
              <a:t>显然，不允许缺货更简单</a:t>
            </a:r>
            <a:r>
              <a:rPr lang="en-US" altLang="zh-CN" dirty="0">
                <a:solidFill>
                  <a:srgbClr val="000000"/>
                </a:solidFill>
                <a:latin typeface="Times New Roman" panose="02020603050405020304" pitchFamily="18" charset="0"/>
                <a:cs typeface="Times New Roman" panose="02020603050405020304" pitchFamily="18" charset="0"/>
              </a:rPr>
              <a:t>.</a:t>
            </a:r>
          </a:p>
          <a:p>
            <a:pPr eaLnBrk="1" hangingPunct="1"/>
            <a:endParaRPr lang="en-US" altLang="zh-CN" dirty="0">
              <a:solidFill>
                <a:srgbClr val="000000"/>
              </a:solidFill>
              <a:latin typeface="Times New Roman" panose="02020603050405020304" pitchFamily="18" charset="0"/>
              <a:cs typeface="Times New Roman" panose="02020603050405020304" pitchFamily="18" charset="0"/>
            </a:endParaRPr>
          </a:p>
          <a:p>
            <a:pPr eaLnBrk="1" hangingPunct="1"/>
            <a:r>
              <a:rPr lang="zh-CN" altLang="en-US" dirty="0">
                <a:solidFill>
                  <a:srgbClr val="000000"/>
                </a:solidFill>
                <a:latin typeface="Times New Roman" panose="02020603050405020304" pitchFamily="18" charset="0"/>
                <a:cs typeface="Times New Roman" panose="02020603050405020304" pitchFamily="18" charset="0"/>
              </a:rPr>
              <a:t>我们能承受得起忽视缺货吗</a:t>
            </a:r>
            <a:r>
              <a:rPr lang="en-US" altLang="zh-CN" dirty="0">
                <a:solidFill>
                  <a:srgbClr val="000000"/>
                </a:solidFill>
                <a:latin typeface="Times New Roman" panose="02020603050405020304" pitchFamily="18" charset="0"/>
                <a:cs typeface="Times New Roman" panose="02020603050405020304" pitchFamily="18" charset="0"/>
              </a:rPr>
              <a:t>?</a:t>
            </a:r>
          </a:p>
        </p:txBody>
      </p:sp>
      <p:sp>
        <p:nvSpPr>
          <p:cNvPr id="6" name="矩形 5"/>
          <p:cNvSpPr>
            <a:spLocks noChangeArrowheads="1"/>
          </p:cNvSpPr>
          <p:nvPr/>
        </p:nvSpPr>
        <p:spPr bwMode="auto">
          <a:xfrm>
            <a:off x="438250" y="3166562"/>
            <a:ext cx="8286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r>
              <a:rPr lang="zh-CN" altLang="en-US" dirty="0">
                <a:solidFill>
                  <a:srgbClr val="000000"/>
                </a:solidFill>
                <a:latin typeface="Times New Roman" panose="02020603050405020304" pitchFamily="18" charset="0"/>
                <a:cs typeface="Times New Roman" panose="02020603050405020304" pitchFamily="18" charset="0"/>
              </a:rPr>
              <a:t>当允许缺货时，每一周期依赖于</a:t>
            </a:r>
            <a:r>
              <a:rPr lang="en-US" altLang="zh-CN" dirty="0">
                <a:solidFill>
                  <a:srgbClr val="000000"/>
                </a:solidFill>
                <a:latin typeface="Times New Roman" panose="02020603050405020304" pitchFamily="18" charset="0"/>
                <a:cs typeface="Times New Roman" panose="02020603050405020304" pitchFamily="18" charset="0"/>
              </a:rPr>
              <a:t> </a:t>
            </a:r>
            <a:r>
              <a:rPr lang="en-US" altLang="zh-CN" i="1" dirty="0">
                <a:solidFill>
                  <a:srgbClr val="000099"/>
                </a:solidFill>
                <a:latin typeface="Times New Roman" panose="02020603050405020304" pitchFamily="18" charset="0"/>
                <a:cs typeface="Times New Roman" panose="02020603050405020304" pitchFamily="18" charset="0"/>
              </a:rPr>
              <a:t>q</a:t>
            </a:r>
            <a:r>
              <a:rPr lang="en-US" altLang="zh-CN" dirty="0">
                <a:solidFill>
                  <a:srgbClr val="000000"/>
                </a:solidFill>
                <a:latin typeface="Times New Roman" panose="02020603050405020304" pitchFamily="18" charset="0"/>
                <a:cs typeface="Times New Roman" panose="02020603050405020304" pitchFamily="18" charset="0"/>
              </a:rPr>
              <a:t> </a:t>
            </a:r>
            <a:r>
              <a:rPr lang="zh-CN" altLang="en-US" dirty="0">
                <a:solidFill>
                  <a:srgbClr val="000000"/>
                </a:solidFill>
                <a:latin typeface="Times New Roman" panose="02020603050405020304" pitchFamily="18" charset="0"/>
                <a:cs typeface="Times New Roman" panose="02020603050405020304" pitchFamily="18" charset="0"/>
              </a:rPr>
              <a:t>和</a:t>
            </a:r>
            <a:r>
              <a:rPr lang="en-US" altLang="zh-CN" dirty="0">
                <a:solidFill>
                  <a:srgbClr val="000000"/>
                </a:solidFill>
                <a:latin typeface="Times New Roman" panose="02020603050405020304" pitchFamily="18" charset="0"/>
                <a:cs typeface="Times New Roman" panose="02020603050405020304" pitchFamily="18" charset="0"/>
              </a:rPr>
              <a:t> </a:t>
            </a:r>
            <a:r>
              <a:rPr lang="en-US" altLang="zh-CN" i="1" dirty="0">
                <a:solidFill>
                  <a:srgbClr val="000099"/>
                </a:solidFill>
                <a:latin typeface="Times New Roman" panose="02020603050405020304" pitchFamily="18" charset="0"/>
                <a:cs typeface="Times New Roman" panose="02020603050405020304" pitchFamily="18" charset="0"/>
              </a:rPr>
              <a:t>r</a:t>
            </a:r>
            <a:r>
              <a:rPr lang="en-US" altLang="zh-CN" dirty="0">
                <a:solidFill>
                  <a:srgbClr val="000000"/>
                </a:solidFill>
                <a:latin typeface="Times New Roman" panose="02020603050405020304" pitchFamily="18" charset="0"/>
                <a:cs typeface="Times New Roman" panose="02020603050405020304" pitchFamily="18" charset="0"/>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1000" fill="hold"/>
                                        <p:tgtEl>
                                          <p:spTgt spid="4"/>
                                        </p:tgtEl>
                                        <p:attrNameLst>
                                          <p:attrName>ppt_x</p:attrName>
                                        </p:attrNameLst>
                                      </p:cBhvr>
                                      <p:tavLst>
                                        <p:tav tm="0">
                                          <p:val>
                                            <p:strVal val="0-#ppt_w/2"/>
                                          </p:val>
                                        </p:tav>
                                        <p:tav tm="100000">
                                          <p:val>
                                            <p:strVal val="#ppt_x"/>
                                          </p:val>
                                        </p:tav>
                                      </p:tavLst>
                                    </p:anim>
                                    <p:anim calcmode="lin" valueType="num">
                                      <p:cBhvr additive="base">
                                        <p:cTn id="12"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1000" fill="hold"/>
                                        <p:tgtEl>
                                          <p:spTgt spid="6"/>
                                        </p:tgtEl>
                                        <p:attrNameLst>
                                          <p:attrName>ppt_x</p:attrName>
                                        </p:attrNameLst>
                                      </p:cBhvr>
                                      <p:tavLst>
                                        <p:tav tm="0">
                                          <p:val>
                                            <p:strVal val="0-#ppt_w/2"/>
                                          </p:val>
                                        </p:tav>
                                        <p:tav tm="100000">
                                          <p:val>
                                            <p:strVal val="#ppt_x"/>
                                          </p:val>
                                        </p:tav>
                                      </p:tavLst>
                                    </p:anim>
                                    <p:anim calcmode="lin" valueType="num">
                                      <p:cBhvr additive="base">
                                        <p:cTn id="18" dur="10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1000" fill="hold"/>
                                        <p:tgtEl>
                                          <p:spTgt spid="5"/>
                                        </p:tgtEl>
                                        <p:attrNameLst>
                                          <p:attrName>ppt_x</p:attrName>
                                        </p:attrNameLst>
                                      </p:cBhvr>
                                      <p:tavLst>
                                        <p:tav tm="0">
                                          <p:val>
                                            <p:strVal val="0-#ppt_w/2"/>
                                          </p:val>
                                        </p:tav>
                                        <p:tav tm="100000">
                                          <p:val>
                                            <p:strVal val="#ppt_x"/>
                                          </p:val>
                                        </p:tav>
                                      </p:tavLst>
                                    </p:anim>
                                    <p:anim calcmode="lin" valueType="num">
                                      <p:cBhvr additive="base">
                                        <p:cTn id="24"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199" y="1524001"/>
            <a:ext cx="8234413" cy="1430956"/>
          </a:xfrm>
        </p:spPr>
        <p:txBody>
          <a:bodyPr/>
          <a:lstStyle/>
          <a:p>
            <a:pPr marL="0" indent="0">
              <a:buNone/>
            </a:pPr>
            <a:r>
              <a:rPr lang="zh-CN" altLang="en-US" sz="2400" dirty="0">
                <a:latin typeface="Times New Roman" panose="02020603050405020304" pitchFamily="18" charset="0"/>
                <a:cs typeface="Times New Roman" panose="02020603050405020304" pitchFamily="18" charset="0"/>
              </a:rPr>
              <a:t>但在需求量定值的假设下则无变化</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由下式知，马特因缺货损失一克拉钻石的收益可以持有一克拉至</a:t>
            </a:r>
            <a:r>
              <a:rPr lang="en-US" altLang="zh-CN" sz="2400" dirty="0">
                <a:latin typeface="Times New Roman" panose="02020603050405020304" pitchFamily="18" charset="0"/>
                <a:cs typeface="Times New Roman" panose="02020603050405020304" pitchFamily="18" charset="0"/>
              </a:rPr>
              <a:t>57</a:t>
            </a:r>
            <a:r>
              <a:rPr lang="zh-CN" altLang="en-US" sz="2400" dirty="0">
                <a:latin typeface="Times New Roman" panose="02020603050405020304" pitchFamily="18" charset="0"/>
                <a:cs typeface="Times New Roman" panose="02020603050405020304" pitchFamily="18" charset="0"/>
              </a:rPr>
              <a:t>周，</a:t>
            </a:r>
          </a:p>
        </p:txBody>
      </p:sp>
      <p:graphicFrame>
        <p:nvGraphicFramePr>
          <p:cNvPr id="4" name="Object 2"/>
          <p:cNvGraphicFramePr>
            <a:graphicFrameLocks noChangeAspect="1"/>
          </p:cNvGraphicFramePr>
          <p:nvPr/>
        </p:nvGraphicFramePr>
        <p:xfrm>
          <a:off x="2406516" y="3255746"/>
          <a:ext cx="4171950" cy="923925"/>
        </p:xfrm>
        <a:graphic>
          <a:graphicData uri="http://schemas.openxmlformats.org/presentationml/2006/ole">
            <mc:AlternateContent xmlns:mc="http://schemas.openxmlformats.org/markup-compatibility/2006">
              <mc:Choice xmlns:v="urn:schemas-microsoft-com:vml" Requires="v">
                <p:oleObj spid="_x0000_s5180" name="Equation" r:id="rId3" imgW="45415200" imgH="10058400" progId="Equation.DSMT4">
                  <p:embed/>
                </p:oleObj>
              </mc:Choice>
              <mc:Fallback>
                <p:oleObj name="Equation" r:id="rId3" imgW="45415200" imgH="10058400" progId="Equation.DSMT4">
                  <p:embed/>
                  <p:pic>
                    <p:nvPicPr>
                      <p:cNvPr id="0" name="Object 2"/>
                      <p:cNvPicPr>
                        <a:picLocks noChangeAspect="1" noChangeArrowheads="1"/>
                      </p:cNvPicPr>
                      <p:nvPr/>
                    </p:nvPicPr>
                    <p:blipFill>
                      <a:blip r:embed="rId4"/>
                      <a:srcRect/>
                      <a:stretch>
                        <a:fillRect/>
                      </a:stretch>
                    </p:blipFill>
                    <p:spPr bwMode="auto">
                      <a:xfrm>
                        <a:off x="2406516" y="3255746"/>
                        <a:ext cx="41719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矩形 5"/>
          <p:cNvSpPr>
            <a:spLocks noChangeArrowheads="1"/>
          </p:cNvSpPr>
          <p:nvPr/>
        </p:nvSpPr>
        <p:spPr bwMode="auto">
          <a:xfrm>
            <a:off x="642938" y="4643438"/>
            <a:ext cx="814387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dirty="0">
                <a:solidFill>
                  <a:srgbClr val="000000"/>
                </a:solidFill>
                <a:latin typeface="Times New Roman" panose="02020603050405020304" pitchFamily="18" charset="0"/>
                <a:cs typeface="Times New Roman" panose="02020603050405020304" pitchFamily="18" charset="0"/>
              </a:rPr>
              <a:t>根据以往的销售历史，每一次的库存最多持有</a:t>
            </a:r>
            <a:r>
              <a:rPr lang="en-US" altLang="zh-CN" sz="2400" dirty="0">
                <a:solidFill>
                  <a:srgbClr val="000000"/>
                </a:solidFill>
                <a:latin typeface="Times New Roman" panose="02020603050405020304" pitchFamily="18" charset="0"/>
                <a:cs typeface="Times New Roman" panose="02020603050405020304" pitchFamily="18" charset="0"/>
              </a:rPr>
              <a:t>4 </a:t>
            </a:r>
            <a:r>
              <a:rPr lang="zh-CN" altLang="en-US" sz="2400" dirty="0">
                <a:solidFill>
                  <a:srgbClr val="000000"/>
                </a:solidFill>
                <a:latin typeface="Times New Roman" panose="02020603050405020304" pitchFamily="18" charset="0"/>
                <a:cs typeface="Times New Roman" panose="02020603050405020304" pitchFamily="18" charset="0"/>
              </a:rPr>
              <a:t>至</a:t>
            </a:r>
            <a:r>
              <a:rPr lang="en-US" altLang="zh-CN" sz="2400" dirty="0">
                <a:solidFill>
                  <a:srgbClr val="000000"/>
                </a:solidFill>
                <a:latin typeface="Times New Roman" panose="02020603050405020304" pitchFamily="18" charset="0"/>
                <a:cs typeface="Times New Roman" panose="02020603050405020304" pitchFamily="18" charset="0"/>
              </a:rPr>
              <a:t> 6 </a:t>
            </a:r>
            <a:r>
              <a:rPr lang="zh-CN" altLang="en-US" sz="2400" dirty="0">
                <a:solidFill>
                  <a:srgbClr val="000000"/>
                </a:solidFill>
                <a:latin typeface="Times New Roman" panose="02020603050405020304" pitchFamily="18" charset="0"/>
                <a:cs typeface="Times New Roman" panose="02020603050405020304" pitchFamily="18" charset="0"/>
              </a:rPr>
              <a:t>周，</a:t>
            </a:r>
            <a:r>
              <a:rPr lang="zh-CN" altLang="en-US" sz="2400" dirty="0">
                <a:latin typeface="Times New Roman" panose="02020603050405020304" pitchFamily="18" charset="0"/>
                <a:cs typeface="Times New Roman" panose="02020603050405020304" pitchFamily="18" charset="0"/>
              </a:rPr>
              <a:t>因此，在这种情形下，马特是不允许缺货的， 从而假设不允许缺货是合理的假设</a:t>
            </a:r>
            <a:r>
              <a:rPr lang="en-US" altLang="zh-CN" sz="2400" i="1" dirty="0">
                <a:solidFill>
                  <a:srgbClr val="000099"/>
                </a:solidFill>
                <a:latin typeface="Times New Roman" panose="02020603050405020304" pitchFamily="18" charset="0"/>
                <a:cs typeface="Times New Roman" panose="02020603050405020304" pitchFamily="18" charset="0"/>
              </a:rPr>
              <a:t>.</a:t>
            </a:r>
            <a:endParaRPr lang="zh-CN" altLang="en-US" sz="1600" i="1" dirty="0">
              <a:solidFill>
                <a:srgbClr val="000099"/>
              </a:solidFill>
              <a:latin typeface="Calibri" panose="020F0502020204030204" pitchFamily="34" charset="0"/>
            </a:endParaRPr>
          </a:p>
        </p:txBody>
      </p:sp>
      <p:sp>
        <p:nvSpPr>
          <p:cNvPr id="58373" name="矩形 6"/>
          <p:cNvSpPr>
            <a:spLocks noChangeArrowheads="1"/>
          </p:cNvSpPr>
          <p:nvPr/>
        </p:nvSpPr>
        <p:spPr bwMode="auto">
          <a:xfrm>
            <a:off x="500063" y="1000125"/>
            <a:ext cx="7974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000000"/>
                </a:solidFill>
                <a:latin typeface="Times New Roman" panose="02020603050405020304" pitchFamily="18" charset="0"/>
                <a:cs typeface="Times New Roman" panose="02020603050405020304" pitchFamily="18" charset="0"/>
              </a:rPr>
              <a:t>缺货是可能发生的，因为周与周之间的需求不尽相同</a:t>
            </a:r>
            <a:r>
              <a:rPr lang="en-US" altLang="zh-CN" sz="2400" b="1" dirty="0">
                <a:solidFill>
                  <a:srgbClr val="000000"/>
                </a:solidFill>
                <a:latin typeface="Times New Roman" panose="02020603050405020304" pitchFamily="18" charset="0"/>
                <a:cs typeface="Times New Roman" panose="02020603050405020304" pitchFamily="18" charset="0"/>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1000" fill="hold"/>
                                        <p:tgtEl>
                                          <p:spTgt spid="4"/>
                                        </p:tgtEl>
                                        <p:attrNameLst>
                                          <p:attrName>ppt_x</p:attrName>
                                        </p:attrNameLst>
                                      </p:cBhvr>
                                      <p:tavLst>
                                        <p:tav tm="0">
                                          <p:val>
                                            <p:strVal val="0-#ppt_w/2"/>
                                          </p:val>
                                        </p:tav>
                                        <p:tav tm="100000">
                                          <p:val>
                                            <p:strVal val="#ppt_x"/>
                                          </p:val>
                                        </p:tav>
                                      </p:tavLst>
                                    </p:anim>
                                    <p:anim calcmode="lin" valueType="num">
                                      <p:cBhvr additive="base">
                                        <p:cTn id="12"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1000" fill="hold"/>
                                        <p:tgtEl>
                                          <p:spTgt spid="6"/>
                                        </p:tgtEl>
                                        <p:attrNameLst>
                                          <p:attrName>ppt_x</p:attrName>
                                        </p:attrNameLst>
                                      </p:cBhvr>
                                      <p:tavLst>
                                        <p:tav tm="0">
                                          <p:val>
                                            <p:strVal val="0-#ppt_w/2"/>
                                          </p:val>
                                        </p:tav>
                                        <p:tav tm="100000">
                                          <p:val>
                                            <p:strVal val="#ppt_x"/>
                                          </p:val>
                                        </p:tav>
                                      </p:tavLst>
                                    </p:anim>
                                    <p:anim calcmode="lin" valueType="num">
                                      <p:cBhvr additive="base">
                                        <p:cTn id="18"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idx="4294967295"/>
          </p:nvPr>
        </p:nvSpPr>
        <p:spPr>
          <a:xfrm>
            <a:off x="356135" y="264328"/>
            <a:ext cx="8229600" cy="757555"/>
          </a:xfrm>
        </p:spPr>
        <p:txBody>
          <a:bodyPr/>
          <a:lstStyle/>
          <a:p>
            <a:r>
              <a:rPr lang="zh-CN" altLang="en-US" dirty="0"/>
              <a:t>需求为定值时的模型</a:t>
            </a:r>
          </a:p>
        </p:txBody>
      </p:sp>
      <p:sp>
        <p:nvSpPr>
          <p:cNvPr id="3" name="内容占位符 2"/>
          <p:cNvSpPr>
            <a:spLocks noGrp="1"/>
          </p:cNvSpPr>
          <p:nvPr>
            <p:ph idx="1"/>
          </p:nvPr>
        </p:nvSpPr>
        <p:spPr>
          <a:xfrm>
            <a:off x="285750" y="1163320"/>
            <a:ext cx="8229600" cy="4530725"/>
          </a:xfrm>
        </p:spPr>
        <p:txBody>
          <a:bodyPr/>
          <a:lstStyle/>
          <a:p>
            <a:r>
              <a:rPr lang="zh-CN" altLang="en-US" sz="2400" dirty="0">
                <a:latin typeface="Times New Roman" panose="02020603050405020304" pitchFamily="18" charset="0"/>
                <a:cs typeface="Times New Roman" panose="02020603050405020304" pitchFamily="18" charset="0"/>
              </a:rPr>
              <a:t>因每周销售量</a:t>
            </a:r>
            <a:r>
              <a:rPr lang="en-US" altLang="zh-CN" sz="2400" dirty="0">
                <a:latin typeface="Times New Roman" panose="02020603050405020304" pitchFamily="18" charset="0"/>
                <a:cs typeface="Times New Roman" panose="02020603050405020304" pitchFamily="18" charset="0"/>
              </a:rPr>
              <a:t>55</a:t>
            </a:r>
            <a:r>
              <a:rPr lang="zh-CN" altLang="en-US" sz="2400" dirty="0">
                <a:latin typeface="Times New Roman" panose="02020603050405020304" pitchFamily="18" charset="0"/>
                <a:cs typeface="Times New Roman" panose="02020603050405020304" pitchFamily="18" charset="0"/>
              </a:rPr>
              <a:t>克拉，采购时间为</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周，故</a:t>
            </a:r>
            <a:endParaRPr lang="en-US"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若</a:t>
            </a:r>
            <a:r>
              <a:rPr lang="en-US" altLang="zh-CN" sz="2400" dirty="0">
                <a:latin typeface="Times New Roman" panose="02020603050405020304" pitchFamily="18" charset="0"/>
                <a:cs typeface="Times New Roman" panose="02020603050405020304" pitchFamily="18" charset="0"/>
              </a:rPr>
              <a:t> r&lt;55, </a:t>
            </a:r>
            <a:r>
              <a:rPr lang="zh-CN" altLang="en-US" sz="2400" dirty="0">
                <a:latin typeface="Times New Roman" panose="02020603050405020304" pitchFamily="18" charset="0"/>
                <a:cs typeface="Times New Roman" panose="02020603050405020304" pitchFamily="18" charset="0"/>
              </a:rPr>
              <a:t>将损失</a:t>
            </a:r>
            <a:r>
              <a:rPr lang="en-US" altLang="zh-CN" sz="2400" dirty="0">
                <a:latin typeface="Times New Roman" panose="02020603050405020304" pitchFamily="18" charset="0"/>
                <a:cs typeface="Times New Roman" panose="02020603050405020304" pitchFamily="18" charset="0"/>
              </a:rPr>
              <a:t>(55-r) </a:t>
            </a:r>
            <a:r>
              <a:rPr lang="zh-CN" altLang="en-US" sz="2400" dirty="0">
                <a:latin typeface="Times New Roman" panose="02020603050405020304" pitchFamily="18" charset="0"/>
                <a:cs typeface="Times New Roman" panose="02020603050405020304" pitchFamily="18" charset="0"/>
              </a:rPr>
              <a:t>克拉的销售</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在我们的不允许缺货假设下必有 </a:t>
            </a:r>
            <a:r>
              <a:rPr lang="en-US" altLang="zh-CN" sz="2400" dirty="0">
                <a:latin typeface="Times New Roman" panose="02020603050405020304" pitchFamily="18" charset="0"/>
                <a:cs typeface="Times New Roman" panose="02020603050405020304" pitchFamily="18" charset="0"/>
              </a:rPr>
              <a:t>r</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55</a:t>
            </a:r>
          </a:p>
          <a:p>
            <a:pPr>
              <a:buFontTx/>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且易计算总费用 </a:t>
            </a:r>
            <a:r>
              <a:rPr lang="en-US" altLang="zh-CN" sz="2400" dirty="0">
                <a:latin typeface="Times New Roman" panose="02020603050405020304" pitchFamily="18" charset="0"/>
                <a:cs typeface="Times New Roman" panose="02020603050405020304" pitchFamily="18" charset="0"/>
              </a:rPr>
              <a:t>c(</a:t>
            </a:r>
            <a:r>
              <a:rPr lang="en-US" altLang="zh-CN" sz="2400" dirty="0" err="1">
                <a:latin typeface="Times New Roman" panose="02020603050405020304" pitchFamily="18" charset="0"/>
                <a:cs typeface="Times New Roman" panose="02020603050405020304" pitchFamily="18" charset="0"/>
              </a:rPr>
              <a:t>q,r</a:t>
            </a:r>
            <a:r>
              <a:rPr lang="en-US" altLang="zh-CN" sz="2400" dirty="0">
                <a:latin typeface="Times New Roman" panose="02020603050405020304" pitchFamily="18" charset="0"/>
                <a:cs typeface="Times New Roman" panose="02020603050405020304" pitchFamily="18" charset="0"/>
              </a:rPr>
              <a:t>)=3.50[(r-55)+q/2]+2000/(q/55)</a:t>
            </a:r>
          </a:p>
          <a:p>
            <a:pPr>
              <a:buFontTx/>
              <a:buNone/>
            </a:pPr>
            <a:endParaRPr lang="en-US" altLang="zh-CN" sz="7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((r-55)+q/2 </a:t>
            </a:r>
            <a:r>
              <a:rPr lang="zh-CN" altLang="en-US" sz="2400" dirty="0">
                <a:latin typeface="Times New Roman" panose="02020603050405020304" pitchFamily="18" charset="0"/>
                <a:cs typeface="Times New Roman" panose="02020603050405020304" pitchFamily="18" charset="0"/>
              </a:rPr>
              <a:t>是每一周期的中值</a:t>
            </a:r>
            <a:r>
              <a:rPr lang="en-US" altLang="zh-CN" sz="2400" dirty="0">
                <a:latin typeface="Times New Roman" panose="02020603050405020304" pitchFamily="18" charset="0"/>
                <a:cs typeface="Times New Roman" panose="02020603050405020304" pitchFamily="18" charset="0"/>
              </a:rPr>
              <a:t>.)</a:t>
            </a:r>
          </a:p>
        </p:txBody>
      </p:sp>
      <p:sp>
        <p:nvSpPr>
          <p:cNvPr id="4" name="矩形 3"/>
          <p:cNvSpPr>
            <a:spLocks noChangeArrowheads="1"/>
          </p:cNvSpPr>
          <p:nvPr/>
        </p:nvSpPr>
        <p:spPr bwMode="auto">
          <a:xfrm>
            <a:off x="285750" y="3571875"/>
            <a:ext cx="785812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dirty="0">
                <a:solidFill>
                  <a:srgbClr val="4156F1"/>
                </a:solidFill>
                <a:latin typeface="Times New Roman" panose="02020603050405020304" pitchFamily="18" charset="0"/>
                <a:cs typeface="Times New Roman" panose="02020603050405020304" pitchFamily="18" charset="0"/>
              </a:rPr>
              <a:t>于是我们的最终模型为</a:t>
            </a:r>
            <a:endParaRPr lang="en-US" altLang="zh-CN" sz="2400" dirty="0">
              <a:solidFill>
                <a:srgbClr val="4156F1"/>
              </a:solidFill>
              <a:latin typeface="Times New Roman" panose="02020603050405020304" pitchFamily="18" charset="0"/>
              <a:cs typeface="Times New Roman" panose="02020603050405020304" pitchFamily="18" charset="0"/>
            </a:endParaRPr>
          </a:p>
          <a:p>
            <a:pPr eaLnBrk="1" hangingPunct="1">
              <a:spcBef>
                <a:spcPct val="0"/>
              </a:spcBef>
              <a:buFontTx/>
              <a:buNone/>
            </a:pPr>
            <a:endParaRPr lang="en-US" altLang="zh-CN" sz="2400" dirty="0">
              <a:solidFill>
                <a:srgbClr val="4156F1"/>
              </a:solidFill>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zh-CN" sz="24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rPr>
              <a:t>Minimize c=3.50[(r-55)+q/2]+2000/(q/55)</a:t>
            </a:r>
          </a:p>
          <a:p>
            <a:pPr eaLnBrk="1" hangingPunct="1">
              <a:spcBef>
                <a:spcPct val="0"/>
              </a:spcBef>
              <a:buFontTx/>
              <a:buNone/>
            </a:pP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s.t.</a:t>
            </a:r>
            <a:r>
              <a:rPr lang="en-US" altLang="zh-CN" sz="3200" dirty="0">
                <a:latin typeface="Times New Roman" panose="02020603050405020304" pitchFamily="18" charset="0"/>
                <a:cs typeface="Times New Roman" panose="02020603050405020304" pitchFamily="18" charset="0"/>
              </a:rPr>
              <a:t>(subject to)      q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100,   </a:t>
            </a:r>
          </a:p>
          <a:p>
            <a:pPr eaLnBrk="1" hangingPunct="1">
              <a:spcBef>
                <a:spcPct val="0"/>
              </a:spcBef>
              <a:buFontTx/>
              <a:buNone/>
            </a:pP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r </a:t>
            </a:r>
            <a:r>
              <a:rPr lang="en-US" altLang="zh-CN" sz="3200" dirty="0">
                <a:latin typeface="Times New Roman" panose="02020603050405020304" pitchFamily="18" charset="0"/>
                <a:cs typeface="Times New Roman" panose="02020603050405020304" pitchFamily="18" charset="0"/>
              </a:rPr>
              <a:t>  55.</a:t>
            </a:r>
            <a:endParaRPr lang="zh-CN" altLang="en-US" sz="3200" dirty="0">
              <a:latin typeface="Times New Roman" panose="02020603050405020304" pitchFamily="18" charset="0"/>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10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10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1000" fill="hold"/>
                                        <p:tgtEl>
                                          <p:spTgt spid="4"/>
                                        </p:tgtEl>
                                        <p:attrNameLst>
                                          <p:attrName>ppt_x</p:attrName>
                                        </p:attrNameLst>
                                      </p:cBhvr>
                                      <p:tavLst>
                                        <p:tav tm="0">
                                          <p:val>
                                            <p:strVal val="0-#ppt_w/2"/>
                                          </p:val>
                                        </p:tav>
                                        <p:tav tm="100000">
                                          <p:val>
                                            <p:strVal val="#ppt_x"/>
                                          </p:val>
                                        </p:tav>
                                      </p:tavLst>
                                    </p:anim>
                                    <p:anim calcmode="lin" valueType="num">
                                      <p:cBhvr additive="base">
                                        <p:cTn id="32" dur="10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idx="4294967295"/>
          </p:nvPr>
        </p:nvSpPr>
        <p:spPr>
          <a:xfrm>
            <a:off x="0" y="187325"/>
            <a:ext cx="8229600" cy="757555"/>
          </a:xfrm>
        </p:spPr>
        <p:txBody>
          <a:bodyPr/>
          <a:lstStyle/>
          <a:p>
            <a:r>
              <a:rPr lang="zh-CN" altLang="en-US"/>
              <a:t>可行解与最优解</a:t>
            </a:r>
          </a:p>
        </p:txBody>
      </p:sp>
      <p:sp>
        <p:nvSpPr>
          <p:cNvPr id="3" name="内容占位符 2"/>
          <p:cNvSpPr>
            <a:spLocks noGrp="1"/>
          </p:cNvSpPr>
          <p:nvPr>
            <p:ph idx="1"/>
          </p:nvPr>
        </p:nvSpPr>
        <p:spPr>
          <a:xfrm>
            <a:off x="447574" y="1244867"/>
            <a:ext cx="8229600" cy="4530725"/>
          </a:xfrm>
        </p:spPr>
        <p:txBody>
          <a:bodyPr/>
          <a:lstStyle/>
          <a:p>
            <a:pPr>
              <a:defRPr/>
            </a:pPr>
            <a:r>
              <a:rPr lang="zh-CN" altLang="en-US" sz="2400" b="1" dirty="0">
                <a:solidFill>
                  <a:srgbClr val="4156F1"/>
                </a:solidFill>
                <a:latin typeface="+mn-ea"/>
              </a:rPr>
              <a:t>可行解</a:t>
            </a:r>
            <a:r>
              <a:rPr lang="en-US" altLang="zh-CN" sz="2400" b="1" dirty="0">
                <a:solidFill>
                  <a:schemeClr val="accent4"/>
                </a:solidFill>
                <a:latin typeface="+mn-ea"/>
              </a:rPr>
              <a:t>(FS, feasible solution)</a:t>
            </a:r>
            <a:r>
              <a:rPr lang="zh-CN" altLang="en-US" sz="2400" dirty="0">
                <a:latin typeface="+mn-ea"/>
              </a:rPr>
              <a:t>是决策变量的一组满足所有约束的取值</a:t>
            </a:r>
            <a:r>
              <a:rPr lang="en-US" altLang="zh-CN" sz="2400" dirty="0">
                <a:latin typeface="+mn-ea"/>
              </a:rPr>
              <a:t>. </a:t>
            </a:r>
          </a:p>
          <a:p>
            <a:pPr>
              <a:defRPr/>
            </a:pPr>
            <a:r>
              <a:rPr lang="zh-CN" altLang="en-US" sz="2400" b="1" dirty="0">
                <a:solidFill>
                  <a:srgbClr val="4156F1"/>
                </a:solidFill>
                <a:latin typeface="+mn-ea"/>
              </a:rPr>
              <a:t>最优解</a:t>
            </a:r>
            <a:r>
              <a:rPr lang="en-US" altLang="zh-CN" sz="2400" b="1" dirty="0">
                <a:solidFill>
                  <a:schemeClr val="accent4"/>
                </a:solidFill>
                <a:latin typeface="+mn-ea"/>
              </a:rPr>
              <a:t>(Optimal solution) </a:t>
            </a:r>
            <a:r>
              <a:rPr lang="zh-CN" altLang="en-US" sz="2400" b="1" dirty="0">
                <a:solidFill>
                  <a:schemeClr val="accent4"/>
                </a:solidFill>
                <a:latin typeface="+mn-ea"/>
              </a:rPr>
              <a:t>是可行解，</a:t>
            </a:r>
            <a:r>
              <a:rPr lang="zh-CN" altLang="en-US" sz="2400" dirty="0">
                <a:solidFill>
                  <a:schemeClr val="accent4"/>
                </a:solidFill>
                <a:latin typeface="+mn-ea"/>
              </a:rPr>
              <a:t>其目标值不比所有其他可行解的目标值更差</a:t>
            </a:r>
            <a:r>
              <a:rPr lang="en-US" altLang="zh-CN" sz="2400" dirty="0">
                <a:latin typeface="+mn-ea"/>
              </a:rPr>
              <a:t>.</a:t>
            </a:r>
          </a:p>
        </p:txBody>
      </p:sp>
      <p:sp>
        <p:nvSpPr>
          <p:cNvPr id="4" name="矩形 3"/>
          <p:cNvSpPr>
            <a:spLocks noChangeArrowheads="1"/>
          </p:cNvSpPr>
          <p:nvPr/>
        </p:nvSpPr>
        <p:spPr bwMode="auto">
          <a:xfrm>
            <a:off x="285750" y="3643313"/>
            <a:ext cx="8143875" cy="171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000000"/>
                </a:solidFill>
                <a:latin typeface="Calibri" panose="020F0502020204030204" pitchFamily="34" charset="0"/>
              </a:rPr>
              <a:t>马特的例子中</a:t>
            </a:r>
            <a:r>
              <a:rPr lang="en-US" altLang="zh-CN" sz="2400" dirty="0">
                <a:solidFill>
                  <a:srgbClr val="000000"/>
                </a:solidFill>
                <a:latin typeface="Calibri" panose="020F0502020204030204" pitchFamily="34" charset="0"/>
              </a:rPr>
              <a:t>, q=200, r=100 </a:t>
            </a:r>
            <a:r>
              <a:rPr lang="zh-CN" altLang="en-US" sz="2400" dirty="0">
                <a:solidFill>
                  <a:srgbClr val="000000"/>
                </a:solidFill>
                <a:latin typeface="Calibri" panose="020F0502020204030204" pitchFamily="34" charset="0"/>
              </a:rPr>
              <a:t>是可行解但非最优解</a:t>
            </a:r>
            <a:r>
              <a:rPr lang="en-US" altLang="zh-CN" sz="2400" dirty="0">
                <a:solidFill>
                  <a:srgbClr val="000000"/>
                </a:solidFill>
                <a:latin typeface="Calibri" panose="020F0502020204030204" pitchFamily="34" charset="0"/>
              </a:rPr>
              <a:t>, </a:t>
            </a:r>
            <a:r>
              <a:rPr lang="zh-CN" altLang="en-US" sz="2400" dirty="0">
                <a:solidFill>
                  <a:srgbClr val="000000"/>
                </a:solidFill>
                <a:latin typeface="Calibri" panose="020F0502020204030204" pitchFamily="34" charset="0"/>
              </a:rPr>
              <a:t>因可行解</a:t>
            </a:r>
            <a:r>
              <a:rPr lang="en-US" altLang="zh-CN" sz="2400" dirty="0">
                <a:solidFill>
                  <a:srgbClr val="000000"/>
                </a:solidFill>
                <a:latin typeface="Calibri" panose="020F0502020204030204" pitchFamily="34" charset="0"/>
              </a:rPr>
              <a:t>q=200, r=55 </a:t>
            </a:r>
            <a:r>
              <a:rPr lang="zh-CN" altLang="en-US" sz="2400" dirty="0">
                <a:solidFill>
                  <a:srgbClr val="000000"/>
                </a:solidFill>
                <a:latin typeface="Calibri" panose="020F0502020204030204" pitchFamily="34" charset="0"/>
              </a:rPr>
              <a:t>具有更低的目标值</a:t>
            </a:r>
            <a:r>
              <a:rPr lang="en-US" altLang="zh-CN" sz="2400" dirty="0">
                <a:solidFill>
                  <a:srgbClr val="000000"/>
                </a:solidFill>
                <a:latin typeface="Calibri" panose="020F0502020204030204" pitchFamily="34" charset="0"/>
              </a:rPr>
              <a:t>. </a:t>
            </a:r>
          </a:p>
          <a:p>
            <a:pPr eaLnBrk="1" hangingPunct="1"/>
            <a:endParaRPr lang="en-US" altLang="zh-CN" sz="2400" dirty="0">
              <a:solidFill>
                <a:srgbClr val="000000"/>
              </a:solidFill>
              <a:latin typeface="Calibri" panose="020F0502020204030204" pitchFamily="34" charset="0"/>
            </a:endParaRPr>
          </a:p>
          <a:p>
            <a:pPr eaLnBrk="1" hangingPunct="1"/>
            <a:r>
              <a:rPr lang="zh-CN" altLang="en-US" sz="2400" dirty="0">
                <a:solidFill>
                  <a:srgbClr val="000000"/>
                </a:solidFill>
                <a:latin typeface="Calibri" panose="020F0502020204030204" pitchFamily="34" charset="0"/>
              </a:rPr>
              <a:t>容易看出任何最优解处 </a:t>
            </a:r>
            <a:r>
              <a:rPr lang="en-US" altLang="zh-CN" sz="2400" dirty="0">
                <a:solidFill>
                  <a:srgbClr val="000000"/>
                </a:solidFill>
                <a:latin typeface="Calibri" panose="020F0502020204030204" pitchFamily="34" charset="0"/>
              </a:rPr>
              <a:t> r*=55</a:t>
            </a:r>
            <a:endParaRPr lang="zh-CN" altLang="en-US" sz="2400" dirty="0">
              <a:solidFill>
                <a:srgbClr val="000000"/>
              </a:solidFill>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1000" fill="hold"/>
                                        <p:tgtEl>
                                          <p:spTgt spid="4"/>
                                        </p:tgtEl>
                                        <p:attrNameLst>
                                          <p:attrName>ppt_x</p:attrName>
                                        </p:attrNameLst>
                                      </p:cBhvr>
                                      <p:tavLst>
                                        <p:tav tm="0">
                                          <p:val>
                                            <p:strVal val="0-#ppt_w/2"/>
                                          </p:val>
                                        </p:tav>
                                        <p:tav tm="100000">
                                          <p:val>
                                            <p:strVal val="#ppt_x"/>
                                          </p:val>
                                        </p:tav>
                                      </p:tavLst>
                                    </p:anim>
                                    <p:anim calcmode="lin" valueType="num">
                                      <p:cBhvr additive="base">
                                        <p:cTn id="20" dur="10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内容占位符 2"/>
          <p:cNvSpPr>
            <a:spLocks noGrp="1"/>
          </p:cNvSpPr>
          <p:nvPr>
            <p:ph idx="1"/>
          </p:nvPr>
        </p:nvSpPr>
        <p:spPr/>
        <p:txBody>
          <a:bodyPr/>
          <a:lstStyle/>
          <a:p>
            <a:pPr>
              <a:buFontTx/>
              <a:buNone/>
            </a:pPr>
            <a:r>
              <a:rPr lang="zh-CN" altLang="en-US" sz="2400"/>
              <a:t>于是目标函数化为</a:t>
            </a:r>
            <a:endParaRPr lang="en-US" altLang="zh-CN" sz="2400"/>
          </a:p>
        </p:txBody>
      </p:sp>
      <p:graphicFrame>
        <p:nvGraphicFramePr>
          <p:cNvPr id="4" name="Object 2"/>
          <p:cNvGraphicFramePr>
            <a:graphicFrameLocks noChangeAspect="1"/>
          </p:cNvGraphicFramePr>
          <p:nvPr/>
        </p:nvGraphicFramePr>
        <p:xfrm>
          <a:off x="500063" y="2000250"/>
          <a:ext cx="3327400" cy="1893888"/>
        </p:xfrm>
        <a:graphic>
          <a:graphicData uri="http://schemas.openxmlformats.org/presentationml/2006/ole">
            <mc:AlternateContent xmlns:mc="http://schemas.openxmlformats.org/markup-compatibility/2006">
              <mc:Choice xmlns:v="urn:schemas-microsoft-com:vml" Requires="v">
                <p:oleObj spid="_x0000_s6203" name="Equation" r:id="rId3" imgW="2032000" imgH="1155700" progId="Equation.DSMT4">
                  <p:embed/>
                </p:oleObj>
              </mc:Choice>
              <mc:Fallback>
                <p:oleObj name="Equation" r:id="rId3" imgW="2032000" imgH="11557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063" y="2000250"/>
                        <a:ext cx="3327400" cy="189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图片 2">
            <a:extLst>
              <a:ext uri="{FF2B5EF4-FFF2-40B4-BE49-F238E27FC236}">
                <a16:creationId xmlns:a16="http://schemas.microsoft.com/office/drawing/2014/main" id="{4076AC58-8809-4D5B-8405-84865ACFBD98}"/>
              </a:ext>
            </a:extLst>
          </p:cNvPr>
          <p:cNvPicPr>
            <a:picLocks noChangeAspect="1"/>
          </p:cNvPicPr>
          <p:nvPr/>
        </p:nvPicPr>
        <p:blipFill>
          <a:blip r:embed="rId5"/>
          <a:stretch>
            <a:fillRect/>
          </a:stretch>
        </p:blipFill>
        <p:spPr>
          <a:xfrm>
            <a:off x="3965039" y="1383613"/>
            <a:ext cx="4875187" cy="4141288"/>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idx="4294967295"/>
          </p:nvPr>
        </p:nvSpPr>
        <p:spPr>
          <a:xfrm>
            <a:off x="433137" y="291633"/>
            <a:ext cx="8258175" cy="662305"/>
          </a:xfrm>
        </p:spPr>
        <p:txBody>
          <a:bodyPr/>
          <a:lstStyle/>
          <a:p>
            <a:r>
              <a:rPr lang="zh-CN" altLang="en-US" dirty="0">
                <a:latin typeface="Times New Roman" panose="02020603050405020304" pitchFamily="18" charset="0"/>
                <a:cs typeface="Times New Roman" panose="02020603050405020304" pitchFamily="18" charset="0"/>
              </a:rPr>
              <a:t>模型一般化</a:t>
            </a:r>
            <a:endParaRPr lang="zh-CN" altLang="en-US" dirty="0"/>
          </a:p>
        </p:txBody>
      </p:sp>
      <p:sp>
        <p:nvSpPr>
          <p:cNvPr id="62467" name="内容占位符 2"/>
          <p:cNvSpPr>
            <a:spLocks noGrp="1"/>
          </p:cNvSpPr>
          <p:nvPr>
            <p:ph idx="1"/>
          </p:nvPr>
        </p:nvSpPr>
        <p:spPr>
          <a:xfrm>
            <a:off x="507499" y="1163321"/>
            <a:ext cx="7433343" cy="453724"/>
          </a:xfrm>
        </p:spPr>
        <p:txBody>
          <a:bodyPr/>
          <a:lstStyle/>
          <a:p>
            <a:r>
              <a:rPr lang="zh-CN" altLang="en-US" sz="2800" dirty="0">
                <a:latin typeface="Times New Roman" panose="02020603050405020304" pitchFamily="18" charset="0"/>
                <a:cs typeface="Times New Roman" panose="02020603050405020304" pitchFamily="18" charset="0"/>
              </a:rPr>
              <a:t>引入参数</a:t>
            </a:r>
            <a:r>
              <a:rPr lang="en-US" altLang="zh-CN" sz="2800" dirty="0">
                <a:latin typeface="Times New Roman" panose="02020603050405020304" pitchFamily="18" charset="0"/>
                <a:cs typeface="Times New Roman" panose="02020603050405020304" pitchFamily="18" charset="0"/>
              </a:rPr>
              <a:t>:</a:t>
            </a:r>
          </a:p>
        </p:txBody>
      </p:sp>
      <p:graphicFrame>
        <p:nvGraphicFramePr>
          <p:cNvPr id="62468" name="Object 2"/>
          <p:cNvGraphicFramePr>
            <a:graphicFrameLocks noChangeAspect="1"/>
          </p:cNvGraphicFramePr>
          <p:nvPr>
            <p:extLst>
              <p:ext uri="{D42A27DB-BD31-4B8C-83A1-F6EECF244321}">
                <p14:modId xmlns:p14="http://schemas.microsoft.com/office/powerpoint/2010/main" val="2464421827"/>
              </p:ext>
            </p:extLst>
          </p:nvPr>
        </p:nvGraphicFramePr>
        <p:xfrm>
          <a:off x="568124" y="1823987"/>
          <a:ext cx="7900988" cy="2809875"/>
        </p:xfrm>
        <a:graphic>
          <a:graphicData uri="http://schemas.openxmlformats.org/presentationml/2006/ole">
            <mc:AlternateContent xmlns:mc="http://schemas.openxmlformats.org/markup-compatibility/2006">
              <mc:Choice xmlns:v="urn:schemas-microsoft-com:vml" Requires="v">
                <p:oleObj spid="_x0000_s7228" name="Equation" r:id="rId4" imgW="96012000" imgH="34137600" progId="Equation.DSMT4">
                  <p:embed/>
                </p:oleObj>
              </mc:Choice>
              <mc:Fallback>
                <p:oleObj name="Equation" r:id="rId4" imgW="96012000" imgH="34137600" progId="Equation.DSMT4">
                  <p:embed/>
                  <p:pic>
                    <p:nvPicPr>
                      <p:cNvPr id="0" name="Object 2"/>
                      <p:cNvPicPr>
                        <a:picLocks noChangeAspect="1" noChangeArrowheads="1"/>
                      </p:cNvPicPr>
                      <p:nvPr/>
                    </p:nvPicPr>
                    <p:blipFill>
                      <a:blip r:embed="rId5"/>
                      <a:srcRect/>
                      <a:stretch>
                        <a:fillRect/>
                      </a:stretch>
                    </p:blipFill>
                    <p:spPr bwMode="auto">
                      <a:xfrm>
                        <a:off x="568124" y="1823987"/>
                        <a:ext cx="7900988"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文本框 6"/>
          <p:cNvSpPr txBox="1"/>
          <p:nvPr/>
        </p:nvSpPr>
        <p:spPr>
          <a:xfrm>
            <a:off x="1458226" y="4888915"/>
            <a:ext cx="6059103" cy="954107"/>
          </a:xfrm>
          <a:prstGeom prst="rect">
            <a:avLst/>
          </a:prstGeom>
          <a:noFill/>
        </p:spPr>
        <p:txBody>
          <a:bodyPr wrap="square">
            <a:spAutoFit/>
          </a:bodyPr>
          <a:lstStyle/>
          <a:p>
            <a:pPr eaLnBrk="1" hangingPunct="1">
              <a:spcBef>
                <a:spcPct val="0"/>
              </a:spcBef>
              <a:buFontTx/>
              <a:buNone/>
            </a:pPr>
            <a:r>
              <a:rPr lang="en-US" altLang="zh-CN" sz="2800" dirty="0">
                <a:solidFill>
                  <a:srgbClr val="4156F1"/>
                </a:solidFill>
                <a:latin typeface="Times New Roman" panose="02020603050405020304" pitchFamily="18" charset="0"/>
                <a:cs typeface="Times New Roman" panose="02020603050405020304" pitchFamily="18" charset="0"/>
              </a:rPr>
              <a:t>Min  c=h[(</a:t>
            </a:r>
            <a:r>
              <a:rPr lang="en-US" altLang="zh-CN" sz="2800" i="1" dirty="0">
                <a:solidFill>
                  <a:srgbClr val="4156F1"/>
                </a:solidFill>
                <a:latin typeface="Times New Roman" panose="02020603050405020304" pitchFamily="18" charset="0"/>
                <a:cs typeface="Times New Roman" panose="02020603050405020304" pitchFamily="18" charset="0"/>
              </a:rPr>
              <a:t>r-</a:t>
            </a:r>
            <a:r>
              <a:rPr lang="en-US" altLang="zh-CN" sz="2800" i="1" dirty="0" err="1">
                <a:solidFill>
                  <a:srgbClr val="4156F1"/>
                </a:solidFill>
                <a:latin typeface="Times New Roman" panose="02020603050405020304" pitchFamily="18" charset="0"/>
                <a:cs typeface="Times New Roman" panose="02020603050405020304" pitchFamily="18" charset="0"/>
              </a:rPr>
              <a:t>ld</a:t>
            </a:r>
            <a:r>
              <a:rPr lang="en-US" altLang="zh-CN" sz="2800" i="1" dirty="0">
                <a:solidFill>
                  <a:srgbClr val="4156F1"/>
                </a:solidFill>
                <a:latin typeface="Times New Roman" panose="02020603050405020304" pitchFamily="18" charset="0"/>
                <a:cs typeface="Times New Roman" panose="02020603050405020304" pitchFamily="18" charset="0"/>
              </a:rPr>
              <a:t> </a:t>
            </a:r>
            <a:r>
              <a:rPr lang="en-US" altLang="zh-CN" sz="2800" dirty="0">
                <a:solidFill>
                  <a:srgbClr val="4156F1"/>
                </a:solidFill>
                <a:latin typeface="Times New Roman" panose="02020603050405020304" pitchFamily="18" charset="0"/>
                <a:cs typeface="Times New Roman" panose="02020603050405020304" pitchFamily="18" charset="0"/>
              </a:rPr>
              <a:t>)+q/2]+f/(q/d)</a:t>
            </a:r>
          </a:p>
          <a:p>
            <a:r>
              <a:rPr lang="en-US" altLang="zh-CN" sz="2800" dirty="0">
                <a:solidFill>
                  <a:srgbClr val="4156F1"/>
                </a:solidFill>
                <a:latin typeface="Times New Roman" panose="02020603050405020304" pitchFamily="18" charset="0"/>
                <a:cs typeface="Times New Roman" panose="02020603050405020304" pitchFamily="18" charset="0"/>
              </a:rPr>
              <a:t>      </a:t>
            </a:r>
            <a:r>
              <a:rPr lang="en-US" altLang="zh-CN" sz="2800" dirty="0" err="1">
                <a:solidFill>
                  <a:srgbClr val="4156F1"/>
                </a:solidFill>
                <a:latin typeface="Times New Roman" panose="02020603050405020304" pitchFamily="18" charset="0"/>
                <a:cs typeface="Times New Roman" panose="02020603050405020304" pitchFamily="18" charset="0"/>
              </a:rPr>
              <a:t>S.t.</a:t>
            </a:r>
            <a:r>
              <a:rPr lang="en-US" altLang="zh-CN" sz="2800" i="1" dirty="0">
                <a:solidFill>
                  <a:srgbClr val="4156F1"/>
                </a:solidFill>
                <a:latin typeface="Times New Roman" panose="02020603050405020304" pitchFamily="18" charset="0"/>
                <a:cs typeface="Times New Roman" panose="02020603050405020304" pitchFamily="18" charset="0"/>
              </a:rPr>
              <a:t>    </a:t>
            </a:r>
            <a:r>
              <a:rPr lang="en-US" altLang="zh-CN" sz="2800" i="1" dirty="0" err="1">
                <a:solidFill>
                  <a:srgbClr val="4156F1"/>
                </a:solidFill>
                <a:latin typeface="Times New Roman" panose="02020603050405020304" pitchFamily="18" charset="0"/>
                <a:cs typeface="Times New Roman" panose="02020603050405020304" pitchFamily="18" charset="0"/>
              </a:rPr>
              <a:t>q</a:t>
            </a:r>
            <a:r>
              <a:rPr lang="en-US" altLang="zh-CN" sz="2800" dirty="0" err="1">
                <a:solidFill>
                  <a:srgbClr val="4156F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solidFill>
                  <a:srgbClr val="4156F1"/>
                </a:solidFill>
                <a:latin typeface="Times New Roman" panose="02020603050405020304" pitchFamily="18" charset="0"/>
                <a:cs typeface="Times New Roman" panose="02020603050405020304" pitchFamily="18" charset="0"/>
                <a:sym typeface="Symbol" panose="05050102010706020507" pitchFamily="18" charset="2"/>
              </a:rPr>
              <a:t>m</a:t>
            </a:r>
            <a:r>
              <a:rPr lang="en-US" altLang="zh-CN" sz="2800" i="1" dirty="0">
                <a:solidFill>
                  <a:srgbClr val="4156F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solidFill>
                  <a:srgbClr val="4156F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solidFill>
                  <a:srgbClr val="4156F1"/>
                </a:solidFill>
                <a:latin typeface="Times New Roman" panose="02020603050405020304" pitchFamily="18" charset="0"/>
                <a:cs typeface="Times New Roman" panose="02020603050405020304" pitchFamily="18" charset="0"/>
                <a:sym typeface="Symbol" panose="05050102010706020507" pitchFamily="18" charset="2"/>
              </a:rPr>
              <a:t>r</a:t>
            </a:r>
            <a:r>
              <a:rPr lang="en-US" altLang="zh-CN" sz="2800" dirty="0" err="1">
                <a:solidFill>
                  <a:srgbClr val="4156F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solidFill>
                  <a:srgbClr val="4156F1"/>
                </a:solidFill>
                <a:latin typeface="Times New Roman" panose="02020603050405020304" pitchFamily="18" charset="0"/>
                <a:cs typeface="Times New Roman" panose="02020603050405020304" pitchFamily="18" charset="0"/>
                <a:sym typeface="Symbol" panose="05050102010706020507" pitchFamily="18" charset="2"/>
              </a:rPr>
              <a:t>ld</a:t>
            </a:r>
            <a:endParaRPr lang="zh-CN" altLang="en-US" sz="2800" dirty="0">
              <a:solidFill>
                <a:srgbClr val="4156F1"/>
              </a:solidFill>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idx="4294967295"/>
          </p:nvPr>
        </p:nvSpPr>
        <p:spPr>
          <a:xfrm>
            <a:off x="147320" y="187325"/>
            <a:ext cx="8229600" cy="757555"/>
          </a:xfrm>
        </p:spPr>
        <p:txBody>
          <a:bodyPr/>
          <a:lstStyle/>
          <a:p>
            <a:r>
              <a:rPr lang="zh-CN" altLang="en-US" sz="3600" dirty="0"/>
              <a:t>需求为定值时的经济订购批量</a:t>
            </a:r>
            <a:r>
              <a:rPr lang="en-US" altLang="zh-CN" sz="3600" dirty="0"/>
              <a:t>(EOQ)</a:t>
            </a:r>
          </a:p>
        </p:txBody>
      </p:sp>
      <p:sp>
        <p:nvSpPr>
          <p:cNvPr id="64515" name="内容占位符 2"/>
          <p:cNvSpPr>
            <a:spLocks noGrp="1"/>
          </p:cNvSpPr>
          <p:nvPr>
            <p:ph idx="1"/>
          </p:nvPr>
        </p:nvSpPr>
        <p:spPr>
          <a:xfrm>
            <a:off x="389255" y="1081405"/>
            <a:ext cx="8162290" cy="641985"/>
          </a:xfrm>
        </p:spPr>
        <p:txBody>
          <a:bodyPr/>
          <a:lstStyle/>
          <a:p>
            <a:pPr>
              <a:buFontTx/>
              <a:buNone/>
            </a:pPr>
            <a:r>
              <a:rPr lang="zh-CN" altLang="en-US" sz="2800" dirty="0">
                <a:latin typeface="Times New Roman" panose="02020603050405020304" pitchFamily="18" charset="0"/>
                <a:cs typeface="Times New Roman" panose="02020603050405020304" pitchFamily="18" charset="0"/>
              </a:rPr>
              <a:t>利用上述参数，可得</a:t>
            </a:r>
          </a:p>
        </p:txBody>
      </p:sp>
      <p:graphicFrame>
        <p:nvGraphicFramePr>
          <p:cNvPr id="64516" name="Object 2"/>
          <p:cNvGraphicFramePr>
            <a:graphicFrameLocks noChangeAspect="1"/>
          </p:cNvGraphicFramePr>
          <p:nvPr/>
        </p:nvGraphicFramePr>
        <p:xfrm>
          <a:off x="594794" y="1929381"/>
          <a:ext cx="6595679" cy="1930593"/>
        </p:xfrm>
        <a:graphic>
          <a:graphicData uri="http://schemas.openxmlformats.org/presentationml/2006/ole">
            <mc:AlternateContent xmlns:mc="http://schemas.openxmlformats.org/markup-compatibility/2006">
              <mc:Choice xmlns:v="urn:schemas-microsoft-com:vml" Requires="v">
                <p:oleObj spid="_x0000_s8252" name="Equation" r:id="rId3" imgW="81686400" imgH="21945600" progId="Equation.DSMT4">
                  <p:embed/>
                </p:oleObj>
              </mc:Choice>
              <mc:Fallback>
                <p:oleObj name="Equation" r:id="rId3" imgW="81686400" imgH="21945600" progId="Equation.DSMT4">
                  <p:embed/>
                  <p:pic>
                    <p:nvPicPr>
                      <p:cNvPr id="0" name="Object 2"/>
                      <p:cNvPicPr>
                        <a:picLocks noChangeAspect="1" noChangeArrowheads="1"/>
                      </p:cNvPicPr>
                      <p:nvPr/>
                    </p:nvPicPr>
                    <p:blipFill>
                      <a:blip r:embed="rId4"/>
                      <a:srcRect/>
                      <a:stretch>
                        <a:fillRect/>
                      </a:stretch>
                    </p:blipFill>
                    <p:spPr bwMode="auto">
                      <a:xfrm>
                        <a:off x="594794" y="1929381"/>
                        <a:ext cx="6595679" cy="1930593"/>
                      </a:xfrm>
                      <a:prstGeom prst="rect">
                        <a:avLst/>
                      </a:prstGeom>
                      <a:noFill/>
                      <a:ln>
                        <a:noFill/>
                      </a:ln>
                    </p:spPr>
                  </p:pic>
                </p:oleObj>
              </mc:Fallback>
            </mc:AlternateContent>
          </a:graphicData>
        </a:graphic>
      </p:graphicFrame>
      <p:sp>
        <p:nvSpPr>
          <p:cNvPr id="6" name="矩形 5"/>
          <p:cNvSpPr>
            <a:spLocks noChangeArrowheads="1"/>
          </p:cNvSpPr>
          <p:nvPr/>
        </p:nvSpPr>
        <p:spPr bwMode="auto">
          <a:xfrm>
            <a:off x="825166" y="4380113"/>
            <a:ext cx="6403808" cy="461665"/>
          </a:xfrm>
          <a:prstGeom prst="rect">
            <a:avLst/>
          </a:prstGeom>
          <a:noFill/>
          <a:ln w="9525">
            <a:noFill/>
            <a:miter lim="800000"/>
          </a:ln>
        </p:spPr>
        <p:txBody>
          <a:bodyPr wrap="square">
            <a:spAutoFit/>
          </a:bodyPr>
          <a:lstStyle/>
          <a:p>
            <a:pPr eaLnBrk="1" hangingPunct="1">
              <a:defRPr/>
            </a:pPr>
            <a:r>
              <a:rPr lang="zh-CN" altLang="en-US" sz="2400" dirty="0">
                <a:solidFill>
                  <a:schemeClr val="accent4"/>
                </a:solidFill>
                <a:latin typeface="Times New Roman" panose="02020603050405020304" pitchFamily="18" charset="0"/>
                <a:ea typeface="Cambria Math" panose="02040503050406030204" pitchFamily="18" charset="0"/>
                <a:cs typeface="Times New Roman" panose="02020603050405020304" pitchFamily="18" charset="0"/>
              </a:rPr>
              <a:t>上述类型的解叫</a:t>
            </a:r>
            <a:r>
              <a:rPr lang="zh-CN" altLang="en-US" sz="2400" dirty="0">
                <a:solidFill>
                  <a:srgbClr val="000099"/>
                </a:solidFill>
                <a:latin typeface="Times New Roman" panose="02020603050405020304" pitchFamily="18" charset="0"/>
                <a:ea typeface="Cambria Math" panose="02040503050406030204" pitchFamily="18" charset="0"/>
                <a:cs typeface="Times New Roman" panose="02020603050405020304" pitchFamily="18" charset="0"/>
              </a:rPr>
              <a:t>闭式解 </a:t>
            </a:r>
            <a:r>
              <a:rPr lang="en-US" altLang="zh-CN" sz="2400" dirty="0">
                <a:solidFill>
                  <a:srgbClr val="000099"/>
                </a:solidFill>
                <a:latin typeface="Times New Roman" panose="02020603050405020304" pitchFamily="18" charset="0"/>
                <a:ea typeface="Cambria Math" panose="02040503050406030204" pitchFamily="18" charset="0"/>
                <a:cs typeface="Times New Roman" panose="02020603050405020304" pitchFamily="18" charset="0"/>
              </a:rPr>
              <a:t>(closed-form)</a:t>
            </a:r>
            <a:endParaRPr lang="zh-CN" altLang="en-US" sz="2400" dirty="0">
              <a:latin typeface="Calibri" panose="020F0502020204030204" pitchFamily="34" charset="0"/>
              <a:ea typeface="Cambria Math" panose="02040503050406030204" pitchFamily="18" charset="0"/>
              <a:cs typeface="Times New Roman" panose="02020603050405020304" pitchFamily="18" charset="0"/>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idx="4294967295"/>
          </p:nvPr>
        </p:nvSpPr>
        <p:spPr>
          <a:xfrm>
            <a:off x="0" y="187325"/>
            <a:ext cx="8229600" cy="757555"/>
          </a:xfrm>
        </p:spPr>
        <p:txBody>
          <a:bodyPr/>
          <a:lstStyle/>
          <a:p>
            <a:r>
              <a:rPr lang="zh-CN" altLang="en-US"/>
              <a:t>可解性</a:t>
            </a:r>
            <a:r>
              <a:rPr lang="en-US" altLang="zh-CN"/>
              <a:t>Vs</a:t>
            </a:r>
            <a:r>
              <a:rPr lang="zh-CN" altLang="en-US"/>
              <a:t>有效性  精确解</a:t>
            </a:r>
            <a:r>
              <a:rPr lang="en-US" altLang="zh-CN"/>
              <a:t>Vs</a:t>
            </a:r>
            <a:r>
              <a:rPr lang="zh-CN" altLang="en-US"/>
              <a:t>近似解</a:t>
            </a:r>
          </a:p>
        </p:txBody>
      </p:sp>
      <p:sp>
        <p:nvSpPr>
          <p:cNvPr id="4" name="矩形 3"/>
          <p:cNvSpPr>
            <a:spLocks noChangeArrowheads="1"/>
          </p:cNvSpPr>
          <p:nvPr/>
        </p:nvSpPr>
        <p:spPr bwMode="auto">
          <a:xfrm>
            <a:off x="353127" y="1187167"/>
            <a:ext cx="8694738" cy="1557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chemeClr val="accent4"/>
                </a:solidFill>
                <a:latin typeface="Times New Roman" panose="02020603050405020304" pitchFamily="18" charset="0"/>
                <a:cs typeface="Times New Roman" panose="02020603050405020304" pitchFamily="18" charset="0"/>
              </a:rPr>
              <a:t>可解性</a:t>
            </a:r>
            <a:r>
              <a:rPr lang="en-US" altLang="zh-CN" b="1" i="1" dirty="0">
                <a:solidFill>
                  <a:srgbClr val="000099"/>
                </a:solidFill>
                <a:latin typeface="Times New Roman" panose="02020603050405020304" pitchFamily="18" charset="0"/>
                <a:cs typeface="Times New Roman" panose="02020603050405020304" pitchFamily="18" charset="0"/>
              </a:rPr>
              <a:t>Tractability</a:t>
            </a:r>
          </a:p>
          <a:p>
            <a:pPr eaLnBrk="1" hangingPunct="1"/>
            <a:endParaRPr lang="en-US" altLang="zh-CN" b="1" i="1" dirty="0">
              <a:solidFill>
                <a:srgbClr val="000099"/>
              </a:solidFill>
              <a:latin typeface="Times New Roman" panose="02020603050405020304" pitchFamily="18" charset="0"/>
              <a:cs typeface="Times New Roman" panose="02020603050405020304" pitchFamily="18" charset="0"/>
            </a:endParaRPr>
          </a:p>
          <a:p>
            <a:pPr eaLnBrk="1" hangingPunct="1"/>
            <a:r>
              <a:rPr lang="zh-CN" altLang="en-US" b="1" dirty="0">
                <a:solidFill>
                  <a:srgbClr val="000000"/>
                </a:solidFill>
                <a:latin typeface="Times New Roman" panose="02020603050405020304" pitchFamily="18" charset="0"/>
                <a:cs typeface="Times New Roman" panose="02020603050405020304" pitchFamily="18" charset="0"/>
              </a:rPr>
              <a:t>有效性</a:t>
            </a:r>
            <a:r>
              <a:rPr lang="en-US" altLang="zh-CN" b="1" dirty="0">
                <a:solidFill>
                  <a:srgbClr val="000000"/>
                </a:solidFill>
                <a:latin typeface="Times New Roman" panose="02020603050405020304" pitchFamily="18" charset="0"/>
                <a:cs typeface="Times New Roman" panose="02020603050405020304" pitchFamily="18" charset="0"/>
              </a:rPr>
              <a:t> </a:t>
            </a:r>
            <a:r>
              <a:rPr lang="en-US" altLang="zh-CN" b="1" i="1" dirty="0">
                <a:solidFill>
                  <a:srgbClr val="000099"/>
                </a:solidFill>
                <a:latin typeface="Times New Roman" panose="02020603050405020304" pitchFamily="18" charset="0"/>
                <a:cs typeface="Times New Roman" panose="02020603050405020304" pitchFamily="18" charset="0"/>
              </a:rPr>
              <a:t>validity </a:t>
            </a:r>
            <a:endParaRPr lang="zh-CN" altLang="en-US" b="1" i="1" dirty="0">
              <a:solidFill>
                <a:srgbClr val="000099"/>
              </a:solidFill>
              <a:latin typeface="Times New Roman" panose="02020603050405020304" pitchFamily="18" charset="0"/>
              <a:cs typeface="Times New Roman" panose="02020603050405020304" pitchFamily="18" charset="0"/>
            </a:endParaRPr>
          </a:p>
        </p:txBody>
      </p:sp>
      <p:sp>
        <p:nvSpPr>
          <p:cNvPr id="71685" name="矩形 6"/>
          <p:cNvSpPr>
            <a:spLocks noChangeArrowheads="1"/>
          </p:cNvSpPr>
          <p:nvPr/>
        </p:nvSpPr>
        <p:spPr bwMode="auto">
          <a:xfrm>
            <a:off x="391628" y="3080385"/>
            <a:ext cx="74295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精确解</a:t>
            </a:r>
            <a:r>
              <a:rPr lang="en-US" altLang="zh-CN" dirty="0">
                <a:latin typeface="Times New Roman" panose="02020603050405020304" pitchFamily="18" charset="0"/>
                <a:cs typeface="Times New Roman" panose="02020603050405020304" pitchFamily="18" charset="0"/>
              </a:rPr>
              <a:t> </a:t>
            </a:r>
            <a:r>
              <a:rPr lang="en-US" altLang="zh-CN" b="1" i="1" dirty="0">
                <a:solidFill>
                  <a:srgbClr val="000099"/>
                </a:solidFill>
                <a:latin typeface="Times New Roman" panose="02020603050405020304" pitchFamily="18" charset="0"/>
                <a:cs typeface="Times New Roman" panose="02020603050405020304" pitchFamily="18" charset="0"/>
              </a:rPr>
              <a:t>exact optimal solution</a:t>
            </a:r>
            <a:r>
              <a:rPr lang="en-US" altLang="zh-CN" dirty="0">
                <a:latin typeface="Times New Roman" panose="02020603050405020304" pitchFamily="18" charset="0"/>
                <a:cs typeface="Times New Roman" panose="02020603050405020304" pitchFamily="18" charset="0"/>
              </a:rPr>
              <a:t>. </a:t>
            </a:r>
          </a:p>
          <a:p>
            <a:pPr eaLnBrk="1" hangingPunct="1">
              <a:spcBef>
                <a:spcPct val="0"/>
              </a:spcBef>
              <a:buFontTx/>
              <a:buNone/>
            </a:pPr>
            <a:endParaRPr lang="en-US" altLang="zh-CN" dirty="0">
              <a:latin typeface="Times New Roman" panose="02020603050405020304" pitchFamily="18" charset="0"/>
              <a:cs typeface="Times New Roman" panose="02020603050405020304" pitchFamily="18" charset="0"/>
            </a:endParaRPr>
          </a:p>
          <a:p>
            <a:pPr eaLnBrk="1" hangingPunct="1">
              <a:spcBef>
                <a:spcPct val="0"/>
              </a:spcBef>
            </a:pPr>
            <a:r>
              <a:rPr lang="zh-CN" altLang="en-US" b="1" dirty="0">
                <a:latin typeface="Times New Roman" panose="02020603050405020304" pitchFamily="18" charset="0"/>
                <a:cs typeface="Times New Roman" panose="02020603050405020304" pitchFamily="18" charset="0"/>
              </a:rPr>
              <a:t>  近似解</a:t>
            </a:r>
            <a:r>
              <a:rPr lang="en-US" altLang="zh-CN" dirty="0">
                <a:latin typeface="Times New Roman" panose="02020603050405020304" pitchFamily="18" charset="0"/>
                <a:cs typeface="Times New Roman" panose="02020603050405020304" pitchFamily="18" charset="0"/>
              </a:rPr>
              <a:t> </a:t>
            </a:r>
            <a:r>
              <a:rPr lang="en-US" altLang="zh-CN" b="1" i="1" dirty="0">
                <a:solidFill>
                  <a:srgbClr val="000099"/>
                </a:solidFill>
                <a:latin typeface="Times New Roman" panose="02020603050405020304" pitchFamily="18" charset="0"/>
                <a:cs typeface="Times New Roman" panose="02020603050405020304" pitchFamily="18" charset="0"/>
              </a:rPr>
              <a:t>heuristic</a:t>
            </a:r>
            <a:r>
              <a:rPr lang="en-US" altLang="zh-CN" dirty="0">
                <a:latin typeface="Times New Roman" panose="02020603050405020304" pitchFamily="18" charset="0"/>
                <a:cs typeface="Times New Roman" panose="02020603050405020304" pitchFamily="18" charset="0"/>
              </a:rPr>
              <a:t> or </a:t>
            </a:r>
            <a:r>
              <a:rPr lang="en-US" altLang="zh-CN" b="1" i="1" dirty="0">
                <a:solidFill>
                  <a:srgbClr val="000099"/>
                </a:solidFill>
                <a:latin typeface="Times New Roman" panose="02020603050405020304" pitchFamily="18" charset="0"/>
                <a:cs typeface="Times New Roman" panose="02020603050405020304" pitchFamily="18" charset="0"/>
              </a:rPr>
              <a:t>approximate optimum.</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685"/>
                                        </p:tgtEl>
                                        <p:attrNameLst>
                                          <p:attrName>style.visibility</p:attrName>
                                        </p:attrNameLst>
                                      </p:cBhvr>
                                      <p:to>
                                        <p:strVal val="visible"/>
                                      </p:to>
                                    </p:set>
                                    <p:anim calcmode="lin" valueType="num">
                                      <p:cBhvr additive="base">
                                        <p:cTn id="13" dur="500" fill="hold"/>
                                        <p:tgtEl>
                                          <p:spTgt spid="71685"/>
                                        </p:tgtEl>
                                        <p:attrNameLst>
                                          <p:attrName>ppt_x</p:attrName>
                                        </p:attrNameLst>
                                      </p:cBhvr>
                                      <p:tavLst>
                                        <p:tav tm="0">
                                          <p:val>
                                            <p:strVal val="#ppt_x"/>
                                          </p:val>
                                        </p:tav>
                                        <p:tav tm="100000">
                                          <p:val>
                                            <p:strVal val="#ppt_x"/>
                                          </p:val>
                                        </p:tav>
                                      </p:tavLst>
                                    </p:anim>
                                    <p:anim calcmode="lin" valueType="num">
                                      <p:cBhvr additive="base">
                                        <p:cTn id="14" dur="500" fill="hold"/>
                                        <p:tgtEl>
                                          <p:spTgt spid="716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168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3"/>
          <p:cNvSpPr>
            <a:spLocks noGrp="1" noChangeArrowheads="1"/>
          </p:cNvSpPr>
          <p:nvPr>
            <p:ph type="title" idx="4294967295"/>
          </p:nvPr>
        </p:nvSpPr>
        <p:spPr>
          <a:xfrm>
            <a:off x="356134" y="333876"/>
            <a:ext cx="8171849" cy="628650"/>
          </a:xfrm>
        </p:spPr>
        <p:txBody>
          <a:bodyPr/>
          <a:lstStyle/>
          <a:p>
            <a:pPr eaLnBrk="1" hangingPunct="1"/>
            <a:r>
              <a:rPr lang="zh-CN" altLang="en-US" sz="3200" dirty="0">
                <a:latin typeface="宋体" panose="02010600030101010101" pitchFamily="2" charset="-122"/>
                <a:ea typeface="宋体" panose="02010600030101010101" pitchFamily="2" charset="-122"/>
                <a:sym typeface="Wingdings" panose="05000000000000000000" pitchFamily="2" charset="2"/>
              </a:rPr>
              <a:t>食谱问题</a:t>
            </a:r>
            <a:endParaRPr lang="zh-CN" altLang="en-US" sz="3600" dirty="0">
              <a:latin typeface="宋体" panose="02010600030101010101" pitchFamily="2" charset="-122"/>
              <a:ea typeface="宋体" panose="02010600030101010101" pitchFamily="2" charset="-122"/>
              <a:sym typeface="Wingdings" panose="05000000000000000000" pitchFamily="2" charset="2"/>
            </a:endParaRPr>
          </a:p>
        </p:txBody>
      </p:sp>
      <p:sp>
        <p:nvSpPr>
          <p:cNvPr id="67589" name="Text Box 5"/>
          <p:cNvSpPr txBox="1">
            <a:spLocks noChangeArrowheads="1"/>
          </p:cNvSpPr>
          <p:nvPr/>
        </p:nvSpPr>
        <p:spPr bwMode="auto">
          <a:xfrm>
            <a:off x="359348" y="1006366"/>
            <a:ext cx="854898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dirty="0">
                <a:ea typeface="楷体_GB2312" panose="02010609030101010101" pitchFamily="49" charset="-122"/>
                <a:sym typeface="Wingdings" panose="05000000000000000000" pitchFamily="2" charset="2"/>
              </a:rPr>
              <a:t>食谱问题 </a:t>
            </a:r>
            <a:r>
              <a:rPr lang="en-US" altLang="zh-CN" sz="2400" dirty="0">
                <a:ea typeface="楷体_GB2312" panose="02010609030101010101" pitchFamily="49" charset="-122"/>
                <a:sym typeface="Wingdings" panose="05000000000000000000" pitchFamily="2" charset="2"/>
              </a:rPr>
              <a:t>(Stigler</a:t>
            </a:r>
            <a:r>
              <a:rPr lang="zh-CN" altLang="en-US" sz="2400" dirty="0">
                <a:ea typeface="楷体_GB2312" panose="02010609030101010101" pitchFamily="49" charset="-122"/>
                <a:sym typeface="Wingdings" panose="05000000000000000000" pitchFamily="2" charset="2"/>
              </a:rPr>
              <a:t>，</a:t>
            </a:r>
            <a:r>
              <a:rPr lang="en-US" altLang="zh-CN" sz="2400" dirty="0">
                <a:ea typeface="楷体_GB2312" panose="02010609030101010101" pitchFamily="49" charset="-122"/>
                <a:sym typeface="Wingdings" panose="05000000000000000000" pitchFamily="2" charset="2"/>
              </a:rPr>
              <a:t>1982</a:t>
            </a:r>
            <a:r>
              <a:rPr lang="zh-CN" altLang="en-US" sz="2400" dirty="0">
                <a:ea typeface="楷体_GB2312" panose="02010609030101010101" pitchFamily="49" charset="-122"/>
                <a:sym typeface="Wingdings" panose="05000000000000000000" pitchFamily="2" charset="2"/>
              </a:rPr>
              <a:t>年</a:t>
            </a:r>
            <a:r>
              <a:rPr lang="en-US" altLang="zh-CN" sz="2400" dirty="0">
                <a:ea typeface="楷体_GB2312" panose="02010609030101010101" pitchFamily="49" charset="-122"/>
                <a:sym typeface="Wingdings" panose="05000000000000000000" pitchFamily="2" charset="2"/>
              </a:rPr>
              <a:t>Nobel</a:t>
            </a:r>
            <a:r>
              <a:rPr lang="zh-CN" altLang="en-US" sz="2400" dirty="0">
                <a:ea typeface="楷体_GB2312" panose="02010609030101010101" pitchFamily="49" charset="-122"/>
                <a:sym typeface="Wingdings" panose="05000000000000000000" pitchFamily="2" charset="2"/>
              </a:rPr>
              <a:t>奖获得者， </a:t>
            </a:r>
            <a:r>
              <a:rPr lang="en-US" altLang="zh-CN" sz="2400" dirty="0">
                <a:ea typeface="楷体_GB2312" panose="02010609030101010101" pitchFamily="49" charset="-122"/>
                <a:sym typeface="Wingdings" panose="05000000000000000000" pitchFamily="2" charset="2"/>
              </a:rPr>
              <a:t>Journal of Farm Economics 1945)</a:t>
            </a:r>
            <a:r>
              <a:rPr lang="zh-CN" altLang="en-US" sz="2400" dirty="0">
                <a:ea typeface="楷体_GB2312" panose="02010609030101010101" pitchFamily="49" charset="-122"/>
                <a:sym typeface="Wingdings" panose="05000000000000000000" pitchFamily="2" charset="2"/>
              </a:rPr>
              <a:t>，简化如下</a:t>
            </a:r>
            <a:endParaRPr lang="en-US" altLang="zh-CN" sz="3200" dirty="0">
              <a:solidFill>
                <a:srgbClr val="FF9900"/>
              </a:solidFill>
              <a:ea typeface="楷体_GB2312" panose="02010609030101010101" pitchFamily="49" charset="-122"/>
              <a:sym typeface="Wingdings" panose="05000000000000000000" pitchFamily="2" charset="2"/>
            </a:endParaRPr>
          </a:p>
          <a:p>
            <a:pPr eaLnBrk="1" hangingPunct="1">
              <a:spcBef>
                <a:spcPct val="0"/>
              </a:spcBef>
              <a:buFontTx/>
              <a:buNone/>
            </a:pPr>
            <a:r>
              <a:rPr lang="zh-CN" altLang="en-US" sz="2400" dirty="0">
                <a:latin typeface="楷体_GB2312" panose="02010609030101010101" pitchFamily="49" charset="-122"/>
                <a:ea typeface="楷体_GB2312" panose="02010609030101010101" pitchFamily="49" charset="-122"/>
                <a:sym typeface="Wingdings" panose="05000000000000000000" pitchFamily="2" charset="2"/>
              </a:rPr>
              <a:t>我每天要求一定量的两种维生素，</a:t>
            </a:r>
            <a:r>
              <a:rPr lang="en-US" altLang="zh-CN" sz="2400" dirty="0" err="1">
                <a:ea typeface="楷体_GB2312" panose="02010609030101010101" pitchFamily="49" charset="-122"/>
                <a:sym typeface="Wingdings" panose="05000000000000000000" pitchFamily="2" charset="2"/>
              </a:rPr>
              <a:t>V</a:t>
            </a:r>
            <a:r>
              <a:rPr lang="en-US" altLang="zh-CN" sz="2000" dirty="0" err="1">
                <a:ea typeface="楷体_GB2312" panose="02010609030101010101" pitchFamily="49" charset="-122"/>
                <a:sym typeface="Wingdings" panose="05000000000000000000" pitchFamily="2" charset="2"/>
              </a:rPr>
              <a:t>c</a:t>
            </a:r>
            <a:r>
              <a:rPr lang="zh-CN" altLang="en-US" sz="2400" dirty="0">
                <a:ea typeface="楷体_GB2312" panose="02010609030101010101" pitchFamily="49" charset="-122"/>
                <a:sym typeface="Wingdings" panose="05000000000000000000" pitchFamily="2" charset="2"/>
              </a:rPr>
              <a:t>和</a:t>
            </a:r>
            <a:r>
              <a:rPr lang="en-US" altLang="zh-CN" sz="2400" dirty="0" err="1">
                <a:ea typeface="楷体_GB2312" panose="02010609030101010101" pitchFamily="49" charset="-122"/>
                <a:sym typeface="Wingdings" panose="05000000000000000000" pitchFamily="2" charset="2"/>
              </a:rPr>
              <a:t>V</a:t>
            </a:r>
            <a:r>
              <a:rPr lang="en-US" altLang="zh-CN" sz="1800" dirty="0" err="1">
                <a:ea typeface="楷体_GB2312" panose="02010609030101010101" pitchFamily="49" charset="-122"/>
                <a:sym typeface="Wingdings" panose="05000000000000000000" pitchFamily="2" charset="2"/>
              </a:rPr>
              <a:t>b</a:t>
            </a:r>
            <a:r>
              <a:rPr lang="zh-CN" altLang="en-US" sz="2400" dirty="0">
                <a:latin typeface="楷体_GB2312" panose="02010609030101010101" pitchFamily="49" charset="-122"/>
                <a:ea typeface="楷体_GB2312" panose="02010609030101010101" pitchFamily="49" charset="-122"/>
                <a:sym typeface="Wingdings" panose="05000000000000000000" pitchFamily="2" charset="2"/>
              </a:rPr>
              <a:t>。</a:t>
            </a:r>
          </a:p>
          <a:p>
            <a:pPr eaLnBrk="1" hangingPunct="1">
              <a:spcBef>
                <a:spcPct val="0"/>
              </a:spcBef>
              <a:buFontTx/>
              <a:buNone/>
            </a:pPr>
            <a:r>
              <a:rPr lang="zh-CN" altLang="en-US" sz="2400" dirty="0">
                <a:latin typeface="楷体_GB2312" panose="02010609030101010101" pitchFamily="49" charset="-122"/>
                <a:ea typeface="楷体_GB2312" panose="02010609030101010101" pitchFamily="49" charset="-122"/>
                <a:sym typeface="Wingdings" panose="05000000000000000000" pitchFamily="2" charset="2"/>
              </a:rPr>
              <a:t>假设这些维生素可以分别从牛奶和鸡蛋中得到。</a:t>
            </a:r>
          </a:p>
        </p:txBody>
      </p:sp>
      <p:graphicFrame>
        <p:nvGraphicFramePr>
          <p:cNvPr id="13358" name="Group 46"/>
          <p:cNvGraphicFramePr>
            <a:graphicFrameLocks noGrp="1"/>
          </p:cNvGraphicFramePr>
          <p:nvPr>
            <p:ph idx="1"/>
          </p:nvPr>
        </p:nvGraphicFramePr>
        <p:xfrm>
          <a:off x="366395" y="2748915"/>
          <a:ext cx="8229600" cy="2205038"/>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631908">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0"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rPr>
                        <a:t>维生素</a:t>
                      </a:r>
                    </a:p>
                  </a:txBody>
                  <a:tcPr marT="45733" marB="45733"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rPr>
                        <a:t>奶中含量</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rPr>
                        <a:t>蛋中含量</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0"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rPr>
                        <a:t>每日需求</a:t>
                      </a:r>
                    </a:p>
                  </a:txBody>
                  <a:tcPr marT="45733" marB="45733"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extLst>
                  <a:ext uri="{0D108BD9-81ED-4DB2-BD59-A6C34878D82A}">
                    <a16:rowId xmlns:a16="http://schemas.microsoft.com/office/drawing/2014/main" val="10000"/>
                  </a:ext>
                </a:extLst>
              </a:tr>
              <a:tr h="518242">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V</a:t>
                      </a:r>
                      <a:r>
                        <a:rPr kumimoji="1" lang="en-US" altLang="zh-CN" sz="2000" b="0"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c</a:t>
                      </a: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(mg)</a:t>
                      </a:r>
                    </a:p>
                  </a:txBody>
                  <a:tcPr marT="45733" marB="4573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2</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4</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40</a:t>
                      </a:r>
                    </a:p>
                  </a:txBody>
                  <a:tcPr marT="45733" marB="4573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extLst>
                  <a:ext uri="{0D108BD9-81ED-4DB2-BD59-A6C34878D82A}">
                    <a16:rowId xmlns:a16="http://schemas.microsoft.com/office/drawing/2014/main" val="10001"/>
                  </a:ext>
                </a:extLst>
              </a:tr>
              <a:tr h="518242">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V</a:t>
                      </a:r>
                      <a:r>
                        <a:rPr kumimoji="1" lang="en-US" altLang="zh-CN" sz="1800" b="0"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b</a:t>
                      </a: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(mg)</a:t>
                      </a:r>
                    </a:p>
                  </a:txBody>
                  <a:tcPr marT="45733" marB="4573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3</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2</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50</a:t>
                      </a:r>
                    </a:p>
                  </a:txBody>
                  <a:tcPr marT="45733" marB="4573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extLst>
                  <a:ext uri="{0D108BD9-81ED-4DB2-BD59-A6C34878D82A}">
                    <a16:rowId xmlns:a16="http://schemas.microsoft.com/office/drawing/2014/main" val="10002"/>
                  </a:ext>
                </a:extLst>
              </a:tr>
              <a:tr h="536646">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0"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rPr>
                        <a:t>单价</a:t>
                      </a:r>
                      <a:endParaRPr kumimoji="1" lang="en-US" altLang="zh-CN" sz="2000" b="0"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endParaRPr>
                    </a:p>
                  </a:txBody>
                  <a:tcPr marT="45733" marB="4573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CCFFFF">
                        <a:alpha val="50195"/>
                      </a:srgbClr>
                    </a:solid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rPr>
                        <a:t>3</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CCFFFF">
                        <a:alpha val="50195"/>
                      </a:srgbClr>
                    </a:solid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2.5</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CCFFFF">
                        <a:alpha val="50195"/>
                      </a:srgbClr>
                    </a:solid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800" b="0"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endParaRPr>
                    </a:p>
                  </a:txBody>
                  <a:tcPr marT="45733" marB="4573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CCFFFF">
                        <a:alpha val="50195"/>
                      </a:srgbClr>
                    </a:solidFill>
                  </a:tcPr>
                </a:tc>
                <a:extLst>
                  <a:ext uri="{0D108BD9-81ED-4DB2-BD59-A6C34878D82A}">
                    <a16:rowId xmlns:a16="http://schemas.microsoft.com/office/drawing/2014/main" val="10003"/>
                  </a:ext>
                </a:extLst>
              </a:tr>
            </a:tbl>
          </a:graphicData>
        </a:graphic>
      </p:graphicFrame>
      <p:sp>
        <p:nvSpPr>
          <p:cNvPr id="13357" name="Text Box 45"/>
          <p:cNvSpPr txBox="1">
            <a:spLocks noChangeArrowheads="1"/>
          </p:cNvSpPr>
          <p:nvPr/>
        </p:nvSpPr>
        <p:spPr bwMode="auto">
          <a:xfrm>
            <a:off x="553453" y="5282824"/>
            <a:ext cx="7772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dirty="0">
                <a:latin typeface="楷体_GB2312" panose="02010609030101010101" pitchFamily="49" charset="-122"/>
                <a:ea typeface="楷体_GB2312" panose="02010609030101010101" pitchFamily="49" charset="-122"/>
                <a:sym typeface="Wingdings" panose="05000000000000000000" pitchFamily="2" charset="2"/>
              </a:rPr>
              <a:t>需要确定每天喝奶和吃蛋的量，</a:t>
            </a:r>
          </a:p>
          <a:p>
            <a:pPr eaLnBrk="1" hangingPunct="1">
              <a:spcBef>
                <a:spcPct val="0"/>
              </a:spcBef>
              <a:buFontTx/>
              <a:buNone/>
            </a:pPr>
            <a:r>
              <a:rPr lang="zh-CN" altLang="en-US" sz="2400" b="1" dirty="0">
                <a:solidFill>
                  <a:srgbClr val="FF0000"/>
                </a:solidFill>
                <a:latin typeface="楷体_GB2312" panose="02010609030101010101" pitchFamily="49" charset="-122"/>
                <a:ea typeface="楷体_GB2312" panose="02010609030101010101" pitchFamily="49" charset="-122"/>
                <a:sym typeface="Wingdings" panose="05000000000000000000" pitchFamily="2" charset="2"/>
              </a:rPr>
              <a:t>目标</a:t>
            </a:r>
            <a:r>
              <a:rPr lang="zh-CN" altLang="en-US" sz="2400" dirty="0">
                <a:latin typeface="楷体_GB2312" panose="02010609030101010101" pitchFamily="49" charset="-122"/>
                <a:ea typeface="楷体_GB2312" panose="02010609030101010101" pitchFamily="49" charset="-122"/>
                <a:sym typeface="Wingdings" panose="05000000000000000000" pitchFamily="2" charset="2"/>
              </a:rPr>
              <a:t>以便以最低可能的花费购买这些食物，</a:t>
            </a:r>
          </a:p>
          <a:p>
            <a:pPr eaLnBrk="1" hangingPunct="1">
              <a:spcBef>
                <a:spcPct val="0"/>
              </a:spcBef>
              <a:buFontTx/>
              <a:buNone/>
            </a:pPr>
            <a:r>
              <a:rPr lang="zh-CN" altLang="en-US" sz="2400" dirty="0">
                <a:latin typeface="楷体_GB2312" panose="02010609030101010101" pitchFamily="49" charset="-122"/>
                <a:ea typeface="楷体_GB2312" panose="02010609030101010101" pitchFamily="49" charset="-122"/>
                <a:sym typeface="Wingdings" panose="05000000000000000000" pitchFamily="2" charset="2"/>
              </a:rPr>
              <a:t>而</a:t>
            </a:r>
            <a:r>
              <a:rPr lang="zh-CN" altLang="en-US" sz="2400" b="1" dirty="0">
                <a:solidFill>
                  <a:srgbClr val="FF0000"/>
                </a:solidFill>
                <a:latin typeface="楷体_GB2312" panose="02010609030101010101" pitchFamily="49" charset="-122"/>
                <a:ea typeface="楷体_GB2312" panose="02010609030101010101" pitchFamily="49" charset="-122"/>
                <a:sym typeface="Wingdings" panose="05000000000000000000" pitchFamily="2" charset="2"/>
              </a:rPr>
              <a:t>满足</a:t>
            </a:r>
            <a:r>
              <a:rPr lang="zh-CN" altLang="en-US" sz="2400" dirty="0">
                <a:latin typeface="楷体_GB2312" panose="02010609030101010101" pitchFamily="49" charset="-122"/>
                <a:ea typeface="楷体_GB2312" panose="02010609030101010101" pitchFamily="49" charset="-122"/>
                <a:sym typeface="Wingdings" panose="05000000000000000000" pitchFamily="2" charset="2"/>
              </a:rPr>
              <a:t>最低限度的维生素需求量。</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3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57"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3"/>
          <p:cNvSpPr>
            <a:spLocks noGrp="1" noChangeArrowheads="1"/>
          </p:cNvSpPr>
          <p:nvPr>
            <p:ph type="title" idx="4294967295"/>
          </p:nvPr>
        </p:nvSpPr>
        <p:spPr>
          <a:xfrm>
            <a:off x="269507" y="312955"/>
            <a:ext cx="7814310" cy="822325"/>
          </a:xfrm>
        </p:spPr>
        <p:txBody>
          <a:bodyPr/>
          <a:lstStyle/>
          <a:p>
            <a:pPr eaLnBrk="1" hangingPunct="1"/>
            <a:r>
              <a:rPr lang="zh-CN" altLang="en-US" sz="3200" dirty="0">
                <a:latin typeface="宋体" panose="02010600030101010101" pitchFamily="2" charset="-122"/>
                <a:ea typeface="宋体" panose="02010600030101010101" pitchFamily="2" charset="-122"/>
                <a:sym typeface="Wingdings" panose="05000000000000000000" pitchFamily="2" charset="2"/>
              </a:rPr>
              <a:t>食谱问题</a:t>
            </a:r>
            <a:r>
              <a:rPr lang="zh-CN" altLang="en-US" sz="3200" dirty="0">
                <a:latin typeface="宋体" panose="02010600030101010101" pitchFamily="2" charset="-122"/>
                <a:ea typeface="宋体" panose="02010600030101010101" pitchFamily="2" charset="-122"/>
              </a:rPr>
              <a:t>（续）</a:t>
            </a:r>
          </a:p>
        </p:txBody>
      </p:sp>
      <p:sp>
        <p:nvSpPr>
          <p:cNvPr id="69637" name="Text Box 5"/>
          <p:cNvSpPr txBox="1">
            <a:spLocks noChangeArrowheads="1"/>
          </p:cNvSpPr>
          <p:nvPr/>
        </p:nvSpPr>
        <p:spPr bwMode="auto">
          <a:xfrm>
            <a:off x="468313" y="1196975"/>
            <a:ext cx="8153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dirty="0">
                <a:ea typeface="楷体_GB2312" panose="02010609030101010101" pitchFamily="49" charset="-122"/>
                <a:sym typeface="Wingdings" panose="05000000000000000000" pitchFamily="2" charset="2"/>
              </a:rPr>
              <a:t>令</a:t>
            </a:r>
            <a:r>
              <a:rPr lang="en-US" altLang="zh-CN" sz="2400" dirty="0">
                <a:ea typeface="楷体_GB2312" panose="02010609030101010101" pitchFamily="49" charset="-122"/>
                <a:sym typeface="Wingdings" panose="05000000000000000000" pitchFamily="2" charset="2"/>
              </a:rPr>
              <a:t>x</a:t>
            </a:r>
            <a:r>
              <a:rPr lang="zh-CN" altLang="en-US" sz="2400" dirty="0">
                <a:ea typeface="楷体_GB2312" panose="02010609030101010101" pitchFamily="49" charset="-122"/>
                <a:sym typeface="Wingdings" panose="05000000000000000000" pitchFamily="2" charset="2"/>
              </a:rPr>
              <a:t>表示要买的奶的量，</a:t>
            </a:r>
            <a:r>
              <a:rPr lang="en-US" altLang="zh-CN" sz="2400" dirty="0">
                <a:ea typeface="楷体_GB2312" panose="02010609030101010101" pitchFamily="49" charset="-122"/>
                <a:sym typeface="Wingdings" panose="05000000000000000000" pitchFamily="2" charset="2"/>
              </a:rPr>
              <a:t>y</a:t>
            </a:r>
            <a:r>
              <a:rPr lang="zh-CN" altLang="en-US" sz="2400" dirty="0">
                <a:ea typeface="楷体_GB2312" panose="02010609030101010101" pitchFamily="49" charset="-122"/>
                <a:sym typeface="Wingdings" panose="05000000000000000000" pitchFamily="2" charset="2"/>
              </a:rPr>
              <a:t>为要买的蛋的量。食谱问题可以写</a:t>
            </a:r>
          </a:p>
          <a:p>
            <a:pPr eaLnBrk="1" hangingPunct="1">
              <a:spcBef>
                <a:spcPct val="0"/>
              </a:spcBef>
              <a:buFontTx/>
              <a:buNone/>
            </a:pPr>
            <a:r>
              <a:rPr lang="zh-CN" altLang="en-US" sz="2400" dirty="0">
                <a:ea typeface="楷体_GB2312" panose="02010609030101010101" pitchFamily="49" charset="-122"/>
                <a:sym typeface="Wingdings" panose="05000000000000000000" pitchFamily="2" charset="2"/>
              </a:rPr>
              <a:t>成如下的数学形式：</a:t>
            </a:r>
          </a:p>
        </p:txBody>
      </p:sp>
      <p:sp>
        <p:nvSpPr>
          <p:cNvPr id="2" name="Text Box 6"/>
          <p:cNvSpPr txBox="1">
            <a:spLocks noChangeArrowheads="1"/>
          </p:cNvSpPr>
          <p:nvPr/>
        </p:nvSpPr>
        <p:spPr bwMode="auto">
          <a:xfrm>
            <a:off x="323850" y="4797425"/>
            <a:ext cx="8856663" cy="1348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2400" dirty="0">
                <a:latin typeface="楷体_GB2312" panose="02010609030101010101" pitchFamily="49" charset="-122"/>
                <a:ea typeface="楷体_GB2312" panose="02010609030101010101" pitchFamily="49" charset="-122"/>
                <a:sym typeface="Wingdings" panose="05000000000000000000" pitchFamily="2" charset="2"/>
              </a:rPr>
              <a:t>运筹学工作者参与建立关于何时出现最小费用</a:t>
            </a:r>
          </a:p>
          <a:p>
            <a:pPr eaLnBrk="1" hangingPunct="1">
              <a:buFontTx/>
              <a:buNone/>
            </a:pPr>
            <a:r>
              <a:rPr lang="zh-CN" altLang="en-US" sz="2400" dirty="0">
                <a:latin typeface="楷体_GB2312" panose="02010609030101010101" pitchFamily="49" charset="-122"/>
                <a:ea typeface="楷体_GB2312" panose="02010609030101010101" pitchFamily="49" charset="-122"/>
                <a:sym typeface="Wingdings" panose="05000000000000000000" pitchFamily="2" charset="2"/>
              </a:rPr>
              <a:t>（或者最大利润）的排序，或者计划，早期被标示为</a:t>
            </a:r>
            <a:r>
              <a:rPr lang="en-US" altLang="zh-CN" sz="2400" dirty="0">
                <a:solidFill>
                  <a:srgbClr val="4156F1"/>
                </a:solidFill>
                <a:ea typeface="楷体_GB2312" panose="02010609030101010101" pitchFamily="49" charset="-122"/>
                <a:sym typeface="Wingdings" panose="05000000000000000000" pitchFamily="2" charset="2"/>
              </a:rPr>
              <a:t>programs</a:t>
            </a:r>
            <a:r>
              <a:rPr lang="zh-CN" altLang="en-US" sz="2400" dirty="0">
                <a:latin typeface="楷体_GB2312" panose="02010609030101010101" pitchFamily="49" charset="-122"/>
                <a:ea typeface="楷体_GB2312" panose="02010609030101010101" pitchFamily="49" charset="-122"/>
                <a:sym typeface="Wingdings" panose="05000000000000000000" pitchFamily="2" charset="2"/>
              </a:rPr>
              <a:t>。</a:t>
            </a:r>
          </a:p>
          <a:p>
            <a:pPr eaLnBrk="1" hangingPunct="1">
              <a:buFontTx/>
              <a:buNone/>
            </a:pPr>
            <a:r>
              <a:rPr lang="zh-CN" altLang="en-US" sz="2400" dirty="0">
                <a:latin typeface="楷体_GB2312" panose="02010609030101010101" pitchFamily="49" charset="-122"/>
                <a:ea typeface="楷体_GB2312" panose="02010609030101010101" pitchFamily="49" charset="-122"/>
                <a:sym typeface="Wingdings" panose="05000000000000000000" pitchFamily="2" charset="2"/>
              </a:rPr>
              <a:t>求最优安排或计划的问题，称作</a:t>
            </a:r>
            <a:r>
              <a:rPr lang="en-US" altLang="zh-CN" sz="2400" dirty="0">
                <a:solidFill>
                  <a:srgbClr val="4156F1"/>
                </a:solidFill>
                <a:ea typeface="楷体_GB2312" panose="02010609030101010101" pitchFamily="49" charset="-122"/>
                <a:sym typeface="Wingdings" panose="05000000000000000000" pitchFamily="2" charset="2"/>
              </a:rPr>
              <a:t>programming</a:t>
            </a:r>
            <a:r>
              <a:rPr lang="zh-CN" altLang="en-US" sz="2400" dirty="0">
                <a:latin typeface="楷体_GB2312" panose="02010609030101010101" pitchFamily="49" charset="-122"/>
                <a:ea typeface="楷体_GB2312" panose="02010609030101010101" pitchFamily="49" charset="-122"/>
                <a:sym typeface="Wingdings" panose="05000000000000000000" pitchFamily="2" charset="2"/>
              </a:rPr>
              <a:t>问题。</a:t>
            </a:r>
          </a:p>
        </p:txBody>
      </p:sp>
      <p:sp>
        <p:nvSpPr>
          <p:cNvPr id="69639" name="Text Box 7"/>
          <p:cNvSpPr txBox="1">
            <a:spLocks noChangeArrowheads="1"/>
          </p:cNvSpPr>
          <p:nvPr/>
        </p:nvSpPr>
        <p:spPr bwMode="auto">
          <a:xfrm>
            <a:off x="755650" y="2420938"/>
            <a:ext cx="3384550" cy="2123658"/>
          </a:xfrm>
          <a:prstGeom prst="rect">
            <a:avLst/>
          </a:prstGeom>
          <a:solidFill>
            <a:srgbClr val="CC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dirty="0">
                <a:latin typeface="Times New Roman" panose="02020603050405020304" pitchFamily="18" charset="0"/>
                <a:cs typeface="Times New Roman" panose="02020603050405020304" pitchFamily="18" charset="0"/>
              </a:rPr>
              <a:t>Min  3x +2.5y</a:t>
            </a:r>
          </a:p>
          <a:p>
            <a:pPr eaLnBrk="1" hangingPunct="1">
              <a:spcBef>
                <a:spcPct val="50000"/>
              </a:spcBef>
              <a:buFontTx/>
              <a:buNone/>
            </a:pPr>
            <a:r>
              <a:rPr lang="en-US" altLang="zh-CN"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s.t.</a:t>
            </a:r>
            <a:r>
              <a:rPr lang="en-US" altLang="zh-CN" sz="2400" b="1" dirty="0">
                <a:latin typeface="Times New Roman" panose="02020603050405020304" pitchFamily="18" charset="0"/>
                <a:cs typeface="Times New Roman" panose="02020603050405020304" pitchFamily="18" charset="0"/>
              </a:rPr>
              <a:t>  2x  +  4y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40</a:t>
            </a:r>
          </a:p>
          <a:p>
            <a:pPr eaLnBrk="1" hangingPunct="1">
              <a:spcBef>
                <a:spcPct val="50000"/>
              </a:spcBef>
              <a:buFontTx/>
              <a:buNone/>
            </a:pPr>
            <a:r>
              <a:rPr lang="en-US" altLang="zh-CN" sz="2400" b="1" dirty="0">
                <a:latin typeface="Times New Roman" panose="02020603050405020304" pitchFamily="18" charset="0"/>
                <a:cs typeface="Times New Roman" panose="02020603050405020304" pitchFamily="18" charset="0"/>
              </a:rPr>
              <a:t>         3x  +  2y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50</a:t>
            </a:r>
          </a:p>
          <a:p>
            <a:pPr eaLnBrk="1" hangingPunct="1">
              <a:spcBef>
                <a:spcPct val="50000"/>
              </a:spcBef>
              <a:buFontTx/>
              <a:buNone/>
            </a:pPr>
            <a:r>
              <a:rPr lang="en-US" altLang="zh-CN" sz="2400" b="1" dirty="0">
                <a:latin typeface="Times New Roman" panose="02020603050405020304" pitchFamily="18" charset="0"/>
                <a:cs typeface="Times New Roman" panose="02020603050405020304" pitchFamily="18" charset="0"/>
              </a:rPr>
              <a:t> 	x, y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0.</a:t>
            </a:r>
          </a:p>
        </p:txBody>
      </p:sp>
      <p:sp>
        <p:nvSpPr>
          <p:cNvPr id="69640" name="Text Box 8"/>
          <p:cNvSpPr txBox="1">
            <a:spLocks noChangeArrowheads="1"/>
          </p:cNvSpPr>
          <p:nvPr/>
        </p:nvSpPr>
        <p:spPr bwMode="auto">
          <a:xfrm>
            <a:off x="4143375" y="2420938"/>
            <a:ext cx="3384550" cy="2109787"/>
          </a:xfrm>
          <a:prstGeom prst="rect">
            <a:avLst/>
          </a:prstGeom>
          <a:solidFill>
            <a:srgbClr val="CCFFFF">
              <a:alpha val="50195"/>
            </a:srgbClr>
          </a:solidFill>
          <a:ln w="9525">
            <a:solidFill>
              <a:schemeClr val="accent2"/>
            </a:solidFill>
            <a:miter lim="800000"/>
          </a:ln>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dirty="0">
                <a:solidFill>
                  <a:srgbClr val="FF0000"/>
                </a:solidFill>
                <a:ea typeface="楷体_GB2312" panose="02010609030101010101" pitchFamily="49" charset="-122"/>
              </a:rPr>
              <a:t>极小化目标函数</a:t>
            </a:r>
          </a:p>
          <a:p>
            <a:pPr eaLnBrk="1" hangingPunct="1">
              <a:spcBef>
                <a:spcPct val="50000"/>
              </a:spcBef>
              <a:buFontTx/>
              <a:buNone/>
            </a:pPr>
            <a:endParaRPr lang="zh-CN" altLang="en-US" sz="2400" b="1" dirty="0">
              <a:solidFill>
                <a:srgbClr val="FF0000"/>
              </a:solidFill>
              <a:ea typeface="楷体_GB2312" panose="02010609030101010101" pitchFamily="49" charset="-122"/>
            </a:endParaRPr>
          </a:p>
          <a:p>
            <a:pPr eaLnBrk="1" hangingPunct="1">
              <a:spcBef>
                <a:spcPct val="50000"/>
              </a:spcBef>
              <a:buFontTx/>
              <a:buNone/>
            </a:pPr>
            <a:r>
              <a:rPr lang="zh-CN" altLang="en-US" sz="2400" b="1" dirty="0">
                <a:solidFill>
                  <a:srgbClr val="FF0000"/>
                </a:solidFill>
                <a:ea typeface="楷体_GB2312" panose="02010609030101010101" pitchFamily="49" charset="-122"/>
              </a:rPr>
              <a:t>可行区域（单纯形）</a:t>
            </a:r>
          </a:p>
          <a:p>
            <a:pPr eaLnBrk="1" hangingPunct="1">
              <a:spcBef>
                <a:spcPct val="50000"/>
              </a:spcBef>
              <a:buFontTx/>
              <a:buNone/>
            </a:pPr>
            <a:r>
              <a:rPr lang="zh-CN" altLang="en-US" sz="2400" b="1" dirty="0">
                <a:solidFill>
                  <a:srgbClr val="FF0000"/>
                </a:solidFill>
                <a:ea typeface="楷体_GB2312" panose="02010609030101010101" pitchFamily="49" charset="-122"/>
              </a:rPr>
              <a:t>可行解</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2"/>
          <p:cNvSpPr>
            <a:spLocks noGrp="1" noChangeArrowheads="1"/>
          </p:cNvSpPr>
          <p:nvPr>
            <p:ph type="title" idx="4294967295"/>
          </p:nvPr>
        </p:nvSpPr>
        <p:spPr>
          <a:xfrm>
            <a:off x="413886" y="330133"/>
            <a:ext cx="7561580" cy="766445"/>
          </a:xfrm>
          <a:noFill/>
        </p:spPr>
        <p:txBody>
          <a:bodyPr/>
          <a:lstStyle/>
          <a:p>
            <a:pPr eaLnBrk="1" hangingPunct="1"/>
            <a:r>
              <a:rPr lang="zh-CN" altLang="en-US" sz="3600" dirty="0">
                <a:latin typeface="Times New Roman" panose="02020603050405020304" pitchFamily="18" charset="0"/>
                <a:ea typeface="+mn-ea"/>
                <a:cs typeface="Times New Roman" panose="02020603050405020304" pitchFamily="18" charset="0"/>
                <a:sym typeface="Wingdings" panose="05000000000000000000" pitchFamily="2" charset="2"/>
              </a:rPr>
              <a:t>选址问题</a:t>
            </a:r>
          </a:p>
        </p:txBody>
      </p:sp>
      <p:sp>
        <p:nvSpPr>
          <p:cNvPr id="71685" name="Rectangle 5"/>
          <p:cNvSpPr>
            <a:spLocks noChangeArrowheads="1"/>
          </p:cNvSpPr>
          <p:nvPr/>
        </p:nvSpPr>
        <p:spPr bwMode="auto">
          <a:xfrm>
            <a:off x="423863" y="1125538"/>
            <a:ext cx="8396287"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dirty="0">
                <a:latin typeface="Times New Roman" panose="02020603050405020304" pitchFamily="18" charset="0"/>
                <a:ea typeface="+mn-ea"/>
                <a:cs typeface="Times New Roman" panose="02020603050405020304" pitchFamily="18" charset="0"/>
                <a:sym typeface="Wingdings" panose="05000000000000000000" pitchFamily="2" charset="2"/>
              </a:rPr>
              <a:t>实例</a:t>
            </a:r>
            <a:r>
              <a:rPr lang="en-US" altLang="zh-CN" dirty="0">
                <a:latin typeface="Times New Roman" panose="02020603050405020304" pitchFamily="18" charset="0"/>
                <a:ea typeface="+mn-ea"/>
                <a:cs typeface="Times New Roman" panose="02020603050405020304" pitchFamily="18" charset="0"/>
                <a:sym typeface="Wingdings" panose="05000000000000000000" pitchFamily="2" charset="2"/>
              </a:rPr>
              <a:t>:</a:t>
            </a:r>
            <a:r>
              <a:rPr lang="zh-CN" altLang="en-US" dirty="0">
                <a:latin typeface="Times New Roman" panose="02020603050405020304" pitchFamily="18" charset="0"/>
                <a:ea typeface="+mn-ea"/>
                <a:cs typeface="Times New Roman" panose="02020603050405020304" pitchFamily="18" charset="0"/>
                <a:sym typeface="Wingdings" panose="05000000000000000000" pitchFamily="2" charset="2"/>
              </a:rPr>
              <a:t>一组潜在位置（地址）</a:t>
            </a:r>
            <a:r>
              <a:rPr lang="en-US" altLang="zh-CN" dirty="0">
                <a:latin typeface="Times New Roman" panose="02020603050405020304" pitchFamily="18" charset="0"/>
                <a:ea typeface="+mn-ea"/>
                <a:cs typeface="Times New Roman" panose="02020603050405020304" pitchFamily="18" charset="0"/>
                <a:sym typeface="Wingdings" panose="05000000000000000000" pitchFamily="2" charset="2"/>
              </a:rPr>
              <a:t>, </a:t>
            </a:r>
            <a:r>
              <a:rPr lang="zh-CN" altLang="en-US" dirty="0">
                <a:latin typeface="Times New Roman" panose="02020603050405020304" pitchFamily="18" charset="0"/>
                <a:ea typeface="+mn-ea"/>
                <a:cs typeface="Times New Roman" panose="02020603050405020304" pitchFamily="18" charset="0"/>
                <a:sym typeface="Wingdings" panose="05000000000000000000" pitchFamily="2" charset="2"/>
              </a:rPr>
              <a:t>一组顾客集合及相应的</a:t>
            </a:r>
            <a:endParaRPr lang="en-US" altLang="zh-CN" dirty="0">
              <a:latin typeface="Times New Roman" panose="02020603050405020304" pitchFamily="18" charset="0"/>
              <a:ea typeface="+mn-ea"/>
              <a:cs typeface="Times New Roman" panose="02020603050405020304" pitchFamily="18" charset="0"/>
              <a:sym typeface="Wingdings" panose="05000000000000000000" pitchFamily="2" charset="2"/>
            </a:endParaRPr>
          </a:p>
          <a:p>
            <a:pPr eaLnBrk="1" hangingPunct="1">
              <a:spcBef>
                <a:spcPct val="0"/>
              </a:spcBef>
              <a:buFontTx/>
              <a:buNone/>
            </a:pPr>
            <a:r>
              <a:rPr lang="zh-CN" altLang="en-US" dirty="0">
                <a:latin typeface="Times New Roman" panose="02020603050405020304" pitchFamily="18" charset="0"/>
                <a:ea typeface="+mn-ea"/>
                <a:cs typeface="Times New Roman" panose="02020603050405020304" pitchFamily="18" charset="0"/>
                <a:sym typeface="Wingdings" panose="05000000000000000000" pitchFamily="2" charset="2"/>
              </a:rPr>
              <a:t>费用数据；</a:t>
            </a:r>
            <a:endParaRPr lang="en-US" altLang="zh-CN" dirty="0">
              <a:latin typeface="Times New Roman" panose="02020603050405020304" pitchFamily="18" charset="0"/>
              <a:ea typeface="+mn-ea"/>
              <a:cs typeface="Times New Roman" panose="02020603050405020304" pitchFamily="18" charset="0"/>
              <a:sym typeface="Wingdings" panose="05000000000000000000" pitchFamily="2" charset="2"/>
            </a:endParaRPr>
          </a:p>
          <a:p>
            <a:pPr eaLnBrk="1" hangingPunct="1">
              <a:spcBef>
                <a:spcPct val="0"/>
              </a:spcBef>
              <a:buFontTx/>
              <a:buNone/>
            </a:pPr>
            <a:r>
              <a:rPr lang="zh-CN" altLang="en-US" b="1" dirty="0">
                <a:latin typeface="Times New Roman" panose="02020603050405020304" pitchFamily="18" charset="0"/>
                <a:ea typeface="+mn-ea"/>
                <a:cs typeface="Times New Roman" panose="02020603050405020304" pitchFamily="18" charset="0"/>
                <a:sym typeface="Wingdings" panose="05000000000000000000" pitchFamily="2" charset="2"/>
              </a:rPr>
              <a:t>   解</a:t>
            </a:r>
            <a:r>
              <a:rPr lang="en-US" altLang="zh-CN" b="1" dirty="0">
                <a:latin typeface="Times New Roman" panose="02020603050405020304" pitchFamily="18" charset="0"/>
                <a:ea typeface="+mn-ea"/>
                <a:cs typeface="Times New Roman" panose="02020603050405020304" pitchFamily="18" charset="0"/>
                <a:sym typeface="Wingdings" panose="05000000000000000000" pitchFamily="2" charset="2"/>
              </a:rPr>
              <a:t>:</a:t>
            </a:r>
            <a:r>
              <a:rPr lang="zh-CN" altLang="en-US" dirty="0">
                <a:latin typeface="Times New Roman" panose="02020603050405020304" pitchFamily="18" charset="0"/>
                <a:ea typeface="+mn-ea"/>
                <a:cs typeface="Times New Roman" panose="02020603050405020304" pitchFamily="18" charset="0"/>
                <a:sym typeface="Wingdings" panose="05000000000000000000" pitchFamily="2" charset="2"/>
              </a:rPr>
              <a:t>开放设施的数目，它们的位置，以及顾客被哪个设施服务的具体安排方案；</a:t>
            </a:r>
            <a:endParaRPr lang="en-US" altLang="zh-CN" dirty="0">
              <a:latin typeface="Times New Roman" panose="02020603050405020304" pitchFamily="18" charset="0"/>
              <a:ea typeface="+mn-ea"/>
              <a:cs typeface="Times New Roman" panose="02020603050405020304" pitchFamily="18" charset="0"/>
              <a:sym typeface="Wingdings" panose="05000000000000000000" pitchFamily="2" charset="2"/>
            </a:endParaRPr>
          </a:p>
          <a:p>
            <a:pPr eaLnBrk="1" hangingPunct="1">
              <a:spcBef>
                <a:spcPct val="0"/>
              </a:spcBef>
              <a:buFontTx/>
              <a:buNone/>
            </a:pPr>
            <a:r>
              <a:rPr lang="zh-CN" altLang="en-US" b="1" dirty="0">
                <a:latin typeface="Times New Roman" panose="02020603050405020304" pitchFamily="18" charset="0"/>
                <a:ea typeface="+mn-ea"/>
                <a:cs typeface="Times New Roman" panose="02020603050405020304" pitchFamily="18" charset="0"/>
                <a:sym typeface="Wingdings" panose="05000000000000000000" pitchFamily="2" charset="2"/>
              </a:rPr>
              <a:t>目标：总的费用最少。</a:t>
            </a:r>
            <a:endParaRPr lang="en-US" altLang="zh-CN" dirty="0">
              <a:latin typeface="Times New Roman" panose="02020603050405020304" pitchFamily="18" charset="0"/>
              <a:ea typeface="+mn-ea"/>
              <a:cs typeface="Times New Roman" panose="02020603050405020304" pitchFamily="18" charset="0"/>
              <a:sym typeface="Wingdings" panose="05000000000000000000" pitchFamily="2" charset="2"/>
            </a:endParaRPr>
          </a:p>
        </p:txBody>
      </p:sp>
      <p:sp>
        <p:nvSpPr>
          <p:cNvPr id="71686" name="Rectangle 6"/>
          <p:cNvSpPr>
            <a:spLocks noChangeArrowheads="1"/>
          </p:cNvSpPr>
          <p:nvPr/>
        </p:nvSpPr>
        <p:spPr bwMode="auto">
          <a:xfrm>
            <a:off x="337937" y="3669181"/>
            <a:ext cx="8610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dirty="0">
                <a:latin typeface="Times New Roman" panose="02020603050405020304" pitchFamily="18" charset="0"/>
                <a:ea typeface="+mn-ea"/>
                <a:cs typeface="Times New Roman" panose="02020603050405020304" pitchFamily="18" charset="0"/>
                <a:sym typeface="Wingdings" panose="05000000000000000000" pitchFamily="2" charset="2"/>
              </a:rPr>
              <a:t>数据与约束</a:t>
            </a:r>
          </a:p>
          <a:p>
            <a:pPr eaLnBrk="1" hangingPunct="1">
              <a:spcBef>
                <a:spcPct val="0"/>
              </a:spcBef>
              <a:buFontTx/>
              <a:buNone/>
            </a:pPr>
            <a:r>
              <a:rPr lang="en-US" altLang="zh-CN" dirty="0">
                <a:latin typeface="Times New Roman" panose="02020603050405020304" pitchFamily="18" charset="0"/>
                <a:ea typeface="+mn-ea"/>
                <a:cs typeface="Times New Roman" panose="02020603050405020304" pitchFamily="18" charset="0"/>
                <a:sym typeface="Wingdings" panose="05000000000000000000" pitchFamily="2" charset="2"/>
              </a:rPr>
              <a:t>J={1,2,…,n}:</a:t>
            </a:r>
            <a:r>
              <a:rPr lang="zh-CN" altLang="en-US" dirty="0">
                <a:latin typeface="Times New Roman" panose="02020603050405020304" pitchFamily="18" charset="0"/>
                <a:ea typeface="+mn-ea"/>
                <a:cs typeface="Times New Roman" panose="02020603050405020304" pitchFamily="18" charset="0"/>
                <a:sym typeface="Wingdings" panose="05000000000000000000" pitchFamily="2" charset="2"/>
              </a:rPr>
              <a:t>开放设施的可能的潜在位置集合</a:t>
            </a:r>
          </a:p>
          <a:p>
            <a:pPr eaLnBrk="1" hangingPunct="1">
              <a:spcBef>
                <a:spcPct val="0"/>
              </a:spcBef>
              <a:buFontTx/>
              <a:buNone/>
            </a:pPr>
            <a:r>
              <a:rPr lang="en-US" altLang="zh-CN" dirty="0">
                <a:latin typeface="Times New Roman" panose="02020603050405020304" pitchFamily="18" charset="0"/>
                <a:ea typeface="+mn-ea"/>
                <a:cs typeface="Times New Roman" panose="02020603050405020304" pitchFamily="18" charset="0"/>
                <a:sym typeface="Wingdings" panose="05000000000000000000" pitchFamily="2" charset="2"/>
              </a:rPr>
              <a:t>I={1,2,…,m}:</a:t>
            </a:r>
            <a:r>
              <a:rPr lang="zh-CN" altLang="en-US" dirty="0">
                <a:latin typeface="Times New Roman" panose="02020603050405020304" pitchFamily="18" charset="0"/>
                <a:ea typeface="+mn-ea"/>
                <a:cs typeface="Times New Roman" panose="02020603050405020304" pitchFamily="18" charset="0"/>
                <a:sym typeface="Wingdings" panose="05000000000000000000" pitchFamily="2" charset="2"/>
              </a:rPr>
              <a:t>顾客集合</a:t>
            </a:r>
            <a:r>
              <a:rPr lang="en-US" altLang="zh-CN" dirty="0">
                <a:latin typeface="Times New Roman" panose="02020603050405020304" pitchFamily="18" charset="0"/>
                <a:ea typeface="+mn-ea"/>
                <a:cs typeface="Times New Roman" panose="02020603050405020304" pitchFamily="18" charset="0"/>
                <a:sym typeface="Wingdings" panose="05000000000000000000" pitchFamily="2" charset="2"/>
              </a:rPr>
              <a:t>,</a:t>
            </a:r>
            <a:r>
              <a:rPr lang="zh-CN" altLang="en-US" dirty="0">
                <a:latin typeface="Times New Roman" panose="02020603050405020304" pitchFamily="18" charset="0"/>
                <a:ea typeface="+mn-ea"/>
                <a:cs typeface="Times New Roman" panose="02020603050405020304" pitchFamily="18" charset="0"/>
                <a:sym typeface="Wingdings" panose="05000000000000000000" pitchFamily="2" charset="2"/>
              </a:rPr>
              <a:t>其要求的服务需要某设施所提  供</a:t>
            </a:r>
            <a:r>
              <a:rPr lang="en-US" altLang="zh-CN" dirty="0">
                <a:latin typeface="Times New Roman" panose="02020603050405020304" pitchFamily="18" charset="0"/>
                <a:ea typeface="+mn-ea"/>
                <a:cs typeface="Times New Roman" panose="02020603050405020304" pitchFamily="18" charset="0"/>
                <a:sym typeface="Wingdings" panose="05000000000000000000" pitchFamily="2" charset="2"/>
              </a:rPr>
              <a:t>.</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708" name="Object 5"/>
          <p:cNvGraphicFramePr>
            <a:graphicFrameLocks noChangeAspect="1"/>
          </p:cNvGraphicFramePr>
          <p:nvPr/>
        </p:nvGraphicFramePr>
        <p:xfrm>
          <a:off x="292401" y="1268413"/>
          <a:ext cx="8013700" cy="1092200"/>
        </p:xfrm>
        <a:graphic>
          <a:graphicData uri="http://schemas.openxmlformats.org/presentationml/2006/ole">
            <mc:AlternateContent xmlns:mc="http://schemas.openxmlformats.org/markup-compatibility/2006">
              <mc:Choice xmlns:v="urn:schemas-microsoft-com:vml" Requires="v">
                <p:oleObj spid="_x0000_s9330" name="Equation" r:id="rId3" imgW="192328800" imgH="26212800" progId="Equation.DSMT4">
                  <p:embed/>
                </p:oleObj>
              </mc:Choice>
              <mc:Fallback>
                <p:oleObj name="Equation" r:id="rId3" imgW="192328800" imgH="26212800" progId="Equation.DSMT4">
                  <p:embed/>
                  <p:pic>
                    <p:nvPicPr>
                      <p:cNvPr id="0" name="Object 5"/>
                      <p:cNvPicPr>
                        <a:picLocks noChangeAspect="1" noChangeArrowheads="1"/>
                      </p:cNvPicPr>
                      <p:nvPr/>
                    </p:nvPicPr>
                    <p:blipFill>
                      <a:blip r:embed="rId4"/>
                      <a:srcRect/>
                      <a:stretch>
                        <a:fillRect/>
                      </a:stretch>
                    </p:blipFill>
                    <p:spPr bwMode="auto">
                      <a:xfrm>
                        <a:off x="292401" y="1268413"/>
                        <a:ext cx="8013700" cy="109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709" name="Rectangle 6"/>
          <p:cNvSpPr>
            <a:spLocks noGrp="1" noChangeArrowheads="1"/>
          </p:cNvSpPr>
          <p:nvPr>
            <p:ph type="title" idx="4294967295"/>
          </p:nvPr>
        </p:nvSpPr>
        <p:spPr>
          <a:xfrm>
            <a:off x="385445" y="260350"/>
            <a:ext cx="3733800" cy="762000"/>
          </a:xfrm>
          <a:noFill/>
        </p:spPr>
        <p:txBody>
          <a:bodyPr/>
          <a:lstStyle/>
          <a:p>
            <a:pPr eaLnBrk="1" hangingPunct="1"/>
            <a:r>
              <a:rPr lang="zh-CN" altLang="en-US" sz="3600" dirty="0">
                <a:latin typeface="宋体" panose="02010600030101010101" pitchFamily="2" charset="-122"/>
                <a:ea typeface="宋体" panose="02010600030101010101" pitchFamily="2" charset="-122"/>
                <a:sym typeface="Wingdings" panose="05000000000000000000" pitchFamily="2" charset="2"/>
              </a:rPr>
              <a:t>选址问题</a:t>
            </a:r>
          </a:p>
        </p:txBody>
      </p:sp>
      <p:graphicFrame>
        <p:nvGraphicFramePr>
          <p:cNvPr id="72710" name="Object 8"/>
          <p:cNvGraphicFramePr>
            <a:graphicFrameLocks noChangeAspect="1"/>
          </p:cNvGraphicFramePr>
          <p:nvPr/>
        </p:nvGraphicFramePr>
        <p:xfrm>
          <a:off x="706571" y="2475230"/>
          <a:ext cx="6223000" cy="2768600"/>
        </p:xfrm>
        <a:graphic>
          <a:graphicData uri="http://schemas.openxmlformats.org/presentationml/2006/ole">
            <mc:AlternateContent xmlns:mc="http://schemas.openxmlformats.org/markup-compatibility/2006">
              <mc:Choice xmlns:v="urn:schemas-microsoft-com:vml" Requires="v">
                <p:oleObj spid="_x0000_s9331" name="Equation" r:id="rId5" imgW="149352000" imgH="66446400" progId="Equation.DSMT4">
                  <p:embed/>
                </p:oleObj>
              </mc:Choice>
              <mc:Fallback>
                <p:oleObj name="Equation" r:id="rId5" imgW="149352000" imgH="66446400" progId="Equation.DSMT4">
                  <p:embed/>
                  <p:pic>
                    <p:nvPicPr>
                      <p:cNvPr id="0" name="Object 8"/>
                      <p:cNvPicPr>
                        <a:picLocks noChangeAspect="1" noChangeArrowheads="1"/>
                      </p:cNvPicPr>
                      <p:nvPr/>
                    </p:nvPicPr>
                    <p:blipFill>
                      <a:blip r:embed="rId6"/>
                      <a:srcRect/>
                      <a:stretch>
                        <a:fillRect/>
                      </a:stretch>
                    </p:blipFill>
                    <p:spPr bwMode="auto">
                      <a:xfrm>
                        <a:off x="706571" y="2475230"/>
                        <a:ext cx="6223000" cy="276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2"/>
          <p:cNvSpPr>
            <a:spLocks noChangeArrowheads="1"/>
          </p:cNvSpPr>
          <p:nvPr/>
        </p:nvSpPr>
        <p:spPr bwMode="auto">
          <a:xfrm>
            <a:off x="316812" y="188913"/>
            <a:ext cx="3733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宋体" panose="02010600030101010101" pitchFamily="2" charset="-122"/>
                <a:sym typeface="Wingdings" panose="05000000000000000000" pitchFamily="2" charset="2"/>
              </a:rPr>
              <a:t>选址问题</a:t>
            </a:r>
          </a:p>
        </p:txBody>
      </p:sp>
      <p:graphicFrame>
        <p:nvGraphicFramePr>
          <p:cNvPr id="73733" name="Object 4"/>
          <p:cNvGraphicFramePr>
            <a:graphicFrameLocks noChangeAspect="1"/>
          </p:cNvGraphicFramePr>
          <p:nvPr/>
        </p:nvGraphicFramePr>
        <p:xfrm>
          <a:off x="1385102" y="1111717"/>
          <a:ext cx="5283200" cy="3390900"/>
        </p:xfrm>
        <a:graphic>
          <a:graphicData uri="http://schemas.openxmlformats.org/presentationml/2006/ole">
            <mc:AlternateContent xmlns:mc="http://schemas.openxmlformats.org/markup-compatibility/2006">
              <mc:Choice xmlns:v="urn:schemas-microsoft-com:vml" Requires="v">
                <p:oleObj spid="_x0000_s10299" name="Equation" r:id="rId3" imgW="126796800" imgH="81381600" progId="Equation.DSMT4">
                  <p:embed/>
                </p:oleObj>
              </mc:Choice>
              <mc:Fallback>
                <p:oleObj name="Equation" r:id="rId3" imgW="126796800" imgH="81381600" progId="Equation.DSMT4">
                  <p:embed/>
                  <p:pic>
                    <p:nvPicPr>
                      <p:cNvPr id="0" name="Object 4"/>
                      <p:cNvPicPr>
                        <a:picLocks noChangeAspect="1" noChangeArrowheads="1"/>
                      </p:cNvPicPr>
                      <p:nvPr/>
                    </p:nvPicPr>
                    <p:blipFill>
                      <a:blip r:embed="rId4"/>
                      <a:srcRect/>
                      <a:stretch>
                        <a:fillRect/>
                      </a:stretch>
                    </p:blipFill>
                    <p:spPr bwMode="auto">
                      <a:xfrm>
                        <a:off x="1385102" y="1111717"/>
                        <a:ext cx="5283200" cy="339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27259" y="225826"/>
            <a:ext cx="8229600" cy="757555"/>
          </a:xfrm>
        </p:spPr>
        <p:txBody>
          <a:bodyPr/>
          <a:lstStyle/>
          <a:p>
            <a:r>
              <a:rPr lang="zh-CN" altLang="en-US" sz="3600" b="0" dirty="0">
                <a:latin typeface="宋体" panose="02010600030101010101" pitchFamily="2" charset="-122"/>
                <a:ea typeface="宋体" panose="02010600030101010101" pitchFamily="2" charset="-122"/>
              </a:rPr>
              <a:t>稀疏优化</a:t>
            </a:r>
          </a:p>
        </p:txBody>
      </p:sp>
      <mc:AlternateContent xmlns:mc="http://schemas.openxmlformats.org/markup-compatibility/2006" xmlns:a14="http://schemas.microsoft.com/office/drawing/2010/main">
        <mc:Choice Requires="a14">
          <p:sp>
            <p:nvSpPr>
              <p:cNvPr id="4" name="文本框 3"/>
              <p:cNvSpPr txBox="1"/>
              <p:nvPr/>
            </p:nvSpPr>
            <p:spPr>
              <a:xfrm>
                <a:off x="620829" y="1031318"/>
                <a:ext cx="7502893" cy="1888017"/>
              </a:xfrm>
              <a:prstGeom prst="rect">
                <a:avLst/>
              </a:prstGeom>
              <a:noFill/>
            </p:spPr>
            <p:txBody>
              <a:bodyPr wrap="square">
                <a:spAutoFit/>
              </a:bodyPr>
              <a:lstStyle/>
              <a:p>
                <a:r>
                  <a:rPr lang="zh-CN" altLang="en-US" sz="2800" dirty="0">
                    <a:latin typeface="Times New Roman" panose="02020603050405020304" pitchFamily="18" charset="0"/>
                    <a:cs typeface="Times New Roman" panose="02020603050405020304" pitchFamily="18" charset="0"/>
                  </a:rPr>
                  <a:t>给定</a:t>
                </a:r>
                <a:r>
                  <a:rPr lang="en-US" altLang="zh-CN" sz="2800" dirty="0">
                    <a:latin typeface="Times New Roman" panose="02020603050405020304" pitchFamily="18" charset="0"/>
                    <a:cs typeface="Times New Roman" panose="02020603050405020304" pitchFamily="18" charset="0"/>
                  </a:rPr>
                  <a:t>b </a:t>
                </a:r>
                <a:r>
                  <a:rPr lang="en-US" altLang="zh-CN" sz="2800" dirty="0">
                    <a:latin typeface="Times New Roman" panose="02020603050405020304" pitchFamily="18" charset="0"/>
                    <a:cs typeface="Times New Roman" panose="02020603050405020304" pitchFamily="18" charset="0"/>
                    <a:sym typeface="Euclid Symbol" panose="05050102010706020507" pitchFamily="18" charset="2"/>
                  </a:rPr>
                  <a:t></a:t>
                </a:r>
                <a14:m>
                  <m:oMath xmlns:m="http://schemas.openxmlformats.org/officeDocument/2006/math">
                    <m:sSup>
                      <m:sSupPr>
                        <m:ctrlPr>
                          <a:rPr lang="en-US" altLang="zh-CN" sz="2800" i="1" smtClean="0">
                            <a:latin typeface="Cambria Math" panose="02040503050406030204" pitchFamily="18" charset="0"/>
                          </a:rPr>
                        </m:ctrlPr>
                      </m:sSupPr>
                      <m:e>
                        <m:r>
                          <a:rPr lang="en-US" altLang="zh-CN" sz="2800" b="0" i="1" smtClean="0">
                            <a:latin typeface="Cambria Math" panose="02040503050406030204" pitchFamily="18" charset="0"/>
                          </a:rPr>
                          <m:t>𝑅</m:t>
                        </m:r>
                      </m:e>
                      <m:sup>
                        <m:r>
                          <a:rPr lang="en-US" altLang="zh-CN" sz="2800" b="0" i="1" smtClean="0">
                            <a:latin typeface="Cambria Math" panose="02040503050406030204" pitchFamily="18" charset="0"/>
                          </a:rPr>
                          <m:t>𝑚</m:t>
                        </m:r>
                      </m:sup>
                    </m:sSup>
                  </m:oMath>
                </a14:m>
                <a:r>
                  <a:rPr lang="zh-CN" altLang="en-US" sz="2800" dirty="0">
                    <a:latin typeface="Times New Roman" panose="02020603050405020304" pitchFamily="18" charset="0"/>
                    <a:cs typeface="Times New Roman" panose="02020603050405020304" pitchFamily="18" charset="0"/>
                  </a:rPr>
                  <a:t>，矩阵</a:t>
                </a:r>
                <a:r>
                  <a:rPr lang="en-US" altLang="zh-CN" sz="2800" dirty="0">
                    <a:latin typeface="Times New Roman" panose="02020603050405020304" pitchFamily="18" charset="0"/>
                    <a:cs typeface="Times New Roman" panose="02020603050405020304" pitchFamily="18" charset="0"/>
                  </a:rPr>
                  <a:t>A </a:t>
                </a:r>
                <a:r>
                  <a:rPr lang="en-US" altLang="zh-CN" sz="2800" dirty="0">
                    <a:latin typeface="Times New Roman" panose="02020603050405020304" pitchFamily="18" charset="0"/>
                    <a:cs typeface="Times New Roman" panose="02020603050405020304" pitchFamily="18" charset="0"/>
                    <a:sym typeface="Euclid Symbol" panose="05050102010706020507" pitchFamily="18" charset="2"/>
                  </a:rPr>
                  <a:t></a:t>
                </a:r>
                <a:r>
                  <a:rPr lang="en-US" altLang="zh-CN" sz="28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𝑅</m:t>
                        </m:r>
                      </m:e>
                      <m:sup>
                        <m:r>
                          <a:rPr lang="en-US" altLang="zh-CN" sz="2800" i="1">
                            <a:latin typeface="Cambria Math" panose="02040503050406030204" pitchFamily="18" charset="0"/>
                          </a:rPr>
                          <m:t>𝑚</m:t>
                        </m:r>
                        <m:r>
                          <a:rPr lang="en-US" altLang="zh-CN" sz="2800" i="1" smtClean="0">
                            <a:latin typeface="Cambria Math" panose="02040503050406030204" pitchFamily="18" charset="0"/>
                            <a:sym typeface="Euclid Symbol" panose="05050102010706020507" pitchFamily="18" charset="2"/>
                          </a:rPr>
                          <m:t></m:t>
                        </m:r>
                        <m:r>
                          <a:rPr lang="en-US" altLang="zh-CN" sz="2800" b="0" i="1" smtClean="0">
                            <a:latin typeface="Cambria Math" panose="02040503050406030204" pitchFamily="18" charset="0"/>
                          </a:rPr>
                          <m:t>𝑛</m:t>
                        </m:r>
                      </m:sup>
                    </m:sSup>
                    <m:r>
                      <a:rPr lang="en-US" altLang="zh-CN" sz="2800" i="1">
                        <a:latin typeface="Cambria Math" panose="02040503050406030204" pitchFamily="18" charset="0"/>
                      </a:rPr>
                      <m:t> </m:t>
                    </m:r>
                  </m:oMath>
                </a14:m>
                <a:r>
                  <a:rPr lang="zh-CN" altLang="en-US" sz="2800" dirty="0">
                    <a:latin typeface="Times New Roman" panose="02020603050405020304" pitchFamily="18" charset="0"/>
                    <a:cs typeface="Times New Roman" panose="02020603050405020304" pitchFamily="18" charset="0"/>
                  </a:rPr>
                  <a:t>，且向量</a:t>
                </a:r>
                <a:r>
                  <a:rPr lang="en-US" altLang="zh-CN" sz="2800" dirty="0">
                    <a:latin typeface="Times New Roman" panose="02020603050405020304" pitchFamily="18" charset="0"/>
                    <a:cs typeface="Times New Roman" panose="02020603050405020304" pitchFamily="18" charset="0"/>
                  </a:rPr>
                  <a:t>b </a:t>
                </a:r>
                <a:r>
                  <a:rPr lang="zh-CN" altLang="en-US" sz="2800" dirty="0">
                    <a:latin typeface="Times New Roman" panose="02020603050405020304" pitchFamily="18" charset="0"/>
                    <a:cs typeface="Times New Roman" panose="02020603050405020304" pitchFamily="18" charset="0"/>
                  </a:rPr>
                  <a:t>的维数远小于向量</a:t>
                </a:r>
                <a:r>
                  <a:rPr lang="en-US" altLang="zh-CN" sz="2800" dirty="0">
                    <a:latin typeface="Times New Roman" panose="02020603050405020304" pitchFamily="18" charset="0"/>
                    <a:cs typeface="Times New Roman" panose="02020603050405020304" pitchFamily="18" charset="0"/>
                  </a:rPr>
                  <a:t>x</a:t>
                </a:r>
                <a:r>
                  <a:rPr lang="zh-CN" altLang="en-US" sz="2800" dirty="0">
                    <a:latin typeface="Times New Roman" panose="02020603050405020304" pitchFamily="18" charset="0"/>
                    <a:cs typeface="Times New Roman" panose="02020603050405020304" pitchFamily="18" charset="0"/>
                  </a:rPr>
                  <a:t>的维数，即</a:t>
                </a:r>
                <a:r>
                  <a:rPr lang="en-US" altLang="zh-CN" sz="2800" dirty="0">
                    <a:latin typeface="Times New Roman" panose="02020603050405020304" pitchFamily="18" charset="0"/>
                    <a:cs typeface="Times New Roman" panose="02020603050405020304" pitchFamily="18" charset="0"/>
                  </a:rPr>
                  <a:t>m</a:t>
                </a:r>
                <a14:m>
                  <m:oMath xmlns:m="http://schemas.openxmlformats.org/officeDocument/2006/math">
                    <m:r>
                      <a:rPr lang="en-US" altLang="zh-CN" sz="2800" i="1" smtClean="0">
                        <a:latin typeface="Cambria Math" panose="02040503050406030204" pitchFamily="18" charset="0"/>
                        <a:ea typeface="Cambria Math" panose="02040503050406030204" pitchFamily="18" charset="0"/>
                      </a:rPr>
                      <m:t>≪</m:t>
                    </m:r>
                  </m:oMath>
                </a14:m>
                <a:r>
                  <a:rPr lang="en-US" altLang="zh-CN" sz="2800" dirty="0">
                    <a:latin typeface="Times New Roman" panose="02020603050405020304" pitchFamily="18" charset="0"/>
                    <a:cs typeface="Times New Roman" panose="02020603050405020304" pitchFamily="18" charset="0"/>
                  </a:rPr>
                  <a:t>n. </a:t>
                </a:r>
                <a:r>
                  <a:rPr lang="zh-CN" altLang="en-US" sz="2800" dirty="0">
                    <a:latin typeface="Times New Roman" panose="02020603050405020304" pitchFamily="18" charset="0"/>
                    <a:cs typeface="Times New Roman" panose="02020603050405020304" pitchFamily="18" charset="0"/>
                  </a:rPr>
                  <a:t>考虑线性方程组求解问题：</a:t>
                </a:r>
              </a:p>
              <a:p>
                <a:r>
                  <a:rPr lang="en-US" altLang="zh-CN" sz="2800" dirty="0">
                    <a:latin typeface="Times New Roman" panose="02020603050405020304" pitchFamily="18" charset="0"/>
                    <a:cs typeface="Times New Roman" panose="02020603050405020304" pitchFamily="18" charset="0"/>
                  </a:rPr>
                  <a:t>                               Ax = b</a:t>
                </a:r>
                <a:endParaRPr lang="zh-CN" altLang="en-US" sz="2800" dirty="0">
                  <a:latin typeface="Times New Roman" panose="02020603050405020304" pitchFamily="18" charset="0"/>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620829" y="1031318"/>
                <a:ext cx="7502893" cy="1888017"/>
              </a:xfrm>
              <a:prstGeom prst="rect">
                <a:avLst/>
              </a:prstGeom>
              <a:blipFill rotWithShape="1">
                <a:blip r:embed="rId2"/>
                <a:stretch>
                  <a:fillRect l="-6" t="-2426" r="2" b="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524577" y="3170259"/>
                <a:ext cx="8234412" cy="2246769"/>
              </a:xfrm>
              <a:prstGeom prst="rect">
                <a:avLst/>
              </a:prstGeom>
              <a:noFill/>
            </p:spPr>
            <p:txBody>
              <a:bodyPr wrap="square">
                <a:spAutoFit/>
              </a:bodyPr>
              <a:lstStyle/>
              <a:p>
                <a:r>
                  <a:rPr lang="zh-CN" altLang="en-US" sz="2800" dirty="0">
                    <a:latin typeface="+mn-ea"/>
                    <a:ea typeface="+mn-ea"/>
                  </a:rPr>
                  <a:t>注意到由于</a:t>
                </a:r>
                <a:r>
                  <a:rPr lang="en-US" altLang="zh-CN" sz="2800" dirty="0">
                    <a:latin typeface="+mn-ea"/>
                    <a:ea typeface="+mn-ea"/>
                  </a:rPr>
                  <a:t>m</a:t>
                </a:r>
                <a:r>
                  <a:rPr lang="en-US" altLang="zh-CN" sz="2800" dirty="0">
                    <a:ea typeface="Cambria Math" panose="02040503050406030204" pitchFamily="18" charset="0"/>
                  </a:rPr>
                  <a:t> </a:t>
                </a:r>
                <a14:m>
                  <m:oMath xmlns:m="http://schemas.openxmlformats.org/officeDocument/2006/math">
                    <m:r>
                      <a:rPr lang="en-US" altLang="zh-CN" sz="2800" i="1" smtClean="0">
                        <a:latin typeface="Cambria Math" panose="02040503050406030204" pitchFamily="18" charset="0"/>
                        <a:ea typeface="Cambria Math" panose="02040503050406030204" pitchFamily="18" charset="0"/>
                      </a:rPr>
                      <m:t>≪ </m:t>
                    </m:r>
                  </m:oMath>
                </a14:m>
                <a:r>
                  <a:rPr lang="en-US" altLang="zh-CN" sz="2800" dirty="0">
                    <a:latin typeface="+mn-ea"/>
                    <a:ea typeface="+mn-ea"/>
                  </a:rPr>
                  <a:t>n</a:t>
                </a:r>
                <a:r>
                  <a:rPr lang="zh-CN" altLang="en-US" sz="2800" dirty="0">
                    <a:latin typeface="+mn-ea"/>
                    <a:ea typeface="+mn-ea"/>
                  </a:rPr>
                  <a:t>，方程组是欠定的，因此存在无穷多个解，重构出原始信号看似很难．</a:t>
                </a:r>
              </a:p>
              <a:p>
                <a:endParaRPr lang="en-US" altLang="zh-CN" sz="2800" dirty="0">
                  <a:latin typeface="+mn-ea"/>
                  <a:ea typeface="+mn-ea"/>
                </a:endParaRPr>
              </a:p>
              <a:p>
                <a:r>
                  <a:rPr lang="zh-CN" altLang="en-US" sz="2800" dirty="0">
                    <a:latin typeface="+mn-ea"/>
                    <a:ea typeface="+mn-ea"/>
                  </a:rPr>
                  <a:t>这些解当中大部分是不重要的，真正有用的解是所谓的“稀疏解”，即原始信号中有较多的零元素．</a:t>
                </a:r>
              </a:p>
            </p:txBody>
          </p:sp>
        </mc:Choice>
        <mc:Fallback xmlns="">
          <p:sp>
            <p:nvSpPr>
              <p:cNvPr id="6" name="文本框 5"/>
              <p:cNvSpPr txBox="1">
                <a:spLocks noRot="1" noChangeAspect="1" noMove="1" noResize="1" noEditPoints="1" noAdjustHandles="1" noChangeArrowheads="1" noChangeShapeType="1" noTextEdit="1"/>
              </p:cNvSpPr>
              <p:nvPr/>
            </p:nvSpPr>
            <p:spPr>
              <a:xfrm>
                <a:off x="524577" y="3170259"/>
                <a:ext cx="8234412" cy="2246769"/>
              </a:xfrm>
              <a:prstGeom prst="rect">
                <a:avLst/>
              </a:prstGeom>
              <a:blipFill rotWithShape="1">
                <a:blip r:embed="rId3"/>
                <a:stretch>
                  <a:fillRect l="-1" t="-15" r="5" b="21"/>
                </a:stretch>
              </a:blipFill>
            </p:spPr>
            <p:txBody>
              <a:bodyPr/>
              <a:lstStyle/>
              <a:p>
                <a:r>
                  <a:rPr lang="zh-CN" altLang="en-US">
                    <a:noFill/>
                  </a:rPr>
                  <a:t> </a:t>
                </a:r>
              </a:p>
            </p:txBody>
          </p:sp>
        </mc:Fallback>
      </mc:AlternateContent>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57199" y="1054835"/>
            <a:ext cx="8484670" cy="2677656"/>
          </a:xfrm>
          <a:prstGeom prst="rect">
            <a:avLst/>
          </a:prstGeom>
          <a:noFill/>
        </p:spPr>
        <p:txBody>
          <a:bodyPr wrap="square">
            <a:spAutoFit/>
          </a:bodyPr>
          <a:lstStyle/>
          <a:p>
            <a:pPr algn="l"/>
            <a:r>
              <a:rPr lang="zh-CN" altLang="en-US" sz="2800" b="0" i="0" u="none" strike="noStrike" baseline="0" dirty="0">
                <a:latin typeface="Times New Roman" panose="02020603050405020304" pitchFamily="18" charset="0"/>
                <a:cs typeface="Times New Roman" panose="02020603050405020304" pitchFamily="18" charset="0"/>
              </a:rPr>
              <a:t>如果加上稀疏性这一先验信息，且矩阵</a:t>
            </a:r>
            <a:r>
              <a:rPr lang="en-US" altLang="zh-CN" sz="2800" b="0" i="0" u="none" strike="noStrike" baseline="0" dirty="0">
                <a:latin typeface="Times New Roman" panose="02020603050405020304" pitchFamily="18" charset="0"/>
                <a:cs typeface="Times New Roman" panose="02020603050405020304" pitchFamily="18" charset="0"/>
              </a:rPr>
              <a:t>A</a:t>
            </a:r>
            <a:r>
              <a:rPr lang="zh-CN" altLang="en-US" sz="2800" b="0" i="0" u="none" strike="noStrike" baseline="0" dirty="0">
                <a:latin typeface="Times New Roman" panose="02020603050405020304" pitchFamily="18" charset="0"/>
                <a:cs typeface="Times New Roman" panose="02020603050405020304" pitchFamily="18" charset="0"/>
              </a:rPr>
              <a:t>以及原问题的解</a:t>
            </a:r>
            <a:r>
              <a:rPr lang="en-US" altLang="zh-CN" sz="2800" b="0" i="0" u="none" strike="noStrike" baseline="0" dirty="0">
                <a:latin typeface="Times New Roman" panose="02020603050405020304" pitchFamily="18" charset="0"/>
                <a:cs typeface="Times New Roman" panose="02020603050405020304" pitchFamily="18" charset="0"/>
              </a:rPr>
              <a:t>u</a:t>
            </a:r>
            <a:r>
              <a:rPr lang="zh-CN" altLang="en-US" sz="2800" b="0" i="0" u="none" strike="noStrike" baseline="0" dirty="0">
                <a:latin typeface="Times New Roman" panose="02020603050405020304" pitchFamily="18" charset="0"/>
                <a:cs typeface="Times New Roman" panose="02020603050405020304" pitchFamily="18" charset="0"/>
              </a:rPr>
              <a:t>满足某些条件，那么可以通过求解稀疏优化问题把</a:t>
            </a:r>
            <a:r>
              <a:rPr lang="en-US" altLang="zh-CN" sz="2800" b="0" i="0" u="none" strike="noStrike" baseline="0" dirty="0">
                <a:latin typeface="Times New Roman" panose="02020603050405020304" pitchFamily="18" charset="0"/>
                <a:cs typeface="Times New Roman" panose="02020603050405020304" pitchFamily="18" charset="0"/>
              </a:rPr>
              <a:t>u</a:t>
            </a:r>
            <a:r>
              <a:rPr lang="zh-CN" altLang="en-US" sz="2800" b="0" i="0" u="none" strike="noStrike" baseline="0" dirty="0">
                <a:latin typeface="Times New Roman" panose="02020603050405020304" pitchFamily="18" charset="0"/>
                <a:cs typeface="Times New Roman" panose="02020603050405020304" pitchFamily="18" charset="0"/>
              </a:rPr>
              <a:t>与方程组的其他解区别开．</a:t>
            </a:r>
            <a:endParaRPr lang="en-US" altLang="zh-CN" sz="2800" b="0" i="0" u="none" strike="noStrike" baseline="0" dirty="0">
              <a:latin typeface="Times New Roman" panose="02020603050405020304" pitchFamily="18" charset="0"/>
              <a:cs typeface="Times New Roman" panose="02020603050405020304" pitchFamily="18" charset="0"/>
            </a:endParaRPr>
          </a:p>
          <a:p>
            <a:pPr algn="l"/>
            <a:endParaRPr lang="zh-CN" altLang="en-US" sz="2800" b="0" i="0" u="none" strike="noStrike" baseline="0" dirty="0">
              <a:latin typeface="Times New Roman" panose="02020603050405020304" pitchFamily="18" charset="0"/>
              <a:cs typeface="Times New Roman" panose="02020603050405020304" pitchFamily="18" charset="0"/>
            </a:endParaRPr>
          </a:p>
          <a:p>
            <a:pPr algn="l"/>
            <a:r>
              <a:rPr lang="zh-CN" altLang="en-US" sz="2800" b="0" i="0" u="none" strike="noStrike" baseline="0" dirty="0">
                <a:latin typeface="Times New Roman" panose="02020603050405020304" pitchFamily="18" charset="0"/>
                <a:cs typeface="Times New Roman" panose="02020603050405020304" pitchFamily="18" charset="0"/>
              </a:rPr>
              <a:t>这类技术广泛应用于压缩感知（</a:t>
            </a:r>
            <a:r>
              <a:rPr lang="en-US" altLang="zh-CN" sz="2800" b="0" i="0" u="none" strike="noStrike" baseline="0" dirty="0">
                <a:latin typeface="Times New Roman" panose="02020603050405020304" pitchFamily="18" charset="0"/>
                <a:cs typeface="Times New Roman" panose="02020603050405020304" pitchFamily="18" charset="0"/>
              </a:rPr>
              <a:t>compressive sensing</a:t>
            </a:r>
            <a:r>
              <a:rPr lang="zh-CN" altLang="en-US" sz="2800" b="0" i="0" u="none" strike="noStrike" baseline="0" dirty="0">
                <a:latin typeface="Times New Roman" panose="02020603050405020304" pitchFamily="18" charset="0"/>
                <a:cs typeface="Times New Roman" panose="02020603050405020304" pitchFamily="18" charset="0"/>
              </a:rPr>
              <a:t>），即通过部分信息恢复全部信息的解决方案</a:t>
            </a:r>
            <a:endParaRPr lang="zh-CN" altLang="en-US" sz="2800" dirty="0">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a:blip r:embed="rId2"/>
          <a:stretch>
            <a:fillRect/>
          </a:stretch>
        </p:blipFill>
        <p:spPr>
          <a:xfrm>
            <a:off x="1212735" y="3965954"/>
            <a:ext cx="3004083" cy="1366441"/>
          </a:xfrm>
          <a:prstGeom prst="rect">
            <a:avLst/>
          </a:prstGeom>
        </p:spPr>
      </p:pic>
      <p:pic>
        <p:nvPicPr>
          <p:cNvPr id="10" name="图片 9"/>
          <p:cNvPicPr>
            <a:picLocks noChangeAspect="1"/>
          </p:cNvPicPr>
          <p:nvPr/>
        </p:nvPicPr>
        <p:blipFill>
          <a:blip r:embed="rId3"/>
          <a:stretch>
            <a:fillRect/>
          </a:stretch>
        </p:blipFill>
        <p:spPr>
          <a:xfrm>
            <a:off x="4927488" y="4067858"/>
            <a:ext cx="2752271" cy="1100908"/>
          </a:xfrm>
          <a:prstGeom prst="rect">
            <a:avLst/>
          </a:prstGeom>
        </p:spPr>
      </p:pic>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280186" y="96253"/>
            <a:ext cx="8215312"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dirty="0"/>
              <a:t>低秩矩阵恢复（</a:t>
            </a:r>
            <a:r>
              <a:rPr lang="en-US" altLang="zh-CN" sz="3600" b="0" i="0" dirty="0">
                <a:solidFill>
                  <a:srgbClr val="0F1115"/>
                </a:solidFill>
                <a:effectLst/>
                <a:latin typeface="quote-cjk-patch"/>
              </a:rPr>
              <a:t>Netflix Prize</a:t>
            </a:r>
            <a:r>
              <a:rPr lang="zh-CN" altLang="en-US" sz="3600" b="1" dirty="0"/>
              <a:t>）</a:t>
            </a:r>
            <a:endParaRPr lang="en-US" altLang="zh-CN" sz="4000" dirty="0">
              <a:ea typeface="楷体_GB2312" panose="02010609030101010101" pitchFamily="49" charset="-122"/>
              <a:sym typeface="Wingdings" panose="05000000000000000000" pitchFamily="2" charset="2"/>
            </a:endParaRPr>
          </a:p>
        </p:txBody>
      </p:sp>
      <p:sp>
        <p:nvSpPr>
          <p:cNvPr id="3" name="矩形 2"/>
          <p:cNvSpPr/>
          <p:nvPr/>
        </p:nvSpPr>
        <p:spPr>
          <a:xfrm>
            <a:off x="515737" y="1183417"/>
            <a:ext cx="7902624" cy="4278094"/>
          </a:xfrm>
          <a:prstGeom prst="rect">
            <a:avLst/>
          </a:prstGeom>
        </p:spPr>
        <p:txBody>
          <a:bodyPr wrap="square">
            <a:spAutoFit/>
          </a:bodyPr>
          <a:lstStyle/>
          <a:p>
            <a:r>
              <a:rPr lang="en-US" altLang="zh-CN" sz="2400" b="0" i="0" dirty="0">
                <a:solidFill>
                  <a:srgbClr val="0F1115"/>
                </a:solidFill>
                <a:effectLst/>
                <a:latin typeface="quote-cjk-patch"/>
              </a:rPr>
              <a:t>Netflix</a:t>
            </a:r>
            <a:r>
              <a:rPr lang="zh-CN" altLang="en-US" sz="2400" b="0" i="0" dirty="0">
                <a:solidFill>
                  <a:srgbClr val="0F1115"/>
                </a:solidFill>
                <a:effectLst/>
                <a:latin typeface="quote-cjk-patch"/>
              </a:rPr>
              <a:t>奖问题（</a:t>
            </a:r>
            <a:r>
              <a:rPr lang="en-US" altLang="zh-CN" sz="2400" b="0" i="0" dirty="0">
                <a:solidFill>
                  <a:srgbClr val="0F1115"/>
                </a:solidFill>
                <a:effectLst/>
                <a:latin typeface="quote-cjk-patch"/>
              </a:rPr>
              <a:t>Netflix Prize</a:t>
            </a:r>
            <a:r>
              <a:rPr lang="zh-CN" altLang="en-US" sz="2400" b="0" i="0" dirty="0">
                <a:solidFill>
                  <a:srgbClr val="0F1115"/>
                </a:solidFill>
                <a:effectLst/>
                <a:latin typeface="quote-cjk-patch"/>
              </a:rPr>
              <a:t>）是推荐系统领域的一个里程碑式的公开竞赛。它是网飞公司为了提升其电影推荐算法的准确性，在</a:t>
            </a:r>
            <a:r>
              <a:rPr lang="en-US" altLang="zh-CN" sz="2400" b="0" i="0" dirty="0">
                <a:solidFill>
                  <a:srgbClr val="0F1115"/>
                </a:solidFill>
                <a:effectLst/>
                <a:latin typeface="quote-cjk-patch"/>
              </a:rPr>
              <a:t>2006</a:t>
            </a:r>
            <a:r>
              <a:rPr lang="zh-CN" altLang="en-US" sz="2400" b="0" i="0" dirty="0">
                <a:solidFill>
                  <a:srgbClr val="0F1115"/>
                </a:solidFill>
                <a:effectLst/>
                <a:latin typeface="quote-cjk-patch"/>
              </a:rPr>
              <a:t>年设立的一项百万美元悬赏。</a:t>
            </a:r>
            <a:endParaRPr lang="en-US" altLang="zh-CN" sz="2400" b="0" i="0" dirty="0">
              <a:solidFill>
                <a:srgbClr val="0F1115"/>
              </a:solidFill>
              <a:effectLst/>
              <a:latin typeface="quote-cjk-patch"/>
            </a:endParaRPr>
          </a:p>
          <a:p>
            <a:r>
              <a:rPr lang="zh-CN" altLang="en-US" sz="2400" b="1" dirty="0">
                <a:solidFill>
                  <a:srgbClr val="0F1115"/>
                </a:solidFill>
                <a:latin typeface="quote-cjk-patch"/>
              </a:rPr>
              <a:t>数据集</a:t>
            </a:r>
            <a:r>
              <a:rPr lang="zh-CN" altLang="en-US" sz="2400" dirty="0">
                <a:solidFill>
                  <a:srgbClr val="0F1115"/>
                </a:solidFill>
                <a:latin typeface="quote-cjk-patch"/>
              </a:rPr>
              <a:t>：</a:t>
            </a:r>
            <a:endParaRPr lang="en-US" altLang="zh-CN" sz="2400" b="0" i="0" dirty="0">
              <a:solidFill>
                <a:srgbClr val="0F1115"/>
              </a:solidFill>
              <a:effectLst/>
              <a:latin typeface="quote-cjk-patch"/>
            </a:endParaRPr>
          </a:p>
          <a:p>
            <a:r>
              <a:rPr lang="zh-CN" altLang="en-US" sz="2400" dirty="0">
                <a:solidFill>
                  <a:srgbClr val="000000"/>
                </a:solidFill>
                <a:latin typeface="+mj-lt"/>
              </a:rPr>
              <a:t>某视频网站提供的约</a:t>
            </a:r>
            <a:r>
              <a:rPr lang="en-US" altLang="zh-CN" sz="2400" dirty="0">
                <a:solidFill>
                  <a:srgbClr val="000000"/>
                </a:solidFill>
                <a:latin typeface="+mj-lt"/>
              </a:rPr>
              <a:t>48 </a:t>
            </a:r>
            <a:r>
              <a:rPr lang="zh-CN" altLang="en-US" sz="2400" dirty="0">
                <a:solidFill>
                  <a:srgbClr val="000000"/>
                </a:solidFill>
                <a:latin typeface="+mj-lt"/>
              </a:rPr>
              <a:t>万用户对</a:t>
            </a:r>
            <a:r>
              <a:rPr lang="en-US" altLang="zh-CN" sz="2400" dirty="0">
                <a:solidFill>
                  <a:srgbClr val="000000"/>
                </a:solidFill>
                <a:latin typeface="+mj-lt"/>
              </a:rPr>
              <a:t>1 </a:t>
            </a:r>
            <a:r>
              <a:rPr lang="zh-CN" altLang="en-US" sz="2400" dirty="0">
                <a:solidFill>
                  <a:srgbClr val="000000"/>
                </a:solidFill>
                <a:latin typeface="+mj-lt"/>
              </a:rPr>
              <a:t>万</a:t>
            </a:r>
            <a:r>
              <a:rPr lang="en-US" altLang="zh-CN" sz="2400" dirty="0">
                <a:solidFill>
                  <a:srgbClr val="000000"/>
                </a:solidFill>
                <a:latin typeface="+mj-lt"/>
              </a:rPr>
              <a:t>7 </a:t>
            </a:r>
            <a:r>
              <a:rPr lang="zh-CN" altLang="en-US" sz="2400" dirty="0">
                <a:solidFill>
                  <a:srgbClr val="000000"/>
                </a:solidFill>
                <a:latin typeface="+mj-lt"/>
              </a:rPr>
              <a:t>千多部电影的上亿条评级数据，</a:t>
            </a:r>
            <a:endParaRPr lang="en-US" altLang="zh-CN" sz="2400" dirty="0">
              <a:solidFill>
                <a:srgbClr val="000000"/>
              </a:solidFill>
              <a:latin typeface="+mj-lt"/>
            </a:endParaRPr>
          </a:p>
          <a:p>
            <a:r>
              <a:rPr lang="zh-CN" altLang="en-US" sz="2400" b="1" dirty="0">
                <a:solidFill>
                  <a:srgbClr val="000000"/>
                </a:solidFill>
                <a:latin typeface="+mj-lt"/>
              </a:rPr>
              <a:t>任务</a:t>
            </a:r>
            <a:r>
              <a:rPr lang="zh-CN" altLang="en-US" sz="2400" dirty="0">
                <a:solidFill>
                  <a:srgbClr val="000000"/>
                </a:solidFill>
                <a:latin typeface="+mj-lt"/>
              </a:rPr>
              <a:t>：</a:t>
            </a:r>
            <a:r>
              <a:rPr lang="zh-CN" altLang="en-US" sz="2400" b="0" i="0" dirty="0">
                <a:solidFill>
                  <a:srgbClr val="0F1115"/>
                </a:solidFill>
                <a:effectLst/>
                <a:latin typeface="quote-cjk-patch"/>
              </a:rPr>
              <a:t>参赛者需要利用这个公开的数据集，去预测另外</a:t>
            </a:r>
            <a:r>
              <a:rPr lang="en-US" altLang="zh-CN" sz="2400" b="1" i="0" dirty="0">
                <a:solidFill>
                  <a:srgbClr val="0F1115"/>
                </a:solidFill>
                <a:effectLst/>
                <a:latin typeface="quote-cjk-patch"/>
              </a:rPr>
              <a:t>140</a:t>
            </a:r>
            <a:r>
              <a:rPr lang="zh-CN" altLang="en-US" sz="2400" b="1" i="0" dirty="0">
                <a:solidFill>
                  <a:srgbClr val="0F1115"/>
                </a:solidFill>
                <a:effectLst/>
                <a:latin typeface="quote-cjk-patch"/>
              </a:rPr>
              <a:t>多万</a:t>
            </a:r>
            <a:r>
              <a:rPr lang="zh-CN" altLang="en-US" sz="2400" b="0" i="0" dirty="0">
                <a:solidFill>
                  <a:srgbClr val="0F1115"/>
                </a:solidFill>
                <a:effectLst/>
                <a:latin typeface="quote-cjk-patch"/>
              </a:rPr>
              <a:t>个被隐藏起来的用户评分，即</a:t>
            </a:r>
            <a:r>
              <a:rPr lang="zh-CN" altLang="en-US" sz="2400" dirty="0">
                <a:solidFill>
                  <a:srgbClr val="000000"/>
                </a:solidFill>
                <a:latin typeface="+mj-lt"/>
              </a:rPr>
              <a:t>希望对用户的电影评级进行预测，从而改进用户电影推荐系统，为每个用户更有针对性地推荐影片．</a:t>
            </a:r>
            <a:endParaRPr lang="en-US" altLang="zh-CN" sz="2400" dirty="0">
              <a:solidFill>
                <a:srgbClr val="000000"/>
              </a:solidFill>
              <a:latin typeface="+mj-lt"/>
              <a:ea typeface="+mn-ea"/>
            </a:endParaRPr>
          </a:p>
          <a:p>
            <a:r>
              <a:rPr lang="zh-CN" altLang="en-US" sz="2400" b="1" i="0" dirty="0">
                <a:solidFill>
                  <a:srgbClr val="0F1115"/>
                </a:solidFill>
                <a:effectLst/>
                <a:latin typeface="quote-cjk-patch"/>
              </a:rPr>
              <a:t>评判标准</a:t>
            </a:r>
            <a:r>
              <a:rPr lang="zh-CN" altLang="en-US" sz="2400" b="0" i="0" dirty="0">
                <a:solidFill>
                  <a:srgbClr val="0F1115"/>
                </a:solidFill>
                <a:effectLst/>
                <a:latin typeface="quote-cjk-patch"/>
              </a:rPr>
              <a:t>：</a:t>
            </a:r>
            <a:r>
              <a:rPr lang="zh-CN" altLang="en-US" sz="2400" b="1" i="0" dirty="0">
                <a:solidFill>
                  <a:srgbClr val="0F1115"/>
                </a:solidFill>
                <a:effectLst/>
                <a:latin typeface="quote-cjk-patch"/>
              </a:rPr>
              <a:t>均方根误差（</a:t>
            </a:r>
            <a:r>
              <a:rPr lang="en-US" altLang="zh-CN" sz="2400" b="1" i="0" dirty="0">
                <a:solidFill>
                  <a:srgbClr val="0F1115"/>
                </a:solidFill>
                <a:effectLst/>
                <a:latin typeface="quote-cjk-patch"/>
              </a:rPr>
              <a:t>RMSE</a:t>
            </a:r>
            <a:r>
              <a:rPr lang="zh-CN" altLang="en-US" sz="2400" b="1" i="0" dirty="0">
                <a:solidFill>
                  <a:srgbClr val="0F1115"/>
                </a:solidFill>
                <a:effectLst/>
                <a:latin typeface="quote-cjk-patch"/>
              </a:rPr>
              <a:t>）</a:t>
            </a:r>
            <a:r>
              <a:rPr lang="zh-CN" altLang="en-US" sz="2400" b="0" i="0" dirty="0">
                <a:solidFill>
                  <a:srgbClr val="0F1115"/>
                </a:solidFill>
                <a:effectLst/>
                <a:latin typeface="quote-cjk-patch"/>
              </a:rPr>
              <a:t> </a:t>
            </a:r>
            <a:endParaRPr lang="zh-CN" altLang="en-US" sz="2400" dirty="0">
              <a:latin typeface="+mj-lt"/>
              <a:ea typeface="+mn-ea"/>
            </a:endParaRPr>
          </a:p>
        </p:txBody>
      </p:sp>
      <p:pic>
        <p:nvPicPr>
          <p:cNvPr id="7" name="图片 6">
            <a:extLst>
              <a:ext uri="{FF2B5EF4-FFF2-40B4-BE49-F238E27FC236}">
                <a16:creationId xmlns:a16="http://schemas.microsoft.com/office/drawing/2014/main" id="{E828F390-82E7-43FC-9C63-EDC23AD7103D}"/>
              </a:ext>
            </a:extLst>
          </p:cNvPr>
          <p:cNvPicPr>
            <a:picLocks noChangeAspect="1"/>
          </p:cNvPicPr>
          <p:nvPr/>
        </p:nvPicPr>
        <p:blipFill>
          <a:blip r:embed="rId2"/>
          <a:stretch>
            <a:fillRect/>
          </a:stretch>
        </p:blipFill>
        <p:spPr>
          <a:xfrm>
            <a:off x="2519637" y="5416884"/>
            <a:ext cx="4449053" cy="1211683"/>
          </a:xfrm>
          <a:prstGeom prst="rect">
            <a:avLst/>
          </a:prstGeom>
        </p:spPr>
      </p:pic>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540068" y="96253"/>
            <a:ext cx="8215312"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dirty="0"/>
              <a:t>低秩矩阵恢复</a:t>
            </a:r>
            <a:endParaRPr lang="en-US" altLang="zh-CN" sz="4000" dirty="0">
              <a:ea typeface="楷体_GB2312" panose="02010609030101010101" pitchFamily="49" charset="-122"/>
              <a:sym typeface="Wingdings" panose="05000000000000000000" pitchFamily="2" charset="2"/>
            </a:endParaRPr>
          </a:p>
        </p:txBody>
      </p:sp>
      <p:sp>
        <p:nvSpPr>
          <p:cNvPr id="3" name="矩形 2"/>
          <p:cNvSpPr/>
          <p:nvPr/>
        </p:nvSpPr>
        <p:spPr>
          <a:xfrm>
            <a:off x="669742" y="1183417"/>
            <a:ext cx="7902624" cy="3785652"/>
          </a:xfrm>
          <a:prstGeom prst="rect">
            <a:avLst/>
          </a:prstGeom>
        </p:spPr>
        <p:txBody>
          <a:bodyPr wrap="square">
            <a:spAutoFit/>
          </a:bodyPr>
          <a:lstStyle/>
          <a:p>
            <a:r>
              <a:rPr lang="zh-CN" altLang="en-US" sz="2400" dirty="0">
                <a:solidFill>
                  <a:srgbClr val="000000"/>
                </a:solidFill>
                <a:latin typeface="+mj-lt"/>
              </a:rPr>
              <a:t>显然每一个用户不可能看过所有的电影，每一部电影也不可能收集到全部用户的评级．电影评级由用户打分</a:t>
            </a:r>
            <a:r>
              <a:rPr lang="en-US" altLang="zh-CN" sz="2400" dirty="0">
                <a:solidFill>
                  <a:srgbClr val="000000"/>
                </a:solidFill>
                <a:latin typeface="+mj-lt"/>
              </a:rPr>
              <a:t>1 </a:t>
            </a:r>
            <a:r>
              <a:rPr lang="zh-CN" altLang="en-US" sz="2400" dirty="0">
                <a:solidFill>
                  <a:srgbClr val="000000"/>
                </a:solidFill>
                <a:latin typeface="+mj-lt"/>
              </a:rPr>
              <a:t>星到</a:t>
            </a:r>
            <a:r>
              <a:rPr lang="en-US" altLang="zh-CN" sz="2400" dirty="0">
                <a:solidFill>
                  <a:srgbClr val="000000"/>
                </a:solidFill>
                <a:latin typeface="+mj-lt"/>
              </a:rPr>
              <a:t>5 </a:t>
            </a:r>
            <a:r>
              <a:rPr lang="zh-CN" altLang="en-US" sz="2400" dirty="0">
                <a:solidFill>
                  <a:srgbClr val="000000"/>
                </a:solidFill>
                <a:latin typeface="+mj-lt"/>
              </a:rPr>
              <a:t>星表示，记为取值</a:t>
            </a:r>
            <a:r>
              <a:rPr lang="en-US" altLang="zh-CN" sz="2400" dirty="0">
                <a:solidFill>
                  <a:srgbClr val="000000"/>
                </a:solidFill>
                <a:latin typeface="+mj-lt"/>
              </a:rPr>
              <a:t>1~5 </a:t>
            </a:r>
            <a:r>
              <a:rPr lang="zh-CN" altLang="en-US" sz="2400" dirty="0">
                <a:solidFill>
                  <a:srgbClr val="000000"/>
                </a:solidFill>
                <a:latin typeface="+mj-lt"/>
              </a:rPr>
              <a:t>的整数．我们将电影评级放在一个矩阵</a:t>
            </a:r>
            <a:r>
              <a:rPr lang="en-US" altLang="zh-CN" sz="2400" i="1" dirty="0">
                <a:solidFill>
                  <a:srgbClr val="000000"/>
                </a:solidFill>
                <a:latin typeface="+mj-lt"/>
              </a:rPr>
              <a:t>M </a:t>
            </a:r>
            <a:r>
              <a:rPr lang="zh-CN" altLang="en-US" sz="2400" dirty="0">
                <a:solidFill>
                  <a:srgbClr val="000000"/>
                </a:solidFill>
                <a:latin typeface="+mj-lt"/>
              </a:rPr>
              <a:t>中，矩阵</a:t>
            </a:r>
            <a:r>
              <a:rPr lang="en-US" altLang="zh-CN" sz="2400" i="1" dirty="0">
                <a:solidFill>
                  <a:srgbClr val="000000"/>
                </a:solidFill>
                <a:latin typeface="+mj-lt"/>
              </a:rPr>
              <a:t>M </a:t>
            </a:r>
            <a:r>
              <a:rPr lang="zh-CN" altLang="en-US" sz="2400" dirty="0">
                <a:solidFill>
                  <a:srgbClr val="000000"/>
                </a:solidFill>
                <a:latin typeface="+mj-lt"/>
              </a:rPr>
              <a:t>的每一行表示不同用户，每一列表示不同电影．由于用户只对看过的电影给出自己的评价，矩阵</a:t>
            </a:r>
            <a:r>
              <a:rPr lang="en-US" altLang="zh-CN" sz="2400" i="1" dirty="0">
                <a:solidFill>
                  <a:srgbClr val="000000"/>
                </a:solidFill>
                <a:latin typeface="+mj-lt"/>
              </a:rPr>
              <a:t>M </a:t>
            </a:r>
            <a:r>
              <a:rPr lang="zh-CN" altLang="en-US" sz="2400" dirty="0">
                <a:solidFill>
                  <a:srgbClr val="000000"/>
                </a:solidFill>
                <a:latin typeface="+mj-lt"/>
              </a:rPr>
              <a:t>中很多元素是未知的．下图</a:t>
            </a:r>
            <a:r>
              <a:rPr lang="en-US" altLang="zh-CN" sz="2400" dirty="0">
                <a:solidFill>
                  <a:srgbClr val="CD0000"/>
                </a:solidFill>
                <a:latin typeface="+mj-lt"/>
              </a:rPr>
              <a:t> </a:t>
            </a:r>
            <a:r>
              <a:rPr lang="zh-CN" altLang="en-US" sz="2400" dirty="0">
                <a:solidFill>
                  <a:srgbClr val="000000"/>
                </a:solidFill>
                <a:latin typeface="+mj-lt"/>
              </a:rPr>
              <a:t>给出了用户电影评级矩阵</a:t>
            </a:r>
            <a:r>
              <a:rPr lang="en-US" altLang="zh-CN" sz="2400" i="1" dirty="0">
                <a:solidFill>
                  <a:srgbClr val="000000"/>
                </a:solidFill>
                <a:latin typeface="+mj-lt"/>
              </a:rPr>
              <a:t>M </a:t>
            </a:r>
            <a:r>
              <a:rPr lang="zh-CN" altLang="en-US" sz="2400" dirty="0">
                <a:solidFill>
                  <a:srgbClr val="000000"/>
                </a:solidFill>
                <a:latin typeface="+mj-lt"/>
              </a:rPr>
              <a:t>的一个简单示例．令</a:t>
            </a:r>
            <a:r>
              <a:rPr lang="en-US" altLang="zh-CN" sz="2400" i="1" dirty="0">
                <a:solidFill>
                  <a:srgbClr val="000000"/>
                </a:solidFill>
                <a:latin typeface="+mj-lt"/>
              </a:rPr>
              <a:t>Ω </a:t>
            </a:r>
            <a:r>
              <a:rPr lang="zh-CN" altLang="en-US" sz="2400" dirty="0">
                <a:solidFill>
                  <a:srgbClr val="000000"/>
                </a:solidFill>
                <a:latin typeface="+mj-lt"/>
              </a:rPr>
              <a:t>是矩阵</a:t>
            </a:r>
            <a:r>
              <a:rPr lang="en-US" altLang="zh-CN" sz="2400" i="1" dirty="0">
                <a:solidFill>
                  <a:srgbClr val="000000"/>
                </a:solidFill>
                <a:latin typeface="+mj-lt"/>
              </a:rPr>
              <a:t>M </a:t>
            </a:r>
            <a:r>
              <a:rPr lang="zh-CN" altLang="en-US" sz="2400" dirty="0">
                <a:solidFill>
                  <a:srgbClr val="000000"/>
                </a:solidFill>
                <a:latin typeface="+mj-lt"/>
              </a:rPr>
              <a:t>中所有已知评级元素的下标的集合，则该问题可以初步</a:t>
            </a:r>
            <a:r>
              <a:rPr lang="zh-CN" altLang="en-US" sz="2400" dirty="0">
                <a:latin typeface="+mj-lt"/>
              </a:rPr>
              <a:t>描</a:t>
            </a:r>
            <a:r>
              <a:rPr lang="zh-CN" altLang="en-US" sz="2400" dirty="0">
                <a:latin typeface="+mj-lt"/>
                <a:ea typeface="+mn-ea"/>
              </a:rPr>
              <a:t>述为构造一个矩阵</a:t>
            </a:r>
            <a:r>
              <a:rPr lang="en-US" altLang="zh-CN" sz="2400" i="1" dirty="0">
                <a:latin typeface="+mj-lt"/>
                <a:ea typeface="+mn-ea"/>
              </a:rPr>
              <a:t>X</a:t>
            </a:r>
            <a:r>
              <a:rPr lang="zh-CN" altLang="en-US" sz="2400" dirty="0">
                <a:latin typeface="+mj-lt"/>
                <a:ea typeface="+mn-ea"/>
              </a:rPr>
              <a:t>，使得在给定位置的元素等于已知评级元素，即满</a:t>
            </a:r>
          </a:p>
          <a:p>
            <a:r>
              <a:rPr lang="zh-CN" altLang="nl-NL" sz="2400" dirty="0">
                <a:latin typeface="+mj-lt"/>
                <a:ea typeface="+mn-ea"/>
              </a:rPr>
              <a:t>足 </a:t>
            </a:r>
            <a:r>
              <a:rPr lang="nl-NL" altLang="zh-CN" sz="2400" i="1" dirty="0">
                <a:latin typeface="+mj-lt"/>
                <a:ea typeface="+mn-ea"/>
              </a:rPr>
              <a:t>X</a:t>
            </a:r>
            <a:r>
              <a:rPr lang="nl-NL" altLang="zh-CN" sz="2400" i="1" baseline="-25000" dirty="0">
                <a:latin typeface="+mj-lt"/>
                <a:ea typeface="+mn-ea"/>
              </a:rPr>
              <a:t>ij</a:t>
            </a:r>
            <a:r>
              <a:rPr lang="nl-NL" altLang="zh-CN" sz="2400" i="1" dirty="0">
                <a:latin typeface="+mj-lt"/>
                <a:ea typeface="+mn-ea"/>
              </a:rPr>
              <a:t> </a:t>
            </a:r>
            <a:r>
              <a:rPr lang="nl-NL" altLang="zh-CN" sz="2400" dirty="0">
                <a:latin typeface="+mj-lt"/>
                <a:ea typeface="+mn-ea"/>
              </a:rPr>
              <a:t>= </a:t>
            </a:r>
            <a:r>
              <a:rPr lang="nl-NL" altLang="zh-CN" sz="2400" i="1" dirty="0">
                <a:latin typeface="+mj-lt"/>
                <a:ea typeface="+mn-ea"/>
              </a:rPr>
              <a:t>M</a:t>
            </a:r>
            <a:r>
              <a:rPr lang="nl-NL" altLang="zh-CN" sz="2400" i="1" baseline="-25000" dirty="0">
                <a:latin typeface="+mj-lt"/>
                <a:ea typeface="+mn-ea"/>
              </a:rPr>
              <a:t>ij</a:t>
            </a:r>
            <a:r>
              <a:rPr lang="nl-NL" altLang="zh-CN" sz="2400" dirty="0">
                <a:latin typeface="+mj-lt"/>
                <a:ea typeface="+mn-ea"/>
              </a:rPr>
              <a:t>, (</a:t>
            </a:r>
            <a:r>
              <a:rPr lang="nl-NL" altLang="zh-CN" sz="2400" i="1" dirty="0">
                <a:latin typeface="+mj-lt"/>
                <a:ea typeface="+mn-ea"/>
              </a:rPr>
              <a:t>i</a:t>
            </a:r>
            <a:r>
              <a:rPr lang="nl-NL" altLang="zh-CN" sz="2400" dirty="0">
                <a:latin typeface="+mj-lt"/>
                <a:ea typeface="+mn-ea"/>
              </a:rPr>
              <a:t>, </a:t>
            </a:r>
            <a:r>
              <a:rPr lang="nl-NL" altLang="zh-CN" sz="2400" i="1" dirty="0">
                <a:latin typeface="+mj-lt"/>
                <a:ea typeface="+mn-ea"/>
              </a:rPr>
              <a:t>j</a:t>
            </a:r>
            <a:r>
              <a:rPr lang="nl-NL" altLang="zh-CN" sz="2400" dirty="0">
                <a:latin typeface="+mj-lt"/>
                <a:ea typeface="+mn-ea"/>
              </a:rPr>
              <a:t>) </a:t>
            </a:r>
            <a:r>
              <a:rPr lang="nl-NL" altLang="zh-CN" sz="2400" i="1" dirty="0">
                <a:latin typeface="+mj-lt"/>
                <a:ea typeface="+mn-ea"/>
              </a:rPr>
              <a:t>∈ Ω</a:t>
            </a:r>
            <a:r>
              <a:rPr lang="zh-CN" altLang="nl-NL" sz="2400" dirty="0">
                <a:latin typeface="+mj-lt"/>
                <a:ea typeface="+mn-ea"/>
              </a:rPr>
              <a:t>．</a:t>
            </a:r>
            <a:endParaRPr lang="zh-CN" altLang="en-US" sz="3200" dirty="0">
              <a:latin typeface="+mj-lt"/>
              <a:ea typeface="+mn-ea"/>
            </a:endParaRPr>
          </a:p>
        </p:txBody>
      </p:sp>
    </p:spTree>
    <p:extLst>
      <p:ext uri="{BB962C8B-B14F-4D97-AF65-F5344CB8AC3E}">
        <p14:creationId xmlns:p14="http://schemas.microsoft.com/office/powerpoint/2010/main" val="3464676106"/>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360516" y="1119387"/>
            <a:ext cx="5758278" cy="3192731"/>
          </a:xfrm>
          <a:prstGeom prst="rect">
            <a:avLst/>
          </a:prstGeom>
        </p:spPr>
      </p:pic>
      <p:sp>
        <p:nvSpPr>
          <p:cNvPr id="3" name="矩形 2"/>
          <p:cNvSpPr/>
          <p:nvPr/>
        </p:nvSpPr>
        <p:spPr>
          <a:xfrm>
            <a:off x="539552" y="4653136"/>
            <a:ext cx="7902624" cy="1938992"/>
          </a:xfrm>
          <a:prstGeom prst="rect">
            <a:avLst/>
          </a:prstGeom>
        </p:spPr>
        <p:txBody>
          <a:bodyPr wrap="square">
            <a:spAutoFit/>
          </a:bodyPr>
          <a:lstStyle/>
          <a:p>
            <a:r>
              <a:rPr lang="zh-CN" altLang="en-US" sz="2400" dirty="0">
                <a:latin typeface="FandolSong-Regular-Identity-H"/>
              </a:rPr>
              <a:t>不难看出满足这个条件的矩阵</a:t>
            </a:r>
            <a:r>
              <a:rPr lang="en-US" altLang="zh-CN" sz="2400" i="1" dirty="0">
                <a:latin typeface="URWPalladioL-Ital"/>
              </a:rPr>
              <a:t>X </a:t>
            </a:r>
            <a:r>
              <a:rPr lang="zh-CN" altLang="en-US" sz="2400" dirty="0">
                <a:latin typeface="FandolSong-Regular-Identity-H"/>
              </a:rPr>
              <a:t>有无穷多个，那么如何得到一个真正有价值的</a:t>
            </a:r>
            <a:r>
              <a:rPr lang="en-US" altLang="zh-CN" sz="2400" i="1" dirty="0">
                <a:latin typeface="URWPalladioL-Ital"/>
              </a:rPr>
              <a:t>X </a:t>
            </a:r>
            <a:r>
              <a:rPr lang="zh-CN" altLang="en-US" sz="2400" dirty="0">
                <a:latin typeface="FandolSong-Regular-Identity-H"/>
              </a:rPr>
              <a:t>呢？这就需要分析</a:t>
            </a:r>
            <a:r>
              <a:rPr lang="en-US" altLang="zh-CN" sz="2400" i="1" dirty="0">
                <a:latin typeface="URWPalladioL-Ital"/>
              </a:rPr>
              <a:t>X </a:t>
            </a:r>
            <a:r>
              <a:rPr lang="zh-CN" altLang="en-US" sz="2400" dirty="0">
                <a:latin typeface="FandolSong-Regular-Identity-H"/>
              </a:rPr>
              <a:t>应该具有什么样的结构．类型相似的电影获得的评分往往是类似的，这意味着这些电影在矩阵</a:t>
            </a:r>
            <a:r>
              <a:rPr lang="en-US" altLang="zh-CN" sz="2400" i="1" dirty="0">
                <a:latin typeface="URWPalladioL-Ital"/>
              </a:rPr>
              <a:t>M </a:t>
            </a:r>
            <a:r>
              <a:rPr lang="zh-CN" altLang="en-US" sz="2400" dirty="0">
                <a:latin typeface="FandolSong-Regular-Identity-H"/>
              </a:rPr>
              <a:t>中所对应的列也是相似的，因此矩阵</a:t>
            </a:r>
            <a:r>
              <a:rPr lang="en-US" altLang="zh-CN" sz="2400" i="1" dirty="0">
                <a:latin typeface="URWPalladioL-Ital"/>
              </a:rPr>
              <a:t>M </a:t>
            </a:r>
            <a:r>
              <a:rPr lang="zh-CN" altLang="en-US" sz="2400" dirty="0">
                <a:latin typeface="FandolSong-Regular-Identity-H"/>
              </a:rPr>
              <a:t>的列可能是亏秩的；</a:t>
            </a:r>
            <a:endParaRPr lang="zh-CN" altLang="en-US" sz="2400" dirty="0"/>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434825" y="974489"/>
                <a:ext cx="8280920" cy="2872068"/>
              </a:xfrm>
              <a:prstGeom prst="rect">
                <a:avLst/>
              </a:prstGeom>
            </p:spPr>
            <p:txBody>
              <a:bodyPr wrap="square">
                <a:spAutoFit/>
              </a:bodyPr>
              <a:lstStyle/>
              <a:p>
                <a:r>
                  <a:rPr lang="zh-CN" altLang="en-US" sz="2400" dirty="0">
                    <a:latin typeface="FandolSong-Regular-Identity-H"/>
                  </a:rPr>
                  <a:t>同样地，相似人群对不同电影的评分也可能是相似的，它们在矩阵</a:t>
                </a:r>
                <a:r>
                  <a:rPr lang="en-US" altLang="zh-CN" sz="2400" i="1" dirty="0">
                    <a:latin typeface="URWPalladioL-Ital"/>
                  </a:rPr>
                  <a:t>M </a:t>
                </a:r>
                <a:r>
                  <a:rPr lang="zh-CN" altLang="en-US" sz="2400" dirty="0">
                    <a:latin typeface="FandolSong-Regular-Identity-H"/>
                  </a:rPr>
                  <a:t>中所对应的行也是相似的，因此矩阵</a:t>
                </a:r>
                <a:r>
                  <a:rPr lang="en-US" altLang="zh-CN" sz="2400" i="1" dirty="0">
                    <a:latin typeface="URWPalladioL-Ital"/>
                  </a:rPr>
                  <a:t>M </a:t>
                </a:r>
                <a:r>
                  <a:rPr lang="zh-CN" altLang="en-US" sz="2400" dirty="0">
                    <a:latin typeface="FandolSong-Regular-Identity-H"/>
                  </a:rPr>
                  <a:t>的行也可能是亏秩的．因此寻找一个低秩矩阵</a:t>
                </a:r>
                <a:r>
                  <a:rPr lang="en-US" altLang="zh-CN" sz="2400" i="1" dirty="0">
                    <a:latin typeface="URWPalladioL-Ital"/>
                  </a:rPr>
                  <a:t>X </a:t>
                </a:r>
                <a:r>
                  <a:rPr lang="zh-CN" altLang="en-US" sz="2400" dirty="0">
                    <a:latin typeface="FandolSong-Regular-Identity-H"/>
                  </a:rPr>
                  <a:t>可能给出很好的解．令</a:t>
                </a:r>
                <a:r>
                  <a:rPr lang="en-US" altLang="zh-CN" sz="2400" dirty="0">
                    <a:latin typeface="URWPalladioL-Roma"/>
                  </a:rPr>
                  <a:t>rank</a:t>
                </a:r>
                <a:r>
                  <a:rPr lang="en-US" altLang="zh-CN" sz="3200" dirty="0">
                    <a:latin typeface="CMR10"/>
                  </a:rPr>
                  <a:t>(</a:t>
                </a:r>
                <a:r>
                  <a:rPr lang="en-US" altLang="zh-CN" sz="2400" i="1" dirty="0">
                    <a:latin typeface="URWPalladioL-Ital"/>
                  </a:rPr>
                  <a:t>X</a:t>
                </a:r>
                <a:r>
                  <a:rPr lang="en-US" altLang="zh-CN" sz="3200" dirty="0">
                    <a:latin typeface="CMR10"/>
                  </a:rPr>
                  <a:t>) </a:t>
                </a:r>
                <a:r>
                  <a:rPr lang="zh-CN" altLang="en-US" sz="2400" dirty="0">
                    <a:latin typeface="FandolSong-Regular-Identity-H"/>
                  </a:rPr>
                  <a:t>为矩阵</a:t>
                </a:r>
                <a:r>
                  <a:rPr lang="en-US" altLang="zh-CN" sz="2400" i="1" dirty="0">
                    <a:latin typeface="URWPalladioL-Ital"/>
                  </a:rPr>
                  <a:t>X </a:t>
                </a:r>
                <a:r>
                  <a:rPr lang="zh-CN" altLang="en-US" sz="2400" dirty="0">
                    <a:latin typeface="FandolSong-Regular-Identity-H"/>
                  </a:rPr>
                  <a:t>的秩，该问题可以表达为</a:t>
                </a:r>
                <a:endParaRPr lang="en-US" altLang="zh-CN" sz="2400" dirty="0">
                  <a:latin typeface="FandolSong-Regular-Identity-H"/>
                </a:endParaRPr>
              </a:p>
              <a:p>
                <a:pPr/>
                <a14:m>
                  <m:oMathPara xmlns:m="http://schemas.openxmlformats.org/officeDocument/2006/math">
                    <m:oMathParaPr>
                      <m:jc m:val="centerGroup"/>
                    </m:oMathParaPr>
                    <m:oMath xmlns:m="http://schemas.openxmlformats.org/officeDocument/2006/math">
                      <m:sPre>
                        <m:sPrePr>
                          <m:ctrlPr>
                            <a:rPr lang="en-US" altLang="zh-CN" sz="2400" i="1" smtClean="0">
                              <a:solidFill>
                                <a:srgbClr val="000000"/>
                              </a:solidFill>
                              <a:latin typeface="Cambria Math" panose="02040503050406030204" pitchFamily="18" charset="0"/>
                              <a:cs typeface="Times New Roman" panose="02020603050405020304" pitchFamily="18" charset="0"/>
                            </a:rPr>
                          </m:ctrlPr>
                        </m:sPrePr>
                        <m:sub>
                          <m:r>
                            <a:rPr lang="en-US" altLang="zh-CN" sz="2400" b="0" i="1" smtClean="0">
                              <a:solidFill>
                                <a:srgbClr val="000000"/>
                              </a:solidFill>
                              <a:latin typeface="Cambria Math" panose="02040503050406030204" pitchFamily="18" charset="0"/>
                              <a:cs typeface="Times New Roman" panose="02020603050405020304" pitchFamily="18" charset="0"/>
                            </a:rPr>
                            <m:t>𝑋</m:t>
                          </m:r>
                          <m:r>
                            <a:rPr lang="en-US" altLang="zh-CN" sz="24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4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4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𝑚</m:t>
                              </m:r>
                              <m:r>
                                <a:rPr lang="en-US" altLang="zh-CN" sz="24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sup>
                          </m:sSup>
                        </m:sub>
                        <m:sup>
                          <m:r>
                            <m:rPr>
                              <m:sty m:val="p"/>
                            </m:rPr>
                            <a:rPr lang="en-US" altLang="zh-CN" sz="2400" i="1" smtClean="0">
                              <a:latin typeface="Cambria Math" panose="02040503050406030204" pitchFamily="18" charset="0"/>
                            </a:rPr>
                            <m:t>min</m:t>
                          </m:r>
                          <m:r>
                            <a:rPr lang="en-US" altLang="zh-CN" sz="2400" b="0" i="1" smtClean="0">
                              <a:latin typeface="Cambria Math" panose="02040503050406030204" pitchFamily="18" charset="0"/>
                            </a:rPr>
                            <m:t>         </m:t>
                          </m:r>
                        </m:sup>
                        <m:e/>
                      </m:sPre>
                      <m:r>
                        <a:rPr lang="en-US" altLang="zh-CN" sz="2400" i="1" dirty="0" smtClean="0">
                          <a:latin typeface="Cambria Math" panose="02040503050406030204" pitchFamily="18" charset="0"/>
                          <a:cs typeface="Times New Roman" panose="02020603050405020304" pitchFamily="18" charset="0"/>
                        </a:rPr>
                        <m:t>𝑟</m:t>
                      </m:r>
                      <m:r>
                        <a:rPr lang="en-US" altLang="zh-CN" sz="2400" b="0" i="1" dirty="0" smtClean="0">
                          <a:latin typeface="Cambria Math" panose="02040503050406030204" pitchFamily="18" charset="0"/>
                          <a:cs typeface="Times New Roman" panose="02020603050405020304" pitchFamily="18" charset="0"/>
                        </a:rPr>
                        <m:t>𝑎𝑛𝑘</m:t>
                      </m:r>
                      <m:r>
                        <a:rPr lang="en-US" altLang="zh-CN" sz="2400" b="0" i="1" dirty="0" smtClean="0">
                          <a:latin typeface="Cambria Math" panose="02040503050406030204" pitchFamily="18" charset="0"/>
                          <a:cs typeface="Times New Roman" panose="02020603050405020304" pitchFamily="18" charset="0"/>
                        </a:rPr>
                        <m:t>(</m:t>
                      </m:r>
                      <m:r>
                        <a:rPr lang="en-US" altLang="zh-CN" sz="2400" b="0" i="1" dirty="0" smtClean="0">
                          <a:latin typeface="Cambria Math" panose="02040503050406030204" pitchFamily="18" charset="0"/>
                          <a:cs typeface="Times New Roman" panose="02020603050405020304" pitchFamily="18" charset="0"/>
                        </a:rPr>
                        <m:t>𝑋</m:t>
                      </m:r>
                      <m:r>
                        <a:rPr lang="en-US" altLang="zh-CN" sz="2400" b="0" i="1" dirty="0" smtClean="0">
                          <a:latin typeface="Cambria Math" panose="02040503050406030204" pitchFamily="18" charset="0"/>
                          <a:cs typeface="Times New Roman" panose="02020603050405020304" pitchFamily="18" charset="0"/>
                        </a:rPr>
                        <m:t>)</m:t>
                      </m:r>
                    </m:oMath>
                  </m:oMathPara>
                </a14:m>
                <a:endParaRPr lang="en-US" altLang="zh-CN" sz="24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r>
                  <a:rPr lang="en-US" altLang="zh-CN" sz="2400" dirty="0">
                    <a:solidFill>
                      <a:schemeClr val="tx1"/>
                    </a:solidFill>
                    <a:latin typeface="Times New Roman" panose="02020603050405020304" pitchFamily="18" charset="0"/>
                    <a:cs typeface="Times New Roman" panose="02020603050405020304" pitchFamily="18" charset="0"/>
                  </a:rPr>
                  <a:t>                             s.t. </a:t>
                </a:r>
                <a14:m>
                  <m:oMath xmlns:m="http://schemas.openxmlformats.org/officeDocument/2006/math">
                    <m:r>
                      <m:rPr>
                        <m:nor/>
                      </m:rPr>
                      <a:rPr lang="en-US" altLang="zh-CN" sz="2400" i="1" dirty="0" smtClean="0">
                        <a:solidFill>
                          <a:schemeClr val="tx1"/>
                        </a:solidFill>
                        <a:latin typeface="Times New Roman" panose="02020603050405020304" pitchFamily="18" charset="0"/>
                        <a:cs typeface="Times New Roman" panose="02020603050405020304" pitchFamily="18" charset="0"/>
                      </a:rPr>
                      <m:t>X</m:t>
                    </m:r>
                    <m:r>
                      <m:rPr>
                        <m:nor/>
                      </m:rPr>
                      <a:rPr lang="en-US" altLang="zh-CN" sz="2400" b="0" i="0" baseline="-25000" dirty="0" smtClean="0">
                        <a:solidFill>
                          <a:schemeClr val="tx1"/>
                        </a:solidFill>
                        <a:latin typeface="Times New Roman" panose="02020603050405020304" pitchFamily="18" charset="0"/>
                        <a:cs typeface="Times New Roman" panose="02020603050405020304" pitchFamily="18" charset="0"/>
                      </a:rPr>
                      <m:t>ij</m:t>
                    </m:r>
                    <m:r>
                      <a:rPr lang="en-US" altLang="zh-CN" sz="2400" b="0" i="0" smtClean="0">
                        <a:solidFill>
                          <a:schemeClr val="tx1"/>
                        </a:solidFill>
                        <a:latin typeface="Cambria Math" panose="02040503050406030204" pitchFamily="18" charset="0"/>
                        <a:cs typeface="Times New Roman" panose="02020603050405020304" pitchFamily="18" charset="0"/>
                      </a:rPr>
                      <m:t>=</m:t>
                    </m:r>
                    <m:r>
                      <m:rPr>
                        <m:nor/>
                      </m:rPr>
                      <a:rPr lang="en-US" altLang="zh-CN" sz="2400" b="0" i="1" dirty="0" smtClean="0">
                        <a:latin typeface="Times New Roman" panose="02020603050405020304" pitchFamily="18" charset="0"/>
                        <a:cs typeface="Times New Roman" panose="02020603050405020304" pitchFamily="18" charset="0"/>
                      </a:rPr>
                      <m:t>M</m:t>
                    </m:r>
                    <m:r>
                      <m:rPr>
                        <m:nor/>
                      </m:rPr>
                      <a:rPr lang="en-US" altLang="zh-CN" sz="2400" baseline="-25000" dirty="0">
                        <a:latin typeface="Times New Roman" panose="02020603050405020304" pitchFamily="18" charset="0"/>
                        <a:cs typeface="Times New Roman" panose="02020603050405020304" pitchFamily="18" charset="0"/>
                      </a:rPr>
                      <m:t>ij</m:t>
                    </m:r>
                    <m:r>
                      <m:rPr>
                        <m:nor/>
                      </m:rPr>
                      <a:rPr lang="en-US" altLang="zh-CN" sz="2400" b="0" i="0" baseline="-25000" dirty="0" smtClean="0">
                        <a:latin typeface="Times New Roman" panose="02020603050405020304" pitchFamily="18" charset="0"/>
                        <a:cs typeface="Times New Roman" panose="02020603050405020304" pitchFamily="18" charset="0"/>
                      </a:rPr>
                      <m:t>,</m:t>
                    </m:r>
                  </m:oMath>
                </a14:m>
                <a:r>
                  <a:rPr lang="zh-CN" alt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2400" b="0" i="0" dirty="0" smtClean="0">
                        <a:latin typeface="Cambria Math" panose="02040503050406030204" pitchFamily="18" charset="0"/>
                        <a:cs typeface="Times New Roman" panose="02020603050405020304" pitchFamily="18" charset="0"/>
                      </a:rPr>
                      <m:t>(</m:t>
                    </m:r>
                    <m:r>
                      <m:rPr>
                        <m:sty m:val="p"/>
                      </m:rPr>
                      <a:rPr lang="en-US" altLang="zh-CN" sz="2400" b="0" i="0" dirty="0" smtClean="0">
                        <a:latin typeface="Cambria Math" panose="02040503050406030204" pitchFamily="18" charset="0"/>
                        <a:cs typeface="Times New Roman" panose="02020603050405020304" pitchFamily="18" charset="0"/>
                      </a:rPr>
                      <m:t>i</m:t>
                    </m:r>
                    <m:r>
                      <a:rPr lang="en-US" altLang="zh-CN" sz="2400" b="0" i="0" dirty="0" smtClean="0">
                        <a:latin typeface="Cambria Math" panose="02040503050406030204" pitchFamily="18" charset="0"/>
                        <a:cs typeface="Times New Roman" panose="02020603050405020304" pitchFamily="18" charset="0"/>
                      </a:rPr>
                      <m:t>,</m:t>
                    </m:r>
                    <m:r>
                      <m:rPr>
                        <m:sty m:val="p"/>
                      </m:rPr>
                      <a:rPr lang="en-US" altLang="zh-CN" sz="2400" b="0" i="0" dirty="0" smtClean="0">
                        <a:latin typeface="Cambria Math" panose="02040503050406030204" pitchFamily="18" charset="0"/>
                        <a:cs typeface="Times New Roman" panose="02020603050405020304" pitchFamily="18" charset="0"/>
                      </a:rPr>
                      <m:t>j</m:t>
                    </m:r>
                    <m:r>
                      <a:rPr lang="en-US" altLang="zh-CN" sz="2400" b="0" i="0" dirty="0" smtClean="0">
                        <a:latin typeface="Cambria Math" panose="02040503050406030204" pitchFamily="18" charset="0"/>
                        <a:cs typeface="Times New Roman" panose="02020603050405020304" pitchFamily="18" charset="0"/>
                      </a:rPr>
                      <m:t>)</m:t>
                    </m:r>
                    <m:r>
                      <a:rPr lang="zh-CN" altLang="en-US" sz="2400" i="1" dirty="0" smtClean="0">
                        <a:latin typeface="Cambria Math" panose="02040503050406030204" pitchFamily="18" charset="0"/>
                        <a:cs typeface="Times New Roman" panose="02020603050405020304" pitchFamily="18" charset="0"/>
                      </a:rPr>
                      <m:t>∈</m:t>
                    </m:r>
                    <m:r>
                      <m:rPr>
                        <m:sty m:val="p"/>
                      </m:rPr>
                      <a:rPr lang="el-GR" altLang="zh-CN" sz="2400" i="1" dirty="0" smtClean="0">
                        <a:latin typeface="Cambria Math" panose="02040503050406030204" pitchFamily="18" charset="0"/>
                        <a:ea typeface="Cambria Math" panose="02040503050406030204" pitchFamily="18" charset="0"/>
                        <a:cs typeface="Times New Roman" panose="02020603050405020304" pitchFamily="18" charset="0"/>
                      </a:rPr>
                      <m:t>Ω</m:t>
                    </m:r>
                  </m:oMath>
                </a14:m>
                <a:endParaRPr lang="zh-CN" alt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434825" y="974489"/>
                <a:ext cx="8280920" cy="2872068"/>
              </a:xfrm>
              <a:prstGeom prst="rect">
                <a:avLst/>
              </a:prstGeom>
              <a:blipFill>
                <a:blip r:embed="rId2"/>
                <a:stretch>
                  <a:fillRect l="-1104" t="-1699" b="-4034"/>
                </a:stretch>
              </a:blipFill>
            </p:spPr>
            <p:txBody>
              <a:bodyPr/>
              <a:lstStyle/>
              <a:p>
                <a:r>
                  <a:rPr lang="zh-CN" altLang="en-US">
                    <a:noFill/>
                  </a:rPr>
                  <a:t> </a:t>
                </a:r>
              </a:p>
            </p:txBody>
          </p:sp>
        </mc:Fallback>
      </mc:AlternateContent>
      <p:sp>
        <p:nvSpPr>
          <p:cNvPr id="4" name="矩形 3"/>
          <p:cNvSpPr/>
          <p:nvPr/>
        </p:nvSpPr>
        <p:spPr>
          <a:xfrm>
            <a:off x="611560" y="4005064"/>
            <a:ext cx="7560840" cy="2308324"/>
          </a:xfrm>
          <a:prstGeom prst="rect">
            <a:avLst/>
          </a:prstGeom>
        </p:spPr>
        <p:txBody>
          <a:bodyPr wrap="square">
            <a:spAutoFit/>
          </a:bodyPr>
          <a:lstStyle/>
          <a:p>
            <a:r>
              <a:rPr lang="zh-CN" altLang="en-US" sz="2400" dirty="0">
                <a:latin typeface="FandolSong-Regular-Identity-H"/>
              </a:rPr>
              <a:t>这类问题称为低秩矩阵恢复（</a:t>
            </a:r>
            <a:r>
              <a:rPr lang="en-US" altLang="zh-CN" sz="2400" dirty="0">
                <a:latin typeface="URWPalladioL-Roma"/>
              </a:rPr>
              <a:t>low rank matrix completion</a:t>
            </a:r>
            <a:r>
              <a:rPr lang="zh-CN" altLang="en-US" sz="2400" dirty="0">
                <a:latin typeface="FandolSong-Regular-Identity-H"/>
              </a:rPr>
              <a:t>）．其约束条件保证了构造的低秩矩阵</a:t>
            </a:r>
            <a:r>
              <a:rPr lang="en-US" altLang="zh-CN" sz="2400" i="1" dirty="0">
                <a:latin typeface="URWPalladioL-Ital"/>
              </a:rPr>
              <a:t>X </a:t>
            </a:r>
            <a:r>
              <a:rPr lang="zh-CN" altLang="en-US" sz="2400" dirty="0">
                <a:latin typeface="FandolSong-Regular-Identity-H"/>
              </a:rPr>
              <a:t>与</a:t>
            </a:r>
            <a:r>
              <a:rPr lang="en-US" altLang="zh-CN" sz="2400" i="1" dirty="0">
                <a:latin typeface="URWPalladioL-Ital"/>
              </a:rPr>
              <a:t>M </a:t>
            </a:r>
            <a:r>
              <a:rPr lang="zh-CN" altLang="en-US" sz="2400" dirty="0">
                <a:latin typeface="FandolSong-Regular-Identity-H"/>
              </a:rPr>
              <a:t>中的所有已知元素完全相同．该数学模型是由获奖团队</a:t>
            </a:r>
            <a:r>
              <a:rPr lang="en-US" altLang="zh-CN" sz="2400" dirty="0" err="1"/>
              <a:t>BellKor’s</a:t>
            </a:r>
            <a:r>
              <a:rPr lang="en-US" altLang="zh-CN" sz="2400" dirty="0"/>
              <a:t> Pragmatic Chaos</a:t>
            </a:r>
            <a:r>
              <a:rPr lang="zh-CN" altLang="en-US" sz="2400" dirty="0"/>
              <a:t>于</a:t>
            </a:r>
            <a:r>
              <a:rPr lang="en-US" altLang="zh-CN" sz="2400" dirty="0"/>
              <a:t>2009</a:t>
            </a:r>
            <a:r>
              <a:rPr lang="zh-CN" altLang="en-US" sz="2400" dirty="0"/>
              <a:t>年</a:t>
            </a:r>
            <a:r>
              <a:rPr lang="en-US" altLang="zh-CN" sz="2400" dirty="0"/>
              <a:t>9</a:t>
            </a:r>
            <a:r>
              <a:rPr lang="zh-CN" altLang="en-US" sz="2400" dirty="0"/>
              <a:t>月提出的。</a:t>
            </a:r>
            <a:endParaRPr lang="en-US" altLang="zh-CN" sz="2400" dirty="0"/>
          </a:p>
          <a:p>
            <a:r>
              <a:rPr lang="zh-CN" altLang="en-US" sz="2400" dirty="0"/>
              <a:t>极小化矩阵的秩是</a:t>
            </a:r>
            <a:r>
              <a:rPr lang="en-US" altLang="zh-CN" sz="2400" dirty="0"/>
              <a:t>NP </a:t>
            </a:r>
            <a:r>
              <a:rPr lang="zh-CN" altLang="en-US" sz="2400" dirty="0"/>
              <a:t>难的问题，如何将其化成一个容易求解的问题呢？</a:t>
            </a:r>
            <a:endParaRPr lang="zh-CN" altLang="en-US" sz="3200" dirty="0"/>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586980" y="940670"/>
                <a:ext cx="7632848" cy="2749599"/>
              </a:xfrm>
              <a:prstGeom prst="rect">
                <a:avLst/>
              </a:prstGeom>
            </p:spPr>
            <p:txBody>
              <a:bodyPr wrap="square">
                <a:spAutoFit/>
              </a:bodyPr>
              <a:lstStyle/>
              <a:p>
                <a:r>
                  <a:rPr lang="zh-CN" altLang="en-US" sz="2400" dirty="0">
                    <a:latin typeface="Times New Roman" panose="02020603050405020304" pitchFamily="18" charset="0"/>
                    <a:cs typeface="Times New Roman" panose="02020603050405020304" pitchFamily="18" charset="0"/>
                  </a:rPr>
                  <a:t>沿用稀疏优化的思想</a:t>
                </a:r>
                <a:r>
                  <a:rPr lang="en-US" altLang="zh-CN" sz="2400" dirty="0">
                    <a:latin typeface="Times New Roman" panose="02020603050405020304" pitchFamily="18" charset="0"/>
                    <a:cs typeface="Times New Roman" panose="02020603050405020304" pitchFamily="18" charset="0"/>
                  </a:rPr>
                  <a:t>,</a:t>
                </a:r>
                <a:r>
                  <a:rPr lang="zh-CN" altLang="en-US" sz="2400" dirty="0">
                    <a:solidFill>
                      <a:srgbClr val="000000"/>
                    </a:solidFill>
                    <a:latin typeface="Times New Roman" panose="02020603050405020304" pitchFamily="18" charset="0"/>
                    <a:cs typeface="Times New Roman" panose="02020603050405020304" pitchFamily="18" charset="0"/>
                  </a:rPr>
                  <a:t>将目标函数更换成所有奇异值的和，即矩阵</a:t>
                </a:r>
                <a:r>
                  <a:rPr lang="en-US" altLang="zh-CN" sz="2400" i="1" dirty="0">
                    <a:solidFill>
                      <a:srgbClr val="000000"/>
                    </a:solidFill>
                    <a:latin typeface="Times New Roman" panose="02020603050405020304" pitchFamily="18" charset="0"/>
                    <a:cs typeface="Times New Roman" panose="02020603050405020304" pitchFamily="18" charset="0"/>
                  </a:rPr>
                  <a:t>X </a:t>
                </a:r>
                <a:r>
                  <a:rPr lang="zh-CN" altLang="en-US" sz="2400" dirty="0">
                    <a:solidFill>
                      <a:srgbClr val="000000"/>
                    </a:solidFill>
                    <a:latin typeface="Times New Roman" panose="02020603050405020304" pitchFamily="18" charset="0"/>
                    <a:cs typeface="Times New Roman" panose="02020603050405020304" pitchFamily="18" charset="0"/>
                  </a:rPr>
                  <a:t>的核范数（</a:t>
                </a:r>
                <a:r>
                  <a:rPr lang="en-US" altLang="zh-CN" sz="2400" dirty="0">
                    <a:solidFill>
                      <a:srgbClr val="000000"/>
                    </a:solidFill>
                    <a:latin typeface="Times New Roman" panose="02020603050405020304" pitchFamily="18" charset="0"/>
                    <a:cs typeface="Times New Roman" panose="02020603050405020304" pitchFamily="18" charset="0"/>
                  </a:rPr>
                  <a:t>nuclear norm</a:t>
                </a:r>
                <a:r>
                  <a:rPr lang="zh-CN" altLang="en-US" sz="2400" dirty="0">
                    <a:solidFill>
                      <a:srgbClr val="000000"/>
                    </a:solidFill>
                    <a:latin typeface="Times New Roman" panose="02020603050405020304" pitchFamily="18" charset="0"/>
                    <a:cs typeface="Times New Roman" panose="02020603050405020304" pitchFamily="18" charset="0"/>
                  </a:rPr>
                  <a:t>）：</a:t>
                </a:r>
                <a:endParaRPr lang="en-US" altLang="zh-CN" sz="2400" dirty="0">
                  <a:solidFill>
                    <a:srgbClr val="000000"/>
                  </a:solidFill>
                  <a:latin typeface="Times New Roman" panose="02020603050405020304" pitchFamily="18" charset="0"/>
                  <a:cs typeface="Times New Roman" panose="02020603050405020304" pitchFamily="18" charset="0"/>
                </a:endParaRPr>
              </a:p>
              <a:p>
                <a:pPr algn="ctr"/>
                <a14:m>
                  <m:oMath xmlns:m="http://schemas.openxmlformats.org/officeDocument/2006/math">
                    <m:r>
                      <m:rPr>
                        <m:nor/>
                      </m:rPr>
                      <a:rPr lang="en-US" altLang="zh-CN" sz="2400" dirty="0" smtClean="0">
                        <a:solidFill>
                          <a:schemeClr val="tx1"/>
                        </a:solidFill>
                        <a:latin typeface="Times New Roman" panose="02020603050405020304" pitchFamily="18" charset="0"/>
                        <a:cs typeface="Times New Roman" panose="02020603050405020304" pitchFamily="18" charset="0"/>
                      </a:rPr>
                      <m:t>||</m:t>
                    </m:r>
                    <m:r>
                      <m:rPr>
                        <m:nor/>
                      </m:rPr>
                      <a:rPr lang="en-US" altLang="zh-CN" sz="2400" b="0" i="0" dirty="0" smtClean="0">
                        <a:solidFill>
                          <a:schemeClr val="tx1"/>
                        </a:solidFill>
                        <a:latin typeface="Times New Roman" panose="02020603050405020304" pitchFamily="18" charset="0"/>
                        <a:cs typeface="Times New Roman" panose="02020603050405020304" pitchFamily="18" charset="0"/>
                      </a:rPr>
                      <m:t>X</m:t>
                    </m:r>
                    <m:r>
                      <m:rPr>
                        <m:nor/>
                      </m:rPr>
                      <a:rPr lang="en-US" altLang="zh-CN" sz="2400" dirty="0" smtClean="0">
                        <a:solidFill>
                          <a:schemeClr val="tx1"/>
                        </a:solidFill>
                        <a:latin typeface="Times New Roman" panose="02020603050405020304" pitchFamily="18" charset="0"/>
                        <a:cs typeface="Times New Roman" panose="02020603050405020304" pitchFamily="18" charset="0"/>
                      </a:rPr>
                      <m:t>||</m:t>
                    </m:r>
                    <m:r>
                      <m:rPr>
                        <m:nor/>
                      </m:rPr>
                      <a:rPr lang="en-US" altLang="zh-CN" sz="2400" b="0" i="0" baseline="-25000" dirty="0" smtClean="0">
                        <a:solidFill>
                          <a:schemeClr val="tx1"/>
                        </a:solidFill>
                        <a:latin typeface="Times New Roman" panose="02020603050405020304" pitchFamily="18" charset="0"/>
                        <a:cs typeface="Times New Roman" panose="02020603050405020304" pitchFamily="18" charset="0"/>
                      </a:rPr>
                      <m:t>∗</m:t>
                    </m:r>
                    <m:r>
                      <a:rPr lang="en-US" altLang="zh-CN" sz="2400" b="0" i="0" smtClean="0">
                        <a:solidFill>
                          <a:schemeClr val="tx1"/>
                        </a:solidFill>
                        <a:latin typeface="Cambria Math" panose="02040503050406030204" pitchFamily="18" charset="0"/>
                        <a:cs typeface="Times New Roman" panose="02020603050405020304" pitchFamily="18" charset="0"/>
                      </a:rPr>
                      <m:t>=</m:t>
                    </m:r>
                    <m:nary>
                      <m:naryPr>
                        <m:chr m:val="∑"/>
                        <m:limLoc m:val="subSup"/>
                        <m:supHide m:val="on"/>
                        <m:ctrlPr>
                          <a:rPr lang="zh-CN" altLang="en-US" sz="2400" i="1" smtClean="0">
                            <a:solidFill>
                              <a:schemeClr val="tx1"/>
                            </a:solidFill>
                            <a:latin typeface="Cambria Math" panose="02040503050406030204" pitchFamily="18" charset="0"/>
                            <a:cs typeface="Times New Roman" panose="02020603050405020304" pitchFamily="18" charset="0"/>
                          </a:rPr>
                        </m:ctrlPr>
                      </m:naryPr>
                      <m:sub>
                        <m:r>
                          <m:rPr>
                            <m:brk m:alnAt="9"/>
                          </m:rPr>
                          <a:rPr lang="en-US" altLang="zh-CN" sz="2400" b="0" i="1" smtClean="0">
                            <a:solidFill>
                              <a:schemeClr val="tx1"/>
                            </a:solidFill>
                            <a:latin typeface="Cambria Math" panose="02040503050406030204" pitchFamily="18" charset="0"/>
                            <a:cs typeface="Times New Roman" panose="02020603050405020304" pitchFamily="18" charset="0"/>
                          </a:rPr>
                          <m:t>𝑖</m:t>
                        </m:r>
                      </m:sub>
                      <m:sup/>
                      <m:e>
                        <m:sSub>
                          <m:sSubPr>
                            <m:ctrlPr>
                              <a:rPr lang="en-US" altLang="zh-CN" sz="2400" i="1">
                                <a:solidFill>
                                  <a:schemeClr val="tx1"/>
                                </a:solidFill>
                                <a:latin typeface="Cambria Math" panose="02040503050406030204" pitchFamily="18" charset="0"/>
                                <a:cs typeface="Times New Roman" panose="02020603050405020304" pitchFamily="18" charset="0"/>
                              </a:rPr>
                            </m:ctrlPr>
                          </m:sSubPr>
                          <m:e>
                            <m:r>
                              <a:rPr lang="zh-CN" altLang="en-US" sz="2400" i="1">
                                <a:solidFill>
                                  <a:schemeClr val="tx1"/>
                                </a:solidFill>
                                <a:latin typeface="Cambria Math" panose="02040503050406030204" pitchFamily="18" charset="0"/>
                                <a:cs typeface="Times New Roman" panose="02020603050405020304" pitchFamily="18" charset="0"/>
                              </a:rPr>
                              <m:t>𝜎</m:t>
                            </m:r>
                          </m:e>
                          <m:sub>
                            <m:r>
                              <a:rPr lang="en-US" altLang="zh-CN" sz="2400" i="1">
                                <a:solidFill>
                                  <a:schemeClr val="tx1"/>
                                </a:solidFill>
                                <a:latin typeface="Cambria Math" panose="02040503050406030204" pitchFamily="18" charset="0"/>
                                <a:cs typeface="Times New Roman" panose="02020603050405020304" pitchFamily="18" charset="0"/>
                              </a:rPr>
                              <m:t>𝑖</m:t>
                            </m:r>
                          </m:sub>
                        </m:sSub>
                        <m:r>
                          <a:rPr lang="en-US" altLang="zh-CN" sz="2400" i="1">
                            <a:solidFill>
                              <a:schemeClr val="tx1"/>
                            </a:solidFill>
                            <a:latin typeface="Cambria Math" panose="02040503050406030204" pitchFamily="18" charset="0"/>
                            <a:cs typeface="Times New Roman" panose="02020603050405020304" pitchFamily="18" charset="0"/>
                          </a:rPr>
                          <m:t>(</m:t>
                        </m:r>
                        <m:r>
                          <a:rPr lang="en-US" altLang="zh-CN" sz="2400" i="1">
                            <a:solidFill>
                              <a:schemeClr val="tx1"/>
                            </a:solidFill>
                            <a:latin typeface="Cambria Math" panose="02040503050406030204" pitchFamily="18" charset="0"/>
                            <a:cs typeface="Times New Roman" panose="02020603050405020304" pitchFamily="18" charset="0"/>
                          </a:rPr>
                          <m:t>𝑋</m:t>
                        </m:r>
                        <m:r>
                          <a:rPr lang="en-US" altLang="zh-CN" sz="2400" i="1">
                            <a:solidFill>
                              <a:schemeClr val="tx1"/>
                            </a:solidFill>
                            <a:latin typeface="Cambria Math" panose="02040503050406030204" pitchFamily="18" charset="0"/>
                            <a:cs typeface="Times New Roman" panose="02020603050405020304" pitchFamily="18" charset="0"/>
                          </a:rPr>
                          <m:t>)</m:t>
                        </m:r>
                        <m:r>
                          <a:rPr lang="en-US" altLang="zh-CN" sz="3200" i="1" dirty="0" smtClean="0">
                            <a:solidFill>
                              <a:schemeClr val="tx1"/>
                            </a:solidFill>
                            <a:latin typeface="Cambria Math" panose="02040503050406030204" pitchFamily="18" charset="0"/>
                            <a:cs typeface="Times New Roman" panose="02020603050405020304" pitchFamily="18" charset="0"/>
                          </a:rPr>
                          <m:t> </m:t>
                        </m:r>
                      </m:e>
                    </m:nary>
                  </m:oMath>
                </a14:m>
                <a:r>
                  <a:rPr lang="zh-CN" altLang="en-US" sz="2400" dirty="0">
                    <a:solidFill>
                      <a:schemeClr val="tx1"/>
                    </a:solidFill>
                    <a:latin typeface="Times New Roman" panose="02020603050405020304" pitchFamily="18" charset="0"/>
                    <a:cs typeface="Times New Roman" panose="02020603050405020304" pitchFamily="18" charset="0"/>
                  </a:rPr>
                  <a:t>．</a:t>
                </a:r>
                <a:endParaRPr lang="en-US" altLang="zh-CN" sz="2400" dirty="0">
                  <a:solidFill>
                    <a:schemeClr val="tx1"/>
                  </a:solidFill>
                  <a:latin typeface="Times New Roman" panose="02020603050405020304" pitchFamily="18" charset="0"/>
                  <a:cs typeface="Times New Roman" panose="02020603050405020304" pitchFamily="18" charset="0"/>
                </a:endParaRPr>
              </a:p>
              <a:p>
                <a:r>
                  <a:rPr lang="zh-CN" altLang="en-US" sz="2400" dirty="0">
                    <a:solidFill>
                      <a:srgbClr val="000000"/>
                    </a:solidFill>
                    <a:latin typeface="Times New Roman" panose="02020603050405020304" pitchFamily="18" charset="0"/>
                    <a:cs typeface="Times New Roman" panose="02020603050405020304" pitchFamily="18" charset="0"/>
                  </a:rPr>
                  <a:t>因此问题就变成</a:t>
                </a:r>
                <a:endParaRPr lang="en-US" altLang="zh-CN" sz="2400" dirty="0">
                  <a:solidFill>
                    <a:srgbClr val="000000"/>
                  </a:solidFill>
                  <a:latin typeface="Times New Roman" panose="02020603050405020304" pitchFamily="18" charset="0"/>
                  <a:cs typeface="Times New Roman" panose="02020603050405020304" pitchFamily="18" charset="0"/>
                </a:endParaRPr>
              </a:p>
              <a:p>
                <a:r>
                  <a:rPr lang="en-US" altLang="zh-CN" sz="2400" dirty="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sPre>
                      <m:sPrePr>
                        <m:ctrlPr>
                          <a:rPr lang="en-US" altLang="zh-CN" sz="2400" i="1" smtClean="0">
                            <a:solidFill>
                              <a:srgbClr val="000000"/>
                            </a:solidFill>
                            <a:latin typeface="Cambria Math" panose="02040503050406030204" pitchFamily="18" charset="0"/>
                            <a:cs typeface="Times New Roman" panose="02020603050405020304" pitchFamily="18" charset="0"/>
                          </a:rPr>
                        </m:ctrlPr>
                      </m:sPrePr>
                      <m:sub>
                        <m:r>
                          <a:rPr lang="en-US" altLang="zh-CN" sz="2400" b="0" i="1" smtClean="0">
                            <a:solidFill>
                              <a:srgbClr val="000000"/>
                            </a:solidFill>
                            <a:latin typeface="Cambria Math" panose="02040503050406030204" pitchFamily="18" charset="0"/>
                            <a:cs typeface="Times New Roman" panose="02020603050405020304" pitchFamily="18" charset="0"/>
                          </a:rPr>
                          <m:t>𝑋</m:t>
                        </m:r>
                        <m:r>
                          <a:rPr lang="en-US" altLang="zh-CN" sz="24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4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4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𝑚</m:t>
                            </m:r>
                            <m:r>
                              <a:rPr lang="en-US" altLang="zh-CN" sz="24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sup>
                        </m:sSup>
                      </m:sub>
                      <m:sup>
                        <m:r>
                          <m:rPr>
                            <m:sty m:val="p"/>
                          </m:rPr>
                          <a:rPr lang="en-US" altLang="zh-CN" sz="2400" i="1" smtClean="0">
                            <a:latin typeface="Cambria Math" panose="02040503050406030204" pitchFamily="18" charset="0"/>
                          </a:rPr>
                          <m:t>min</m:t>
                        </m:r>
                        <m:r>
                          <a:rPr lang="en-US" altLang="zh-CN" sz="2400" b="0" i="1" smtClean="0">
                            <a:latin typeface="Cambria Math" panose="02040503050406030204" pitchFamily="18" charset="0"/>
                          </a:rPr>
                          <m:t>         </m:t>
                        </m:r>
                      </m:sup>
                      <m:e/>
                    </m:sPre>
                    <m:sSub>
                      <m:sSubPr>
                        <m:ctrlPr>
                          <a:rPr lang="en-US" altLang="zh-CN" sz="2400" i="1" dirty="0">
                            <a:latin typeface="Cambria Math" panose="02040503050406030204" pitchFamily="18" charset="0"/>
                            <a:cs typeface="Times New Roman" panose="02020603050405020304" pitchFamily="18" charset="0"/>
                          </a:rPr>
                        </m:ctrlPr>
                      </m:sSubPr>
                      <m:e>
                        <m:d>
                          <m:dPr>
                            <m:begChr m:val="‖"/>
                            <m:endChr m:val="‖"/>
                            <m:ctrlPr>
                              <a:rPr lang="en-US" altLang="zh-CN" sz="2400" i="1" dirty="0">
                                <a:latin typeface="Cambria Math" panose="02040503050406030204" pitchFamily="18" charset="0"/>
                                <a:cs typeface="Times New Roman" panose="02020603050405020304" pitchFamily="18" charset="0"/>
                              </a:rPr>
                            </m:ctrlPr>
                          </m:dPr>
                          <m:e>
                            <m:r>
                              <a:rPr lang="en-US" altLang="zh-CN" sz="2400" b="0" i="1" dirty="0" smtClean="0">
                                <a:latin typeface="Cambria Math" panose="02040503050406030204" pitchFamily="18" charset="0"/>
                                <a:cs typeface="Times New Roman" panose="02020603050405020304" pitchFamily="18" charset="0"/>
                              </a:rPr>
                              <m:t>𝑋</m:t>
                            </m:r>
                          </m:e>
                        </m:d>
                      </m:e>
                      <m:sub>
                        <m:r>
                          <a:rPr lang="en-US" altLang="zh-CN" sz="2400" i="1" dirty="0">
                            <a:latin typeface="Cambria Math" panose="02040503050406030204" pitchFamily="18" charset="0"/>
                            <a:cs typeface="Times New Roman" panose="02020603050405020304" pitchFamily="18" charset="0"/>
                          </a:rPr>
                          <m:t>∗</m:t>
                        </m:r>
                      </m:sub>
                    </m:sSub>
                  </m:oMath>
                </a14:m>
                <a:endParaRPr lang="en-US" altLang="zh-CN" sz="24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r>
                  <a:rPr lang="en-US" altLang="zh-CN" sz="2400" dirty="0">
                    <a:solidFill>
                      <a:schemeClr val="tx1"/>
                    </a:solidFill>
                    <a:latin typeface="Times New Roman" panose="02020603050405020304" pitchFamily="18" charset="0"/>
                    <a:cs typeface="Times New Roman" panose="02020603050405020304" pitchFamily="18" charset="0"/>
                  </a:rPr>
                  <a:t>                             s.t. </a:t>
                </a:r>
                <a14:m>
                  <m:oMath xmlns:m="http://schemas.openxmlformats.org/officeDocument/2006/math">
                    <m:r>
                      <m:rPr>
                        <m:nor/>
                      </m:rPr>
                      <a:rPr lang="en-US" altLang="zh-CN" sz="2400" i="1" dirty="0" smtClean="0">
                        <a:solidFill>
                          <a:schemeClr val="tx1"/>
                        </a:solidFill>
                        <a:latin typeface="Times New Roman" panose="02020603050405020304" pitchFamily="18" charset="0"/>
                        <a:cs typeface="Times New Roman" panose="02020603050405020304" pitchFamily="18" charset="0"/>
                      </a:rPr>
                      <m:t>X</m:t>
                    </m:r>
                    <m:r>
                      <m:rPr>
                        <m:nor/>
                      </m:rPr>
                      <a:rPr lang="en-US" altLang="zh-CN" sz="2400" b="0" i="0" baseline="-25000" dirty="0" smtClean="0">
                        <a:solidFill>
                          <a:schemeClr val="tx1"/>
                        </a:solidFill>
                        <a:latin typeface="Times New Roman" panose="02020603050405020304" pitchFamily="18" charset="0"/>
                        <a:cs typeface="Times New Roman" panose="02020603050405020304" pitchFamily="18" charset="0"/>
                      </a:rPr>
                      <m:t>ij</m:t>
                    </m:r>
                    <m:r>
                      <a:rPr lang="en-US" altLang="zh-CN" sz="2400" b="0" i="0" smtClean="0">
                        <a:solidFill>
                          <a:schemeClr val="tx1"/>
                        </a:solidFill>
                        <a:latin typeface="Cambria Math" panose="02040503050406030204" pitchFamily="18" charset="0"/>
                        <a:cs typeface="Times New Roman" panose="02020603050405020304" pitchFamily="18" charset="0"/>
                      </a:rPr>
                      <m:t>=</m:t>
                    </m:r>
                    <m:r>
                      <m:rPr>
                        <m:nor/>
                      </m:rPr>
                      <a:rPr lang="en-US" altLang="zh-CN" sz="2400" b="0" i="1" dirty="0" smtClean="0">
                        <a:latin typeface="Times New Roman" panose="02020603050405020304" pitchFamily="18" charset="0"/>
                        <a:cs typeface="Times New Roman" panose="02020603050405020304" pitchFamily="18" charset="0"/>
                      </a:rPr>
                      <m:t>M</m:t>
                    </m:r>
                    <m:r>
                      <m:rPr>
                        <m:nor/>
                      </m:rPr>
                      <a:rPr lang="en-US" altLang="zh-CN" sz="2400" baseline="-25000" dirty="0">
                        <a:latin typeface="Times New Roman" panose="02020603050405020304" pitchFamily="18" charset="0"/>
                        <a:cs typeface="Times New Roman" panose="02020603050405020304" pitchFamily="18" charset="0"/>
                      </a:rPr>
                      <m:t>ij</m:t>
                    </m:r>
                    <m:r>
                      <m:rPr>
                        <m:nor/>
                      </m:rPr>
                      <a:rPr lang="en-US" altLang="zh-CN" sz="2400" b="0" i="0" baseline="-25000" dirty="0" smtClean="0">
                        <a:latin typeface="Times New Roman" panose="02020603050405020304" pitchFamily="18" charset="0"/>
                        <a:cs typeface="Times New Roman" panose="02020603050405020304" pitchFamily="18" charset="0"/>
                      </a:rPr>
                      <m:t>,</m:t>
                    </m:r>
                  </m:oMath>
                </a14:m>
                <a:r>
                  <a:rPr lang="zh-CN" alt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2400" b="0" i="0" dirty="0" smtClean="0">
                        <a:latin typeface="Cambria Math" panose="02040503050406030204" pitchFamily="18" charset="0"/>
                        <a:cs typeface="Times New Roman" panose="02020603050405020304" pitchFamily="18" charset="0"/>
                      </a:rPr>
                      <m:t>(</m:t>
                    </m:r>
                    <m:r>
                      <m:rPr>
                        <m:sty m:val="p"/>
                      </m:rPr>
                      <a:rPr lang="en-US" altLang="zh-CN" sz="2400" b="0" i="0" dirty="0" smtClean="0">
                        <a:latin typeface="Cambria Math" panose="02040503050406030204" pitchFamily="18" charset="0"/>
                        <a:cs typeface="Times New Roman" panose="02020603050405020304" pitchFamily="18" charset="0"/>
                      </a:rPr>
                      <m:t>i</m:t>
                    </m:r>
                    <m:r>
                      <a:rPr lang="en-US" altLang="zh-CN" sz="2400" b="0" i="0" dirty="0" smtClean="0">
                        <a:latin typeface="Cambria Math" panose="02040503050406030204" pitchFamily="18" charset="0"/>
                        <a:cs typeface="Times New Roman" panose="02020603050405020304" pitchFamily="18" charset="0"/>
                      </a:rPr>
                      <m:t>,</m:t>
                    </m:r>
                    <m:r>
                      <m:rPr>
                        <m:sty m:val="p"/>
                      </m:rPr>
                      <a:rPr lang="en-US" altLang="zh-CN" sz="2400" b="0" i="0" dirty="0" smtClean="0">
                        <a:latin typeface="Cambria Math" panose="02040503050406030204" pitchFamily="18" charset="0"/>
                        <a:cs typeface="Times New Roman" panose="02020603050405020304" pitchFamily="18" charset="0"/>
                      </a:rPr>
                      <m:t>j</m:t>
                    </m:r>
                    <m:r>
                      <a:rPr lang="en-US" altLang="zh-CN" sz="2400" b="0" i="0" dirty="0" smtClean="0">
                        <a:latin typeface="Cambria Math" panose="02040503050406030204" pitchFamily="18" charset="0"/>
                        <a:cs typeface="Times New Roman" panose="02020603050405020304" pitchFamily="18" charset="0"/>
                      </a:rPr>
                      <m:t>)</m:t>
                    </m:r>
                    <m:r>
                      <a:rPr lang="zh-CN" altLang="en-US" sz="2400" i="1" dirty="0" smtClean="0">
                        <a:latin typeface="Cambria Math" panose="02040503050406030204" pitchFamily="18" charset="0"/>
                        <a:cs typeface="Times New Roman" panose="02020603050405020304" pitchFamily="18" charset="0"/>
                      </a:rPr>
                      <m:t>∈</m:t>
                    </m:r>
                    <m:r>
                      <m:rPr>
                        <m:sty m:val="p"/>
                      </m:rPr>
                      <a:rPr lang="el-GR" altLang="zh-CN" sz="2400" i="1" dirty="0" smtClean="0">
                        <a:latin typeface="Cambria Math" panose="02040503050406030204" pitchFamily="18" charset="0"/>
                        <a:ea typeface="Cambria Math" panose="02040503050406030204" pitchFamily="18" charset="0"/>
                        <a:cs typeface="Times New Roman" panose="02020603050405020304" pitchFamily="18" charset="0"/>
                      </a:rPr>
                      <m:t>Ω</m:t>
                    </m:r>
                  </m:oMath>
                </a14:m>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586980" y="940670"/>
                <a:ext cx="7632848" cy="2749599"/>
              </a:xfrm>
              <a:prstGeom prst="rect">
                <a:avLst/>
              </a:prstGeom>
              <a:blipFill>
                <a:blip r:embed="rId2"/>
                <a:stretch>
                  <a:fillRect l="-1198" t="-2439" r="-4473" b="-4213"/>
                </a:stretch>
              </a:blipFill>
            </p:spPr>
            <p:txBody>
              <a:bodyPr/>
              <a:lstStyle/>
              <a:p>
                <a:r>
                  <a:rPr lang="zh-CN" altLang="en-US">
                    <a:noFill/>
                  </a:rPr>
                  <a:t> </a:t>
                </a:r>
              </a:p>
            </p:txBody>
          </p:sp>
        </mc:Fallback>
      </mc:AlternateContent>
      <p:sp>
        <p:nvSpPr>
          <p:cNvPr id="4" name="矩形 3"/>
          <p:cNvSpPr/>
          <p:nvPr/>
        </p:nvSpPr>
        <p:spPr>
          <a:xfrm>
            <a:off x="538463" y="4044312"/>
            <a:ext cx="7508257" cy="830997"/>
          </a:xfrm>
          <a:prstGeom prst="rect">
            <a:avLst/>
          </a:prstGeom>
        </p:spPr>
        <p:txBody>
          <a:bodyPr wrap="square">
            <a:spAutoFit/>
          </a:bodyPr>
          <a:lstStyle/>
          <a:p>
            <a:r>
              <a:rPr lang="zh-CN" altLang="en-US" sz="2400" dirty="0">
                <a:solidFill>
                  <a:srgbClr val="000000"/>
                </a:solidFill>
                <a:latin typeface="FandolSong-Regular-Identity-H"/>
              </a:rPr>
              <a:t>可以证明该问题是一个凸优化问题，并且在一定条件下它与原问题等价．</a:t>
            </a:r>
            <a:endParaRPr lang="zh-CN" altLang="en-US" sz="2400" dirty="0"/>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2"/>
          <p:cNvSpPr>
            <a:spLocks noGrp="1" noChangeArrowheads="1"/>
          </p:cNvSpPr>
          <p:nvPr>
            <p:ph type="title" idx="4294967295"/>
          </p:nvPr>
        </p:nvSpPr>
        <p:spPr>
          <a:xfrm>
            <a:off x="279132" y="262956"/>
            <a:ext cx="7215505" cy="785495"/>
          </a:xfrm>
        </p:spPr>
        <p:txBody>
          <a:bodyPr/>
          <a:lstStyle/>
          <a:p>
            <a:pPr eaLnBrk="1" hangingPunct="1"/>
            <a:r>
              <a:rPr lang="zh-CN" altLang="en-US" sz="3600" dirty="0"/>
              <a:t>基本概念</a:t>
            </a:r>
          </a:p>
        </p:txBody>
      </p:sp>
      <p:sp>
        <p:nvSpPr>
          <p:cNvPr id="77829" name="Rectangle 3"/>
          <p:cNvSpPr>
            <a:spLocks noGrp="1" noChangeArrowheads="1"/>
          </p:cNvSpPr>
          <p:nvPr>
            <p:ph type="body" sz="half" idx="4294967295"/>
          </p:nvPr>
        </p:nvSpPr>
        <p:spPr>
          <a:xfrm>
            <a:off x="631457" y="1089794"/>
            <a:ext cx="8786495" cy="840105"/>
          </a:xfrm>
        </p:spPr>
        <p:txBody>
          <a:bodyPr/>
          <a:lstStyle/>
          <a:p>
            <a:pPr eaLnBrk="1" hangingPunct="1"/>
            <a:r>
              <a:rPr lang="zh-CN" altLang="en-US" sz="2800" dirty="0"/>
              <a:t>最优化问题可写成如下形式</a:t>
            </a:r>
            <a:r>
              <a:rPr lang="en-US" altLang="zh-CN" sz="2800" dirty="0"/>
              <a:t>:</a:t>
            </a:r>
          </a:p>
        </p:txBody>
      </p:sp>
      <p:graphicFrame>
        <p:nvGraphicFramePr>
          <p:cNvPr id="77830" name="Object 4"/>
          <p:cNvGraphicFramePr>
            <a:graphicFrameLocks noGrp="1" noChangeAspect="1"/>
          </p:cNvGraphicFramePr>
          <p:nvPr>
            <p:ph idx="1"/>
            <p:extLst>
              <p:ext uri="{D42A27DB-BD31-4B8C-83A1-F6EECF244321}">
                <p14:modId xmlns:p14="http://schemas.microsoft.com/office/powerpoint/2010/main" val="3503375782"/>
              </p:ext>
            </p:extLst>
          </p:nvPr>
        </p:nvGraphicFramePr>
        <p:xfrm>
          <a:off x="1775260" y="1946626"/>
          <a:ext cx="3921125" cy="1889125"/>
        </p:xfrm>
        <a:graphic>
          <a:graphicData uri="http://schemas.openxmlformats.org/presentationml/2006/ole">
            <mc:AlternateContent xmlns:mc="http://schemas.openxmlformats.org/markup-compatibility/2006">
              <mc:Choice xmlns:v="urn:schemas-microsoft-com:vml" Requires="v">
                <p:oleObj spid="_x0000_s13372" name="Equation" r:id="rId3" imgW="2108160" imgH="1015920" progId="Equation.DSMT4">
                  <p:embed/>
                </p:oleObj>
              </mc:Choice>
              <mc:Fallback>
                <p:oleObj name="Equation" r:id="rId3" imgW="2108160" imgH="1015920" progId="Equation.DSMT4">
                  <p:embed/>
                  <p:pic>
                    <p:nvPicPr>
                      <p:cNvPr id="0" name="Object 4"/>
                      <p:cNvPicPr>
                        <a:picLocks noChangeAspect="1" noChangeArrowheads="1"/>
                      </p:cNvPicPr>
                      <p:nvPr/>
                    </p:nvPicPr>
                    <p:blipFill>
                      <a:blip r:embed="rId4"/>
                      <a:srcRect/>
                      <a:stretch>
                        <a:fillRect/>
                      </a:stretch>
                    </p:blipFill>
                    <p:spPr bwMode="auto">
                      <a:xfrm>
                        <a:off x="1775260" y="1946626"/>
                        <a:ext cx="3921125" cy="188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2"/>
          <p:cNvSpPr>
            <a:spLocks noGrp="1" noChangeArrowheads="1"/>
          </p:cNvSpPr>
          <p:nvPr>
            <p:ph type="title" idx="4294967295"/>
          </p:nvPr>
        </p:nvSpPr>
        <p:spPr>
          <a:xfrm>
            <a:off x="0" y="206375"/>
            <a:ext cx="2881630" cy="701675"/>
          </a:xfrm>
        </p:spPr>
        <p:txBody>
          <a:bodyPr/>
          <a:lstStyle/>
          <a:p>
            <a:pPr eaLnBrk="1" hangingPunct="1"/>
            <a:r>
              <a:rPr lang="zh-CN" altLang="en-US" sz="3600" dirty="0"/>
              <a:t>基本概念</a:t>
            </a:r>
          </a:p>
        </p:txBody>
      </p:sp>
      <p:sp>
        <p:nvSpPr>
          <p:cNvPr id="78853" name="Rectangle 3"/>
          <p:cNvSpPr>
            <a:spLocks noGrp="1" noChangeArrowheads="1"/>
          </p:cNvSpPr>
          <p:nvPr>
            <p:ph idx="1"/>
          </p:nvPr>
        </p:nvSpPr>
        <p:spPr>
          <a:xfrm>
            <a:off x="384809" y="1082041"/>
            <a:ext cx="8306803" cy="1372402"/>
          </a:xfrm>
        </p:spPr>
        <p:txBody>
          <a:bodyPr/>
          <a:lstStyle/>
          <a:p>
            <a:pPr lvl="1" eaLnBrk="1" hangingPunct="1">
              <a:buFontTx/>
              <a:buNone/>
            </a:pPr>
            <a:r>
              <a:rPr lang="zh-CN" altLang="en-US" sz="2400" b="1" dirty="0">
                <a:solidFill>
                  <a:schemeClr val="tx1"/>
                </a:solidFill>
                <a:latin typeface="Times New Roman" panose="02020603050405020304" pitchFamily="18" charset="0"/>
                <a:cs typeface="Times New Roman" panose="02020603050405020304" pitchFamily="18" charset="0"/>
              </a:rPr>
              <a:t>定义</a:t>
            </a:r>
            <a:r>
              <a:rPr lang="en-US" altLang="zh-CN" sz="2400" b="1" dirty="0">
                <a:solidFill>
                  <a:schemeClr val="tx1"/>
                </a:solidFill>
                <a:latin typeface="Times New Roman" panose="02020603050405020304" pitchFamily="18" charset="0"/>
                <a:cs typeface="Times New Roman" panose="02020603050405020304" pitchFamily="18" charset="0"/>
              </a:rPr>
              <a:t>1. 1</a:t>
            </a:r>
            <a:r>
              <a:rPr lang="en-US" altLang="zh-CN" sz="2400" dirty="0">
                <a:solidFill>
                  <a:schemeClr val="tx1"/>
                </a:solidFill>
                <a:latin typeface="Times New Roman" panose="02020603050405020304" pitchFamily="18" charset="0"/>
                <a:cs typeface="Times New Roman" panose="02020603050405020304" pitchFamily="18" charset="0"/>
              </a:rPr>
              <a:t> </a:t>
            </a:r>
            <a:r>
              <a:rPr lang="zh-CN" altLang="en-US" sz="2400" dirty="0">
                <a:solidFill>
                  <a:schemeClr val="tx1"/>
                </a:solidFill>
                <a:latin typeface="Times New Roman" panose="02020603050405020304" pitchFamily="18" charset="0"/>
                <a:cs typeface="Times New Roman" panose="02020603050405020304" pitchFamily="18" charset="0"/>
              </a:rPr>
              <a:t>设</a:t>
            </a:r>
            <a:r>
              <a:rPr lang="en-US" altLang="zh-CN" sz="2400" i="1" dirty="0">
                <a:solidFill>
                  <a:schemeClr val="tx1"/>
                </a:solidFill>
                <a:latin typeface="Times New Roman" panose="02020603050405020304" pitchFamily="18" charset="0"/>
                <a:cs typeface="Times New Roman" panose="02020603050405020304" pitchFamily="18" charset="0"/>
              </a:rPr>
              <a:t>f(x)</a:t>
            </a:r>
            <a:r>
              <a:rPr lang="zh-CN" altLang="en-US" sz="2400" dirty="0">
                <a:solidFill>
                  <a:schemeClr val="tx1"/>
                </a:solidFill>
                <a:latin typeface="Times New Roman" panose="02020603050405020304" pitchFamily="18" charset="0"/>
                <a:cs typeface="Times New Roman" panose="02020603050405020304" pitchFamily="18" charset="0"/>
              </a:rPr>
              <a:t>为目标函数，</a:t>
            </a:r>
            <a:r>
              <a:rPr lang="en-US" altLang="zh-CN" sz="2400" i="1" dirty="0">
                <a:solidFill>
                  <a:schemeClr val="tx1"/>
                </a:solidFill>
                <a:latin typeface="Times New Roman" panose="02020603050405020304" pitchFamily="18" charset="0"/>
                <a:cs typeface="Times New Roman" panose="02020603050405020304" pitchFamily="18" charset="0"/>
              </a:rPr>
              <a:t>S</a:t>
            </a:r>
            <a:r>
              <a:rPr lang="zh-CN" altLang="en-US" sz="2400" dirty="0">
                <a:solidFill>
                  <a:schemeClr val="tx1"/>
                </a:solidFill>
                <a:latin typeface="Times New Roman" panose="02020603050405020304" pitchFamily="18" charset="0"/>
                <a:cs typeface="Times New Roman" panose="02020603050405020304" pitchFamily="18" charset="0"/>
              </a:rPr>
              <a:t>为可行域，</a:t>
            </a:r>
            <a:r>
              <a:rPr lang="en-US" altLang="zh-CN" sz="2400" i="1" dirty="0">
                <a:solidFill>
                  <a:schemeClr val="tx1"/>
                </a:solidFill>
                <a:latin typeface="Times New Roman" panose="02020603050405020304" pitchFamily="18" charset="0"/>
                <a:cs typeface="Times New Roman" panose="02020603050405020304" pitchFamily="18" charset="0"/>
              </a:rPr>
              <a:t>x</a:t>
            </a:r>
            <a:r>
              <a:rPr lang="en-US" altLang="zh-CN" sz="2400" dirty="0">
                <a:solidFill>
                  <a:schemeClr val="tx1"/>
                </a:solidFill>
                <a:latin typeface="Times New Roman" panose="02020603050405020304" pitchFamily="18" charset="0"/>
                <a:cs typeface="Times New Roman" panose="02020603050405020304" pitchFamily="18" charset="0"/>
              </a:rPr>
              <a:t>0</a:t>
            </a:r>
            <a:r>
              <a:rPr lang="en-US" altLang="zh-CN"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i="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S</a:t>
            </a:r>
            <a:r>
              <a:rPr lang="en-US" altLang="zh-CN"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solidFill>
                  <a:schemeClr val="tx1"/>
                </a:solidFill>
                <a:latin typeface="Times New Roman" panose="02020603050405020304" pitchFamily="18" charset="0"/>
                <a:cs typeface="Times New Roman" panose="02020603050405020304" pitchFamily="18" charset="0"/>
              </a:rPr>
              <a:t>若对每一个</a:t>
            </a:r>
            <a:r>
              <a:rPr lang="en-US" altLang="zh-CN" sz="2400" i="1" dirty="0">
                <a:solidFill>
                  <a:schemeClr val="tx1"/>
                </a:solidFill>
                <a:latin typeface="Times New Roman" panose="02020603050405020304" pitchFamily="18" charset="0"/>
                <a:cs typeface="Times New Roman" panose="02020603050405020304" pitchFamily="18" charset="0"/>
              </a:rPr>
              <a:t>x </a:t>
            </a:r>
            <a:r>
              <a:rPr lang="en-US" altLang="zh-CN"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i="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S</a:t>
            </a:r>
            <a:r>
              <a:rPr lang="en-US" altLang="zh-CN"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成立</a:t>
            </a:r>
            <a:r>
              <a:rPr lang="en-US" altLang="zh-CN" sz="2400" i="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f(x)f(x0),</a:t>
            </a:r>
            <a:r>
              <a:rPr lang="zh-CN" altLang="en-US"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则称</a:t>
            </a:r>
            <a:r>
              <a:rPr lang="en-US" altLang="zh-CN" sz="2400" i="1" dirty="0">
                <a:solidFill>
                  <a:schemeClr val="tx1"/>
                </a:solidFill>
                <a:latin typeface="Times New Roman" panose="02020603050405020304" pitchFamily="18" charset="0"/>
                <a:cs typeface="Times New Roman" panose="02020603050405020304" pitchFamily="18" charset="0"/>
              </a:rPr>
              <a:t>x</a:t>
            </a:r>
            <a:r>
              <a:rPr lang="en-US" altLang="zh-CN" sz="2400" dirty="0">
                <a:solidFill>
                  <a:schemeClr val="tx1"/>
                </a:solidFill>
                <a:latin typeface="Times New Roman" panose="02020603050405020304" pitchFamily="18" charset="0"/>
                <a:cs typeface="Times New Roman" panose="02020603050405020304" pitchFamily="18" charset="0"/>
              </a:rPr>
              <a:t>0</a:t>
            </a:r>
            <a:r>
              <a:rPr lang="zh-CN" altLang="en-US"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为极小化问题</a:t>
            </a:r>
            <a:r>
              <a:rPr lang="en-US" altLang="zh-CN" sz="2400" i="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min</a:t>
            </a:r>
            <a:r>
              <a:rPr lang="en-US" altLang="zh-CN"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i="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f</a:t>
            </a:r>
            <a:r>
              <a:rPr lang="en-US" altLang="zh-CN"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i="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x</a:t>
            </a:r>
            <a:r>
              <a:rPr lang="en-US" altLang="zh-CN"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i="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x S</a:t>
            </a:r>
            <a:r>
              <a:rPr lang="zh-CN" altLang="en-US"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的</a:t>
            </a:r>
            <a:r>
              <a:rPr lang="zh-CN" altLang="en-US" sz="2400" b="1" dirty="0">
                <a:solidFill>
                  <a:srgbClr val="4156F1"/>
                </a:solidFill>
                <a:latin typeface="Times New Roman" panose="02020603050405020304" pitchFamily="18" charset="0"/>
                <a:cs typeface="Times New Roman" panose="02020603050405020304" pitchFamily="18" charset="0"/>
                <a:sym typeface="Symbol" panose="05050102010706020507" pitchFamily="18" charset="2"/>
              </a:rPr>
              <a:t>最优解</a:t>
            </a:r>
            <a:r>
              <a:rPr lang="zh-CN" altLang="en-US"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整体</a:t>
            </a:r>
            <a:r>
              <a:rPr lang="en-US" altLang="zh-CN"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全局 最优解</a:t>
            </a:r>
            <a:r>
              <a:rPr lang="zh-CN" altLang="en-US" sz="24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zh-CN" altLang="en-US" sz="2400" dirty="0">
              <a:solidFill>
                <a:schemeClr val="tx1"/>
              </a:solidFill>
              <a:latin typeface="Times New Roman" panose="02020603050405020304" pitchFamily="18" charset="0"/>
              <a:cs typeface="Times New Roman" panose="02020603050405020304" pitchFamily="18" charset="0"/>
            </a:endParaRPr>
          </a:p>
        </p:txBody>
      </p:sp>
      <p:graphicFrame>
        <p:nvGraphicFramePr>
          <p:cNvPr id="78854" name="Object 4"/>
          <p:cNvGraphicFramePr>
            <a:graphicFrameLocks noChangeAspect="1"/>
          </p:cNvGraphicFramePr>
          <p:nvPr>
            <p:extLst>
              <p:ext uri="{D42A27DB-BD31-4B8C-83A1-F6EECF244321}">
                <p14:modId xmlns:p14="http://schemas.microsoft.com/office/powerpoint/2010/main" val="1338028122"/>
              </p:ext>
            </p:extLst>
          </p:nvPr>
        </p:nvGraphicFramePr>
        <p:xfrm>
          <a:off x="1408280" y="3304805"/>
          <a:ext cx="6048672" cy="1512168"/>
        </p:xfrm>
        <a:graphic>
          <a:graphicData uri="http://schemas.openxmlformats.org/presentationml/2006/ole">
            <mc:AlternateContent xmlns:mc="http://schemas.openxmlformats.org/markup-compatibility/2006">
              <mc:Choice xmlns:v="urn:schemas-microsoft-com:vml" Requires="v">
                <p:oleObj spid="_x0000_s14395" name="Equation" r:id="rId3" imgW="6451600" imgH="1612900" progId="Equation.DSMT4">
                  <p:embed/>
                </p:oleObj>
              </mc:Choice>
              <mc:Fallback>
                <p:oleObj name="Equation" r:id="rId3" imgW="6451600" imgH="16129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8280" y="3304805"/>
                        <a:ext cx="6048672" cy="1512168"/>
                      </a:xfrm>
                      <a:prstGeom prst="rect">
                        <a:avLst/>
                      </a:prstGeom>
                      <a:noFill/>
                      <a:ln>
                        <a:noFill/>
                      </a:ln>
                      <a:effectLst/>
                    </p:spPr>
                  </p:pic>
                </p:oleObj>
              </mc:Fallback>
            </mc:AlternateContent>
          </a:graphicData>
        </a:graphic>
      </p:graphicFrame>
      <p:sp>
        <p:nvSpPr>
          <p:cNvPr id="78855" name="Rectangle 5"/>
          <p:cNvSpPr>
            <a:spLocks noChangeArrowheads="1"/>
          </p:cNvSpPr>
          <p:nvPr/>
        </p:nvSpPr>
        <p:spPr bwMode="auto">
          <a:xfrm>
            <a:off x="747490" y="5013176"/>
            <a:ext cx="67810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则称</a:t>
            </a:r>
            <a:r>
              <a:rPr lang="en-US" altLang="zh-CN" sz="2400" dirty="0">
                <a:latin typeface="Times New Roman" panose="02020603050405020304" pitchFamily="18" charset="0"/>
                <a:cs typeface="Times New Roman" panose="02020603050405020304" pitchFamily="18" charset="0"/>
              </a:rPr>
              <a:t>x</a:t>
            </a:r>
            <a:r>
              <a:rPr lang="en-US" altLang="zh-CN" sz="2400" baseline="-250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为极小化问题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min f(x),x S  </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的</a:t>
            </a:r>
            <a:r>
              <a:rPr lang="zh-CN" altLang="en-US" sz="2400" b="1" dirty="0">
                <a:solidFill>
                  <a:srgbClr val="4156F1"/>
                </a:solidFill>
                <a:latin typeface="Times New Roman" panose="02020603050405020304" pitchFamily="18" charset="0"/>
                <a:cs typeface="Times New Roman" panose="02020603050405020304" pitchFamily="18" charset="0"/>
                <a:sym typeface="Symbol" panose="05050102010706020507" pitchFamily="18" charset="2"/>
              </a:rPr>
              <a:t>局部最优解</a:t>
            </a:r>
          </a:p>
        </p:txBody>
      </p:sp>
      <p:sp>
        <p:nvSpPr>
          <p:cNvPr id="78856" name="Rectangle 6"/>
          <p:cNvSpPr>
            <a:spLocks noChangeArrowheads="1"/>
          </p:cNvSpPr>
          <p:nvPr/>
        </p:nvSpPr>
        <p:spPr bwMode="auto">
          <a:xfrm>
            <a:off x="730016" y="2597122"/>
            <a:ext cx="7543800"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zh-CN" altLang="en-US" sz="2400" b="1" dirty="0">
                <a:latin typeface="+mj-lt"/>
                <a:sym typeface="Symbol" panose="05050102010706020507" pitchFamily="18" charset="2"/>
              </a:rPr>
              <a:t>定义</a:t>
            </a:r>
            <a:r>
              <a:rPr lang="en-US" altLang="zh-CN" sz="2400" b="1" dirty="0">
                <a:latin typeface="+mj-lt"/>
                <a:sym typeface="Symbol" panose="05050102010706020507" pitchFamily="18" charset="2"/>
              </a:rPr>
              <a:t>1.2  </a:t>
            </a:r>
            <a:r>
              <a:rPr lang="zh-CN" altLang="en-US" sz="2400" dirty="0">
                <a:latin typeface="+mj-lt"/>
              </a:rPr>
              <a:t>设</a:t>
            </a:r>
            <a:r>
              <a:rPr lang="en-US" altLang="zh-CN" sz="2400" dirty="0">
                <a:latin typeface="+mj-lt"/>
              </a:rPr>
              <a:t>f(x)</a:t>
            </a:r>
            <a:r>
              <a:rPr lang="zh-CN" altLang="en-US" sz="2400" dirty="0">
                <a:latin typeface="+mj-lt"/>
              </a:rPr>
              <a:t>为目标函数，</a:t>
            </a:r>
            <a:r>
              <a:rPr lang="en-US" altLang="zh-CN" sz="2400" dirty="0">
                <a:latin typeface="+mj-lt"/>
              </a:rPr>
              <a:t>S</a:t>
            </a:r>
            <a:r>
              <a:rPr lang="zh-CN" altLang="en-US" sz="2400" dirty="0">
                <a:latin typeface="+mj-lt"/>
              </a:rPr>
              <a:t>为可行域，</a:t>
            </a: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56135" y="196950"/>
            <a:ext cx="8229600" cy="757555"/>
          </a:xfrm>
        </p:spPr>
        <p:txBody>
          <a:bodyPr/>
          <a:lstStyle/>
          <a:p>
            <a:endParaRPr lang="zh-CN" altLang="en-US" dirty="0"/>
          </a:p>
        </p:txBody>
      </p:sp>
      <p:sp>
        <p:nvSpPr>
          <p:cNvPr id="3" name="内容占位符 2"/>
          <p:cNvSpPr>
            <a:spLocks noGrp="1"/>
          </p:cNvSpPr>
          <p:nvPr>
            <p:ph idx="1"/>
          </p:nvPr>
        </p:nvSpPr>
        <p:spPr>
          <a:xfrm>
            <a:off x="563078" y="1081238"/>
            <a:ext cx="8229600" cy="4530725"/>
          </a:xfrm>
        </p:spPr>
        <p:txBody>
          <a:bodyPr/>
          <a:lstStyle/>
          <a:p>
            <a:pPr marL="0" indent="0">
              <a:buNone/>
            </a:pPr>
            <a:r>
              <a:rPr lang="zh-CN" altLang="en-US" dirty="0"/>
              <a:t>最优化问题的一般形式</a:t>
            </a:r>
            <a:endParaRPr lang="en-US" altLang="zh-CN" dirty="0"/>
          </a:p>
          <a:p>
            <a:pPr marL="0" indent="0">
              <a:buNone/>
            </a:pPr>
            <a:r>
              <a:rPr lang="en-US" altLang="zh-CN" sz="2400" b="0" dirty="0">
                <a:latin typeface="Times New Roman" panose="02020603050405020304" pitchFamily="18" charset="0"/>
                <a:cs typeface="Times New Roman" panose="02020603050405020304" pitchFamily="18" charset="0"/>
              </a:rPr>
              <a:t>                                Min(max)      </a:t>
            </a:r>
            <a:r>
              <a:rPr lang="en-US" altLang="zh-CN" sz="2400" b="0" i="1" dirty="0">
                <a:latin typeface="Times New Roman" panose="02020603050405020304" pitchFamily="18" charset="0"/>
                <a:cs typeface="Times New Roman" panose="02020603050405020304" pitchFamily="18" charset="0"/>
              </a:rPr>
              <a:t>f</a:t>
            </a:r>
            <a:r>
              <a:rPr lang="en-US" altLang="zh-CN" sz="2400" b="0" dirty="0">
                <a:latin typeface="Times New Roman" panose="02020603050405020304" pitchFamily="18" charset="0"/>
                <a:cs typeface="Times New Roman" panose="02020603050405020304" pitchFamily="18" charset="0"/>
              </a:rPr>
              <a:t>(</a:t>
            </a:r>
            <a:r>
              <a:rPr lang="en-US" altLang="zh-CN" sz="2400" b="0" i="1" dirty="0">
                <a:latin typeface="Times New Roman" panose="02020603050405020304" pitchFamily="18" charset="0"/>
                <a:cs typeface="Times New Roman" panose="02020603050405020304" pitchFamily="18" charset="0"/>
              </a:rPr>
              <a:t>x</a:t>
            </a:r>
            <a:r>
              <a:rPr lang="en-US" altLang="zh-CN" sz="2400" b="0" dirty="0">
                <a:latin typeface="Times New Roman" panose="02020603050405020304" pitchFamily="18" charset="0"/>
                <a:cs typeface="Times New Roman" panose="02020603050405020304" pitchFamily="18" charset="0"/>
              </a:rPr>
              <a:t>)</a:t>
            </a:r>
            <a:r>
              <a:rPr lang="en-US" altLang="zh-CN" sz="2400" b="0" i="1" dirty="0">
                <a:latin typeface="Times New Roman" panose="02020603050405020304" pitchFamily="18" charset="0"/>
                <a:cs typeface="Times New Roman" panose="02020603050405020304" pitchFamily="18" charset="0"/>
              </a:rPr>
              <a:t>, </a:t>
            </a:r>
            <a:endParaRPr lang="en-US" altLang="zh-CN" b="0" i="1" dirty="0">
              <a:latin typeface="Times New Roman" panose="02020603050405020304" pitchFamily="18" charset="0"/>
              <a:cs typeface="Times New Roman" panose="02020603050405020304" pitchFamily="18" charset="0"/>
            </a:endParaRPr>
          </a:p>
          <a:p>
            <a:pPr marL="0" indent="0">
              <a:buNone/>
            </a:pPr>
            <a:r>
              <a:rPr lang="en-US" altLang="zh-CN" sz="2400" b="0" i="1" dirty="0">
                <a:latin typeface="Times New Roman" panose="02020603050405020304" pitchFamily="18" charset="0"/>
                <a:cs typeface="Times New Roman" panose="02020603050405020304" pitchFamily="18" charset="0"/>
              </a:rPr>
              <a:t>                                   </a:t>
            </a:r>
            <a:r>
              <a:rPr lang="en-US" altLang="zh-CN" sz="2400" b="0" dirty="0" err="1">
                <a:latin typeface="Times New Roman" panose="02020603050405020304" pitchFamily="18" charset="0"/>
                <a:cs typeface="Times New Roman" panose="02020603050405020304" pitchFamily="18" charset="0"/>
              </a:rPr>
              <a:t>s.t.</a:t>
            </a:r>
            <a:r>
              <a:rPr lang="en-US" altLang="zh-CN" sz="2400" b="0" dirty="0">
                <a:latin typeface="Times New Roman" panose="02020603050405020304" pitchFamily="18" charset="0"/>
                <a:cs typeface="Times New Roman" panose="02020603050405020304" pitchFamily="18" charset="0"/>
              </a:rPr>
              <a:t>  </a:t>
            </a:r>
            <a:r>
              <a:rPr lang="en-US" altLang="zh-CN" sz="2400" b="0" i="1" dirty="0">
                <a:latin typeface="Times New Roman" panose="02020603050405020304" pitchFamily="18" charset="0"/>
                <a:cs typeface="Times New Roman" panose="02020603050405020304" pitchFamily="18" charset="0"/>
              </a:rPr>
              <a:t>x </a:t>
            </a:r>
            <a:r>
              <a:rPr lang="en-US" altLang="zh-CN" sz="2400" b="0" dirty="0">
                <a:latin typeface="Times New Roman" panose="02020603050405020304" pitchFamily="18" charset="0"/>
                <a:cs typeface="Times New Roman" panose="02020603050405020304" pitchFamily="18" charset="0"/>
              </a:rPr>
              <a:t>∈</a:t>
            </a:r>
            <a:r>
              <a:rPr lang="en-US" altLang="zh-CN" sz="2400" b="0" i="1" dirty="0">
                <a:latin typeface="Times New Roman" panose="02020603050405020304" pitchFamily="18" charset="0"/>
                <a:cs typeface="Times New Roman" panose="02020603050405020304" pitchFamily="18" charset="0"/>
              </a:rPr>
              <a:t> </a:t>
            </a:r>
            <a:r>
              <a:rPr lang="en-US" altLang="zh-CN" sz="2400" b="0" dirty="0">
                <a:latin typeface="Times New Roman" panose="02020603050405020304" pitchFamily="18" charset="0"/>
                <a:cs typeface="Times New Roman" panose="02020603050405020304" pitchFamily="18" charset="0"/>
              </a:rPr>
              <a:t>X                                     </a:t>
            </a:r>
            <a:endParaRPr lang="en-US" altLang="zh-CN" sz="2400" dirty="0"/>
          </a:p>
          <a:p>
            <a:endParaRPr lang="en-US" altLang="zh-CN" sz="2400" i="1" dirty="0"/>
          </a:p>
          <a:p>
            <a:r>
              <a:rPr lang="zh-CN" altLang="en-US" sz="2400" b="0" dirty="0">
                <a:latin typeface="Times New Roman" panose="02020603050405020304" pitchFamily="18" charset="0"/>
                <a:cs typeface="Times New Roman" panose="02020603050405020304" pitchFamily="18" charset="0"/>
              </a:rPr>
              <a:t>注意到在集合</a:t>
            </a:r>
            <a:r>
              <a:rPr lang="en-US" altLang="zh-CN" sz="2400" b="0" dirty="0">
                <a:latin typeface="Times New Roman" panose="02020603050405020304" pitchFamily="18" charset="0"/>
                <a:cs typeface="Times New Roman" panose="02020603050405020304" pitchFamily="18" charset="0"/>
              </a:rPr>
              <a:t>X </a:t>
            </a:r>
            <a:r>
              <a:rPr lang="zh-CN" altLang="en-US" sz="2400" b="0" dirty="0">
                <a:latin typeface="Times New Roman" panose="02020603050405020304" pitchFamily="18" charset="0"/>
                <a:cs typeface="Times New Roman" panose="02020603050405020304" pitchFamily="18" charset="0"/>
              </a:rPr>
              <a:t>上，函数</a:t>
            </a:r>
            <a:r>
              <a:rPr lang="en-US" altLang="zh-CN" sz="2400" b="0" i="1" dirty="0">
                <a:latin typeface="Times New Roman" panose="02020603050405020304" pitchFamily="18" charset="0"/>
                <a:cs typeface="Times New Roman" panose="02020603050405020304" pitchFamily="18" charset="0"/>
              </a:rPr>
              <a:t>f</a:t>
            </a: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的最小（最大）值不一定存在，但是 其下（上）确界“</a:t>
            </a:r>
            <a:r>
              <a:rPr lang="en-US" altLang="zh-CN" sz="2400" b="0" dirty="0">
                <a:latin typeface="Times New Roman" panose="02020603050405020304" pitchFamily="18" charset="0"/>
                <a:cs typeface="Times New Roman" panose="02020603050405020304" pitchFamily="18" charset="0"/>
              </a:rPr>
              <a:t>inf f(sup f)”</a:t>
            </a:r>
            <a:r>
              <a:rPr lang="zh-CN" altLang="en-US" sz="2400" b="0" dirty="0">
                <a:latin typeface="Times New Roman" panose="02020603050405020304" pitchFamily="18" charset="0"/>
                <a:cs typeface="Times New Roman" panose="02020603050405020304" pitchFamily="18" charset="0"/>
              </a:rPr>
              <a:t>总是存在的．因此，当目标函数 的最小</a:t>
            </a:r>
            <a:r>
              <a:rPr lang="en-US" altLang="zh-CN" sz="2400" b="0" dirty="0">
                <a:latin typeface="Times New Roman" panose="02020603050405020304" pitchFamily="18" charset="0"/>
                <a:cs typeface="Times New Roman" panose="02020603050405020304" pitchFamily="18" charset="0"/>
              </a:rPr>
              <a:t>(</a:t>
            </a:r>
            <a:r>
              <a:rPr lang="zh-CN" altLang="en-US" sz="2400" b="0" dirty="0">
                <a:latin typeface="Times New Roman" panose="02020603050405020304" pitchFamily="18" charset="0"/>
                <a:cs typeface="Times New Roman" panose="02020603050405020304" pitchFamily="18" charset="0"/>
              </a:rPr>
              <a:t>最大）值不存在时，我们便关心其下（上）确界，即将问 题</a:t>
            </a:r>
            <a:r>
              <a:rPr lang="en-US" altLang="zh-CN" sz="2400" b="0" dirty="0">
                <a:latin typeface="Times New Roman" panose="02020603050405020304" pitchFamily="18" charset="0"/>
                <a:cs typeface="Times New Roman" panose="02020603050405020304" pitchFamily="18" charset="0"/>
              </a:rPr>
              <a:t>(1) </a:t>
            </a:r>
            <a:r>
              <a:rPr lang="zh-CN" altLang="en-US" sz="2400" b="0" dirty="0">
                <a:latin typeface="Times New Roman" panose="02020603050405020304" pitchFamily="18" charset="0"/>
                <a:cs typeface="Times New Roman" panose="02020603050405020304" pitchFamily="18" charset="0"/>
              </a:rPr>
              <a:t>中的“</a:t>
            </a:r>
            <a:r>
              <a:rPr lang="en-US" altLang="zh-CN" sz="2400" b="0" dirty="0">
                <a:latin typeface="Times New Roman" panose="02020603050405020304" pitchFamily="18" charset="0"/>
                <a:cs typeface="Times New Roman" panose="02020603050405020304" pitchFamily="18" charset="0"/>
              </a:rPr>
              <a:t>min(max)”</a:t>
            </a:r>
            <a:r>
              <a:rPr lang="zh-CN" altLang="en-US" sz="2400" b="0" dirty="0">
                <a:latin typeface="Times New Roman" panose="02020603050405020304" pitchFamily="18" charset="0"/>
                <a:cs typeface="Times New Roman" panose="02020603050405020304" pitchFamily="18" charset="0"/>
              </a:rPr>
              <a:t>改为“</a:t>
            </a:r>
            <a:r>
              <a:rPr lang="en-US" altLang="zh-CN" sz="2400" b="0" dirty="0">
                <a:latin typeface="Times New Roman" panose="02020603050405020304" pitchFamily="18" charset="0"/>
                <a:cs typeface="Times New Roman" panose="02020603050405020304" pitchFamily="18" charset="0"/>
              </a:rPr>
              <a:t>inf(sup)”.</a:t>
            </a:r>
          </a:p>
          <a:p>
            <a:endParaRPr lang="en-US" altLang="zh-CN" sz="2400" dirty="0">
              <a:latin typeface="Times New Roman" panose="02020603050405020304" pitchFamily="18" charset="0"/>
              <a:cs typeface="Times New Roman" panose="02020603050405020304" pitchFamily="18" charset="0"/>
            </a:endParaRPr>
          </a:p>
          <a:p>
            <a:r>
              <a:rPr lang="zh-CN" altLang="en-US" sz="2400" b="0" dirty="0">
                <a:latin typeface="Times New Roman" panose="02020603050405020304" pitchFamily="18" charset="0"/>
                <a:cs typeface="Times New Roman" panose="02020603050405020304" pitchFamily="18" charset="0"/>
              </a:rPr>
              <a:t>一般</a:t>
            </a:r>
            <a:r>
              <a:rPr lang="en-US" altLang="zh-CN" sz="2400" b="0" dirty="0">
                <a:latin typeface="Times New Roman" panose="02020603050405020304" pitchFamily="18" charset="0"/>
                <a:cs typeface="Times New Roman" panose="02020603050405020304" pitchFamily="18" charset="0"/>
              </a:rPr>
              <a:t>x</a:t>
            </a:r>
            <a:r>
              <a:rPr lang="zh-CN" altLang="en-US" sz="2400" b="0" dirty="0">
                <a:latin typeface="Times New Roman" panose="02020603050405020304" pitchFamily="18" charset="0"/>
                <a:cs typeface="Times New Roman" panose="02020603050405020304" pitchFamily="18" charset="0"/>
              </a:rPr>
              <a:t>为</a:t>
            </a:r>
            <a:r>
              <a:rPr lang="en-US" altLang="zh-CN" sz="2400" b="0" dirty="0">
                <a:latin typeface="Times New Roman" panose="02020603050405020304" pitchFamily="18" charset="0"/>
                <a:cs typeface="Times New Roman" panose="02020603050405020304" pitchFamily="18" charset="0"/>
              </a:rPr>
              <a:t>R</a:t>
            </a:r>
            <a:r>
              <a:rPr lang="en-US" altLang="zh-CN" sz="2400" b="0" baseline="30000" dirty="0">
                <a:latin typeface="Times New Roman" panose="02020603050405020304" pitchFamily="18" charset="0"/>
                <a:cs typeface="Times New Roman" panose="02020603050405020304" pitchFamily="18" charset="0"/>
              </a:rPr>
              <a:t>n</a:t>
            </a:r>
            <a:r>
              <a:rPr lang="zh-CN" altLang="en-US" sz="2400" b="0" dirty="0">
                <a:latin typeface="Times New Roman" panose="02020603050405020304" pitchFamily="18" charset="0"/>
                <a:cs typeface="Times New Roman" panose="02020603050405020304" pitchFamily="18" charset="0"/>
              </a:rPr>
              <a:t>空间中的向量．实际上，根据具体应用和需求，</a:t>
            </a:r>
            <a:r>
              <a:rPr lang="en-US" altLang="zh-CN" sz="2400" b="0" dirty="0">
                <a:latin typeface="Times New Roman" panose="02020603050405020304" pitchFamily="18" charset="0"/>
                <a:cs typeface="Times New Roman" panose="02020603050405020304" pitchFamily="18" charset="0"/>
              </a:rPr>
              <a:t>x</a:t>
            </a:r>
            <a:r>
              <a:rPr lang="zh-CN" altLang="en-US" sz="2400" b="0" dirty="0">
                <a:latin typeface="Times New Roman" panose="02020603050405020304" pitchFamily="18" charset="0"/>
                <a:cs typeface="Times New Roman" panose="02020603050405020304" pitchFamily="18" charset="0"/>
              </a:rPr>
              <a:t>还可以是矩阵、多维数组或张量等等。</a:t>
            </a:r>
            <a:endParaRPr lang="en-US" altLang="zh-CN" sz="2400" b="0" dirty="0">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187325"/>
            <a:ext cx="8229600" cy="757555"/>
          </a:xfrm>
        </p:spPr>
        <p:txBody>
          <a:bodyPr/>
          <a:lstStyle/>
          <a:p>
            <a:r>
              <a:rPr lang="zh-CN" altLang="en-US" dirty="0"/>
              <a:t>最优化问题的类型</a:t>
            </a:r>
          </a:p>
        </p:txBody>
      </p:sp>
      <p:sp>
        <p:nvSpPr>
          <p:cNvPr id="3" name="内容占位符 2"/>
          <p:cNvSpPr>
            <a:spLocks noGrp="1"/>
          </p:cNvSpPr>
          <p:nvPr>
            <p:ph idx="1"/>
          </p:nvPr>
        </p:nvSpPr>
        <p:spPr>
          <a:xfrm>
            <a:off x="457200" y="1353820"/>
            <a:ext cx="8229600" cy="4530725"/>
          </a:xfrm>
        </p:spPr>
        <p:txBody>
          <a:bodyPr/>
          <a:lstStyle/>
          <a:p>
            <a:pPr marL="0" indent="0">
              <a:buNone/>
            </a:pPr>
            <a:r>
              <a:rPr lang="zh-CN" altLang="en-US" sz="2400" b="0" dirty="0"/>
              <a:t>以目标函数和约束函数的形式来分</a:t>
            </a:r>
            <a:endParaRPr lang="en-US" altLang="zh-CN" sz="2400" b="0" dirty="0"/>
          </a:p>
          <a:p>
            <a:r>
              <a:rPr lang="zh-CN" altLang="en-US" sz="2400" b="0" dirty="0"/>
              <a:t>当目标函数和约束函数均为线性函数时，问题</a:t>
            </a:r>
            <a:r>
              <a:rPr lang="en-US" altLang="zh-CN" sz="2400" b="0" dirty="0"/>
              <a:t>(1) </a:t>
            </a:r>
            <a:r>
              <a:rPr lang="zh-CN" altLang="en-US" sz="2400" b="0" dirty="0"/>
              <a:t>称为</a:t>
            </a:r>
            <a:r>
              <a:rPr lang="zh-CN" altLang="en-US" sz="2400" b="0" dirty="0">
                <a:solidFill>
                  <a:srgbClr val="4156F1"/>
                </a:solidFill>
              </a:rPr>
              <a:t>线性规划； </a:t>
            </a:r>
            <a:endParaRPr lang="en-US" altLang="zh-CN" sz="2400" b="0" dirty="0">
              <a:solidFill>
                <a:srgbClr val="4156F1"/>
              </a:solidFill>
            </a:endParaRPr>
          </a:p>
          <a:p>
            <a:endParaRPr lang="zh-CN" altLang="en-US" sz="2400" b="0" dirty="0"/>
          </a:p>
          <a:p>
            <a:r>
              <a:rPr lang="zh-CN" altLang="en-US" sz="2400" b="0" dirty="0"/>
              <a:t>当目标函数和约束函数中至少有一个为非线性函数时，相应的问题称为</a:t>
            </a:r>
            <a:r>
              <a:rPr lang="zh-CN" altLang="en-US" sz="2400" b="0" dirty="0">
                <a:solidFill>
                  <a:srgbClr val="4156F1"/>
                </a:solidFill>
              </a:rPr>
              <a:t>非线性规划</a:t>
            </a:r>
            <a:r>
              <a:rPr lang="zh-CN" altLang="en-US" sz="2400" b="0" dirty="0"/>
              <a:t>；</a:t>
            </a:r>
            <a:endParaRPr lang="en-US" altLang="zh-CN" sz="2400" b="0" dirty="0"/>
          </a:p>
          <a:p>
            <a:r>
              <a:rPr lang="zh-CN" altLang="en-US" sz="2400" b="0" dirty="0"/>
              <a:t> </a:t>
            </a:r>
          </a:p>
          <a:p>
            <a:r>
              <a:rPr lang="zh-CN" altLang="en-US" sz="2400" b="0" dirty="0"/>
              <a:t>如果目标函数是二次函数而约束函数是线性函数则称为</a:t>
            </a:r>
            <a:r>
              <a:rPr lang="zh-CN" altLang="en-US" sz="2400" b="0" dirty="0">
                <a:solidFill>
                  <a:srgbClr val="4156F1"/>
                </a:solidFill>
              </a:rPr>
              <a:t>二次规划；</a:t>
            </a: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2800" b="0" dirty="0"/>
              <a:t>包含非光滑函数的问题称为</a:t>
            </a:r>
            <a:r>
              <a:rPr lang="zh-CN" altLang="en-US" sz="2800" b="0" dirty="0">
                <a:solidFill>
                  <a:srgbClr val="4156F1"/>
                </a:solidFill>
              </a:rPr>
              <a:t>非光滑优化</a:t>
            </a:r>
            <a:r>
              <a:rPr lang="zh-CN" altLang="en-US" sz="2800" b="0" dirty="0"/>
              <a:t>； </a:t>
            </a:r>
            <a:endParaRPr lang="en-US" altLang="zh-CN" sz="2800" b="0" dirty="0"/>
          </a:p>
          <a:p>
            <a:endParaRPr lang="zh-CN" altLang="en-US" sz="2800" b="0" dirty="0"/>
          </a:p>
          <a:p>
            <a:r>
              <a:rPr lang="zh-CN" altLang="en-US" sz="2800" b="0" dirty="0"/>
              <a:t>不能直接求导数的问题称为</a:t>
            </a:r>
            <a:r>
              <a:rPr lang="zh-CN" altLang="en-US" sz="2800" b="0" dirty="0">
                <a:solidFill>
                  <a:srgbClr val="4156F1"/>
                </a:solidFill>
              </a:rPr>
              <a:t>无导数优化</a:t>
            </a:r>
            <a:r>
              <a:rPr lang="zh-CN" altLang="en-US" sz="2800" b="0" dirty="0"/>
              <a:t>；</a:t>
            </a:r>
            <a:endParaRPr lang="en-US" altLang="zh-CN" sz="2800" b="0" dirty="0"/>
          </a:p>
          <a:p>
            <a:endParaRPr lang="zh-CN" altLang="en-US" sz="2800" b="0" dirty="0"/>
          </a:p>
          <a:p>
            <a:r>
              <a:rPr lang="zh-CN" altLang="en-US" sz="2800" b="0" dirty="0"/>
              <a:t>变量只能取整数的问题称为</a:t>
            </a:r>
            <a:r>
              <a:rPr lang="zh-CN" altLang="en-US" sz="2800" b="0" dirty="0">
                <a:solidFill>
                  <a:srgbClr val="4156F1"/>
                </a:solidFill>
              </a:rPr>
              <a:t>整数规划</a:t>
            </a:r>
            <a:r>
              <a:rPr lang="zh-CN" altLang="en-US" sz="2800" b="0" dirty="0"/>
              <a:t>； </a:t>
            </a:r>
            <a:endParaRPr lang="en-US" altLang="zh-CN" sz="2800" b="0" dirty="0"/>
          </a:p>
          <a:p>
            <a:endParaRPr lang="zh-CN" altLang="en-US" sz="2800" b="0" dirty="0"/>
          </a:p>
          <a:p>
            <a:r>
              <a:rPr lang="zh-CN" altLang="en-US" sz="2800" b="0" dirty="0"/>
              <a:t>在线性约束下极小化关于半正定矩阵的线性函数的问题称为</a:t>
            </a:r>
            <a:r>
              <a:rPr lang="zh-CN" altLang="en-US" sz="2800" b="0" dirty="0">
                <a:solidFill>
                  <a:srgbClr val="4156F1"/>
                </a:solidFill>
              </a:rPr>
              <a:t>半定规划</a:t>
            </a:r>
            <a:r>
              <a:rPr lang="zh-CN" altLang="en-US" sz="2800" b="0" dirty="0"/>
              <a:t>，其广义形式为</a:t>
            </a:r>
            <a:r>
              <a:rPr lang="zh-CN" altLang="en-US" sz="2800" b="0" dirty="0">
                <a:solidFill>
                  <a:srgbClr val="4156F1"/>
                </a:solidFill>
              </a:rPr>
              <a:t>锥规划</a:t>
            </a:r>
            <a:r>
              <a:rPr lang="zh-CN" altLang="en-US" sz="2800" b="0" dirty="0"/>
              <a:t>．</a:t>
            </a:r>
          </a:p>
          <a:p>
            <a:endParaRPr lang="zh-CN" altLang="en-US" sz="2800" b="0" dirty="0"/>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88620" y="1240790"/>
            <a:ext cx="8229600" cy="4530725"/>
          </a:xfrm>
        </p:spPr>
        <p:txBody>
          <a:bodyPr/>
          <a:lstStyle/>
          <a:p>
            <a:r>
              <a:rPr lang="zh-CN" altLang="en-US" sz="2400" b="0" dirty="0"/>
              <a:t>最优解只有少量非零元素的问题称为</a:t>
            </a:r>
            <a:r>
              <a:rPr lang="zh-CN" altLang="en-US" sz="2400" b="0" dirty="0">
                <a:solidFill>
                  <a:srgbClr val="4156F1"/>
                </a:solidFill>
              </a:rPr>
              <a:t>稀疏优化</a:t>
            </a:r>
            <a:r>
              <a:rPr lang="zh-CN" altLang="en-US" sz="2400" b="0" dirty="0"/>
              <a:t>；</a:t>
            </a:r>
            <a:endParaRPr lang="en-US" altLang="zh-CN" sz="2400" b="0" dirty="0"/>
          </a:p>
          <a:p>
            <a:endParaRPr lang="zh-CN" altLang="en-US" sz="2400" b="0" dirty="0"/>
          </a:p>
          <a:p>
            <a:r>
              <a:rPr lang="zh-CN" altLang="en-US" sz="2400" b="0" dirty="0"/>
              <a:t>最优解是低秩矩阵的问题称为</a:t>
            </a:r>
            <a:r>
              <a:rPr lang="zh-CN" altLang="en-US" sz="2400" b="0" dirty="0">
                <a:solidFill>
                  <a:srgbClr val="4156F1"/>
                </a:solidFill>
              </a:rPr>
              <a:t>低秩矩阵优化</a:t>
            </a:r>
            <a:r>
              <a:rPr lang="zh-CN" altLang="en-US" sz="2400" b="0" dirty="0"/>
              <a:t>． </a:t>
            </a:r>
            <a:endParaRPr lang="en-US" altLang="zh-CN" sz="2400" b="0" dirty="0"/>
          </a:p>
          <a:p>
            <a:endParaRPr lang="zh-CN" altLang="en-US" sz="2400" b="0" dirty="0"/>
          </a:p>
          <a:p>
            <a:r>
              <a:rPr lang="zh-CN" altLang="en-US" sz="2400" b="0" dirty="0"/>
              <a:t>此外还有几何优化、二次锥规划、张量优化、鲁棒优化、全局优化、组合优化、网络规划、随机优化、动态规划、带微分方程约束优化、微分流形约束优化、分布式优化等</a:t>
            </a:r>
            <a:endParaRPr lang="en-US" altLang="zh-CN" sz="2400" b="0" dirty="0"/>
          </a:p>
          <a:p>
            <a:endParaRPr lang="en-US" altLang="zh-CN" sz="2400" b="0" dirty="0"/>
          </a:p>
          <a:p>
            <a:r>
              <a:rPr lang="zh-CN" altLang="en-US" sz="2400" b="0" dirty="0"/>
              <a:t>涵盖统计学习、压缩感知、最优运输、信号处理、图像处理、机器学习、强化学习、模式识别、金融工程、电力系统等领域的优化模型</a:t>
            </a: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内容占位符 2"/>
          <p:cNvSpPr>
            <a:spLocks noGrp="1"/>
          </p:cNvSpPr>
          <p:nvPr>
            <p:ph idx="1"/>
          </p:nvPr>
        </p:nvSpPr>
        <p:spPr>
          <a:xfrm>
            <a:off x="457200" y="1297305"/>
            <a:ext cx="8229600" cy="4530725"/>
          </a:xfrm>
        </p:spPr>
        <p:txBody>
          <a:bodyPr/>
          <a:lstStyle/>
          <a:p>
            <a:r>
              <a:rPr lang="zh-CN" altLang="en-US" b="0" dirty="0">
                <a:solidFill>
                  <a:srgbClr val="4156F1"/>
                </a:solidFill>
                <a:latin typeface="Times New Roman" panose="02020603050405020304" pitchFamily="18" charset="0"/>
                <a:cs typeface="Times New Roman" panose="02020603050405020304" pitchFamily="18" charset="0"/>
              </a:rPr>
              <a:t>确定性优化</a:t>
            </a:r>
            <a:r>
              <a:rPr lang="en-US" altLang="zh-CN" b="0" i="1" dirty="0">
                <a:solidFill>
                  <a:srgbClr val="000099"/>
                </a:solidFill>
                <a:latin typeface="Times New Roman" panose="02020603050405020304" pitchFamily="18" charset="0"/>
                <a:cs typeface="Times New Roman" panose="02020603050405020304" pitchFamily="18" charset="0"/>
              </a:rPr>
              <a:t>deterministic</a:t>
            </a:r>
            <a:r>
              <a:rPr lang="zh-CN" altLang="en-US" b="0" dirty="0">
                <a:latin typeface="Times New Roman" panose="02020603050405020304" pitchFamily="18" charset="0"/>
                <a:cs typeface="Times New Roman" panose="02020603050405020304" pitchFamily="18" charset="0"/>
              </a:rPr>
              <a:t>：模型中的所有参数值事先已知</a:t>
            </a:r>
            <a:endParaRPr lang="en-US" altLang="zh-CN" b="0" dirty="0">
              <a:latin typeface="Times New Roman" panose="02020603050405020304" pitchFamily="18" charset="0"/>
              <a:cs typeface="Times New Roman" panose="02020603050405020304" pitchFamily="18" charset="0"/>
            </a:endParaRPr>
          </a:p>
          <a:p>
            <a:endParaRPr lang="en-US" altLang="zh-CN" b="0" dirty="0">
              <a:latin typeface="Times New Roman" panose="02020603050405020304" pitchFamily="18" charset="0"/>
              <a:cs typeface="Times New Roman" panose="02020603050405020304" pitchFamily="18" charset="0"/>
            </a:endParaRPr>
          </a:p>
          <a:p>
            <a:r>
              <a:rPr lang="zh-CN" altLang="en-US" b="0" dirty="0">
                <a:solidFill>
                  <a:srgbClr val="4156F1"/>
                </a:solidFill>
                <a:latin typeface="Times New Roman" panose="02020603050405020304" pitchFamily="18" charset="0"/>
                <a:cs typeface="Times New Roman" panose="02020603050405020304" pitchFamily="18" charset="0"/>
              </a:rPr>
              <a:t>随机优化</a:t>
            </a:r>
            <a:r>
              <a:rPr lang="en-US" altLang="zh-CN" b="0" i="1" dirty="0">
                <a:solidFill>
                  <a:srgbClr val="000099"/>
                </a:solidFill>
                <a:latin typeface="Times New Roman" panose="02020603050405020304" pitchFamily="18" charset="0"/>
                <a:cs typeface="Times New Roman" panose="02020603050405020304" pitchFamily="18" charset="0"/>
              </a:rPr>
              <a:t>probabilistic</a:t>
            </a:r>
            <a:r>
              <a:rPr lang="en-US" altLang="zh-CN" b="0" dirty="0">
                <a:latin typeface="Times New Roman" panose="02020603050405020304" pitchFamily="18" charset="0"/>
                <a:cs typeface="Times New Roman" panose="02020603050405020304" pitchFamily="18" charset="0"/>
              </a:rPr>
              <a:t> &amp; </a:t>
            </a:r>
            <a:r>
              <a:rPr lang="en-US" altLang="zh-CN" b="0" i="1" dirty="0">
                <a:solidFill>
                  <a:srgbClr val="000099"/>
                </a:solidFill>
                <a:latin typeface="Times New Roman" panose="02020603050405020304" pitchFamily="18" charset="0"/>
                <a:cs typeface="Times New Roman" panose="02020603050405020304" pitchFamily="18" charset="0"/>
              </a:rPr>
              <a:t>stochastic :</a:t>
            </a:r>
            <a:r>
              <a:rPr lang="zh-CN" altLang="en-US" b="0" dirty="0">
                <a:latin typeface="Times New Roman" panose="02020603050405020304" pitchFamily="18" charset="0"/>
                <a:cs typeface="Times New Roman" panose="02020603050405020304" pitchFamily="18" charset="0"/>
              </a:rPr>
              <a:t>模型中的存在有参数其以概率取值</a:t>
            </a:r>
            <a:r>
              <a:rPr lang="en-US" altLang="zh-CN" b="0" dirty="0">
                <a:latin typeface="Times New Roman" panose="02020603050405020304" pitchFamily="18" charset="0"/>
                <a:cs typeface="Times New Roman" panose="02020603050405020304" pitchFamily="18" charset="0"/>
              </a:rPr>
              <a:t>.</a:t>
            </a:r>
            <a:endParaRPr lang="zh-CN" altLang="en-US" b="0" dirty="0">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idx="4294967295"/>
          </p:nvPr>
        </p:nvSpPr>
        <p:spPr>
          <a:xfrm>
            <a:off x="356135" y="302828"/>
            <a:ext cx="8229600" cy="757555"/>
          </a:xfrm>
        </p:spPr>
        <p:txBody>
          <a:bodyPr/>
          <a:lstStyle/>
          <a:p>
            <a:r>
              <a:rPr lang="zh-CN" altLang="en-US" sz="3600" dirty="0"/>
              <a:t>优化算法的基本思想</a:t>
            </a:r>
          </a:p>
        </p:txBody>
      </p:sp>
      <p:sp>
        <p:nvSpPr>
          <p:cNvPr id="80899" name="内容占位符 2"/>
          <p:cNvSpPr>
            <a:spLocks noGrp="1"/>
          </p:cNvSpPr>
          <p:nvPr>
            <p:ph idx="1"/>
          </p:nvPr>
        </p:nvSpPr>
        <p:spPr>
          <a:xfrm>
            <a:off x="428625" y="1014095"/>
            <a:ext cx="8229600" cy="4530725"/>
          </a:xfrm>
        </p:spPr>
        <p:txBody>
          <a:bodyPr/>
          <a:lstStyle/>
          <a:p>
            <a:r>
              <a:rPr lang="zh-CN" altLang="en-US" sz="2800" dirty="0">
                <a:latin typeface="Times New Roman" panose="02020603050405020304" pitchFamily="18" charset="0"/>
                <a:cs typeface="Times New Roman" panose="02020603050405020304" pitchFamily="18" charset="0"/>
              </a:rPr>
              <a:t>改进算法</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迭代算法</a:t>
            </a:r>
            <a:endParaRPr lang="en-US" altLang="zh-CN" sz="2800" dirty="0">
              <a:latin typeface="Times New Roman" panose="02020603050405020304" pitchFamily="18" charset="0"/>
              <a:cs typeface="Times New Roman" panose="02020603050405020304" pitchFamily="18" charset="0"/>
            </a:endParaRPr>
          </a:p>
          <a:p>
            <a:r>
              <a:rPr lang="zh-CN" altLang="en-US" sz="2800" dirty="0">
                <a:latin typeface="Times New Roman" panose="02020603050405020304" pitchFamily="18" charset="0"/>
                <a:cs typeface="Times New Roman" panose="02020603050405020304" pitchFamily="18" charset="0"/>
              </a:rPr>
              <a:t>基本格式</a:t>
            </a:r>
          </a:p>
        </p:txBody>
      </p:sp>
      <p:sp>
        <p:nvSpPr>
          <p:cNvPr id="80900" name="矩形 4"/>
          <p:cNvSpPr>
            <a:spLocks noChangeArrowheads="1"/>
          </p:cNvSpPr>
          <p:nvPr/>
        </p:nvSpPr>
        <p:spPr bwMode="auto">
          <a:xfrm>
            <a:off x="428626" y="2357439"/>
            <a:ext cx="7810600" cy="2657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dirty="0">
                <a:latin typeface="Times New Roman" panose="02020603050405020304" pitchFamily="18" charset="0"/>
                <a:cs typeface="Times New Roman" panose="02020603050405020304" pitchFamily="18" charset="0"/>
              </a:rPr>
              <a:t> [1.] </a:t>
            </a:r>
            <a:r>
              <a:rPr lang="zh-CN" altLang="en-US" dirty="0">
                <a:latin typeface="Times New Roman" panose="02020603050405020304" pitchFamily="18" charset="0"/>
                <a:cs typeface="Times New Roman" panose="02020603050405020304" pitchFamily="18" charset="0"/>
              </a:rPr>
              <a:t>给定最优解的一个初始估计</a:t>
            </a:r>
            <a:r>
              <a:rPr lang="en-US" altLang="zh-CN" i="1" dirty="0">
                <a:latin typeface="Times New Roman" panose="02020603050405020304" pitchFamily="18" charset="0"/>
                <a:cs typeface="Times New Roman" panose="02020603050405020304" pitchFamily="18" charset="0"/>
              </a:rPr>
              <a:t>x</a:t>
            </a:r>
            <a:r>
              <a:rPr lang="en-US" altLang="zh-CN" baseline="30000" dirty="0">
                <a:latin typeface="Times New Roman" panose="02020603050405020304" pitchFamily="18" charset="0"/>
                <a:cs typeface="Times New Roman" panose="02020603050405020304" pitchFamily="18" charset="0"/>
              </a:rPr>
              <a:t>(0)</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置</a:t>
            </a:r>
            <a:r>
              <a:rPr lang="en-US" altLang="zh-CN" dirty="0">
                <a:latin typeface="Times New Roman" panose="02020603050405020304" pitchFamily="18" charset="0"/>
                <a:cs typeface="Times New Roman" panose="02020603050405020304" pitchFamily="18" charset="0"/>
              </a:rPr>
              <a:t>k=0;</a:t>
            </a:r>
          </a:p>
          <a:p>
            <a:pPr eaLnBrk="1" hangingPunct="1">
              <a:spcBef>
                <a:spcPct val="0"/>
              </a:spcBef>
              <a:buFontTx/>
              <a:buNone/>
            </a:pPr>
            <a:r>
              <a:rPr lang="en-US" altLang="zh-CN" dirty="0">
                <a:latin typeface="Times New Roman" panose="02020603050405020304" pitchFamily="18" charset="0"/>
                <a:cs typeface="Times New Roman" panose="02020603050405020304" pitchFamily="18" charset="0"/>
              </a:rPr>
              <a:t> [2.] </a:t>
            </a:r>
            <a:r>
              <a:rPr lang="zh-CN" altLang="en-US" dirty="0">
                <a:latin typeface="Times New Roman" panose="02020603050405020304" pitchFamily="18" charset="0"/>
                <a:cs typeface="Times New Roman" panose="02020603050405020304" pitchFamily="18" charset="0"/>
              </a:rPr>
              <a:t>如果</a:t>
            </a:r>
            <a:r>
              <a:rPr lang="en-US" altLang="zh-CN" i="1" dirty="0">
                <a:latin typeface="Times New Roman" panose="02020603050405020304" pitchFamily="18" charset="0"/>
                <a:cs typeface="Times New Roman" panose="02020603050405020304" pitchFamily="18" charset="0"/>
              </a:rPr>
              <a:t>x</a:t>
            </a:r>
            <a:r>
              <a:rPr lang="en-US" altLang="zh-CN" baseline="30000" dirty="0">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满足对最优解估计的终止条件，停止迭代</a:t>
            </a:r>
            <a:r>
              <a:rPr lang="en-US" altLang="zh-CN" dirty="0">
                <a:latin typeface="Times New Roman" panose="02020603050405020304" pitchFamily="18" charset="0"/>
                <a:cs typeface="Times New Roman" panose="02020603050405020304" pitchFamily="18" charset="0"/>
              </a:rPr>
              <a:t>;</a:t>
            </a:r>
          </a:p>
          <a:p>
            <a:pPr eaLnBrk="1" hangingPunct="1">
              <a:spcBef>
                <a:spcPct val="0"/>
              </a:spcBef>
              <a:buFontTx/>
              <a:buNone/>
            </a:pPr>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确定一个改善</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 </a:t>
            </a:r>
            <a:r>
              <a:rPr lang="en-US" altLang="zh-CN" baseline="30000" dirty="0">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的修正量</a:t>
            </a:r>
            <a:r>
              <a:rPr lang="zh-CN" altLang="en-US" dirty="0">
                <a:latin typeface="Times New Roman" panose="02020603050405020304" pitchFamily="18" charset="0"/>
                <a:cs typeface="Times New Roman" panose="02020603050405020304" pitchFamily="18" charset="0"/>
                <a:sym typeface="Euclid 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baseline="30000" dirty="0">
                <a:latin typeface="Times New Roman" panose="02020603050405020304" pitchFamily="18" charset="0"/>
                <a:cs typeface="Times New Roman" panose="02020603050405020304" pitchFamily="18" charset="0"/>
              </a:rPr>
              <a:t>(k)</a:t>
            </a:r>
            <a:endParaRPr lang="en-US" altLang="zh-CN" dirty="0">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zh-CN" dirty="0">
                <a:latin typeface="Times New Roman" panose="02020603050405020304" pitchFamily="18" charset="0"/>
                <a:cs typeface="Times New Roman" panose="02020603050405020304" pitchFamily="18" charset="0"/>
              </a:rPr>
              <a:t>[4.] </a:t>
            </a:r>
            <a:r>
              <a:rPr lang="zh-CN" altLang="en-US" dirty="0">
                <a:latin typeface="Times New Roman" panose="02020603050405020304" pitchFamily="18" charset="0"/>
                <a:cs typeface="Times New Roman" panose="02020603050405020304" pitchFamily="18" charset="0"/>
              </a:rPr>
              <a:t>得到最优解的一个更好的估计</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 </a:t>
            </a:r>
            <a:r>
              <a:rPr lang="en-US" altLang="zh-CN" baseline="30000" dirty="0">
                <a:latin typeface="Times New Roman" panose="02020603050405020304" pitchFamily="18" charset="0"/>
                <a:cs typeface="Times New Roman" panose="02020603050405020304" pitchFamily="18" charset="0"/>
              </a:rPr>
              <a:t>(k+1) =</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 </a:t>
            </a:r>
            <a:r>
              <a:rPr lang="en-US" altLang="zh-CN" baseline="30000" dirty="0">
                <a:latin typeface="Times New Roman" panose="02020603050405020304" pitchFamily="18" charset="0"/>
                <a:cs typeface="Times New Roman" panose="02020603050405020304" pitchFamily="18" charset="0"/>
              </a:rPr>
              <a:t>(k) </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Euclid Symbol" panose="05050102010706020507" pitchFamily="18" charset="2"/>
              </a:rPr>
              <a:t></a:t>
            </a:r>
            <a:r>
              <a:rPr lang="en-US" altLang="zh-CN" baseline="30000" dirty="0">
                <a:latin typeface="Times New Roman" panose="02020603050405020304" pitchFamily="18" charset="0"/>
                <a:cs typeface="Times New Roman" panose="02020603050405020304" pitchFamily="18" charset="0"/>
              </a:rPr>
              <a:t>(k)</a:t>
            </a:r>
            <a:endParaRPr lang="en-US" altLang="zh-CN" dirty="0">
              <a:latin typeface="Times New Roman" panose="02020603050405020304" pitchFamily="18" charset="0"/>
              <a:cs typeface="Times New Roman" panose="02020603050405020304" pitchFamily="18" charset="0"/>
            </a:endParaRPr>
          </a:p>
          <a:p>
            <a:pPr eaLnBrk="1" hangingPunct="1">
              <a:spcBef>
                <a:spcPct val="0"/>
              </a:spcBef>
              <a:buFontTx/>
              <a:buNone/>
            </a:pPr>
            <a:r>
              <a:rPr lang="zh-CN" altLang="en-US" dirty="0">
                <a:latin typeface="Times New Roman" panose="02020603050405020304" pitchFamily="18" charset="0"/>
                <a:cs typeface="Times New Roman" panose="02020603050405020304" pitchFamily="18" charset="0"/>
              </a:rPr>
              <a:t>置</a:t>
            </a:r>
            <a:r>
              <a:rPr lang="en-US" altLang="zh-CN" dirty="0">
                <a:latin typeface="Times New Roman" panose="02020603050405020304" pitchFamily="18" charset="0"/>
                <a:cs typeface="Times New Roman" panose="02020603050405020304" pitchFamily="18" charset="0"/>
              </a:rPr>
              <a:t>k=k+1</a:t>
            </a:r>
            <a:r>
              <a:rPr lang="zh-CN" altLang="en-US" dirty="0">
                <a:latin typeface="Times New Roman" panose="02020603050405020304" pitchFamily="18" charset="0"/>
                <a:cs typeface="Times New Roman" panose="02020603050405020304" pitchFamily="18" charset="0"/>
              </a:rPr>
              <a:t>后转步</a:t>
            </a: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theme/theme1.xml><?xml version="1.0" encoding="utf-8"?>
<a:theme xmlns:a="http://schemas.openxmlformats.org/drawingml/2006/main" name="xu">
  <a:themeElements>
    <a:clrScheme name="xu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xu">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xu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xu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xu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xu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xu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xu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xu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ITACHI">
  <a:themeElements>
    <a:clrScheme name="HITACHI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HITACHI">
      <a:majorFont>
        <a:latin typeface="Garamond"/>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HITACHI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HITACHI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HITACHI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HITACHI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HITACHI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HITACHI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HITACHI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HITACHI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HITACHI">
  <a:themeElements>
    <a:clrScheme name="1_HITACHI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1_HITACHI">
      <a:majorFont>
        <a:latin typeface="Garamond"/>
        <a:ea typeface="黑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HITACHI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1_HITACHI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1_HITACHI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1_HITACHI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1_HITACHI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1_HITACHI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1_HITACHI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1_HITACHI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HITACHI">
  <a:themeElements>
    <a:clrScheme name="1_HITACHI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1_HITACHI">
      <a:majorFont>
        <a:latin typeface="Garamond"/>
        <a:ea typeface="黑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HITACHI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1_HITACHI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1_HITACHI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1_HITACHI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1_HITACHI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1_HITACHI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1_HITACHI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1_HITACHI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HITACHI">
  <a:themeElements>
    <a:clrScheme name="2_HITACHI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2_HITACHI">
      <a:majorFont>
        <a:latin typeface="Garamond"/>
        <a:ea typeface="黑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HITACHI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2_HITACHI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2_HITACHI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2_HITACHI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2_HITACHI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2_HITACHI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2_HITACHI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2_HITACHI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HITACHI">
  <a:themeElements>
    <a:clrScheme name="HITACHI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HITACHI">
      <a:majorFont>
        <a:latin typeface="Garamond"/>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rgbClr val="C0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rgbClr val="C00000"/>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HITACHI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HITACHI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HITACHI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HITACHI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HITACHI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HITACHI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HITACHI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HITACHI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默认设计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705</TotalTime>
  <Words>3147</Words>
  <Application>Microsoft Office PowerPoint</Application>
  <PresentationFormat>全屏显示(4:3)</PresentationFormat>
  <Paragraphs>269</Paragraphs>
  <Slides>46</Slides>
  <Notes>7</Notes>
  <HiddenSlides>0</HiddenSlides>
  <MMClips>0</MMClips>
  <ScaleCrop>false</ScaleCrop>
  <HeadingPairs>
    <vt:vector size="8" baseType="variant">
      <vt:variant>
        <vt:lpstr>已用的字体</vt:lpstr>
      </vt:variant>
      <vt:variant>
        <vt:i4>20</vt:i4>
      </vt:variant>
      <vt:variant>
        <vt:lpstr>主题</vt:lpstr>
      </vt:variant>
      <vt:variant>
        <vt:i4>7</vt:i4>
      </vt:variant>
      <vt:variant>
        <vt:lpstr>嵌入 OLE 服务器</vt:lpstr>
      </vt:variant>
      <vt:variant>
        <vt:i4>1</vt:i4>
      </vt:variant>
      <vt:variant>
        <vt:lpstr>幻灯片标题</vt:lpstr>
      </vt:variant>
      <vt:variant>
        <vt:i4>46</vt:i4>
      </vt:variant>
    </vt:vector>
  </HeadingPairs>
  <TitlesOfParts>
    <vt:vector size="74" baseType="lpstr">
      <vt:lpstr>CMR10</vt:lpstr>
      <vt:lpstr>FandolSong-Regular-Identity-H</vt:lpstr>
      <vt:lpstr>quote-cjk-patch</vt:lpstr>
      <vt:lpstr>URWPalladioL-Ital</vt:lpstr>
      <vt:lpstr>URWPalladioL-Roma</vt:lpstr>
      <vt:lpstr>黑体</vt:lpstr>
      <vt:lpstr>华文楷体</vt:lpstr>
      <vt:lpstr>华文隶书</vt:lpstr>
      <vt:lpstr>楷体_GB2312</vt:lpstr>
      <vt:lpstr>隶书</vt:lpstr>
      <vt:lpstr>宋体</vt:lpstr>
      <vt:lpstr>Arial</vt:lpstr>
      <vt:lpstr>Arial Black</vt:lpstr>
      <vt:lpstr>Calibri</vt:lpstr>
      <vt:lpstr>Calibri Light</vt:lpstr>
      <vt:lpstr>Cambria Math</vt:lpstr>
      <vt:lpstr>Garamond</vt:lpstr>
      <vt:lpstr>Times New Roman</vt:lpstr>
      <vt:lpstr>Verdana</vt:lpstr>
      <vt:lpstr>Wingdings</vt:lpstr>
      <vt:lpstr>xu</vt:lpstr>
      <vt:lpstr>HITACHI</vt:lpstr>
      <vt:lpstr>1_HITACHI</vt:lpstr>
      <vt:lpstr>4_HITACHI</vt:lpstr>
      <vt:lpstr>2_HITACHI</vt:lpstr>
      <vt:lpstr>3_HITACHI</vt:lpstr>
      <vt:lpstr>2_默认设计模板</vt:lpstr>
      <vt:lpstr>Equation</vt:lpstr>
      <vt:lpstr>PowerPoint 演示文稿</vt:lpstr>
      <vt:lpstr>教材/ 参考书 :</vt:lpstr>
      <vt:lpstr> 课程内容</vt:lpstr>
      <vt:lpstr>课程目标</vt:lpstr>
      <vt:lpstr>学科介绍</vt:lpstr>
      <vt:lpstr>一个简单的优化例子</vt:lpstr>
      <vt:lpstr>PowerPoint 演示文稿</vt:lpstr>
      <vt:lpstr>PowerPoint 演示文稿</vt:lpstr>
      <vt:lpstr>PowerPoint 演示文稿</vt:lpstr>
      <vt:lpstr> 优化流程</vt:lpstr>
      <vt:lpstr>优化模型的三个代表</vt:lpstr>
      <vt:lpstr>PowerPoint 演示文稿</vt:lpstr>
      <vt:lpstr>PowerPoint 演示文稿</vt:lpstr>
      <vt:lpstr>PowerPoint 演示文稿</vt:lpstr>
      <vt:lpstr>模型假设：需求为定值</vt:lpstr>
      <vt:lpstr>PowerPoint 演示文稿</vt:lpstr>
      <vt:lpstr>PowerPoint 演示文稿</vt:lpstr>
      <vt:lpstr>PowerPoint 演示文稿</vt:lpstr>
      <vt:lpstr>更进一步的分析</vt:lpstr>
      <vt:lpstr>PowerPoint 演示文稿</vt:lpstr>
      <vt:lpstr>需求为定值时的模型</vt:lpstr>
      <vt:lpstr>可行解与最优解</vt:lpstr>
      <vt:lpstr>PowerPoint 演示文稿</vt:lpstr>
      <vt:lpstr>模型一般化</vt:lpstr>
      <vt:lpstr>需求为定值时的经济订购批量(EOQ)</vt:lpstr>
      <vt:lpstr>可解性Vs有效性  精确解Vs近似解</vt:lpstr>
      <vt:lpstr>食谱问题</vt:lpstr>
      <vt:lpstr>食谱问题（续）</vt:lpstr>
      <vt:lpstr>选址问题</vt:lpstr>
      <vt:lpstr>选址问题</vt:lpstr>
      <vt:lpstr>PowerPoint 演示文稿</vt:lpstr>
      <vt:lpstr>稀疏优化</vt:lpstr>
      <vt:lpstr>PowerPoint 演示文稿</vt:lpstr>
      <vt:lpstr>PowerPoint 演示文稿</vt:lpstr>
      <vt:lpstr>PowerPoint 演示文稿</vt:lpstr>
      <vt:lpstr>PowerPoint 演示文稿</vt:lpstr>
      <vt:lpstr>PowerPoint 演示文稿</vt:lpstr>
      <vt:lpstr>PowerPoint 演示文稿</vt:lpstr>
      <vt:lpstr>基本概念</vt:lpstr>
      <vt:lpstr>基本概念</vt:lpstr>
      <vt:lpstr>PowerPoint 演示文稿</vt:lpstr>
      <vt:lpstr>最优化问题的类型</vt:lpstr>
      <vt:lpstr>PowerPoint 演示文稿</vt:lpstr>
      <vt:lpstr>PowerPoint 演示文稿</vt:lpstr>
      <vt:lpstr>PowerPoint 演示文稿</vt:lpstr>
      <vt:lpstr>优化算法的基本思想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Leon</dc:creator>
  <cp:lastModifiedBy>tpshu</cp:lastModifiedBy>
  <cp:revision>1722</cp:revision>
  <cp:lastPrinted>2025-02-28T04:13:00Z</cp:lastPrinted>
  <dcterms:created xsi:type="dcterms:W3CDTF">2012-04-20T06:02:00Z</dcterms:created>
  <dcterms:modified xsi:type="dcterms:W3CDTF">2026-03-02T10:08:59Z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9CF86C79608144ADBEF3A26E5FD9A904</vt:lpwstr>
  </property>
</Properties>
</file>