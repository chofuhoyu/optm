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  <p:sldMasterId id="2147483685" r:id="rId4"/>
    <p:sldMasterId id="2147483697" r:id="rId5"/>
    <p:sldMasterId id="2147483709" r:id="rId6"/>
    <p:sldMasterId id="2147483721" r:id="rId7"/>
  </p:sldMasterIdLst>
  <p:notesMasterIdLst>
    <p:notesMasterId r:id="rId39"/>
  </p:notesMasterIdLst>
  <p:handoutMasterIdLst>
    <p:handoutMasterId r:id="rId40"/>
  </p:handoutMasterIdLst>
  <p:sldIdLst>
    <p:sldId id="377" r:id="rId8"/>
    <p:sldId id="292" r:id="rId9"/>
    <p:sldId id="256" r:id="rId10"/>
    <p:sldId id="258" r:id="rId11"/>
    <p:sldId id="259" r:id="rId12"/>
    <p:sldId id="261" r:id="rId13"/>
    <p:sldId id="262" r:id="rId14"/>
    <p:sldId id="263" r:id="rId15"/>
    <p:sldId id="264" r:id="rId16"/>
    <p:sldId id="265" r:id="rId17"/>
    <p:sldId id="266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6"/>
    <p:sldId id="275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7099300" cy="10234613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CC6600"/>
    <a:srgbClr val="990000"/>
    <a:srgbClr val="336699"/>
    <a:srgbClr val="CC3300"/>
    <a:srgbClr val="008080"/>
    <a:srgbClr val="009999"/>
    <a:srgbClr val="FFFFFF"/>
    <a:srgbClr val="CBD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7" autoAdjust="0"/>
    <p:restoredTop sz="92552" autoAdjust="0"/>
  </p:normalViewPr>
  <p:slideViewPr>
    <p:cSldViewPr snapToGrid="0" showGuides="1">
      <p:cViewPr varScale="1">
        <p:scale>
          <a:sx n="61" d="100"/>
          <a:sy n="61" d="100"/>
        </p:scale>
        <p:origin x="1356" y="64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2796" y="60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41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4" Type="http://schemas.openxmlformats.org/officeDocument/2006/relationships/image" Target="../media/image59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4" Type="http://schemas.openxmlformats.org/officeDocument/2006/relationships/image" Target="../media/image6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2026/3/2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6313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 dirty="0"/>
              <a:t>Click to edit Master text styles</a:t>
            </a:r>
          </a:p>
          <a:p>
            <a:pPr lvl="1"/>
            <a:r>
              <a:rPr lang="en-US" altLang="zh-CN" noProof="0" dirty="0"/>
              <a:t>Second level</a:t>
            </a:r>
          </a:p>
          <a:p>
            <a:pPr lvl="2"/>
            <a:r>
              <a:rPr lang="en-US" altLang="zh-CN" noProof="0" dirty="0"/>
              <a:t>Third level</a:t>
            </a:r>
          </a:p>
          <a:p>
            <a:pPr lvl="3"/>
            <a:r>
              <a:rPr lang="en-US" altLang="zh-CN" noProof="0" dirty="0"/>
              <a:t>Fourth level</a:t>
            </a:r>
          </a:p>
          <a:p>
            <a:pPr lvl="4"/>
            <a:r>
              <a:rPr lang="en-US" altLang="zh-CN" noProof="0" dirty="0"/>
              <a:t>Fifth level</a:t>
            </a:r>
            <a:endParaRPr lang="zh-CN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E3916-84D4-42E0-B050-E0A2676029C0}" type="slidenum">
              <a:rPr lang="zh-CN" altLang="en-US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0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69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7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51.wmf"/><Relationship Id="rId4" Type="http://schemas.openxmlformats.org/officeDocument/2006/relationships/image" Target="../media/image52.png"/><Relationship Id="rId9" Type="http://schemas.openxmlformats.org/officeDocument/2006/relationships/oleObject" Target="../embeddings/oleObject40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6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6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7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547197" y="3493316"/>
            <a:ext cx="4322226" cy="20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标题 1"/>
          <p:cNvSpPr>
            <a:spLocks noGrp="1"/>
          </p:cNvSpPr>
          <p:nvPr>
            <p:ph type="title"/>
          </p:nvPr>
        </p:nvSpPr>
        <p:spPr>
          <a:xfrm>
            <a:off x="307865" y="241190"/>
            <a:ext cx="8229600" cy="757238"/>
          </a:xfrm>
        </p:spPr>
        <p:txBody>
          <a:bodyPr/>
          <a:lstStyle/>
          <a:p>
            <a:r>
              <a:rPr lang="zh-CN" altLang="en-US" dirty="0"/>
              <a:t>第二章 线性规划的基本性质</a:t>
            </a:r>
          </a:p>
        </p:txBody>
      </p:sp>
      <p:sp>
        <p:nvSpPr>
          <p:cNvPr id="27653" name="内容占位符 2"/>
          <p:cNvSpPr>
            <a:spLocks noGrp="1"/>
          </p:cNvSpPr>
          <p:nvPr>
            <p:ph idx="4294967295"/>
          </p:nvPr>
        </p:nvSpPr>
        <p:spPr>
          <a:xfrm>
            <a:off x="539015" y="1225851"/>
            <a:ext cx="8208963" cy="302418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标准形式与图解法</a:t>
            </a:r>
            <a:endParaRPr lang="en-US" altLang="zh-CN" dirty="0"/>
          </a:p>
          <a:p>
            <a:r>
              <a:rPr lang="zh-CN" altLang="en-US" dirty="0"/>
              <a:t>基本性质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ea typeface="楷体_GB2312" panose="02010609030101010101" pitchFamily="49" charset="-122"/>
              </a:rPr>
              <a:t>标准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形式</a:t>
            </a:r>
            <a:endParaRPr lang="zh-CN" altLang="en-US" dirty="0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643063" y="1785938"/>
          <a:ext cx="5487987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2" name="Equation" r:id="rId3" imgW="5676900" imgH="2438400" progId="Equation.DSMT4">
                  <p:embed/>
                </p:oleObj>
              </mc:Choice>
              <mc:Fallback>
                <p:oleObj name="Equation" r:id="rId3" imgW="5676900" imgH="243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785938"/>
                        <a:ext cx="5487987" cy="235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464368"/>
              </p:ext>
            </p:extLst>
          </p:nvPr>
        </p:nvGraphicFramePr>
        <p:xfrm>
          <a:off x="534503" y="1188118"/>
          <a:ext cx="48577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Equation" r:id="rId5" imgW="5359400" imgH="393700" progId="Equation.DSMT4">
                  <p:embed/>
                </p:oleObj>
              </mc:Choice>
              <mc:Fallback>
                <p:oleObj name="Equation" r:id="rId5" imgW="53594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03" y="1188118"/>
                        <a:ext cx="48577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7188" y="4000500"/>
            <a:ext cx="20574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zh-CN" altLang="en-US" kern="0" dirty="0">
                <a:latin typeface="+mn-lt"/>
                <a:ea typeface="+mn-ea"/>
              </a:rPr>
              <a:t>矩阵表示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928688" y="4357688"/>
          <a:ext cx="32639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4" name="Equation" r:id="rId7" imgW="3263900" imgH="1346200" progId="Equation.DSMT4">
                  <p:embed/>
                </p:oleObj>
              </mc:Choice>
              <mc:Fallback>
                <p:oleObj name="Equation" r:id="rId7" imgW="3263900" imgH="1346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357688"/>
                        <a:ext cx="32639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357688" y="4500563"/>
            <a:ext cx="42862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其中</a:t>
            </a:r>
            <a:r>
              <a:rPr lang="en-US" altLang="zh-CN"/>
              <a:t>A</a:t>
            </a:r>
            <a:r>
              <a:rPr lang="zh-CN" altLang="en-US"/>
              <a:t>是</a:t>
            </a:r>
            <a:r>
              <a:rPr lang="en-US" altLang="zh-CN"/>
              <a:t>m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n</a:t>
            </a:r>
            <a:r>
              <a:rPr lang="zh-CN" altLang="en-US"/>
              <a:t>矩阵，</a:t>
            </a:r>
            <a:r>
              <a:rPr lang="en-US" altLang="zh-CN"/>
              <a:t>c</a:t>
            </a:r>
            <a:r>
              <a:rPr lang="zh-CN" altLang="en-US"/>
              <a:t>是</a:t>
            </a:r>
            <a:r>
              <a:rPr lang="en-US" altLang="zh-CN"/>
              <a:t>n</a:t>
            </a:r>
            <a:r>
              <a:rPr lang="zh-CN" altLang="en-US"/>
              <a:t>维</a:t>
            </a:r>
            <a:endParaRPr lang="en-US" altLang="zh-CN"/>
          </a:p>
          <a:p>
            <a:pPr eaLnBrk="1" hangingPunct="1"/>
            <a:r>
              <a:rPr lang="zh-CN" altLang="en-US"/>
              <a:t>行向量， </a:t>
            </a:r>
            <a:r>
              <a:rPr lang="en-US" altLang="zh-CN"/>
              <a:t>b</a:t>
            </a:r>
            <a:r>
              <a:rPr lang="zh-CN" altLang="en-US"/>
              <a:t>是</a:t>
            </a:r>
            <a:r>
              <a:rPr lang="en-US" altLang="zh-CN"/>
              <a:t>m</a:t>
            </a:r>
            <a:r>
              <a:rPr lang="zh-CN" altLang="en-US"/>
              <a:t>维列向量。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28625" y="5715000"/>
            <a:ext cx="8501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注：为计算需要，一般假设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0.</a:t>
            </a:r>
            <a:r>
              <a:rPr lang="zh-CN" altLang="en-US" dirty="0"/>
              <a:t>否则，可在方程两端乘以</a:t>
            </a:r>
            <a:r>
              <a:rPr lang="en-US" altLang="zh-CN" dirty="0"/>
              <a:t>(-1)</a:t>
            </a:r>
            <a:r>
              <a:rPr lang="zh-CN" altLang="en-US" dirty="0"/>
              <a:t>即可化为非负。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1187450" y="1557338"/>
          <a:ext cx="5168900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8" name="Equation" r:id="rId3" imgW="5168900" imgH="2959100" progId="Equation.DSMT4">
                  <p:embed/>
                </p:oleObj>
              </mc:Choice>
              <mc:Fallback>
                <p:oleObj name="Equation" r:id="rId3" imgW="5168900" imgH="295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57338"/>
                        <a:ext cx="5168900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9"/>
          <p:cNvSpPr>
            <a:spLocks noChangeArrowheads="1"/>
          </p:cNvSpPr>
          <p:nvPr/>
        </p:nvSpPr>
        <p:spPr bwMode="auto">
          <a:xfrm>
            <a:off x="395288" y="981075"/>
            <a:ext cx="6289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任意非标准形式均可化为标准形式，如</a:t>
            </a:r>
          </a:p>
        </p:txBody>
      </p:sp>
      <p:sp>
        <p:nvSpPr>
          <p:cNvPr id="3078" name="Rectangle 10"/>
          <p:cNvSpPr>
            <a:spLocks noChangeArrowheads="1"/>
          </p:cNvSpPr>
          <p:nvPr/>
        </p:nvSpPr>
        <p:spPr bwMode="auto">
          <a:xfrm>
            <a:off x="684213" y="4724400"/>
            <a:ext cx="504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引入松弛变量</a:t>
            </a:r>
            <a:r>
              <a:rPr lang="en-US" altLang="zh-CN" sz="2800" i="1"/>
              <a:t>x</a:t>
            </a:r>
            <a:r>
              <a:rPr lang="en-US" altLang="zh-CN" sz="2800" i="1" baseline="-30000"/>
              <a:t>n+1</a:t>
            </a:r>
            <a:r>
              <a:rPr lang="zh-CN" altLang="en-US" sz="2800" i="1" baseline="-30000"/>
              <a:t>， </a:t>
            </a:r>
            <a:r>
              <a:rPr lang="en-US" altLang="zh-CN" sz="2800" i="1"/>
              <a:t>x</a:t>
            </a:r>
            <a:r>
              <a:rPr lang="en-US" altLang="zh-CN" sz="2800" i="1" baseline="-30000"/>
              <a:t>n+2</a:t>
            </a:r>
            <a:r>
              <a:rPr lang="en-US" altLang="zh-CN" sz="2800"/>
              <a:t> ,… </a:t>
            </a:r>
            <a:r>
              <a:rPr lang="en-US" altLang="zh-CN" sz="2800" i="1"/>
              <a:t>x</a:t>
            </a:r>
            <a:r>
              <a:rPr lang="en-US" altLang="zh-CN" sz="2800" i="1" baseline="-30000"/>
              <a:t>n+m.</a:t>
            </a:r>
          </a:p>
        </p:txBody>
      </p:sp>
      <p:sp>
        <p:nvSpPr>
          <p:cNvPr id="2055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形式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形式</a:t>
            </a:r>
            <a:endParaRPr lang="zh-CN" altLang="en-US"/>
          </a:p>
        </p:txBody>
      </p:sp>
      <p:sp>
        <p:nvSpPr>
          <p:cNvPr id="30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69507" y="927301"/>
            <a:ext cx="17526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则有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258888" y="1125538"/>
          <a:ext cx="5976937" cy="290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0" name="Equation" r:id="rId3" imgW="6083300" imgH="2959100" progId="Equation.DSMT4">
                  <p:embed/>
                </p:oleObj>
              </mc:Choice>
              <mc:Fallback>
                <p:oleObj name="Equation" r:id="rId3" imgW="6083300" imgH="295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25538"/>
                        <a:ext cx="5976937" cy="290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468313" y="4076700"/>
          <a:ext cx="4624387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1" name="Equation" r:id="rId5" imgW="2032000" imgH="508000" progId="Equation.DSMT4">
                  <p:embed/>
                </p:oleObj>
              </mc:Choice>
              <mc:Fallback>
                <p:oleObj name="Equation" r:id="rId5" imgW="20320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4624387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395288" y="5300663"/>
          <a:ext cx="7643812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2" name="Equation" r:id="rId7" imgW="3251200" imgH="241300" progId="Equation.DSMT4">
                  <p:embed/>
                </p:oleObj>
              </mc:Choice>
              <mc:Fallback>
                <p:oleObj name="Equation" r:id="rId7" imgW="32512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300663"/>
                        <a:ext cx="7643812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2195513" y="2708275"/>
            <a:ext cx="3384550" cy="2123658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Min  3</a:t>
            </a:r>
            <a:r>
              <a:rPr lang="en-US" altLang="zh-CN" b="1" i="1"/>
              <a:t>x</a:t>
            </a:r>
            <a:r>
              <a:rPr lang="en-US" altLang="zh-CN" b="1"/>
              <a:t> +2.5</a:t>
            </a:r>
            <a:r>
              <a:rPr lang="en-US" altLang="zh-CN" b="1" i="1"/>
              <a:t>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/>
              <a:t>  s.t.  2</a:t>
            </a:r>
            <a:r>
              <a:rPr lang="en-US" altLang="zh-CN" b="1" i="1"/>
              <a:t>x  </a:t>
            </a:r>
            <a:r>
              <a:rPr lang="en-US" altLang="zh-CN" b="1"/>
              <a:t>+  4</a:t>
            </a:r>
            <a:r>
              <a:rPr lang="en-US" altLang="zh-CN" b="1" i="1"/>
              <a:t>y </a:t>
            </a:r>
            <a:r>
              <a:rPr lang="en-US" altLang="zh-CN" b="1">
                <a:sym typeface="Symbol" panose="05050102010706020507" pitchFamily="18" charset="2"/>
              </a:rPr>
              <a:t></a:t>
            </a:r>
            <a:r>
              <a:rPr lang="en-US" altLang="zh-CN" b="1"/>
              <a:t> 40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/>
              <a:t>         3</a:t>
            </a:r>
            <a:r>
              <a:rPr lang="en-US" altLang="zh-CN" b="1" i="1"/>
              <a:t>x  </a:t>
            </a:r>
            <a:r>
              <a:rPr lang="en-US" altLang="zh-CN" b="1"/>
              <a:t>+  2</a:t>
            </a:r>
            <a:r>
              <a:rPr lang="en-US" altLang="zh-CN" b="1" i="1"/>
              <a:t>y</a:t>
            </a:r>
            <a:r>
              <a:rPr lang="en-US" altLang="zh-CN" b="1"/>
              <a:t> </a:t>
            </a:r>
            <a:r>
              <a:rPr lang="en-US" altLang="zh-CN" b="1">
                <a:sym typeface="Symbol" panose="05050102010706020507" pitchFamily="18" charset="2"/>
              </a:rPr>
              <a:t></a:t>
            </a:r>
            <a:r>
              <a:rPr lang="en-US" altLang="zh-CN" b="1"/>
              <a:t> 50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/>
              <a:t> 	</a:t>
            </a:r>
            <a:r>
              <a:rPr lang="en-US" altLang="zh-CN" b="1" i="1"/>
              <a:t>x</a:t>
            </a:r>
            <a:r>
              <a:rPr lang="en-US" altLang="zh-CN" b="1"/>
              <a:t>, </a:t>
            </a:r>
            <a:r>
              <a:rPr lang="en-US" altLang="zh-CN" b="1" i="1"/>
              <a:t>y</a:t>
            </a:r>
            <a:r>
              <a:rPr lang="en-US" altLang="zh-CN" b="1"/>
              <a:t> </a:t>
            </a:r>
            <a:r>
              <a:rPr lang="en-US" altLang="zh-CN" b="1">
                <a:sym typeface="Symbol" panose="05050102010706020507" pitchFamily="18" charset="2"/>
              </a:rPr>
              <a:t></a:t>
            </a:r>
            <a:r>
              <a:rPr lang="en-US" altLang="zh-CN" b="1"/>
              <a:t> 0.</a:t>
            </a: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827088" y="1989138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例如，考虑食谱问题</a:t>
            </a:r>
          </a:p>
        </p:txBody>
      </p:sp>
      <p:sp>
        <p:nvSpPr>
          <p:cNvPr id="30726" name="Rectangle 7"/>
          <p:cNvSpPr>
            <a:spLocks noChangeArrowheads="1"/>
          </p:cNvSpPr>
          <p:nvPr/>
        </p:nvSpPr>
        <p:spPr bwMode="auto">
          <a:xfrm>
            <a:off x="323850" y="1052513"/>
            <a:ext cx="84248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lang="zh-CN" altLang="en-US" sz="2800" dirty="0"/>
              <a:t>当自变量个数少于</a:t>
            </a:r>
            <a:r>
              <a:rPr lang="en-US" altLang="zh-CN" sz="2800" dirty="0"/>
              <a:t>3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可以用较简便的方法求解</a:t>
            </a:r>
            <a:r>
              <a:rPr lang="en-US" altLang="zh-CN" sz="2800" dirty="0"/>
              <a:t>.</a:t>
            </a:r>
          </a:p>
        </p:txBody>
      </p:sp>
      <p:sp>
        <p:nvSpPr>
          <p:cNvPr id="30727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sz="320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3200">
                <a:latin typeface="楷体_GB2312" panose="02010609030101010101" pitchFamily="49" charset="-122"/>
                <a:ea typeface="楷体_GB2312" panose="02010609030101010101" pitchFamily="49" charset="-122"/>
              </a:rPr>
              <a:t>图解法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8" name="Group 5"/>
          <p:cNvGrpSpPr/>
          <p:nvPr/>
        </p:nvGrpSpPr>
        <p:grpSpPr bwMode="auto">
          <a:xfrm>
            <a:off x="304800" y="990600"/>
            <a:ext cx="6623050" cy="4725988"/>
            <a:chOff x="204" y="890"/>
            <a:chExt cx="4172" cy="2977"/>
          </a:xfrm>
        </p:grpSpPr>
        <p:sp>
          <p:nvSpPr>
            <p:cNvPr id="31752" name="Line 6"/>
            <p:cNvSpPr>
              <a:spLocks noChangeShapeType="1"/>
            </p:cNvSpPr>
            <p:nvPr/>
          </p:nvSpPr>
          <p:spPr bwMode="auto">
            <a:xfrm>
              <a:off x="657" y="3475"/>
              <a:ext cx="371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 flipV="1">
              <a:off x="1020" y="1117"/>
              <a:ext cx="0" cy="2676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4" name="Text Box 8"/>
            <p:cNvSpPr txBox="1">
              <a:spLocks noChangeArrowheads="1"/>
            </p:cNvSpPr>
            <p:nvPr/>
          </p:nvSpPr>
          <p:spPr bwMode="auto">
            <a:xfrm>
              <a:off x="2154" y="352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30</a:t>
              </a:r>
            </a:p>
          </p:txBody>
        </p:sp>
        <p:sp>
          <p:nvSpPr>
            <p:cNvPr id="31755" name="Text Box 9"/>
            <p:cNvSpPr txBox="1">
              <a:spLocks noChangeArrowheads="1"/>
            </p:cNvSpPr>
            <p:nvPr/>
          </p:nvSpPr>
          <p:spPr bwMode="auto">
            <a:xfrm>
              <a:off x="1202" y="352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10</a:t>
              </a:r>
            </a:p>
          </p:txBody>
        </p:sp>
        <p:sp>
          <p:nvSpPr>
            <p:cNvPr id="31756" name="Text Box 10"/>
            <p:cNvSpPr txBox="1">
              <a:spLocks noChangeArrowheads="1"/>
            </p:cNvSpPr>
            <p:nvPr/>
          </p:nvSpPr>
          <p:spPr bwMode="auto">
            <a:xfrm>
              <a:off x="2608" y="3505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40</a:t>
              </a:r>
            </a:p>
          </p:txBody>
        </p:sp>
        <p:sp>
          <p:nvSpPr>
            <p:cNvPr id="31757" name="Text Box 11"/>
            <p:cNvSpPr txBox="1">
              <a:spLocks noChangeArrowheads="1"/>
            </p:cNvSpPr>
            <p:nvPr/>
          </p:nvSpPr>
          <p:spPr bwMode="auto">
            <a:xfrm>
              <a:off x="1701" y="352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20</a:t>
              </a:r>
            </a:p>
          </p:txBody>
        </p:sp>
        <p:sp>
          <p:nvSpPr>
            <p:cNvPr id="31758" name="Text Box 12"/>
            <p:cNvSpPr txBox="1">
              <a:spLocks noChangeArrowheads="1"/>
            </p:cNvSpPr>
            <p:nvPr/>
          </p:nvSpPr>
          <p:spPr bwMode="auto">
            <a:xfrm>
              <a:off x="3062" y="352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50</a:t>
              </a:r>
            </a:p>
          </p:txBody>
        </p:sp>
        <p:sp>
          <p:nvSpPr>
            <p:cNvPr id="31759" name="Line 13"/>
            <p:cNvSpPr>
              <a:spLocks noChangeShapeType="1"/>
            </p:cNvSpPr>
            <p:nvPr/>
          </p:nvSpPr>
          <p:spPr bwMode="auto">
            <a:xfrm>
              <a:off x="1429" y="3430"/>
              <a:ext cx="0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0" name="Line 14"/>
            <p:cNvSpPr>
              <a:spLocks noChangeShapeType="1"/>
            </p:cNvSpPr>
            <p:nvPr/>
          </p:nvSpPr>
          <p:spPr bwMode="auto">
            <a:xfrm>
              <a:off x="1927" y="3430"/>
              <a:ext cx="0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1" name="Line 15"/>
            <p:cNvSpPr>
              <a:spLocks noChangeShapeType="1"/>
            </p:cNvSpPr>
            <p:nvPr/>
          </p:nvSpPr>
          <p:spPr bwMode="auto">
            <a:xfrm>
              <a:off x="2381" y="3430"/>
              <a:ext cx="0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2" name="Line 16"/>
            <p:cNvSpPr>
              <a:spLocks noChangeShapeType="1"/>
            </p:cNvSpPr>
            <p:nvPr/>
          </p:nvSpPr>
          <p:spPr bwMode="auto">
            <a:xfrm>
              <a:off x="2835" y="3430"/>
              <a:ext cx="0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3" name="Line 17"/>
            <p:cNvSpPr>
              <a:spLocks noChangeShapeType="1"/>
            </p:cNvSpPr>
            <p:nvPr/>
          </p:nvSpPr>
          <p:spPr bwMode="auto">
            <a:xfrm>
              <a:off x="3288" y="3430"/>
              <a:ext cx="0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4" name="Line 18"/>
            <p:cNvSpPr>
              <a:spLocks noChangeShapeType="1"/>
            </p:cNvSpPr>
            <p:nvPr/>
          </p:nvSpPr>
          <p:spPr bwMode="auto">
            <a:xfrm>
              <a:off x="939" y="3113"/>
              <a:ext cx="136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5" name="Line 19"/>
            <p:cNvSpPr>
              <a:spLocks noChangeShapeType="1"/>
            </p:cNvSpPr>
            <p:nvPr/>
          </p:nvSpPr>
          <p:spPr bwMode="auto">
            <a:xfrm>
              <a:off x="930" y="2387"/>
              <a:ext cx="136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6" name="Line 20"/>
            <p:cNvSpPr>
              <a:spLocks noChangeShapeType="1"/>
            </p:cNvSpPr>
            <p:nvPr/>
          </p:nvSpPr>
          <p:spPr bwMode="auto">
            <a:xfrm>
              <a:off x="930" y="2750"/>
              <a:ext cx="136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7" name="Line 21"/>
            <p:cNvSpPr>
              <a:spLocks noChangeShapeType="1"/>
            </p:cNvSpPr>
            <p:nvPr/>
          </p:nvSpPr>
          <p:spPr bwMode="auto">
            <a:xfrm>
              <a:off x="930" y="2024"/>
              <a:ext cx="136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8" name="Line 22"/>
            <p:cNvSpPr>
              <a:spLocks noChangeShapeType="1"/>
            </p:cNvSpPr>
            <p:nvPr/>
          </p:nvSpPr>
          <p:spPr bwMode="auto">
            <a:xfrm>
              <a:off x="930" y="1661"/>
              <a:ext cx="136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9" name="Text Box 23"/>
            <p:cNvSpPr txBox="1">
              <a:spLocks noChangeArrowheads="1"/>
            </p:cNvSpPr>
            <p:nvPr/>
          </p:nvSpPr>
          <p:spPr bwMode="auto">
            <a:xfrm>
              <a:off x="567" y="296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10</a:t>
              </a:r>
            </a:p>
          </p:txBody>
        </p:sp>
        <p:sp>
          <p:nvSpPr>
            <p:cNvPr id="31770" name="Text Box 24"/>
            <p:cNvSpPr txBox="1">
              <a:spLocks noChangeArrowheads="1"/>
            </p:cNvSpPr>
            <p:nvPr/>
          </p:nvSpPr>
          <p:spPr bwMode="auto">
            <a:xfrm>
              <a:off x="567" y="2598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20</a:t>
              </a:r>
            </a:p>
          </p:txBody>
        </p:sp>
        <p:sp>
          <p:nvSpPr>
            <p:cNvPr id="31771" name="Text Box 25"/>
            <p:cNvSpPr txBox="1">
              <a:spLocks noChangeArrowheads="1"/>
            </p:cNvSpPr>
            <p:nvPr/>
          </p:nvSpPr>
          <p:spPr bwMode="auto">
            <a:xfrm>
              <a:off x="567" y="2235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30</a:t>
              </a:r>
            </a:p>
          </p:txBody>
        </p:sp>
        <p:sp>
          <p:nvSpPr>
            <p:cNvPr id="31772" name="Text Box 26"/>
            <p:cNvSpPr txBox="1">
              <a:spLocks noChangeArrowheads="1"/>
            </p:cNvSpPr>
            <p:nvPr/>
          </p:nvSpPr>
          <p:spPr bwMode="auto">
            <a:xfrm>
              <a:off x="567" y="1872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40</a:t>
              </a:r>
            </a:p>
          </p:txBody>
        </p:sp>
        <p:sp>
          <p:nvSpPr>
            <p:cNvPr id="31773" name="Text Box 27"/>
            <p:cNvSpPr txBox="1">
              <a:spLocks noChangeArrowheads="1"/>
            </p:cNvSpPr>
            <p:nvPr/>
          </p:nvSpPr>
          <p:spPr bwMode="auto">
            <a:xfrm>
              <a:off x="567" y="1525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50</a:t>
              </a:r>
            </a:p>
          </p:txBody>
        </p:sp>
        <p:sp>
          <p:nvSpPr>
            <p:cNvPr id="31774" name="Text Box 28"/>
            <p:cNvSpPr txBox="1">
              <a:spLocks noChangeArrowheads="1"/>
            </p:cNvSpPr>
            <p:nvPr/>
          </p:nvSpPr>
          <p:spPr bwMode="auto">
            <a:xfrm>
              <a:off x="657" y="110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/>
                <a:t>y</a:t>
              </a:r>
            </a:p>
          </p:txBody>
        </p:sp>
        <p:sp>
          <p:nvSpPr>
            <p:cNvPr id="31775" name="Text Box 29"/>
            <p:cNvSpPr txBox="1">
              <a:spLocks noChangeArrowheads="1"/>
            </p:cNvSpPr>
            <p:nvPr/>
          </p:nvSpPr>
          <p:spPr bwMode="auto">
            <a:xfrm>
              <a:off x="3923" y="3430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</a:p>
          </p:txBody>
        </p:sp>
        <p:sp>
          <p:nvSpPr>
            <p:cNvPr id="31776" name="Text Box 30"/>
            <p:cNvSpPr txBox="1">
              <a:spLocks noChangeArrowheads="1"/>
            </p:cNvSpPr>
            <p:nvPr/>
          </p:nvSpPr>
          <p:spPr bwMode="auto">
            <a:xfrm>
              <a:off x="703" y="3430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0</a:t>
              </a:r>
            </a:p>
          </p:txBody>
        </p:sp>
        <p:sp>
          <p:nvSpPr>
            <p:cNvPr id="31777" name="Line 31"/>
            <p:cNvSpPr>
              <a:spLocks noChangeShapeType="1"/>
            </p:cNvSpPr>
            <p:nvPr/>
          </p:nvSpPr>
          <p:spPr bwMode="auto">
            <a:xfrm>
              <a:off x="204" y="2750"/>
              <a:ext cx="2449" cy="104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78" name="Line 32"/>
            <p:cNvSpPr>
              <a:spLocks noChangeShapeType="1"/>
            </p:cNvSpPr>
            <p:nvPr/>
          </p:nvSpPr>
          <p:spPr bwMode="auto">
            <a:xfrm>
              <a:off x="249" y="1616"/>
              <a:ext cx="1860" cy="225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79" name="Line 33"/>
            <p:cNvSpPr>
              <a:spLocks noChangeShapeType="1"/>
            </p:cNvSpPr>
            <p:nvPr/>
          </p:nvSpPr>
          <p:spPr bwMode="auto">
            <a:xfrm rot="-351682">
              <a:off x="1383" y="1162"/>
              <a:ext cx="1860" cy="225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0" name="Rectangle 34"/>
            <p:cNvSpPr>
              <a:spLocks noChangeArrowheads="1"/>
            </p:cNvSpPr>
            <p:nvPr/>
          </p:nvSpPr>
          <p:spPr bwMode="auto">
            <a:xfrm>
              <a:off x="2271" y="1979"/>
              <a:ext cx="7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3</a:t>
              </a:r>
              <a:r>
                <a:rPr lang="en-US" altLang="zh-CN" b="1" i="1">
                  <a:solidFill>
                    <a:schemeClr val="accent2"/>
                  </a:solidFill>
                </a:rPr>
                <a:t>x</a:t>
              </a:r>
              <a:r>
                <a:rPr lang="en-US" altLang="zh-CN" b="1">
                  <a:solidFill>
                    <a:schemeClr val="accent2"/>
                  </a:solidFill>
                </a:rPr>
                <a:t> +2.5</a:t>
              </a:r>
              <a:r>
                <a:rPr lang="en-US" altLang="zh-CN" b="1" i="1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31781" name="Rectangle 35"/>
            <p:cNvSpPr>
              <a:spLocks noChangeArrowheads="1"/>
            </p:cNvSpPr>
            <p:nvPr/>
          </p:nvSpPr>
          <p:spPr bwMode="auto">
            <a:xfrm>
              <a:off x="257" y="3142"/>
              <a:ext cx="8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2</a:t>
              </a: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>
                  <a:solidFill>
                    <a:srgbClr val="FF3300"/>
                  </a:solidFill>
                </a:rPr>
                <a:t>+4</a:t>
              </a:r>
              <a:r>
                <a:rPr lang="en-US" altLang="zh-CN" b="1" i="1">
                  <a:solidFill>
                    <a:srgbClr val="FF3300"/>
                  </a:solidFill>
                </a:rPr>
                <a:t>y</a:t>
              </a:r>
              <a:r>
                <a:rPr lang="en-US" altLang="zh-CN" b="1">
                  <a:solidFill>
                    <a:srgbClr val="FF3300"/>
                  </a:solidFill>
                  <a:sym typeface="Symbol" panose="05050102010706020507" pitchFamily="18" charset="2"/>
                </a:rPr>
                <a:t></a:t>
              </a:r>
              <a:r>
                <a:rPr lang="en-US" altLang="zh-CN" b="1">
                  <a:solidFill>
                    <a:srgbClr val="FF3300"/>
                  </a:solidFill>
                </a:rPr>
                <a:t>40</a:t>
              </a:r>
            </a:p>
          </p:txBody>
        </p:sp>
        <p:sp>
          <p:nvSpPr>
            <p:cNvPr id="31782" name="Rectangle 36"/>
            <p:cNvSpPr>
              <a:spLocks noChangeArrowheads="1"/>
            </p:cNvSpPr>
            <p:nvPr/>
          </p:nvSpPr>
          <p:spPr bwMode="auto">
            <a:xfrm>
              <a:off x="1066" y="2416"/>
              <a:ext cx="8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chemeClr val="accent1"/>
                  </a:solidFill>
                </a:rPr>
                <a:t>3</a:t>
              </a:r>
              <a:r>
                <a:rPr lang="en-US" altLang="zh-CN" b="1" i="1">
                  <a:solidFill>
                    <a:schemeClr val="accent1"/>
                  </a:solidFill>
                </a:rPr>
                <a:t>x</a:t>
              </a:r>
              <a:r>
                <a:rPr lang="en-US" altLang="zh-CN" b="1">
                  <a:solidFill>
                    <a:schemeClr val="accent1"/>
                  </a:solidFill>
                </a:rPr>
                <a:t>+2</a:t>
              </a:r>
              <a:r>
                <a:rPr lang="en-US" altLang="zh-CN" b="1" i="1">
                  <a:solidFill>
                    <a:schemeClr val="accent1"/>
                  </a:solidFill>
                </a:rPr>
                <a:t>y</a:t>
              </a:r>
              <a:r>
                <a:rPr lang="en-US" altLang="zh-CN" b="1">
                  <a:solidFill>
                    <a:schemeClr val="accent1"/>
                  </a:solidFill>
                  <a:sym typeface="Symbol" panose="05050102010706020507" pitchFamily="18" charset="2"/>
                </a:rPr>
                <a:t></a:t>
              </a:r>
              <a:r>
                <a:rPr lang="en-US" altLang="zh-CN" b="1">
                  <a:solidFill>
                    <a:schemeClr val="accent1"/>
                  </a:solidFill>
                </a:rPr>
                <a:t>50</a:t>
              </a:r>
            </a:p>
          </p:txBody>
        </p:sp>
        <p:sp>
          <p:nvSpPr>
            <p:cNvPr id="31783" name="Oval 37"/>
            <p:cNvSpPr>
              <a:spLocks noChangeArrowheads="1"/>
            </p:cNvSpPr>
            <p:nvPr/>
          </p:nvSpPr>
          <p:spPr bwMode="auto">
            <a:xfrm>
              <a:off x="1656" y="3338"/>
              <a:ext cx="91" cy="91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rgbClr val="003366"/>
              </a:solidFill>
              <a:round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84" name="Oval 38"/>
            <p:cNvSpPr>
              <a:spLocks noChangeArrowheads="1"/>
            </p:cNvSpPr>
            <p:nvPr/>
          </p:nvSpPr>
          <p:spPr bwMode="auto">
            <a:xfrm>
              <a:off x="1882" y="3430"/>
              <a:ext cx="91" cy="9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rgbClr val="003366"/>
              </a:solidFill>
              <a:round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85" name="Oval 39"/>
            <p:cNvSpPr>
              <a:spLocks noChangeArrowheads="1"/>
            </p:cNvSpPr>
            <p:nvPr/>
          </p:nvSpPr>
          <p:spPr bwMode="auto">
            <a:xfrm>
              <a:off x="975" y="2523"/>
              <a:ext cx="90" cy="9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rgbClr val="003366"/>
              </a:solidFill>
              <a:round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86" name="Rectangle 40"/>
            <p:cNvSpPr>
              <a:spLocks noChangeArrowheads="1"/>
            </p:cNvSpPr>
            <p:nvPr/>
          </p:nvSpPr>
          <p:spPr bwMode="auto">
            <a:xfrm>
              <a:off x="1565" y="3022"/>
              <a:ext cx="7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9900"/>
                  </a:solidFill>
                </a:rPr>
                <a:t>(15, 2.5)</a:t>
              </a:r>
            </a:p>
          </p:txBody>
        </p:sp>
        <p:sp>
          <p:nvSpPr>
            <p:cNvPr id="31787" name="Line 41"/>
            <p:cNvSpPr>
              <a:spLocks noChangeShapeType="1"/>
            </p:cNvSpPr>
            <p:nvPr/>
          </p:nvSpPr>
          <p:spPr bwMode="auto">
            <a:xfrm flipV="1">
              <a:off x="1020" y="890"/>
              <a:ext cx="1678" cy="816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8" name="Line 42"/>
            <p:cNvSpPr>
              <a:spLocks noChangeShapeType="1"/>
            </p:cNvSpPr>
            <p:nvPr/>
          </p:nvSpPr>
          <p:spPr bwMode="auto">
            <a:xfrm flipV="1">
              <a:off x="1020" y="1253"/>
              <a:ext cx="1815" cy="908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89" name="Line 43"/>
            <p:cNvSpPr>
              <a:spLocks noChangeShapeType="1"/>
            </p:cNvSpPr>
            <p:nvPr/>
          </p:nvSpPr>
          <p:spPr bwMode="auto">
            <a:xfrm flipV="1">
              <a:off x="1020" y="1616"/>
              <a:ext cx="1951" cy="952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0" name="Line 44"/>
            <p:cNvSpPr>
              <a:spLocks noChangeShapeType="1"/>
            </p:cNvSpPr>
            <p:nvPr/>
          </p:nvSpPr>
          <p:spPr bwMode="auto">
            <a:xfrm flipV="1">
              <a:off x="1275" y="1853"/>
              <a:ext cx="2041" cy="997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1" name="Line 45"/>
            <p:cNvSpPr>
              <a:spLocks noChangeShapeType="1"/>
            </p:cNvSpPr>
            <p:nvPr/>
          </p:nvSpPr>
          <p:spPr bwMode="auto">
            <a:xfrm flipV="1">
              <a:off x="1519" y="2205"/>
              <a:ext cx="1905" cy="943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2" name="Line 46"/>
            <p:cNvSpPr>
              <a:spLocks noChangeShapeType="1"/>
            </p:cNvSpPr>
            <p:nvPr/>
          </p:nvSpPr>
          <p:spPr bwMode="auto">
            <a:xfrm flipV="1">
              <a:off x="1837" y="2704"/>
              <a:ext cx="1497" cy="726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93" name="Line 47"/>
            <p:cNvSpPr>
              <a:spLocks noChangeShapeType="1"/>
            </p:cNvSpPr>
            <p:nvPr/>
          </p:nvSpPr>
          <p:spPr bwMode="auto">
            <a:xfrm flipV="1">
              <a:off x="2608" y="2931"/>
              <a:ext cx="1134" cy="544"/>
            </a:xfrm>
            <a:prstGeom prst="line">
              <a:avLst/>
            </a:prstGeom>
            <a:noFill/>
            <a:ln w="9525" cap="rnd">
              <a:solidFill>
                <a:srgbClr val="0033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240" name="Text Box 48"/>
          <p:cNvSpPr txBox="1">
            <a:spLocks noChangeArrowheads="1"/>
          </p:cNvSpPr>
          <p:nvPr/>
        </p:nvSpPr>
        <p:spPr bwMode="auto">
          <a:xfrm>
            <a:off x="5429250" y="2214563"/>
            <a:ext cx="3384550" cy="21097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anose="02010609030101010101" pitchFamily="49" charset="-122"/>
              </a:rPr>
              <a:t>可行区域的极点：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楷体_GB2312" panose="02010609030101010101" pitchFamily="49" charset="-122"/>
              </a:rPr>
              <a:t>(0,    25)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楷体_GB2312" panose="02010609030101010101" pitchFamily="49" charset="-122"/>
              </a:rPr>
              <a:t>(15, 2.5)  </a:t>
            </a:r>
            <a:r>
              <a:rPr lang="zh-CN" altLang="en-US" b="1">
                <a:ea typeface="楷体_GB2312" panose="02010609030101010101" pitchFamily="49" charset="-122"/>
              </a:rPr>
              <a:t>最优解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楷体_GB2312" panose="02010609030101010101" pitchFamily="49" charset="-122"/>
              </a:rPr>
              <a:t>(20,    0)</a:t>
            </a:r>
            <a:endParaRPr lang="en-US" altLang="zh-CN" b="1"/>
          </a:p>
        </p:txBody>
      </p:sp>
      <p:sp>
        <p:nvSpPr>
          <p:cNvPr id="31750" name="Text Box 5"/>
          <p:cNvSpPr txBox="1">
            <a:spLocks noChangeArrowheads="1"/>
          </p:cNvSpPr>
          <p:nvPr/>
        </p:nvSpPr>
        <p:spPr bwMode="auto">
          <a:xfrm>
            <a:off x="6429375" y="214313"/>
            <a:ext cx="2527300" cy="1785937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Min  3</a:t>
            </a:r>
            <a:r>
              <a:rPr lang="en-US" altLang="zh-CN" sz="2000" b="1" i="1"/>
              <a:t>x</a:t>
            </a:r>
            <a:r>
              <a:rPr lang="en-US" altLang="zh-CN" sz="2000" b="1"/>
              <a:t> +2.5</a:t>
            </a:r>
            <a:r>
              <a:rPr lang="en-US" altLang="zh-CN" sz="2000" b="1" i="1"/>
              <a:t>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  s.t.  2</a:t>
            </a:r>
            <a:r>
              <a:rPr lang="en-US" altLang="zh-CN" sz="2000" b="1" i="1"/>
              <a:t>x  </a:t>
            </a:r>
            <a:r>
              <a:rPr lang="en-US" altLang="zh-CN" sz="2000" b="1"/>
              <a:t>+  4</a:t>
            </a:r>
            <a:r>
              <a:rPr lang="en-US" altLang="zh-CN" sz="2000" b="1" i="1"/>
              <a:t>y </a:t>
            </a:r>
            <a:r>
              <a:rPr lang="en-US" altLang="zh-CN" sz="2000" b="1">
                <a:sym typeface="Symbol" panose="05050102010706020507" pitchFamily="18" charset="2"/>
              </a:rPr>
              <a:t></a:t>
            </a:r>
            <a:r>
              <a:rPr lang="en-US" altLang="zh-CN" sz="2000" b="1"/>
              <a:t> 40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         3</a:t>
            </a:r>
            <a:r>
              <a:rPr lang="en-US" altLang="zh-CN" sz="2000" b="1" i="1"/>
              <a:t>x  </a:t>
            </a:r>
            <a:r>
              <a:rPr lang="en-US" altLang="zh-CN" sz="2000" b="1"/>
              <a:t>+  2</a:t>
            </a:r>
            <a:r>
              <a:rPr lang="en-US" altLang="zh-CN" sz="2000" b="1" i="1"/>
              <a:t>y</a:t>
            </a:r>
            <a:r>
              <a:rPr lang="en-US" altLang="zh-CN" sz="2000" b="1"/>
              <a:t> </a:t>
            </a:r>
            <a:r>
              <a:rPr lang="en-US" altLang="zh-CN" sz="2000" b="1">
                <a:sym typeface="Symbol" panose="05050102010706020507" pitchFamily="18" charset="2"/>
              </a:rPr>
              <a:t></a:t>
            </a:r>
            <a:r>
              <a:rPr lang="en-US" altLang="zh-CN" sz="2000" b="1"/>
              <a:t> 50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 	</a:t>
            </a:r>
            <a:r>
              <a:rPr lang="en-US" altLang="zh-CN" sz="2000" b="1" i="1"/>
              <a:t>x</a:t>
            </a:r>
            <a:r>
              <a:rPr lang="en-US" altLang="zh-CN" sz="2000" b="1"/>
              <a:t>, </a:t>
            </a:r>
            <a:r>
              <a:rPr lang="en-US" altLang="zh-CN" sz="2000" b="1" i="1"/>
              <a:t>y</a:t>
            </a:r>
            <a:r>
              <a:rPr lang="en-US" altLang="zh-CN" sz="2000" b="1"/>
              <a:t> </a:t>
            </a:r>
            <a:r>
              <a:rPr lang="en-US" altLang="zh-CN" sz="2000" b="1">
                <a:sym typeface="Symbol" panose="05050102010706020507" pitchFamily="18" charset="2"/>
              </a:rPr>
              <a:t></a:t>
            </a:r>
            <a:r>
              <a:rPr lang="en-US" altLang="zh-CN" sz="2000" b="1"/>
              <a:t> 0.</a:t>
            </a:r>
          </a:p>
        </p:txBody>
      </p:sp>
      <p:sp>
        <p:nvSpPr>
          <p:cNvPr id="31751" name="标题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sz="320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3200">
                <a:latin typeface="楷体_GB2312" panose="02010609030101010101" pitchFamily="49" charset="-122"/>
                <a:ea typeface="楷体_GB2312" panose="02010609030101010101" pitchFamily="49" charset="-122"/>
              </a:rPr>
              <a:t>图解法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0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6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基本性质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endParaRPr lang="zh-CN" altLang="en-US" dirty="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31007" y="1004386"/>
            <a:ext cx="7467600" cy="12192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线性规划的可行域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708943" y="1906655"/>
            <a:ext cx="54120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定理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/>
              <a:t>2</a:t>
            </a:r>
            <a:r>
              <a:rPr lang="en-US" altLang="zh-CN" sz="2800" dirty="0"/>
              <a:t> </a:t>
            </a:r>
            <a:r>
              <a:rPr lang="zh-CN" altLang="en-US" sz="2800" b="1" dirty="0">
                <a:ea typeface="楷体_GB2312" panose="02010609030101010101" pitchFamily="49" charset="-122"/>
              </a:rPr>
              <a:t>线性规划的可行域是凸集</a:t>
            </a:r>
            <a:r>
              <a:rPr lang="en-US" altLang="zh-CN" sz="2800" dirty="0"/>
              <a:t>.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97189" y="3996975"/>
            <a:ext cx="770413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        观察上例发现，最优解在极点</a:t>
            </a:r>
            <a:r>
              <a:rPr lang="en-US" altLang="zh-CN" sz="2800" dirty="0"/>
              <a:t>(15,2.5)</a:t>
            </a:r>
            <a:r>
              <a:rPr lang="zh-CN" altLang="en-US" sz="2800" dirty="0"/>
              <a:t>达到，我们有如下事实</a:t>
            </a:r>
            <a:r>
              <a:rPr lang="en-US" altLang="zh-CN" sz="2800" dirty="0"/>
              <a:t>:</a:t>
            </a:r>
          </a:p>
          <a:p>
            <a:pPr eaLnBrk="1" hangingPunct="1"/>
            <a:r>
              <a:rPr lang="en-US" altLang="zh-CN" sz="2800" b="1" dirty="0">
                <a:ea typeface="楷体_GB2312" panose="02010609030101010101" pitchFamily="49" charset="-122"/>
              </a:rPr>
              <a:t>        </a:t>
            </a:r>
            <a:r>
              <a:rPr lang="zh-CN" altLang="en-US" sz="2800" b="1" dirty="0">
                <a:ea typeface="楷体_GB2312" panose="02010609030101010101" pitchFamily="49" charset="-122"/>
              </a:rPr>
              <a:t>线性规划若存在最优解</a:t>
            </a:r>
            <a:r>
              <a:rPr lang="en-US" altLang="zh-CN" sz="2800" b="1" dirty="0">
                <a:ea typeface="楷体_GB2312" panose="02010609030101010101" pitchFamily="49" charset="-122"/>
              </a:rPr>
              <a:t>,</a:t>
            </a:r>
            <a:r>
              <a:rPr lang="zh-CN" altLang="en-US" sz="2800" b="1" dirty="0">
                <a:ea typeface="楷体_GB2312" panose="02010609030101010101" pitchFamily="49" charset="-122"/>
              </a:rPr>
              <a:t>则最优解一定可在某极点上达到</a:t>
            </a:r>
            <a:r>
              <a:rPr lang="en-US" altLang="zh-CN" sz="2800" b="1" dirty="0">
                <a:ea typeface="楷体_GB2312" panose="02010609030101010101" pitchFamily="49" charset="-122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09CBE4-210A-49B3-8915-9CB3433B19AE}"/>
              </a:ext>
            </a:extLst>
          </p:cNvPr>
          <p:cNvSpPr txBox="1">
            <a:spLocks noChangeArrowheads="1"/>
          </p:cNvSpPr>
          <p:nvPr/>
        </p:nvSpPr>
        <p:spPr>
          <a:xfrm>
            <a:off x="298382" y="3069841"/>
            <a:ext cx="4464050" cy="5032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3366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kern="0" dirty="0"/>
              <a:t>最优极点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7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endParaRPr lang="zh-CN" altLang="en-US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79133" y="1085649"/>
            <a:ext cx="69342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考察线性规划的标准形式</a:t>
            </a:r>
            <a:r>
              <a:rPr lang="en-US" altLang="zh-CN" sz="2800" dirty="0"/>
              <a:t>(2. 2)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368300" y="1828800"/>
          <a:ext cx="806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0" name="Equation" r:id="rId3" imgW="8064500" imgH="419100" progId="Equation.DSMT4">
                  <p:embed/>
                </p:oleObj>
              </mc:Choice>
              <mc:Fallback>
                <p:oleObj name="Equation" r:id="rId3" imgW="80645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1828800"/>
                        <a:ext cx="8064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6"/>
          <p:cNvSpPr>
            <a:spLocks noChangeArrowheads="1"/>
          </p:cNvSpPr>
          <p:nvPr/>
        </p:nvSpPr>
        <p:spPr bwMode="auto">
          <a:xfrm>
            <a:off x="428625" y="2286000"/>
            <a:ext cx="71657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根据多面体表示定理，任意可行点</a:t>
            </a:r>
            <a:r>
              <a:rPr lang="en-US" altLang="zh-CN" sz="2800" i="1" dirty="0"/>
              <a:t>x</a:t>
            </a:r>
            <a:r>
              <a:rPr lang="zh-CN" altLang="en-US" sz="2800" dirty="0"/>
              <a:t>可表示为</a:t>
            </a:r>
          </a:p>
        </p:txBody>
      </p:sp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1571625" y="2857500"/>
          <a:ext cx="53594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1" name="Equation" r:id="rId5" imgW="5359400" imgH="3048000" progId="Equation.DSMT4">
                  <p:embed/>
                </p:oleObj>
              </mc:Choice>
              <mc:Fallback>
                <p:oleObj name="Equation" r:id="rId5" imgW="5359400" imgH="3048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2857500"/>
                        <a:ext cx="53594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endParaRPr lang="zh-CN" altLang="en-US"/>
          </a:p>
        </p:txBody>
      </p:sp>
      <p:sp>
        <p:nvSpPr>
          <p:cNvPr id="51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9882" y="1090613"/>
            <a:ext cx="7696200" cy="685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的表达式代入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(2. 2),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得等价的线性规划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576609"/>
              </p:ext>
            </p:extLst>
          </p:nvPr>
        </p:nvGraphicFramePr>
        <p:xfrm>
          <a:off x="1029001" y="1652689"/>
          <a:ext cx="5500688" cy="269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4" name="Equation" r:id="rId3" imgW="6223000" imgH="3048000" progId="Equation.DSMT4">
                  <p:embed/>
                </p:oleObj>
              </mc:Choice>
              <mc:Fallback>
                <p:oleObj name="Equation" r:id="rId3" imgW="6223000" imgH="304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9001" y="1652689"/>
                        <a:ext cx="5500688" cy="269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580514"/>
              </p:ext>
            </p:extLst>
          </p:nvPr>
        </p:nvGraphicFramePr>
        <p:xfrm>
          <a:off x="478255" y="4620126"/>
          <a:ext cx="70993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5" name="Equation" r:id="rId5" imgW="7099300" imgH="1473200" progId="Equation.DSMT4">
                  <p:embed/>
                </p:oleObj>
              </mc:Choice>
              <mc:Fallback>
                <p:oleObj name="Equation" r:id="rId5" imgW="7099300" imgH="147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55" y="4620126"/>
                        <a:ext cx="70993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endParaRPr lang="zh-CN" altLang="en-US" dirty="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04261" y="2099478"/>
            <a:ext cx="4880008" cy="720724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于是</a:t>
            </a:r>
            <a:r>
              <a:rPr lang="en-US" altLang="zh-CN" sz="2800" dirty="0"/>
              <a:t>,</a:t>
            </a:r>
            <a:r>
              <a:rPr lang="zh-CN" altLang="en-US" sz="2800" dirty="0"/>
              <a:t>问题简化成</a:t>
            </a:r>
          </a:p>
        </p:txBody>
      </p:sp>
      <p:graphicFrame>
        <p:nvGraphicFramePr>
          <p:cNvPr id="6146" name="Object 6"/>
          <p:cNvGraphicFramePr>
            <a:graphicFrameLocks noChangeAspect="1"/>
          </p:cNvGraphicFramePr>
          <p:nvPr/>
        </p:nvGraphicFramePr>
        <p:xfrm>
          <a:off x="516757" y="1002682"/>
          <a:ext cx="6756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name="Equation" r:id="rId3" imgW="6756400" imgH="1003300" progId="Equation.DSMT4">
                  <p:embed/>
                </p:oleObj>
              </mc:Choice>
              <mc:Fallback>
                <p:oleObj name="Equation" r:id="rId3" imgW="6756400" imgH="1003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57" y="1002682"/>
                        <a:ext cx="67564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5"/>
          <p:cNvGraphicFramePr>
            <a:graphicFrameLocks noChangeAspect="1"/>
          </p:cNvGraphicFramePr>
          <p:nvPr/>
        </p:nvGraphicFramePr>
        <p:xfrm>
          <a:off x="2292166" y="2545882"/>
          <a:ext cx="4034847" cy="2401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name="Equation" r:id="rId5" imgW="4203700" imgH="2501900" progId="Equation.DSMT4">
                  <p:embed/>
                </p:oleObj>
              </mc:Choice>
              <mc:Fallback>
                <p:oleObj name="Equation" r:id="rId5" imgW="4203700" imgH="2501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166" y="2545882"/>
                        <a:ext cx="4034847" cy="2401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84560" y="4869331"/>
            <a:ext cx="2808287" cy="504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(2.6)</a:t>
            </a:r>
            <a:r>
              <a:rPr lang="zh-CN" altLang="en-US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中令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1900990" y="5527458"/>
          <a:ext cx="36226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0" name="Equation" r:id="rId7" imgW="3657600" imgH="596900" progId="Equation.DSMT4">
                  <p:embed/>
                </p:oleObj>
              </mc:Choice>
              <mc:Fallback>
                <p:oleObj name="Equation" r:id="rId7" imgW="3657600" imgH="596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990" y="5527458"/>
                        <a:ext cx="36226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5"/>
          <p:cNvGraphicFramePr>
            <a:graphicFrameLocks noChangeAspect="1"/>
          </p:cNvGraphicFramePr>
          <p:nvPr/>
        </p:nvGraphicFramePr>
        <p:xfrm>
          <a:off x="4249553" y="4858519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name="Equation" r:id="rId3" imgW="457835" imgH="793115" progId="Equation.DSMT4">
                  <p:embed/>
                </p:oleObj>
              </mc:Choice>
              <mc:Fallback>
                <p:oleObj name="Equation" r:id="rId3" imgW="457835" imgH="7931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553" y="4858519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"/>
          <p:cNvGraphicFramePr>
            <a:graphicFrameLocks noChangeAspect="1"/>
          </p:cNvGraphicFramePr>
          <p:nvPr/>
        </p:nvGraphicFramePr>
        <p:xfrm>
          <a:off x="1206316" y="3383732"/>
          <a:ext cx="54864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1" name="Equation" r:id="rId5" imgW="5486400" imgH="1955800" progId="Equation.DSMT4">
                  <p:embed/>
                </p:oleObj>
              </mc:Choice>
              <mc:Fallback>
                <p:oleObj name="Equation" r:id="rId5" imgW="5486400" imgH="195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316" y="3383732"/>
                        <a:ext cx="54864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10"/>
          <p:cNvSpPr>
            <a:spLocks noChangeArrowheads="1"/>
          </p:cNvSpPr>
          <p:nvPr/>
        </p:nvSpPr>
        <p:spPr bwMode="auto">
          <a:xfrm>
            <a:off x="706253" y="5526857"/>
            <a:ext cx="6143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dirty="0"/>
              <a:t>因此极点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(</a:t>
            </a:r>
            <a:r>
              <a:rPr lang="en-US" altLang="zh-CN" sz="2800" i="1" baseline="30000" dirty="0"/>
              <a:t>p</a:t>
            </a:r>
            <a:r>
              <a:rPr lang="en-US" altLang="zh-CN" sz="2800" baseline="30000" dirty="0"/>
              <a:t>)</a:t>
            </a:r>
            <a:r>
              <a:rPr lang="zh-CN" altLang="en-US" sz="2800" dirty="0"/>
              <a:t>是问题</a:t>
            </a:r>
            <a:r>
              <a:rPr lang="en-US" altLang="zh-CN" sz="2800" dirty="0"/>
              <a:t>(2.2)</a:t>
            </a:r>
            <a:r>
              <a:rPr lang="zh-CN" altLang="en-US" sz="2800" dirty="0"/>
              <a:t>的最优解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  <p:sp>
        <p:nvSpPr>
          <p:cNvPr id="7175" name="Rectangle 26"/>
          <p:cNvSpPr>
            <a:spLocks noChangeArrowheads="1"/>
          </p:cNvSpPr>
          <p:nvPr/>
        </p:nvSpPr>
        <p:spPr bwMode="auto">
          <a:xfrm>
            <a:off x="349066" y="2625291"/>
            <a:ext cx="684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即</a:t>
            </a:r>
            <a:r>
              <a:rPr lang="en-US" altLang="zh-CN" sz="2800"/>
              <a:t>(2.5)</a:t>
            </a:r>
            <a:r>
              <a:rPr lang="zh-CN" altLang="en-US" sz="2800"/>
              <a:t>和</a:t>
            </a:r>
            <a:r>
              <a:rPr lang="en-US" altLang="zh-CN" sz="2800"/>
              <a:t>(2.8)</a:t>
            </a:r>
            <a:r>
              <a:rPr lang="zh-CN" altLang="en-US" sz="2800"/>
              <a:t>是</a:t>
            </a:r>
            <a:r>
              <a:rPr lang="en-US" altLang="zh-CN" sz="2800"/>
              <a:t>(2.4)</a:t>
            </a:r>
            <a:r>
              <a:rPr lang="zh-CN" altLang="en-US" sz="2800"/>
              <a:t>的最优解</a:t>
            </a:r>
            <a:r>
              <a:rPr lang="en-US" altLang="zh-CN" sz="2800"/>
              <a:t>,</a:t>
            </a:r>
            <a:r>
              <a:rPr lang="zh-CN" altLang="en-US" sz="2800"/>
              <a:t>此时</a:t>
            </a:r>
          </a:p>
        </p:txBody>
      </p:sp>
      <p:sp>
        <p:nvSpPr>
          <p:cNvPr id="7176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5</a:t>
            </a:r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61248" y="1044638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dirty="0"/>
              <a:t>显然</a:t>
            </a:r>
            <a:r>
              <a:rPr lang="en-US" altLang="zh-CN" sz="2800" dirty="0"/>
              <a:t>,</a:t>
            </a:r>
            <a:r>
              <a:rPr lang="zh-CN" altLang="en-US" sz="2800" dirty="0"/>
              <a:t>当</a:t>
            </a: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924150" y="1394758"/>
          <a:ext cx="42211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2" name="Equation" r:id="rId7" imgW="3924300" imgH="469900" progId="Equation.DSMT4">
                  <p:embed/>
                </p:oleObj>
              </mc:Choice>
              <mc:Fallback>
                <p:oleObj name="Equation" r:id="rId7" imgW="3924300" imgH="469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150" y="1394758"/>
                        <a:ext cx="42211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50745" y="1924147"/>
            <a:ext cx="347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时目标函数取极小值</a:t>
            </a:r>
            <a:r>
              <a:rPr lang="en-US" altLang="zh-CN" sz="2800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7175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23850" y="1268413"/>
            <a:ext cx="799306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2.3 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设线性规划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(2.2)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的可行域非空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则</a:t>
            </a:r>
          </a:p>
        </p:txBody>
      </p:sp>
      <p:sp>
        <p:nvSpPr>
          <p:cNvPr id="33805" name="Rectangle 8"/>
          <p:cNvSpPr>
            <a:spLocks noChangeArrowheads="1"/>
          </p:cNvSpPr>
          <p:nvPr/>
        </p:nvSpPr>
        <p:spPr bwMode="auto">
          <a:xfrm>
            <a:off x="636003" y="1858442"/>
            <a:ext cx="7247088" cy="276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1,   (2.2)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存在最优解的充要条件是所有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cd</a:t>
            </a:r>
            <a:r>
              <a:rPr lang="en-US" altLang="zh-CN" sz="2800" baseline="30000" dirty="0">
                <a:ea typeface="+mn-ea"/>
                <a:cs typeface="Times New Roman" panose="02020603050405020304" pitchFamily="18" charset="0"/>
              </a:rPr>
              <a:t>(j)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非负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ea typeface="+mn-ea"/>
                <a:cs typeface="Times New Roman" panose="02020603050405020304" pitchFamily="18" charset="0"/>
              </a:rPr>
              <a:t>(j)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是可行域的极方向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endParaRPr lang="en-US" altLang="zh-CN" sz="2800" dirty="0"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2,  </a:t>
            </a:r>
            <a:r>
              <a:rPr lang="zh-CN" altLang="en-US" sz="2800" dirty="0"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cs typeface="Times New Roman" panose="02020603050405020304" pitchFamily="18" charset="0"/>
              </a:rPr>
              <a:t>(2. 2)</a:t>
            </a:r>
            <a:r>
              <a:rPr lang="zh-CN" altLang="en-US" sz="2800" dirty="0">
                <a:cs typeface="Times New Roman" panose="02020603050405020304" pitchFamily="18" charset="0"/>
              </a:rPr>
              <a:t>存在有限最优解</a:t>
            </a:r>
            <a:r>
              <a:rPr lang="en-US" altLang="zh-CN" sz="2800" dirty="0"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cs typeface="Times New Roman" panose="02020603050405020304" pitchFamily="18" charset="0"/>
              </a:rPr>
              <a:t>则目标数的最优值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可在某极点达到</a:t>
            </a:r>
            <a:r>
              <a:rPr lang="en-US" altLang="zh-CN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endParaRPr lang="zh-CN" altLang="en-US" sz="28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00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6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7</a:t>
            </a:r>
            <a:endParaRPr lang="zh-CN" altLang="en-US"/>
          </a:p>
        </p:txBody>
      </p:sp>
      <p:sp>
        <p:nvSpPr>
          <p:cNvPr id="819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35267" y="981159"/>
            <a:ext cx="4464050" cy="5032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最优基本可行解</a:t>
            </a:r>
          </a:p>
        </p:txBody>
      </p:sp>
      <p:sp>
        <p:nvSpPr>
          <p:cNvPr id="10248" name="Rectangle 6"/>
          <p:cNvSpPr>
            <a:spLocks noChangeArrowheads="1"/>
          </p:cNvSpPr>
          <p:nvPr/>
        </p:nvSpPr>
        <p:spPr bwMode="auto">
          <a:xfrm>
            <a:off x="539749" y="1628775"/>
            <a:ext cx="791123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前面讨论知道最优解可在极点达到，而极点是一几何概念，求解不方便。下面从代数的角度来考虑。考虑标准型</a:t>
            </a:r>
          </a:p>
        </p:txBody>
      </p:sp>
      <p:graphicFrame>
        <p:nvGraphicFramePr>
          <p:cNvPr id="10242" name="Object 7"/>
          <p:cNvGraphicFramePr>
            <a:graphicFrameLocks noChangeAspect="1"/>
          </p:cNvGraphicFramePr>
          <p:nvPr/>
        </p:nvGraphicFramePr>
        <p:xfrm>
          <a:off x="1846280" y="3041100"/>
          <a:ext cx="43434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0" name="Equation" r:id="rId3" imgW="4343400" imgH="1358900" progId="Equation.DSMT4">
                  <p:embed/>
                </p:oleObj>
              </mc:Choice>
              <mc:Fallback>
                <p:oleObj name="Equation" r:id="rId3" imgW="4343400" imgH="1358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80" y="3041100"/>
                        <a:ext cx="43434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327911" y="4544361"/>
            <a:ext cx="78015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不失一般性</a:t>
            </a:r>
            <a:r>
              <a:rPr lang="en-US" altLang="zh-CN" sz="2800" dirty="0"/>
              <a:t>,</a:t>
            </a:r>
            <a:r>
              <a:rPr lang="zh-CN" altLang="en-US" sz="2800" dirty="0"/>
              <a:t>设 秩</a:t>
            </a:r>
            <a:r>
              <a:rPr lang="en-US" altLang="zh-CN" sz="2800" dirty="0"/>
              <a:t>(A)=m, A=[B,N], B</a:t>
            </a:r>
            <a:r>
              <a:rPr lang="zh-CN" altLang="en-US" sz="2800" dirty="0"/>
              <a:t>是</a:t>
            </a:r>
            <a:r>
              <a:rPr lang="en-US" altLang="zh-CN" sz="2800" dirty="0"/>
              <a:t>m</a:t>
            </a:r>
            <a:r>
              <a:rPr lang="zh-CN" altLang="en-US" sz="2800" dirty="0"/>
              <a:t>阶可逆阵</a:t>
            </a:r>
            <a:endParaRPr lang="en-US" altLang="zh-CN" sz="2800" dirty="0"/>
          </a:p>
        </p:txBody>
      </p:sp>
      <p:graphicFrame>
        <p:nvGraphicFramePr>
          <p:cNvPr id="10243" name="Object 9"/>
          <p:cNvGraphicFramePr>
            <a:graphicFrameLocks noChangeAspect="1"/>
          </p:cNvGraphicFramePr>
          <p:nvPr/>
        </p:nvGraphicFramePr>
        <p:xfrm>
          <a:off x="604838" y="5273675"/>
          <a:ext cx="2209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1" name="Equation" r:id="rId5" imgW="53035200" imgH="24384000" progId="Equation.DSMT4">
                  <p:embed/>
                </p:oleObj>
              </mc:Choice>
              <mc:Fallback>
                <p:oleObj name="Equation" r:id="rId5" imgW="53035200" imgH="2438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5273675"/>
                        <a:ext cx="2209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0"/>
          <p:cNvGraphicFramePr>
            <a:graphicFrameLocks noChangeAspect="1"/>
          </p:cNvGraphicFramePr>
          <p:nvPr/>
        </p:nvGraphicFramePr>
        <p:xfrm>
          <a:off x="3273925" y="5336524"/>
          <a:ext cx="2971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2" name="Equation" r:id="rId7" imgW="3556000" imgH="1016000" progId="Equation.DSMT4">
                  <p:embed/>
                </p:oleObj>
              </mc:Choice>
              <mc:Fallback>
                <p:oleObj name="Equation" r:id="rId7" imgW="3556000" imgH="1016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925" y="5336524"/>
                        <a:ext cx="2971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/>
      <p:bldP spid="102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endParaRPr lang="zh-CN" altLang="en-US"/>
          </a:p>
        </p:txBody>
      </p:sp>
      <p:sp>
        <p:nvSpPr>
          <p:cNvPr id="9224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62757" y="1062475"/>
            <a:ext cx="5570483" cy="566628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于是</a:t>
            </a:r>
            <a:r>
              <a:rPr lang="en-US" altLang="zh-CN" sz="2800" dirty="0"/>
              <a:t>,Ax=b</a:t>
            </a:r>
            <a:r>
              <a:rPr lang="zh-CN" altLang="en-US" sz="2800" dirty="0"/>
              <a:t>可写为</a:t>
            </a:r>
          </a:p>
        </p:txBody>
      </p:sp>
      <p:graphicFrame>
        <p:nvGraphicFramePr>
          <p:cNvPr id="11266" name="Object 6"/>
          <p:cNvGraphicFramePr>
            <a:graphicFrameLocks noChangeAspect="1"/>
          </p:cNvGraphicFramePr>
          <p:nvPr/>
        </p:nvGraphicFramePr>
        <p:xfrm>
          <a:off x="642938" y="2428875"/>
          <a:ext cx="5664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8" name="Equation" r:id="rId3" imgW="5664200" imgH="431800" progId="Equation.DSMT4">
                  <p:embed/>
                </p:oleObj>
              </mc:Choice>
              <mc:Fallback>
                <p:oleObj name="Equation" r:id="rId3" imgW="56642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428875"/>
                        <a:ext cx="5664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7"/>
          <p:cNvGraphicFramePr>
            <a:graphicFrameLocks noChangeAspect="1"/>
          </p:cNvGraphicFramePr>
          <p:nvPr/>
        </p:nvGraphicFramePr>
        <p:xfrm>
          <a:off x="2428875" y="3214688"/>
          <a:ext cx="2730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9" name="Equation" r:id="rId5" imgW="2730500" imgH="469900" progId="Equation.DSMT4">
                  <p:embed/>
                </p:oleObj>
              </mc:Choice>
              <mc:Fallback>
                <p:oleObj name="Equation" r:id="rId5" imgW="2730500" imgH="469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214688"/>
                        <a:ext cx="2730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00063" y="3071813"/>
            <a:ext cx="8953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/>
              <a:t>于是</a:t>
            </a:r>
          </a:p>
        </p:txBody>
      </p:sp>
      <p:grpSp>
        <p:nvGrpSpPr>
          <p:cNvPr id="2" name="Group 14"/>
          <p:cNvGrpSpPr/>
          <p:nvPr/>
        </p:nvGrpSpPr>
        <p:grpSpPr bwMode="auto">
          <a:xfrm>
            <a:off x="428625" y="3786188"/>
            <a:ext cx="2835275" cy="595312"/>
            <a:chOff x="480" y="3024"/>
            <a:chExt cx="1786" cy="375"/>
          </a:xfrm>
        </p:grpSpPr>
        <p:sp>
          <p:nvSpPr>
            <p:cNvPr id="9228" name="Rectangle 9"/>
            <p:cNvSpPr>
              <a:spLocks noChangeArrowheads="1"/>
            </p:cNvSpPr>
            <p:nvPr/>
          </p:nvSpPr>
          <p:spPr bwMode="auto">
            <a:xfrm>
              <a:off x="480" y="3024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特别的令</a:t>
              </a:r>
            </a:p>
          </p:txBody>
        </p:sp>
        <p:grpSp>
          <p:nvGrpSpPr>
            <p:cNvPr id="9229" name="Group 13"/>
            <p:cNvGrpSpPr/>
            <p:nvPr/>
          </p:nvGrpSpPr>
          <p:grpSpPr bwMode="auto">
            <a:xfrm>
              <a:off x="1392" y="3024"/>
              <a:ext cx="874" cy="375"/>
              <a:chOff x="1776" y="3216"/>
              <a:chExt cx="874" cy="375"/>
            </a:xfrm>
          </p:grpSpPr>
          <p:sp>
            <p:nvSpPr>
              <p:cNvPr id="9230" name="Rectangle 10"/>
              <p:cNvSpPr>
                <a:spLocks noChangeArrowheads="1"/>
              </p:cNvSpPr>
              <p:nvPr/>
            </p:nvSpPr>
            <p:spPr bwMode="auto">
              <a:xfrm>
                <a:off x="1920" y="3360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/>
                  <a:t>N</a:t>
                </a:r>
              </a:p>
            </p:txBody>
          </p:sp>
          <p:sp>
            <p:nvSpPr>
              <p:cNvPr id="9231" name="Rectangle 11"/>
              <p:cNvSpPr>
                <a:spLocks noChangeArrowheads="1"/>
              </p:cNvSpPr>
              <p:nvPr/>
            </p:nvSpPr>
            <p:spPr bwMode="auto">
              <a:xfrm>
                <a:off x="1776" y="3216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x</a:t>
                </a:r>
              </a:p>
            </p:txBody>
          </p:sp>
          <p:sp>
            <p:nvSpPr>
              <p:cNvPr id="9232" name="Rectangle 12"/>
              <p:cNvSpPr>
                <a:spLocks noChangeArrowheads="1"/>
              </p:cNvSpPr>
              <p:nvPr/>
            </p:nvSpPr>
            <p:spPr bwMode="auto">
              <a:xfrm>
                <a:off x="2016" y="3216"/>
                <a:ext cx="6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=0,</a:t>
                </a:r>
                <a:r>
                  <a:rPr lang="zh-CN" altLang="en-US" sz="2800"/>
                  <a:t>则</a:t>
                </a:r>
              </a:p>
            </p:txBody>
          </p:sp>
        </p:grpSp>
      </p:grpSp>
      <p:graphicFrame>
        <p:nvGraphicFramePr>
          <p:cNvPr id="11268" name="Object 15"/>
          <p:cNvGraphicFramePr>
            <a:graphicFrameLocks noChangeAspect="1"/>
          </p:cNvGraphicFramePr>
          <p:nvPr/>
        </p:nvGraphicFramePr>
        <p:xfrm>
          <a:off x="2628900" y="4510088"/>
          <a:ext cx="45370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0" name="Equation" r:id="rId7" imgW="4686300" imgH="1041400" progId="Equation.DSMT4">
                  <p:embed/>
                </p:oleObj>
              </mc:Choice>
              <mc:Fallback>
                <p:oleObj name="Equation" r:id="rId7" imgW="4686300" imgH="1041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510088"/>
                        <a:ext cx="453707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3286125" y="1214438"/>
          <a:ext cx="2235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1" name="Equation" r:id="rId9" imgW="2235200" imgH="1016000" progId="Equation.DSMT4">
                  <p:embed/>
                </p:oleObj>
              </mc:Choice>
              <mc:Fallback>
                <p:oleObj name="Equation" r:id="rId9" imgW="2235200" imgH="1016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1214438"/>
                        <a:ext cx="2235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6" name="标题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9</a:t>
            </a:r>
            <a:endParaRPr lang="zh-CN" altLang="en-US"/>
          </a:p>
        </p:txBody>
      </p:sp>
      <p:sp>
        <p:nvSpPr>
          <p:cNvPr id="1024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04593" y="1224674"/>
            <a:ext cx="50292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称为方程组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Ax=b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基本解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250" name="Rectangle 5"/>
          <p:cNvSpPr>
            <a:spLocks noChangeArrowheads="1"/>
          </p:cNvSpPr>
          <p:nvPr/>
        </p:nvSpPr>
        <p:spPr bwMode="auto">
          <a:xfrm>
            <a:off x="266865" y="1048407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>
                <a:ea typeface="+mn-ea"/>
                <a:cs typeface="Times New Roman" panose="02020603050405020304" pitchFamily="18" charset="0"/>
              </a:rPr>
              <a:t>2.6</a:t>
            </a:r>
          </a:p>
        </p:txBody>
      </p:sp>
      <p:graphicFrame>
        <p:nvGraphicFramePr>
          <p:cNvPr id="10242" name="Object 6"/>
          <p:cNvGraphicFramePr>
            <a:graphicFrameLocks noChangeAspect="1"/>
          </p:cNvGraphicFramePr>
          <p:nvPr/>
        </p:nvGraphicFramePr>
        <p:xfrm>
          <a:off x="1643063" y="1285875"/>
          <a:ext cx="2057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6" name="Equation" r:id="rId3" imgW="2654300" imgH="1041400" progId="Equation.DSMT4">
                  <p:embed/>
                </p:oleObj>
              </mc:Choice>
              <mc:Fallback>
                <p:oleObj name="Equation" r:id="rId3" imgW="2654300" imgH="1041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285875"/>
                        <a:ext cx="2057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 bwMode="auto">
          <a:xfrm>
            <a:off x="695325" y="2071690"/>
            <a:ext cx="6324600" cy="647700"/>
            <a:chOff x="468" y="1728"/>
            <a:chExt cx="3984" cy="408"/>
          </a:xfrm>
        </p:grpSpPr>
        <p:sp>
          <p:nvSpPr>
            <p:cNvPr id="10264" name="Rectangle 7"/>
            <p:cNvSpPr>
              <a:spLocks noChangeArrowheads="1"/>
            </p:cNvSpPr>
            <p:nvPr/>
          </p:nvSpPr>
          <p:spPr bwMode="auto">
            <a:xfrm>
              <a:off x="468" y="1806"/>
              <a:ext cx="39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 b="1" dirty="0"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zh-CN" altLang="en-US" sz="2800" dirty="0">
                  <a:ea typeface="+mn-ea"/>
                  <a:cs typeface="Times New Roman" panose="02020603050405020304" pitchFamily="18" charset="0"/>
                </a:rPr>
                <a:t>称为</a:t>
              </a:r>
              <a:r>
                <a:rPr lang="zh-CN" altLang="en-US" sz="2800" b="1" dirty="0">
                  <a:ea typeface="+mn-ea"/>
                  <a:cs typeface="Times New Roman" panose="02020603050405020304" pitchFamily="18" charset="0"/>
                </a:rPr>
                <a:t>基矩阵</a:t>
              </a:r>
              <a:r>
                <a:rPr lang="en-US" altLang="zh-CN" sz="2800" b="1" dirty="0">
                  <a:ea typeface="+mn-ea"/>
                  <a:cs typeface="Times New Roman" panose="02020603050405020304" pitchFamily="18" charset="0"/>
                </a:rPr>
                <a:t>,     </a:t>
              </a:r>
              <a:r>
                <a:rPr lang="zh-CN" altLang="en-US" sz="2800" dirty="0">
                  <a:ea typeface="+mn-ea"/>
                  <a:cs typeface="Times New Roman" panose="02020603050405020304" pitchFamily="18" charset="0"/>
                </a:rPr>
                <a:t>的各分量称为</a:t>
              </a:r>
              <a:r>
                <a:rPr lang="zh-CN" altLang="en-US" sz="2800" b="1" dirty="0">
                  <a:ea typeface="+mn-ea"/>
                  <a:cs typeface="Times New Roman" panose="02020603050405020304" pitchFamily="18" charset="0"/>
                </a:rPr>
                <a:t>基变量</a:t>
              </a:r>
              <a:r>
                <a:rPr lang="en-US" altLang="zh-CN" sz="2800" b="1" dirty="0">
                  <a:ea typeface="+mn-ea"/>
                  <a:cs typeface="Times New Roman" panose="02020603050405020304" pitchFamily="18" charset="0"/>
                </a:rPr>
                <a:t>.    </a:t>
              </a:r>
            </a:p>
          </p:txBody>
        </p:sp>
        <p:grpSp>
          <p:nvGrpSpPr>
            <p:cNvPr id="10265" name="Group 10"/>
            <p:cNvGrpSpPr/>
            <p:nvPr/>
          </p:nvGrpSpPr>
          <p:grpSpPr bwMode="auto">
            <a:xfrm>
              <a:off x="1872" y="1728"/>
              <a:ext cx="324" cy="397"/>
              <a:chOff x="1472" y="2618"/>
              <a:chExt cx="324" cy="397"/>
            </a:xfrm>
          </p:grpSpPr>
          <p:sp>
            <p:nvSpPr>
              <p:cNvPr id="10266" name="Rectangle 8"/>
              <p:cNvSpPr>
                <a:spLocks noChangeArrowheads="1"/>
              </p:cNvSpPr>
              <p:nvPr/>
            </p:nvSpPr>
            <p:spPr bwMode="auto">
              <a:xfrm>
                <a:off x="1472" y="2618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200">
                    <a:ea typeface="+mn-ea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0267" name="Rectangle 9"/>
              <p:cNvSpPr>
                <a:spLocks noChangeArrowheads="1"/>
              </p:cNvSpPr>
              <p:nvPr/>
            </p:nvSpPr>
            <p:spPr bwMode="auto">
              <a:xfrm>
                <a:off x="1584" y="2784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ea typeface="+mn-ea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</p:grpSp>
      <p:grpSp>
        <p:nvGrpSpPr>
          <p:cNvPr id="4" name="Group 15"/>
          <p:cNvGrpSpPr/>
          <p:nvPr/>
        </p:nvGrpSpPr>
        <p:grpSpPr bwMode="auto">
          <a:xfrm>
            <a:off x="762000" y="2857500"/>
            <a:ext cx="6418263" cy="558800"/>
            <a:chOff x="480" y="2112"/>
            <a:chExt cx="4043" cy="352"/>
          </a:xfrm>
        </p:grpSpPr>
        <p:sp>
          <p:nvSpPr>
            <p:cNvPr id="10262" name="Rectangle 12"/>
            <p:cNvSpPr>
              <a:spLocks noChangeArrowheads="1"/>
            </p:cNvSpPr>
            <p:nvPr/>
          </p:nvSpPr>
          <p:spPr bwMode="auto">
            <a:xfrm>
              <a:off x="480" y="2112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2800">
                  <a:ea typeface="+mn-ea"/>
                  <a:cs typeface="Times New Roman" panose="02020603050405020304" pitchFamily="18" charset="0"/>
                </a:rPr>
                <a:t>基变量的全体</a:t>
              </a:r>
            </a:p>
          </p:txBody>
        </p:sp>
        <p:graphicFrame>
          <p:nvGraphicFramePr>
            <p:cNvPr id="10246" name="Object 13"/>
            <p:cNvGraphicFramePr>
              <a:graphicFrameLocks noChangeAspect="1"/>
            </p:cNvGraphicFramePr>
            <p:nvPr/>
          </p:nvGraphicFramePr>
          <p:xfrm>
            <a:off x="1872" y="2160"/>
            <a:ext cx="130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27" name="Equation" r:id="rId5" imgW="2070100" imgH="482600" progId="Equation.DSMT4">
                    <p:embed/>
                  </p:oleObj>
                </mc:Choice>
                <mc:Fallback>
                  <p:oleObj name="Equation" r:id="rId5" imgW="2070100" imgH="4826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160"/>
                          <a:ext cx="130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3" name="Rectangle 14"/>
            <p:cNvSpPr>
              <a:spLocks noChangeArrowheads="1"/>
            </p:cNvSpPr>
            <p:nvPr/>
          </p:nvSpPr>
          <p:spPr bwMode="auto">
            <a:xfrm>
              <a:off x="3216" y="2126"/>
              <a:ext cx="13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ea typeface="+mn-ea"/>
                  <a:cs typeface="Times New Roman" panose="02020603050405020304" pitchFamily="18" charset="0"/>
                </a:rPr>
                <a:t>称为</a:t>
              </a:r>
              <a:r>
                <a:rPr lang="zh-CN" altLang="en-US" sz="2800" b="1">
                  <a:ea typeface="+mn-ea"/>
                  <a:cs typeface="Times New Roman" panose="02020603050405020304" pitchFamily="18" charset="0"/>
                </a:rPr>
                <a:t>一组基</a:t>
              </a:r>
              <a:r>
                <a:rPr lang="en-US" altLang="zh-CN" sz="2800" b="1">
                  <a:ea typeface="+mn-ea"/>
                  <a:cs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714375" y="3357563"/>
            <a:ext cx="4524375" cy="630237"/>
            <a:chOff x="1440" y="2928"/>
            <a:chExt cx="2850" cy="397"/>
          </a:xfrm>
        </p:grpSpPr>
        <p:sp>
          <p:nvSpPr>
            <p:cNvPr id="10258" name="Rectangle 17"/>
            <p:cNvSpPr>
              <a:spLocks noChangeArrowheads="1"/>
            </p:cNvSpPr>
            <p:nvPr/>
          </p:nvSpPr>
          <p:spPr bwMode="auto">
            <a:xfrm>
              <a:off x="1728" y="2976"/>
              <a:ext cx="256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2800">
                  <a:ea typeface="+mn-ea"/>
                  <a:cs typeface="Times New Roman" panose="02020603050405020304" pitchFamily="18" charset="0"/>
                </a:rPr>
                <a:t>的各分量称为非</a:t>
              </a:r>
              <a:r>
                <a:rPr lang="zh-CN" altLang="en-US" sz="2800" b="1">
                  <a:ea typeface="+mn-ea"/>
                  <a:cs typeface="Times New Roman" panose="02020603050405020304" pitchFamily="18" charset="0"/>
                </a:rPr>
                <a:t>基变量</a:t>
              </a:r>
              <a:r>
                <a:rPr lang="en-US" altLang="zh-CN" sz="2800" b="1">
                  <a:ea typeface="+mn-ea"/>
                  <a:cs typeface="Times New Roman" panose="02020603050405020304" pitchFamily="18" charset="0"/>
                </a:rPr>
                <a:t>.    </a:t>
              </a:r>
            </a:p>
          </p:txBody>
        </p:sp>
        <p:grpSp>
          <p:nvGrpSpPr>
            <p:cNvPr id="10259" name="Group 18"/>
            <p:cNvGrpSpPr/>
            <p:nvPr/>
          </p:nvGrpSpPr>
          <p:grpSpPr bwMode="auto">
            <a:xfrm>
              <a:off x="1440" y="2928"/>
              <a:ext cx="324" cy="397"/>
              <a:chOff x="1472" y="2618"/>
              <a:chExt cx="324" cy="397"/>
            </a:xfrm>
          </p:grpSpPr>
          <p:sp>
            <p:nvSpPr>
              <p:cNvPr id="10260" name="Rectangle 19"/>
              <p:cNvSpPr>
                <a:spLocks noChangeArrowheads="1"/>
              </p:cNvSpPr>
              <p:nvPr/>
            </p:nvSpPr>
            <p:spPr bwMode="auto">
              <a:xfrm>
                <a:off x="1472" y="2618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200">
                    <a:ea typeface="+mn-ea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0261" name="Rectangle 20"/>
              <p:cNvSpPr>
                <a:spLocks noChangeArrowheads="1"/>
              </p:cNvSpPr>
              <p:nvPr/>
            </p:nvSpPr>
            <p:spPr bwMode="auto">
              <a:xfrm>
                <a:off x="1584" y="2784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ea typeface="+mn-ea"/>
                    <a:cs typeface="Times New Roman" panose="02020603050405020304" pitchFamily="18" charset="0"/>
                  </a:rPr>
                  <a:t>N</a:t>
                </a:r>
              </a:p>
            </p:txBody>
          </p:sp>
        </p:grpSp>
      </p:grpSp>
      <p:graphicFrame>
        <p:nvGraphicFramePr>
          <p:cNvPr id="12291" name="Object 22"/>
          <p:cNvGraphicFramePr>
            <a:graphicFrameLocks noChangeAspect="1"/>
          </p:cNvGraphicFramePr>
          <p:nvPr/>
        </p:nvGraphicFramePr>
        <p:xfrm>
          <a:off x="785813" y="4143375"/>
          <a:ext cx="2273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8" name="Equation" r:id="rId7" imgW="2273300" imgH="914400" progId="Equation.DSMT4">
                  <p:embed/>
                </p:oleObj>
              </mc:Choice>
              <mc:Fallback>
                <p:oleObj name="Equation" r:id="rId7" imgW="2273300" imgH="914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143375"/>
                        <a:ext cx="2273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23"/>
          <p:cNvGraphicFramePr>
            <a:graphicFrameLocks noChangeAspect="1"/>
          </p:cNvGraphicFramePr>
          <p:nvPr/>
        </p:nvGraphicFramePr>
        <p:xfrm>
          <a:off x="4929188" y="3500438"/>
          <a:ext cx="270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9" name="Equation" r:id="rId9" imgW="2705100" imgH="431800" progId="Equation.DSMT4">
                  <p:embed/>
                </p:oleObj>
              </mc:Choice>
              <mc:Fallback>
                <p:oleObj name="Equation" r:id="rId9" imgW="27051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3500438"/>
                        <a:ext cx="2705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24"/>
          <p:cNvSpPr>
            <a:spLocks noChangeArrowheads="1"/>
          </p:cNvSpPr>
          <p:nvPr/>
        </p:nvSpPr>
        <p:spPr bwMode="auto">
          <a:xfrm>
            <a:off x="3095124" y="4326255"/>
            <a:ext cx="52863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为约束条件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Ax=b,x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0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的一个</a:t>
            </a:r>
            <a:r>
              <a:rPr lang="zh-CN" altLang="en-US" sz="2800" b="1" dirty="0">
                <a:ea typeface="+mn-ea"/>
                <a:cs typeface="Times New Roman" panose="02020603050405020304" pitchFamily="18" charset="0"/>
              </a:rPr>
              <a:t>基本可行解</a:t>
            </a:r>
            <a:r>
              <a:rPr lang="en-US" altLang="zh-CN" sz="2800" b="1" dirty="0">
                <a:ea typeface="+mn-ea"/>
                <a:cs typeface="Times New Roman" panose="02020603050405020304" pitchFamily="18" charset="0"/>
              </a:rPr>
              <a:t>. B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称为</a:t>
            </a:r>
            <a:r>
              <a:rPr lang="zh-CN" altLang="en-US" sz="2800" b="1" dirty="0">
                <a:ea typeface="+mn-ea"/>
                <a:cs typeface="Times New Roman" panose="02020603050405020304" pitchFamily="18" charset="0"/>
              </a:rPr>
              <a:t>可行基矩阵</a:t>
            </a:r>
          </a:p>
        </p:txBody>
      </p:sp>
      <p:grpSp>
        <p:nvGrpSpPr>
          <p:cNvPr id="7" name="Group 10"/>
          <p:cNvGrpSpPr/>
          <p:nvPr/>
        </p:nvGrpSpPr>
        <p:grpSpPr bwMode="auto">
          <a:xfrm>
            <a:off x="860425" y="5499104"/>
            <a:ext cx="5021263" cy="523876"/>
            <a:chOff x="152" y="1534"/>
            <a:chExt cx="3163" cy="330"/>
          </a:xfrm>
        </p:grpSpPr>
        <p:graphicFrame>
          <p:nvGraphicFramePr>
            <p:cNvPr id="10245" name="Object 7"/>
            <p:cNvGraphicFramePr>
              <a:graphicFrameLocks noChangeAspect="1"/>
            </p:cNvGraphicFramePr>
            <p:nvPr/>
          </p:nvGraphicFramePr>
          <p:xfrm>
            <a:off x="152" y="1550"/>
            <a:ext cx="130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30" name="Equation" r:id="rId11" imgW="2070100" imgH="482600" progId="Equation.DSMT4">
                    <p:embed/>
                  </p:oleObj>
                </mc:Choice>
                <mc:Fallback>
                  <p:oleObj name="Equation" r:id="rId11" imgW="2070100" imgH="482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" y="1550"/>
                          <a:ext cx="130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Rectangle 8"/>
            <p:cNvSpPr>
              <a:spLocks noChangeArrowheads="1"/>
            </p:cNvSpPr>
            <p:nvPr/>
          </p:nvSpPr>
          <p:spPr bwMode="auto">
            <a:xfrm>
              <a:off x="1496" y="1534"/>
              <a:ext cx="181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ea typeface="+mn-ea"/>
                  <a:cs typeface="Times New Roman" panose="02020603050405020304" pitchFamily="18" charset="0"/>
                </a:rPr>
                <a:t>称为</a:t>
              </a:r>
              <a:r>
                <a:rPr lang="zh-CN" altLang="en-US" sz="2800" b="1" dirty="0">
                  <a:ea typeface="+mn-ea"/>
                  <a:cs typeface="Times New Roman" panose="02020603050405020304" pitchFamily="18" charset="0"/>
                </a:rPr>
                <a:t>一组可行基</a:t>
              </a:r>
              <a:r>
                <a:rPr lang="en-US" altLang="zh-CN" sz="2800" b="1" dirty="0">
                  <a:ea typeface="+mn-ea"/>
                  <a:cs typeface="Times New Roman" panose="02020603050405020304" pitchFamily="18" charset="0"/>
                </a:rPr>
                <a:t>.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0" name="Group 16"/>
          <p:cNvGrpSpPr/>
          <p:nvPr/>
        </p:nvGrpSpPr>
        <p:grpSpPr bwMode="auto">
          <a:xfrm>
            <a:off x="228600" y="1000128"/>
            <a:ext cx="6127750" cy="752476"/>
            <a:chOff x="816" y="3072"/>
            <a:chExt cx="3860" cy="474"/>
          </a:xfrm>
        </p:grpSpPr>
        <p:grpSp>
          <p:nvGrpSpPr>
            <p:cNvPr id="11276" name="Group 13"/>
            <p:cNvGrpSpPr/>
            <p:nvPr/>
          </p:nvGrpSpPr>
          <p:grpSpPr bwMode="auto">
            <a:xfrm>
              <a:off x="1056" y="3072"/>
              <a:ext cx="3620" cy="474"/>
              <a:chOff x="1056" y="3168"/>
              <a:chExt cx="3620" cy="474"/>
            </a:xfrm>
          </p:grpSpPr>
          <p:sp>
            <p:nvSpPr>
              <p:cNvPr id="11278" name="Rectangle 11"/>
              <p:cNvSpPr>
                <a:spLocks noChangeArrowheads="1"/>
              </p:cNvSpPr>
              <p:nvPr/>
            </p:nvSpPr>
            <p:spPr bwMode="auto">
              <a:xfrm>
                <a:off x="1056" y="3312"/>
                <a:ext cx="362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ea typeface="+mn-ea"/>
                    <a:cs typeface="Times New Roman" panose="02020603050405020304" pitchFamily="18" charset="0"/>
                  </a:rPr>
                  <a:t>B   b&gt;0,</a:t>
                </a:r>
                <a:r>
                  <a:rPr lang="zh-CN" altLang="en-US" sz="2800">
                    <a:ea typeface="+mn-ea"/>
                    <a:cs typeface="Times New Roman" panose="02020603050405020304" pitchFamily="18" charset="0"/>
                  </a:rPr>
                  <a:t>称基本可行解是</a:t>
                </a:r>
                <a:r>
                  <a:rPr lang="zh-CN" altLang="en-US" sz="2800" b="1">
                    <a:ea typeface="+mn-ea"/>
                    <a:cs typeface="Times New Roman" panose="02020603050405020304" pitchFamily="18" charset="0"/>
                  </a:rPr>
                  <a:t>非退化</a:t>
                </a:r>
                <a:r>
                  <a:rPr lang="zh-CN" altLang="en-US" sz="2800"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2800">
                    <a:ea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>
                    <a:ea typeface="+mn-ea"/>
                    <a:cs typeface="Times New Roman" panose="02020603050405020304" pitchFamily="18" charset="0"/>
                  </a:rPr>
                  <a:t>若</a:t>
                </a:r>
              </a:p>
            </p:txBody>
          </p:sp>
          <p:sp>
            <p:nvSpPr>
              <p:cNvPr id="11279" name="Rectangle 12"/>
              <p:cNvSpPr>
                <a:spLocks noChangeArrowheads="1"/>
              </p:cNvSpPr>
              <p:nvPr/>
            </p:nvSpPr>
            <p:spPr bwMode="auto">
              <a:xfrm>
                <a:off x="1200" y="316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800" dirty="0">
                    <a:ea typeface="+mn-ea"/>
                    <a:cs typeface="Times New Roman" panose="02020603050405020304" pitchFamily="18" charset="0"/>
                  </a:rPr>
                  <a:t>1 </a:t>
                </a:r>
              </a:p>
            </p:txBody>
          </p:sp>
        </p:grpSp>
        <p:sp>
          <p:nvSpPr>
            <p:cNvPr id="11277" name="Rectangle 14"/>
            <p:cNvSpPr>
              <a:spLocks noChangeArrowheads="1"/>
            </p:cNvSpPr>
            <p:nvPr/>
          </p:nvSpPr>
          <p:spPr bwMode="auto">
            <a:xfrm>
              <a:off x="816" y="321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ea typeface="+mn-ea"/>
                  <a:cs typeface="Times New Roman" panose="02020603050405020304" pitchFamily="18" charset="0"/>
                </a:rPr>
                <a:t>若</a:t>
              </a:r>
            </a:p>
          </p:txBody>
        </p:sp>
      </p:grpSp>
      <p:grpSp>
        <p:nvGrpSpPr>
          <p:cNvPr id="11271" name="Group 18"/>
          <p:cNvGrpSpPr/>
          <p:nvPr/>
        </p:nvGrpSpPr>
        <p:grpSpPr bwMode="auto">
          <a:xfrm>
            <a:off x="6172201" y="1000128"/>
            <a:ext cx="1338263" cy="746126"/>
            <a:chOff x="1056" y="3168"/>
            <a:chExt cx="843" cy="470"/>
          </a:xfrm>
        </p:grpSpPr>
        <p:sp>
          <p:nvSpPr>
            <p:cNvPr id="11274" name="Rectangle 19"/>
            <p:cNvSpPr>
              <a:spLocks noChangeArrowheads="1"/>
            </p:cNvSpPr>
            <p:nvPr/>
          </p:nvSpPr>
          <p:spPr bwMode="auto">
            <a:xfrm>
              <a:off x="1056" y="3308"/>
              <a:ext cx="8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ea typeface="+mn-ea"/>
                  <a:cs typeface="Times New Roman" panose="02020603050405020304" pitchFamily="18" charset="0"/>
                </a:rPr>
                <a:t>B   b</a:t>
              </a:r>
              <a:r>
                <a:rPr lang="en-US" altLang="zh-CN" sz="2800"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2800">
                  <a:ea typeface="+mn-ea"/>
                  <a:cs typeface="Times New Roman" panose="02020603050405020304" pitchFamily="18" charset="0"/>
                </a:rPr>
                <a:t>0,</a:t>
              </a:r>
            </a:p>
          </p:txBody>
        </p:sp>
        <p:sp>
          <p:nvSpPr>
            <p:cNvPr id="11275" name="Rectangle 20"/>
            <p:cNvSpPr>
              <a:spLocks noChangeArrowheads="1"/>
            </p:cNvSpPr>
            <p:nvPr/>
          </p:nvSpPr>
          <p:spPr bwMode="auto">
            <a:xfrm>
              <a:off x="1200" y="316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ea typeface="+mn-ea"/>
                  <a:cs typeface="Times New Roman" panose="02020603050405020304" pitchFamily="18" charset="0"/>
                </a:rPr>
                <a:t>-</a:t>
              </a:r>
              <a:r>
                <a:rPr lang="en-US" altLang="zh-CN" sz="1800">
                  <a:ea typeface="+mn-ea"/>
                  <a:cs typeface="Times New Roman" panose="02020603050405020304" pitchFamily="18" charset="0"/>
                </a:rPr>
                <a:t>1 </a:t>
              </a:r>
            </a:p>
          </p:txBody>
        </p:sp>
      </p:grpSp>
      <p:sp>
        <p:nvSpPr>
          <p:cNvPr id="11272" name="Rectangle 22"/>
          <p:cNvSpPr>
            <a:spLocks noChangeArrowheads="1"/>
          </p:cNvSpPr>
          <p:nvPr/>
        </p:nvSpPr>
        <p:spPr bwMode="auto">
          <a:xfrm>
            <a:off x="304800" y="1762125"/>
            <a:ext cx="75488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+mn-ea"/>
                <a:ea typeface="+mn-ea"/>
              </a:rPr>
              <a:t>且至少有一个分量为</a:t>
            </a:r>
            <a:r>
              <a:rPr lang="en-US" altLang="zh-CN" sz="2800">
                <a:latin typeface="+mn-ea"/>
                <a:ea typeface="+mn-ea"/>
              </a:rPr>
              <a:t>0,</a:t>
            </a:r>
            <a:r>
              <a:rPr lang="zh-CN" altLang="en-US" sz="2800">
                <a:latin typeface="+mn-ea"/>
                <a:ea typeface="+mn-ea"/>
              </a:rPr>
              <a:t>称基本可行解是</a:t>
            </a:r>
            <a:r>
              <a:rPr lang="zh-CN" altLang="en-US" sz="2800" b="1">
                <a:latin typeface="+mn-ea"/>
                <a:ea typeface="+mn-ea"/>
              </a:rPr>
              <a:t>退化</a:t>
            </a:r>
            <a:r>
              <a:rPr lang="zh-CN" altLang="en-US" sz="2800">
                <a:latin typeface="+mn-ea"/>
                <a:ea typeface="+mn-ea"/>
              </a:rPr>
              <a:t>的</a:t>
            </a:r>
            <a:r>
              <a:rPr lang="en-US" altLang="zh-CN" sz="280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3314" name="Object 23"/>
          <p:cNvGraphicFramePr>
            <a:graphicFrameLocks noChangeAspect="1"/>
          </p:cNvGraphicFramePr>
          <p:nvPr/>
        </p:nvGraphicFramePr>
        <p:xfrm>
          <a:off x="357188" y="2428875"/>
          <a:ext cx="53467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8" name="Equation" r:id="rId3" imgW="5346700" imgH="1574800" progId="Equation.DSMT4">
                  <p:embed/>
                </p:oleObj>
              </mc:Choice>
              <mc:Fallback>
                <p:oleObj name="Equation" r:id="rId3" imgW="5346700" imgH="1574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428875"/>
                        <a:ext cx="53467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24"/>
          <p:cNvGraphicFramePr>
            <a:graphicFrameLocks noChangeAspect="1"/>
          </p:cNvGraphicFramePr>
          <p:nvPr/>
        </p:nvGraphicFramePr>
        <p:xfrm>
          <a:off x="331788" y="4000500"/>
          <a:ext cx="80899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9" name="Equation" r:id="rId5" imgW="194157600" imgH="50596800" progId="Equation.DSMT4">
                  <p:embed/>
                </p:oleObj>
              </mc:Choice>
              <mc:Fallback>
                <p:oleObj name="Equation" r:id="rId5" imgW="194157600" imgH="505968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4000500"/>
                        <a:ext cx="80899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10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5"/>
          <p:cNvGraphicFramePr>
            <a:graphicFrameLocks noChangeAspect="1"/>
          </p:cNvGraphicFramePr>
          <p:nvPr/>
        </p:nvGraphicFramePr>
        <p:xfrm>
          <a:off x="533400" y="1219200"/>
          <a:ext cx="58039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2" name="Equation" r:id="rId3" imgW="5803900" imgH="2108200" progId="Equation.DSMT4">
                  <p:embed/>
                </p:oleObj>
              </mc:Choice>
              <mc:Fallback>
                <p:oleObj name="Equation" r:id="rId3" imgW="5803900" imgH="2108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58039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914400" y="3429000"/>
          <a:ext cx="6959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3" name="Equation" r:id="rId5" imgW="6959600" imgH="2133600" progId="Equation.DSMT4">
                  <p:embed/>
                </p:oleObj>
              </mc:Choice>
              <mc:Fallback>
                <p:oleObj name="Equation" r:id="rId5" imgW="6959600" imgH="213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29000"/>
                        <a:ext cx="69596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11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5"/>
          <p:cNvGraphicFramePr>
            <a:graphicFrameLocks noChangeAspect="1"/>
          </p:cNvGraphicFramePr>
          <p:nvPr/>
        </p:nvGraphicFramePr>
        <p:xfrm>
          <a:off x="609600" y="1295400"/>
          <a:ext cx="66040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6" name="Equation" r:id="rId3" imgW="158496000" imgH="51206400" progId="Equation.DSMT4">
                  <p:embed/>
                </p:oleObj>
              </mc:Choice>
              <mc:Fallback>
                <p:oleObj name="Equation" r:id="rId3" imgW="158496000" imgH="512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95400"/>
                        <a:ext cx="66040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6"/>
          <p:cNvGraphicFramePr>
            <a:graphicFrameLocks noChangeAspect="1"/>
          </p:cNvGraphicFramePr>
          <p:nvPr/>
        </p:nvGraphicFramePr>
        <p:xfrm>
          <a:off x="655638" y="3486150"/>
          <a:ext cx="5854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7" name="Equation" r:id="rId5" imgW="140512800" imgH="51206400" progId="Equation.DSMT4">
                  <p:embed/>
                </p:oleObj>
              </mc:Choice>
              <mc:Fallback>
                <p:oleObj name="Equation" r:id="rId5" imgW="140512800" imgH="5120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3486150"/>
                        <a:ext cx="58547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12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5"/>
          <p:cNvGraphicFramePr>
            <a:graphicFrameLocks noChangeAspect="1"/>
          </p:cNvGraphicFramePr>
          <p:nvPr/>
        </p:nvGraphicFramePr>
        <p:xfrm>
          <a:off x="671513" y="1214438"/>
          <a:ext cx="5537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0" name="Equation" r:id="rId3" imgW="132892800" imgH="51206400" progId="Equation.DSMT4">
                  <p:embed/>
                </p:oleObj>
              </mc:Choice>
              <mc:Fallback>
                <p:oleObj name="Equation" r:id="rId3" imgW="132892800" imgH="512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1214438"/>
                        <a:ext cx="5537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6"/>
          <p:cNvGraphicFramePr>
            <a:graphicFrameLocks noChangeAspect="1"/>
          </p:cNvGraphicFramePr>
          <p:nvPr/>
        </p:nvGraphicFramePr>
        <p:xfrm>
          <a:off x="609600" y="3657600"/>
          <a:ext cx="7810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1" name="Equation" r:id="rId5" imgW="7810500" imgH="965200" progId="Equation.DSMT4">
                  <p:embed/>
                </p:oleObj>
              </mc:Choice>
              <mc:Fallback>
                <p:oleObj name="Equation" r:id="rId5" imgW="7810500" imgH="965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57600"/>
                        <a:ext cx="7810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13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2912735"/>
            <a:ext cx="3916312" cy="3318530"/>
          </a:xfrm>
          <a:prstGeom prst="rect">
            <a:avLst/>
          </a:prstGeom>
        </p:spPr>
      </p:pic>
      <p:sp>
        <p:nvSpPr>
          <p:cNvPr id="15373" name="标题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14</a:t>
            </a:r>
            <a:endParaRPr lang="zh-CN" altLang="en-US"/>
          </a:p>
        </p:txBody>
      </p:sp>
      <p:sp>
        <p:nvSpPr>
          <p:cNvPr id="153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77766" y="1039320"/>
            <a:ext cx="7620000" cy="12192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dirty="0"/>
              <a:t>容易知道</a:t>
            </a:r>
            <a:r>
              <a:rPr lang="en-US" altLang="zh-CN" sz="2800" dirty="0"/>
              <a:t>,</a:t>
            </a:r>
            <a:r>
              <a:rPr lang="zh-CN" altLang="en-US" sz="2800" dirty="0"/>
              <a:t>基矩阵的个数是有限的</a:t>
            </a:r>
            <a:r>
              <a:rPr lang="en-US" altLang="zh-CN" sz="2800" dirty="0"/>
              <a:t>,</a:t>
            </a:r>
            <a:r>
              <a:rPr lang="zh-CN" altLang="en-US" sz="2800" dirty="0"/>
              <a:t>因此基本解从而基本可行解的个数也是有限的</a:t>
            </a:r>
            <a:r>
              <a:rPr lang="en-US" altLang="zh-CN" sz="2800" dirty="0"/>
              <a:t>, </a:t>
            </a:r>
            <a:r>
              <a:rPr lang="zh-CN" altLang="en-US" sz="2800" dirty="0"/>
              <a:t>不超过</a:t>
            </a:r>
          </a:p>
        </p:txBody>
      </p:sp>
      <p:grpSp>
        <p:nvGrpSpPr>
          <p:cNvPr id="3" name="Group 28"/>
          <p:cNvGrpSpPr/>
          <p:nvPr/>
        </p:nvGrpSpPr>
        <p:grpSpPr bwMode="auto">
          <a:xfrm>
            <a:off x="4683372" y="3883982"/>
            <a:ext cx="1790700" cy="1524000"/>
            <a:chOff x="3648" y="2544"/>
            <a:chExt cx="1128" cy="960"/>
          </a:xfrm>
        </p:grpSpPr>
        <p:graphicFrame>
          <p:nvGraphicFramePr>
            <p:cNvPr id="15363" name="Object 25"/>
            <p:cNvGraphicFramePr>
              <a:graphicFrameLocks noChangeAspect="1"/>
            </p:cNvGraphicFramePr>
            <p:nvPr/>
          </p:nvGraphicFramePr>
          <p:xfrm>
            <a:off x="3648" y="2544"/>
            <a:ext cx="11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8" name="Equation" r:id="rId5" imgW="1790700" imgH="393700" progId="Equation.DSMT4">
                    <p:embed/>
                  </p:oleObj>
                </mc:Choice>
                <mc:Fallback>
                  <p:oleObj name="Equation" r:id="rId5" imgW="1790700" imgH="3937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544"/>
                          <a:ext cx="1128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4" name="Object 26"/>
            <p:cNvGraphicFramePr>
              <a:graphicFrameLocks noChangeAspect="1"/>
            </p:cNvGraphicFramePr>
            <p:nvPr/>
          </p:nvGraphicFramePr>
          <p:xfrm>
            <a:off x="3984" y="3216"/>
            <a:ext cx="4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9" name="Equation" r:id="rId7" imgW="711200" imgH="393700" progId="Equation.DSMT4">
                    <p:embed/>
                  </p:oleObj>
                </mc:Choice>
                <mc:Fallback>
                  <p:oleObj name="Equation" r:id="rId7" imgW="711200" imgH="3937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216"/>
                          <a:ext cx="448" cy="28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4" name="Line 27"/>
            <p:cNvSpPr>
              <a:spLocks noChangeShapeType="1"/>
            </p:cNvSpPr>
            <p:nvPr/>
          </p:nvSpPr>
          <p:spPr bwMode="auto">
            <a:xfrm>
              <a:off x="417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3563888" y="2240593"/>
          <a:ext cx="2616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0" name="Equation" r:id="rId9" imgW="2616200" imgH="1016000" progId="Equation.DSMT4">
                  <p:embed/>
                </p:oleObj>
              </mc:Choice>
              <mc:Fallback>
                <p:oleObj name="Equation" r:id="rId9" imgW="2616200" imgH="1016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2240593"/>
                        <a:ext cx="2616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15</a:t>
            </a:r>
            <a:endParaRPr lang="zh-CN" altLang="en-US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09296" y="1095375"/>
            <a:ext cx="7924800" cy="1066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2. 4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K={x| Ax=b,x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0},A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阵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秩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(A)=m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的极点集与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Ax=b,x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的基本可行解集合等价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641568" y="2667134"/>
            <a:ext cx="81534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+mn-ea"/>
                <a:cs typeface="Times New Roman" panose="02020603050405020304" pitchFamily="18" charset="0"/>
              </a:rPr>
              <a:t>证明</a:t>
            </a:r>
            <a:r>
              <a:rPr lang="en-US" altLang="zh-CN" sz="2800" b="1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: (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提纲</a:t>
            </a:r>
            <a:r>
              <a:rPr lang="en-US" altLang="zh-CN" sz="2800" b="1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800" b="1" dirty="0">
              <a:ea typeface="+mn-ea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+mn-ea"/>
                <a:cs typeface="Times New Roman" panose="02020603050405020304" pitchFamily="18" charset="0"/>
              </a:rPr>
              <a:t>1)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的极点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Ax=b,x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的基本可行解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+mn-ea"/>
                <a:cs typeface="Times New Roman" panose="02020603050405020304" pitchFamily="18" charset="0"/>
              </a:rPr>
              <a:t>2)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Ax=b,x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的基本可行解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的极点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5"/>
          <p:cNvSpPr>
            <a:spLocks noChangeArrowheads="1"/>
          </p:cNvSpPr>
          <p:nvPr/>
        </p:nvSpPr>
        <p:spPr bwMode="auto">
          <a:xfrm>
            <a:off x="323850" y="1196975"/>
            <a:ext cx="77300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1),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先证极点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的正分量所对应的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的列线性无关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en-US" altLang="zh-CN" sz="2800" b="1" dirty="0">
              <a:ea typeface="+mn-ea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18434" name="Object 6"/>
          <p:cNvGraphicFramePr>
            <a:graphicFrameLocks noChangeAspect="1"/>
          </p:cNvGraphicFramePr>
          <p:nvPr/>
        </p:nvGraphicFramePr>
        <p:xfrm>
          <a:off x="539750" y="1773238"/>
          <a:ext cx="6934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2" name="Equation" r:id="rId3" imgW="6934200" imgH="1003300" progId="Equation.DSMT4">
                  <p:embed/>
                </p:oleObj>
              </mc:Choice>
              <mc:Fallback>
                <p:oleObj name="Equation" r:id="rId3" imgW="6934200" imgH="1003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73238"/>
                        <a:ext cx="69342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8"/>
          <p:cNvGraphicFramePr>
            <a:graphicFrameLocks noChangeAspect="1"/>
          </p:cNvGraphicFramePr>
          <p:nvPr/>
        </p:nvGraphicFramePr>
        <p:xfrm>
          <a:off x="539750" y="2924175"/>
          <a:ext cx="74295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3" name="Equation" r:id="rId5" imgW="7429500" imgH="1981200" progId="Equation.DSMT4">
                  <p:embed/>
                </p:oleObj>
              </mc:Choice>
              <mc:Fallback>
                <p:oleObj name="Equation" r:id="rId5" imgW="7429500" imgH="198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924175"/>
                        <a:ext cx="74295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9"/>
          <p:cNvGraphicFramePr>
            <a:graphicFrameLocks noChangeAspect="1"/>
          </p:cNvGraphicFramePr>
          <p:nvPr/>
        </p:nvGraphicFramePr>
        <p:xfrm>
          <a:off x="457200" y="4953000"/>
          <a:ext cx="8039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4" name="Equation" r:id="rId7" imgW="8039100" imgH="952500" progId="Equation.DSMT4">
                  <p:embed/>
                </p:oleObj>
              </mc:Choice>
              <mc:Fallback>
                <p:oleObj name="Equation" r:id="rId7" imgW="8039100" imgH="952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953000"/>
                        <a:ext cx="8039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16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5"/>
          <p:cNvGraphicFramePr>
            <a:graphicFrameLocks noChangeAspect="1"/>
          </p:cNvGraphicFramePr>
          <p:nvPr/>
        </p:nvGraphicFramePr>
        <p:xfrm>
          <a:off x="428625" y="1143000"/>
          <a:ext cx="64643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0" name="Equation" r:id="rId3" imgW="6464300" imgH="1054100" progId="Equation.DSMT4">
                  <p:embed/>
                </p:oleObj>
              </mc:Choice>
              <mc:Fallback>
                <p:oleObj name="Equation" r:id="rId3" imgW="6464300" imgH="1054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143000"/>
                        <a:ext cx="64643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6"/>
          <p:cNvGraphicFramePr>
            <a:graphicFrameLocks noChangeAspect="1"/>
          </p:cNvGraphicFramePr>
          <p:nvPr/>
        </p:nvGraphicFramePr>
        <p:xfrm>
          <a:off x="533400" y="2286000"/>
          <a:ext cx="50673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1" name="Equation" r:id="rId5" imgW="5067300" imgH="1892300" progId="Equation.DSMT4">
                  <p:embed/>
                </p:oleObj>
              </mc:Choice>
              <mc:Fallback>
                <p:oleObj name="Equation" r:id="rId5" imgW="5067300" imgH="1892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86000"/>
                        <a:ext cx="506730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7"/>
          <p:cNvGraphicFramePr>
            <a:graphicFrameLocks noChangeAspect="1"/>
          </p:cNvGraphicFramePr>
          <p:nvPr/>
        </p:nvGraphicFramePr>
        <p:xfrm>
          <a:off x="457200" y="4191000"/>
          <a:ext cx="200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2" name="Equation" r:id="rId7" imgW="2005965" imgH="393700" progId="Equation.DSMT4">
                  <p:embed/>
                </p:oleObj>
              </mc:Choice>
              <mc:Fallback>
                <p:oleObj name="Equation" r:id="rId7" imgW="2005965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2006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8"/>
          <p:cNvGraphicFramePr>
            <a:graphicFrameLocks noChangeAspect="1"/>
          </p:cNvGraphicFramePr>
          <p:nvPr/>
        </p:nvGraphicFramePr>
        <p:xfrm>
          <a:off x="381000" y="4724400"/>
          <a:ext cx="66294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3" name="Equation" r:id="rId9" imgW="6629400" imgH="1308100" progId="Equation.DSMT4">
                  <p:embed/>
                </p:oleObj>
              </mc:Choice>
              <mc:Fallback>
                <p:oleObj name="Equation" r:id="rId9" imgW="6629400" imgH="1308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724400"/>
                        <a:ext cx="66294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17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5"/>
          <p:cNvGraphicFramePr>
            <a:graphicFrameLocks noChangeAspect="1"/>
          </p:cNvGraphicFramePr>
          <p:nvPr/>
        </p:nvGraphicFramePr>
        <p:xfrm>
          <a:off x="357188" y="1143000"/>
          <a:ext cx="70485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6" name="Equation" r:id="rId3" imgW="7048500" imgH="1422400" progId="Equation.DSMT4">
                  <p:embed/>
                </p:oleObj>
              </mc:Choice>
              <mc:Fallback>
                <p:oleObj name="Equation" r:id="rId3" imgW="7048500" imgH="142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143000"/>
                        <a:ext cx="70485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6"/>
          <p:cNvGraphicFramePr>
            <a:graphicFrameLocks noChangeAspect="1"/>
          </p:cNvGraphicFramePr>
          <p:nvPr/>
        </p:nvGraphicFramePr>
        <p:xfrm>
          <a:off x="642938" y="2714625"/>
          <a:ext cx="68834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7" name="Equation" r:id="rId5" imgW="6883400" imgH="3048000" progId="Equation.DSMT4">
                  <p:embed/>
                </p:oleObj>
              </mc:Choice>
              <mc:Fallback>
                <p:oleObj name="Equation" r:id="rId5" imgW="6883400" imgH="304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714625"/>
                        <a:ext cx="68834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18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5"/>
          <p:cNvSpPr>
            <a:spLocks noChangeArrowheads="1"/>
          </p:cNvSpPr>
          <p:nvPr/>
        </p:nvSpPr>
        <p:spPr bwMode="auto">
          <a:xfrm>
            <a:off x="457200" y="1143000"/>
            <a:ext cx="55915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+mn-ea"/>
                <a:ea typeface="+mn-ea"/>
              </a:rPr>
              <a:t>2)</a:t>
            </a:r>
            <a:r>
              <a:rPr lang="zh-CN" altLang="en-US" sz="2800">
                <a:latin typeface="+mn-ea"/>
                <a:ea typeface="+mn-ea"/>
              </a:rPr>
              <a:t>设</a:t>
            </a:r>
            <a:r>
              <a:rPr lang="en-US" altLang="zh-CN" sz="2800">
                <a:latin typeface="+mn-ea"/>
                <a:ea typeface="+mn-ea"/>
              </a:rPr>
              <a:t>x</a:t>
            </a:r>
            <a:r>
              <a:rPr lang="zh-CN" altLang="en-US" sz="2800">
                <a:latin typeface="+mn-ea"/>
                <a:ea typeface="+mn-ea"/>
              </a:rPr>
              <a:t>是</a:t>
            </a:r>
            <a:r>
              <a:rPr lang="en-US" altLang="zh-CN" sz="2800">
                <a:latin typeface="+mn-ea"/>
                <a:ea typeface="+mn-ea"/>
              </a:rPr>
              <a:t>Ax=b,x</a:t>
            </a:r>
            <a:r>
              <a:rPr lang="en-US" altLang="zh-CN" sz="2800">
                <a:latin typeface="+mn-ea"/>
                <a:ea typeface="+mn-ea"/>
                <a:sym typeface="Symbol" panose="05050102010706020507" pitchFamily="18" charset="2"/>
              </a:rPr>
              <a:t></a:t>
            </a:r>
            <a:r>
              <a:rPr lang="en-US" altLang="zh-CN" sz="2800">
                <a:latin typeface="+mn-ea"/>
                <a:ea typeface="+mn-ea"/>
              </a:rPr>
              <a:t>0</a:t>
            </a:r>
            <a:r>
              <a:rPr lang="zh-CN" altLang="en-US" sz="2800">
                <a:latin typeface="+mn-ea"/>
                <a:ea typeface="+mn-ea"/>
              </a:rPr>
              <a:t>的基本可行解</a:t>
            </a:r>
            <a:r>
              <a:rPr lang="en-US" altLang="zh-CN" sz="2800">
                <a:latin typeface="+mn-ea"/>
                <a:ea typeface="+mn-ea"/>
              </a:rPr>
              <a:t>,</a:t>
            </a:r>
            <a:r>
              <a:rPr lang="zh-CN" altLang="en-US" sz="2800">
                <a:latin typeface="+mn-ea"/>
                <a:ea typeface="+mn-ea"/>
              </a:rPr>
              <a:t>记</a:t>
            </a:r>
          </a:p>
        </p:txBody>
      </p:sp>
      <p:graphicFrame>
        <p:nvGraphicFramePr>
          <p:cNvPr id="21506" name="Object 6"/>
          <p:cNvGraphicFramePr>
            <a:graphicFrameLocks noChangeAspect="1"/>
          </p:cNvGraphicFramePr>
          <p:nvPr/>
        </p:nvGraphicFramePr>
        <p:xfrm>
          <a:off x="838200" y="2743200"/>
          <a:ext cx="5486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8" name="Equation" r:id="rId3" imgW="5486400" imgH="977900" progId="Equation.DSMT4">
                  <p:embed/>
                </p:oleObj>
              </mc:Choice>
              <mc:Fallback>
                <p:oleObj name="Equation" r:id="rId3" imgW="5486400" imgH="977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743200"/>
                        <a:ext cx="5486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7"/>
          <p:cNvGraphicFramePr>
            <a:graphicFrameLocks noChangeAspect="1"/>
          </p:cNvGraphicFramePr>
          <p:nvPr/>
        </p:nvGraphicFramePr>
        <p:xfrm>
          <a:off x="1981200" y="1676400"/>
          <a:ext cx="24955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9" name="Equation" r:id="rId5" imgW="2755900" imgH="952500" progId="Equation.DSMT4">
                  <p:embed/>
                </p:oleObj>
              </mc:Choice>
              <mc:Fallback>
                <p:oleObj name="Equation" r:id="rId5" imgW="2755900" imgH="952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76400"/>
                        <a:ext cx="249555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8"/>
          <p:cNvGraphicFramePr>
            <a:graphicFrameLocks noChangeAspect="1"/>
          </p:cNvGraphicFramePr>
          <p:nvPr/>
        </p:nvGraphicFramePr>
        <p:xfrm>
          <a:off x="838200" y="3733800"/>
          <a:ext cx="4203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0" name="Equation" r:id="rId7" imgW="4203700" imgH="1130300" progId="Equation.DSMT4">
                  <p:embed/>
                </p:oleObj>
              </mc:Choice>
              <mc:Fallback>
                <p:oleObj name="Equation" r:id="rId7" imgW="4203700" imgH="1130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42037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9"/>
          <p:cNvGraphicFramePr>
            <a:graphicFrameLocks noChangeAspect="1"/>
          </p:cNvGraphicFramePr>
          <p:nvPr/>
        </p:nvGraphicFramePr>
        <p:xfrm>
          <a:off x="609600" y="4876800"/>
          <a:ext cx="51054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1" name="Equation" r:id="rId9" imgW="5105400" imgH="1130300" progId="Equation.DSMT4">
                  <p:embed/>
                </p:oleObj>
              </mc:Choice>
              <mc:Fallback>
                <p:oleObj name="Equation" r:id="rId9" imgW="5105400" imgH="1130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876800"/>
                        <a:ext cx="51054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19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20</a:t>
            </a:r>
            <a:endParaRPr lang="zh-CN" altLang="en-US"/>
          </a:p>
        </p:txBody>
      </p:sp>
      <p:sp>
        <p:nvSpPr>
          <p:cNvPr id="2048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6858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即</a:t>
            </a:r>
          </a:p>
        </p:txBody>
      </p:sp>
      <p:graphicFrame>
        <p:nvGraphicFramePr>
          <p:cNvPr id="20482" name="Object 5"/>
          <p:cNvGraphicFramePr>
            <a:graphicFrameLocks noChangeAspect="1"/>
          </p:cNvGraphicFramePr>
          <p:nvPr/>
        </p:nvGraphicFramePr>
        <p:xfrm>
          <a:off x="1828800" y="1143000"/>
          <a:ext cx="3517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8" name="Equation" r:id="rId3" imgW="3517900" imgH="1079500" progId="Equation.DSMT4">
                  <p:embed/>
                </p:oleObj>
              </mc:Choice>
              <mc:Fallback>
                <p:oleObj name="Equation" r:id="rId3" imgW="3517900" imgH="1079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143000"/>
                        <a:ext cx="3517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6"/>
          <p:cNvGraphicFramePr>
            <a:graphicFrameLocks noChangeAspect="1"/>
          </p:cNvGraphicFramePr>
          <p:nvPr/>
        </p:nvGraphicFramePr>
        <p:xfrm>
          <a:off x="1143000" y="2362200"/>
          <a:ext cx="49911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9" name="Equation" r:id="rId5" imgW="4991100" imgH="1003300" progId="Equation.DSMT4">
                  <p:embed/>
                </p:oleObj>
              </mc:Choice>
              <mc:Fallback>
                <p:oleObj name="Equation" r:id="rId5" imgW="4991100" imgH="1003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62200"/>
                        <a:ext cx="49911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7"/>
          <p:cNvGraphicFramePr>
            <a:graphicFrameLocks noChangeAspect="1"/>
          </p:cNvGraphicFramePr>
          <p:nvPr/>
        </p:nvGraphicFramePr>
        <p:xfrm>
          <a:off x="785813" y="3429000"/>
          <a:ext cx="5054600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0" name="Equation" r:id="rId7" imgW="5054600" imgH="2552700" progId="Equation.DSMT4">
                  <p:embed/>
                </p:oleObj>
              </mc:Choice>
              <mc:Fallback>
                <p:oleObj name="Equation" r:id="rId7" imgW="5054600" imgH="2552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429000"/>
                        <a:ext cx="5054600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21</a:t>
            </a:r>
            <a:endParaRPr lang="zh-CN" alt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93379" y="1177159"/>
            <a:ext cx="8078788" cy="34337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b="0" dirty="0"/>
              <a:t>总结：</a:t>
            </a:r>
            <a:endParaRPr lang="en-US" altLang="zh-CN" sz="2800" b="0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 b="0" dirty="0"/>
              <a:t>线性规划存在最优解</a:t>
            </a:r>
            <a:r>
              <a:rPr lang="en-US" altLang="zh-CN" sz="2800" b="0" dirty="0"/>
              <a:t>,</a:t>
            </a:r>
            <a:r>
              <a:rPr lang="zh-CN" altLang="en-US" sz="2800" b="0" dirty="0"/>
              <a:t>目标函数的最优值一定能在某极点上达到</a:t>
            </a:r>
            <a:r>
              <a:rPr lang="en-US" altLang="zh-CN" sz="2800" b="0" dirty="0"/>
              <a:t>.</a:t>
            </a:r>
            <a:r>
              <a:rPr lang="zh-CN" altLang="en-US" sz="2800" b="0" dirty="0"/>
              <a:t>可行域</a:t>
            </a:r>
            <a:r>
              <a:rPr lang="en-US" altLang="zh-CN" sz="2800" b="0" dirty="0">
                <a:ea typeface="楷体_GB2312" panose="02010609030101010101" pitchFamily="49" charset="-122"/>
              </a:rPr>
              <a:t>K={x| Ax=b,x</a:t>
            </a:r>
            <a:r>
              <a:rPr lang="en-US" altLang="zh-CN" sz="2800" b="0" dirty="0">
                <a:ea typeface="楷体_GB2312" panose="0201060903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800" b="0" dirty="0">
                <a:ea typeface="楷体_GB2312" panose="02010609030101010101" pitchFamily="49" charset="-122"/>
              </a:rPr>
              <a:t>0}</a:t>
            </a:r>
            <a:r>
              <a:rPr lang="zh-CN" altLang="en-US" sz="2800" b="0" dirty="0"/>
              <a:t>的极点就是其基本可行解</a:t>
            </a:r>
            <a:r>
              <a:rPr lang="en-US" altLang="zh-CN" sz="2800" b="0" dirty="0"/>
              <a:t>.</a:t>
            </a:r>
          </a:p>
          <a:p>
            <a:pPr eaLnBrk="1" hangingPunct="1">
              <a:buFontTx/>
              <a:buNone/>
            </a:pPr>
            <a:endParaRPr lang="en-US" altLang="zh-CN" sz="2800" b="0" dirty="0"/>
          </a:p>
          <a:p>
            <a:pPr eaLnBrk="1" hangingPunct="1">
              <a:buFontTx/>
              <a:buNone/>
            </a:pPr>
            <a:r>
              <a:rPr lang="en-US" altLang="zh-CN" sz="2800" b="0" dirty="0"/>
              <a:t>  </a:t>
            </a:r>
            <a:r>
              <a:rPr lang="zh-CN" altLang="en-US" sz="2800" b="0" dirty="0"/>
              <a:t>从而</a:t>
            </a:r>
            <a:r>
              <a:rPr lang="en-US" altLang="zh-CN" sz="2800" b="0" dirty="0"/>
              <a:t>,</a:t>
            </a:r>
            <a:r>
              <a:rPr lang="zh-CN" altLang="en-US" sz="2800" b="0" dirty="0"/>
              <a:t>求线性规划的最优解</a:t>
            </a:r>
            <a:r>
              <a:rPr lang="en-US" altLang="zh-CN" sz="2800" b="0" dirty="0"/>
              <a:t>,</a:t>
            </a:r>
            <a:r>
              <a:rPr lang="zh-CN" altLang="en-US" sz="2800" b="0" dirty="0"/>
              <a:t>只需要求出最优基本</a:t>
            </a:r>
          </a:p>
          <a:p>
            <a:pPr eaLnBrk="1" hangingPunct="1">
              <a:buFontTx/>
              <a:buNone/>
            </a:pPr>
            <a:r>
              <a:rPr lang="zh-CN" altLang="en-US" sz="2800" b="0" dirty="0"/>
              <a:t>可行解即可</a:t>
            </a:r>
            <a:r>
              <a:rPr lang="en-US" altLang="zh-CN" sz="2800" b="0" dirty="0"/>
              <a:t>.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22</a:t>
            </a:r>
            <a:endParaRPr lang="zh-CN" altLang="en-US"/>
          </a:p>
        </p:txBody>
      </p:sp>
      <p:sp>
        <p:nvSpPr>
          <p:cNvPr id="2151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57048" y="967883"/>
            <a:ext cx="6248400" cy="6858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基本可行解的存在问题</a:t>
            </a: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539750" y="1628775"/>
            <a:ext cx="775885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ea typeface="+mn-ea"/>
                <a:cs typeface="Times New Roman" panose="02020603050405020304" pitchFamily="18" charset="0"/>
              </a:rPr>
              <a:t>2. 5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Ax=b,x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有可行解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则一定存在基本可</a:t>
            </a:r>
          </a:p>
          <a:p>
            <a:pPr eaLnBrk="1" hangingPunct="1"/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行解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是秩为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sz="2800" dirty="0" err="1"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 err="1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</a:rPr>
              <a:t>矩阵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3554" name="Object 6"/>
          <p:cNvGraphicFramePr>
            <a:graphicFrameLocks noChangeAspect="1"/>
          </p:cNvGraphicFramePr>
          <p:nvPr/>
        </p:nvGraphicFramePr>
        <p:xfrm>
          <a:off x="755650" y="2636838"/>
          <a:ext cx="6477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8" name="Equation" r:id="rId3" imgW="6477000" imgH="1524000" progId="Equation.DSMT4">
                  <p:embed/>
                </p:oleObj>
              </mc:Choice>
              <mc:Fallback>
                <p:oleObj name="Equation" r:id="rId3" imgW="6477000" imgH="152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36838"/>
                        <a:ext cx="64770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7"/>
          <p:cNvGraphicFramePr>
            <a:graphicFrameLocks noChangeAspect="1"/>
          </p:cNvGraphicFramePr>
          <p:nvPr/>
        </p:nvGraphicFramePr>
        <p:xfrm>
          <a:off x="684213" y="4292600"/>
          <a:ext cx="7772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9" name="Equation" r:id="rId5" imgW="7772400" imgH="901700" progId="Equation.DSMT4">
                  <p:embed/>
                </p:oleObj>
              </mc:Choice>
              <mc:Fallback>
                <p:oleObj name="Equation" r:id="rId5" imgW="7772400" imgH="901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292600"/>
                        <a:ext cx="7772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23</a:t>
            </a:r>
            <a:endParaRPr lang="zh-CN" altLang="en-US" dirty="0"/>
          </a:p>
        </p:txBody>
      </p:sp>
      <p:sp>
        <p:nvSpPr>
          <p:cNvPr id="2253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7351" y="1027386"/>
            <a:ext cx="76200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否则</a:t>
            </a:r>
            <a:r>
              <a:rPr lang="en-US" altLang="zh-CN" sz="2400" dirty="0"/>
              <a:t>,</a:t>
            </a:r>
            <a:r>
              <a:rPr lang="zh-CN" altLang="en-US" sz="2400" dirty="0"/>
              <a:t>我们通过如下步骤构造出一基本可行解</a:t>
            </a:r>
          </a:p>
        </p:txBody>
      </p:sp>
      <p:graphicFrame>
        <p:nvGraphicFramePr>
          <p:cNvPr id="24578" name="Object 5"/>
          <p:cNvGraphicFramePr>
            <a:graphicFrameLocks noChangeAspect="1"/>
          </p:cNvGraphicFramePr>
          <p:nvPr/>
        </p:nvGraphicFramePr>
        <p:xfrm>
          <a:off x="209550" y="1752600"/>
          <a:ext cx="76454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6" name="Equation" r:id="rId3" imgW="7645400" imgH="1409700" progId="Equation.DSMT4">
                  <p:embed/>
                </p:oleObj>
              </mc:Choice>
              <mc:Fallback>
                <p:oleObj name="Equation" r:id="rId3" imgW="7645400" imgH="1409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" y="1752600"/>
                        <a:ext cx="76454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6"/>
          <p:cNvGraphicFramePr>
            <a:graphicFrameLocks noChangeAspect="1"/>
          </p:cNvGraphicFramePr>
          <p:nvPr/>
        </p:nvGraphicFramePr>
        <p:xfrm>
          <a:off x="152400" y="2971800"/>
          <a:ext cx="41275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7" name="Equation" r:id="rId5" imgW="4127500" imgH="1460500" progId="Equation.DSMT4">
                  <p:embed/>
                </p:oleObj>
              </mc:Choice>
              <mc:Fallback>
                <p:oleObj name="Equation" r:id="rId5" imgW="4127500" imgH="1460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971800"/>
                        <a:ext cx="41275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7"/>
          <p:cNvGraphicFramePr>
            <a:graphicFrameLocks noChangeAspect="1"/>
          </p:cNvGraphicFramePr>
          <p:nvPr/>
        </p:nvGraphicFramePr>
        <p:xfrm>
          <a:off x="457200" y="4419600"/>
          <a:ext cx="44069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8" name="Equation" r:id="rId7" imgW="4406900" imgH="1511300" progId="Equation.DSMT4">
                  <p:embed/>
                </p:oleObj>
              </mc:Choice>
              <mc:Fallback>
                <p:oleObj name="Equation" r:id="rId7" imgW="4406900" imgH="151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19600"/>
                        <a:ext cx="44069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0"/>
          <p:cNvGraphicFramePr>
            <a:graphicFrameLocks noChangeAspect="1"/>
          </p:cNvGraphicFramePr>
          <p:nvPr/>
        </p:nvGraphicFramePr>
        <p:xfrm>
          <a:off x="428625" y="1143000"/>
          <a:ext cx="79502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2" name="Equation" r:id="rId3" imgW="7950200" imgH="4343400" progId="Equation.DSMT4">
                  <p:embed/>
                </p:oleObj>
              </mc:Choice>
              <mc:Fallback>
                <p:oleObj name="Equation" r:id="rId3" imgW="7950200" imgH="4343400" progId="Equation.DSMT4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143000"/>
                        <a:ext cx="79502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线性规划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性质</a:t>
            </a: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24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4NTIyNDdkYTEzYTZiOThmYTEzNjBjNDhhYTAzOTQifQ=="/>
</p:tagLst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1032</Words>
  <Application>Microsoft Office PowerPoint</Application>
  <PresentationFormat>全屏显示(4:3)</PresentationFormat>
  <Paragraphs>139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2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PowerPoint 演示文稿</vt:lpstr>
      <vt:lpstr>第二章 线性规划的基本性质</vt:lpstr>
      <vt:lpstr>2.线性规划-标准形式</vt:lpstr>
      <vt:lpstr>2.线性规划-形式</vt:lpstr>
      <vt:lpstr>2.线性规划-形式</vt:lpstr>
      <vt:lpstr>2.线性规划-图解法</vt:lpstr>
      <vt:lpstr>2.线性规划-图解法</vt:lpstr>
      <vt:lpstr>2.线性规划-基本性质1</vt:lpstr>
      <vt:lpstr>2.线性规划-性质2</vt:lpstr>
      <vt:lpstr>2.线性规划-性质3</vt:lpstr>
      <vt:lpstr>2.线性规划-性质4</vt:lpstr>
      <vt:lpstr>2.线性规划-性质5</vt:lpstr>
      <vt:lpstr>2.线性规划-性质6</vt:lpstr>
      <vt:lpstr>2.线性规划-性质7</vt:lpstr>
      <vt:lpstr>2.线性规划-性质8</vt:lpstr>
      <vt:lpstr>2.线性规划-性质9</vt:lpstr>
      <vt:lpstr>2.线性规划-性质10</vt:lpstr>
      <vt:lpstr>2.线性规划-性质11</vt:lpstr>
      <vt:lpstr>2.线性规划-性质12</vt:lpstr>
      <vt:lpstr>2.线性规划-性质13</vt:lpstr>
      <vt:lpstr>2.线性规划-性质14</vt:lpstr>
      <vt:lpstr>2.线性规划-性质15</vt:lpstr>
      <vt:lpstr>2.线性规划-性质16</vt:lpstr>
      <vt:lpstr>2.线性规划-性质17</vt:lpstr>
      <vt:lpstr>2.线性规划-性质18</vt:lpstr>
      <vt:lpstr>2.线性规划-性质19</vt:lpstr>
      <vt:lpstr>2.线性规划-性质20</vt:lpstr>
      <vt:lpstr>2.线性规划-性质21</vt:lpstr>
      <vt:lpstr>2.线性规划-性质22</vt:lpstr>
      <vt:lpstr>2.线性规划-性质23</vt:lpstr>
      <vt:lpstr>2.线性规划-性质24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1686</cp:revision>
  <dcterms:created xsi:type="dcterms:W3CDTF">2012-04-20T06:02:00Z</dcterms:created>
  <dcterms:modified xsi:type="dcterms:W3CDTF">2026-03-02T10:09:56Z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9CF86C79608144ADBEF3A26E5FD9A904</vt:lpwstr>
  </property>
</Properties>
</file>