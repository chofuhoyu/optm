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4" r:id="rId3"/>
    <p:sldMasterId id="2147483710" r:id="rId4"/>
    <p:sldMasterId id="2147483686" r:id="rId5"/>
    <p:sldMasterId id="2147483698" r:id="rId6"/>
    <p:sldMasterId id="2147483722" r:id="rId7"/>
  </p:sldMasterIdLst>
  <p:notesMasterIdLst>
    <p:notesMasterId r:id="rId32"/>
  </p:notesMasterIdLst>
  <p:handoutMasterIdLst>
    <p:handoutMasterId r:id="rId33"/>
  </p:handoutMasterIdLst>
  <p:sldIdLst>
    <p:sldId id="377" r:id="rId8"/>
    <p:sldId id="289" r:id="rId9"/>
    <p:sldId id="287" r:id="rId10"/>
    <p:sldId id="256" r:id="rId11"/>
    <p:sldId id="257" r:id="rId12"/>
    <p:sldId id="258" r:id="rId13"/>
    <p:sldId id="260" r:id="rId14"/>
    <p:sldId id="261" r:id="rId15"/>
    <p:sldId id="262" r:id="rId16"/>
    <p:sldId id="266" r:id="rId17"/>
    <p:sldId id="263" r:id="rId18"/>
    <p:sldId id="264" r:id="rId19"/>
    <p:sldId id="265" r:id="rId20"/>
    <p:sldId id="267" r:id="rId21"/>
    <p:sldId id="269" r:id="rId22"/>
    <p:sldId id="270" r:id="rId23"/>
    <p:sldId id="271" r:id="rId24"/>
    <p:sldId id="275" r:id="rId25"/>
    <p:sldId id="276" r:id="rId26"/>
    <p:sldId id="277" r:id="rId27"/>
    <p:sldId id="278" r:id="rId28"/>
    <p:sldId id="272" r:id="rId29"/>
    <p:sldId id="273" r:id="rId30"/>
    <p:sldId id="274" r:id="rId31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>
          <p15:clr>
            <a:srgbClr val="A4A3A4"/>
          </p15:clr>
        </p15:guide>
        <p15:guide id="2" pos="29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86">
          <p15:clr>
            <a:srgbClr val="A4A3A4"/>
          </p15:clr>
        </p15:guide>
        <p15:guide id="2" pos="226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33"/>
    <a:srgbClr val="FF6600"/>
    <a:srgbClr val="CC6600"/>
    <a:srgbClr val="990000"/>
    <a:srgbClr val="336699"/>
    <a:srgbClr val="CC3300"/>
    <a:srgbClr val="008080"/>
    <a:srgbClr val="0099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27" autoAdjust="0"/>
    <p:restoredTop sz="92552" autoAdjust="0"/>
  </p:normalViewPr>
  <p:slideViewPr>
    <p:cSldViewPr snapToGrid="0">
      <p:cViewPr varScale="1">
        <p:scale>
          <a:sx n="66" d="100"/>
          <a:sy n="66" d="100"/>
        </p:scale>
        <p:origin x="1196" y="56"/>
      </p:cViewPr>
      <p:guideLst>
        <p:guide orient="horz" pos="2135"/>
        <p:guide pos="291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3006" y="-96"/>
      </p:cViewPr>
      <p:guideLst>
        <p:guide orient="horz" pos="3186"/>
        <p:guide pos="226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6A960A1-D56F-4C4A-97CF-4735240BD62C}" type="datetimeFigureOut">
              <a:rPr lang="zh-CN" altLang="en-US"/>
              <a:t>2026/4/21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4F66F81-A0D2-4A7E-BBC3-CD5E44C9F6A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5EE2498-8568-4830-BB85-C81475419C18}" type="datetimeFigureOut">
              <a:rPr lang="zh-CN" altLang="en-US"/>
              <a:t>2026/4/21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zh-CN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00F46F3-D1E1-4E94-ABE0-1F205FAA8D8A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11" Type="http://schemas.microsoft.com/office/2007/relationships/hdphoto" Target="../media/hdphoto1.wdp"/><Relationship Id="rId5" Type="http://schemas.openxmlformats.org/officeDocument/2006/relationships/image" Target="../media/image6.jpeg"/><Relationship Id="rId10" Type="http://schemas.openxmlformats.org/officeDocument/2006/relationships/image" Target="../media/image12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1300" y="304800"/>
            <a:ext cx="19431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3048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Users\luye\Desktop\未标题-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6067645"/>
            <a:ext cx="3428992" cy="790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635982-D763-4600-A958-F564916EBC3D}" type="datetime1">
              <a:rPr lang="zh-CN" altLang="en-US"/>
              <a:pPr>
                <a:defRPr/>
              </a:pPr>
              <a:t>2026/4/21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TP SHUAI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8072AC-618C-48ED-9E2F-F308DC1500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6877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54999C-E937-46DC-8B68-55F9C9625FB0}" type="datetime1">
              <a:rPr lang="zh-CN" altLang="en-US"/>
              <a:pPr>
                <a:defRPr/>
              </a:pPr>
              <a:t>2026/4/21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TP SHUAI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9353B-B677-4239-B3D6-8C63E6EAEB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96434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698436364"/>
      </p:ext>
    </p:extLst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0147829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59965225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5209829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90358073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20366111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089745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05439786"/>
      </p:ext>
    </p:extLst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75652015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03216887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8597677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85134-EB9D-4805-ABEB-F863D88A05E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AFBB6-D49A-43F4-87D9-D7681947FD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7C021B-CAAC-47EF-8662-3E778FCEF6C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50BEE-AE29-4505-92DA-41C676A713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600548-8CF3-4B09-ACBA-0F38896D916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0478A-3558-426B-BC99-7BF29E2A8A0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2B9A6-6288-44F7-B172-15E1AB0493F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892A0-0C0A-4500-900B-D87ECC80B77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2F2B1-744B-4D4E-8150-2AF0605125A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6AACB4-BC2C-4235-93CB-4858018529E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3B03A7-9B61-4EE4-AC29-3E0A59EB3FB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3CD01DB-5A89-46E1-9C62-8DE24968FCB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374472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EA0A3D38-FDC0-4B4B-A494-56099C1B91F0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01877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BDD1DE16-6030-4296-AA83-243A5EBDEF6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581037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CDADCE3F-3FF9-425C-B635-BDEE2469475C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40255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9D263FCC-0E9E-4DE0-9191-3A9805C5D772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10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3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51939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A882C6C2-D35D-4B29-9880-EB532D47EA8C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9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48682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F1B72FF5-3C7F-4A3E-A69E-E6308AC08448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54" y="764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51306" y="952229"/>
            <a:ext cx="9072059" cy="5266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2"/>
          <p:cNvSpPr>
            <a:spLocks noChangeArrowheads="1"/>
          </p:cNvSpPr>
          <p:nvPr userDrawn="1"/>
        </p:nvSpPr>
        <p:spPr bwMode="auto">
          <a:xfrm>
            <a:off x="16281" y="2867954"/>
            <a:ext cx="9102730" cy="158795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ffectLst>
            <a:glow rad="12700">
              <a:srgbClr val="002060">
                <a:alpha val="40000"/>
              </a:srgb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" name="Picture 31"/>
          <p:cNvPicPr>
            <a:picLocks noChangeAspect="1" noChangeArrowheads="1"/>
          </p:cNvPicPr>
          <p:nvPr userDrawn="1"/>
        </p:nvPicPr>
        <p:blipFill>
          <a:blip r:embed="rId10">
            <a:clrChange>
              <a:clrFrom>
                <a:srgbClr val="EBFFFF"/>
              </a:clrFrom>
              <a:clrTo>
                <a:srgbClr val="EB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987" y="299936"/>
            <a:ext cx="4552551" cy="812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526871" y="1830688"/>
            <a:ext cx="8268785" cy="979376"/>
          </a:xfrm>
        </p:spPr>
        <p:txBody>
          <a:bodyPr>
            <a:normAutofit/>
          </a:bodyPr>
          <a:lstStyle>
            <a:lvl1pPr algn="ctr">
              <a:defRPr sz="5400" baseline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altLang="zh-CN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526469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58C92BF-141B-405B-B9C3-41F21423E6D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027683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09B0ED30-E3F2-4215-ADC5-126CA2DD31D4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61078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0B5D371D-92C2-44A4-BE04-ECAB734F093F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14524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6726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image" Target="../media/image3.png"/><Relationship Id="rId18" Type="http://schemas.openxmlformats.org/officeDocument/2006/relationships/image" Target="../media/image8.jpeg"/><Relationship Id="rId3" Type="http://schemas.openxmlformats.org/officeDocument/2006/relationships/slideLayout" Target="../slideLayouts/slideLayout72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76.xml"/><Relationship Id="rId12" Type="http://schemas.openxmlformats.org/officeDocument/2006/relationships/theme" Target="../theme/theme7.xml"/><Relationship Id="rId17" Type="http://schemas.openxmlformats.org/officeDocument/2006/relationships/image" Target="../media/image7.jpeg"/><Relationship Id="rId2" Type="http://schemas.openxmlformats.org/officeDocument/2006/relationships/slideLayout" Target="../slideLayouts/slideLayout71.xml"/><Relationship Id="rId16" Type="http://schemas.openxmlformats.org/officeDocument/2006/relationships/image" Target="../media/image6.jpeg"/><Relationship Id="rId20" Type="http://schemas.openxmlformats.org/officeDocument/2006/relationships/image" Target="../media/image10.jpeg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79.xml"/><Relationship Id="rId19" Type="http://schemas.openxmlformats.org/officeDocument/2006/relationships/image" Target="../media/image9.jpeg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55257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Freeform 3"/>
          <p:cNvSpPr/>
          <p:nvPr/>
        </p:nvSpPr>
        <p:spPr bwMode="auto">
          <a:xfrm>
            <a:off x="1588" y="914400"/>
            <a:ext cx="1219200" cy="4838700"/>
          </a:xfrm>
          <a:custGeom>
            <a:avLst/>
            <a:gdLst>
              <a:gd name="T0" fmla="*/ 2147483647 w 768"/>
              <a:gd name="T1" fmla="*/ 2147483647 h 2856"/>
              <a:gd name="T2" fmla="*/ 2147483647 w 768"/>
              <a:gd name="T3" fmla="*/ 2147483647 h 2856"/>
              <a:gd name="T4" fmla="*/ 0 w 768"/>
              <a:gd name="T5" fmla="*/ 2147483647 h 2856"/>
              <a:gd name="T6" fmla="*/ 0 w 768"/>
              <a:gd name="T7" fmla="*/ 2147483647 h 2856"/>
              <a:gd name="T8" fmla="*/ 2147483647 w 768"/>
              <a:gd name="T9" fmla="*/ 0 h 2856"/>
              <a:gd name="T10" fmla="*/ 2147483647 w 768"/>
              <a:gd name="T11" fmla="*/ 2147483647 h 28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68" h="2856">
                <a:moveTo>
                  <a:pt x="619" y="1461"/>
                </a:moveTo>
                <a:cubicBezTo>
                  <a:pt x="635" y="2144"/>
                  <a:pt x="683" y="2331"/>
                  <a:pt x="760" y="2856"/>
                </a:cubicBezTo>
                <a:lnTo>
                  <a:pt x="0" y="2856"/>
                </a:lnTo>
                <a:lnTo>
                  <a:pt x="0" y="1"/>
                </a:lnTo>
                <a:lnTo>
                  <a:pt x="768" y="0"/>
                </a:lnTo>
                <a:cubicBezTo>
                  <a:pt x="736" y="196"/>
                  <a:pt x="635" y="672"/>
                  <a:pt x="619" y="1461"/>
                </a:cubicBezTo>
                <a:close/>
              </a:path>
            </a:pathLst>
          </a:custGeom>
          <a:gradFill rotWithShape="0">
            <a:gsLst>
              <a:gs pos="0">
                <a:srgbClr val="7C7EAC"/>
              </a:gs>
              <a:gs pos="100000">
                <a:schemeClr val="bg1"/>
              </a:gs>
            </a:gsLst>
            <a:lin ang="5400000" scaled="1"/>
          </a:gradFill>
          <a:ln w="9525" cap="flat" cmpd="sng">
            <a:noFill/>
            <a:prstDash val="solid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04800"/>
            <a:ext cx="77724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219200"/>
            <a:ext cx="77724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v"/>
        <a:defRPr sz="2000" b="1">
          <a:solidFill>
            <a:srgbClr val="3366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b="1">
          <a:solidFill>
            <a:srgbClr val="3366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 b="1">
          <a:solidFill>
            <a:srgbClr val="3366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 b="1">
          <a:solidFill>
            <a:srgbClr val="3366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>
            <a:extLst>
              <a:ext uri="{FF2B5EF4-FFF2-40B4-BE49-F238E27FC236}">
                <a16:creationId xmlns:a16="http://schemas.microsoft.com/office/drawing/2014/main" id="{96445CF5-7F4F-413B-8541-AD9A799353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734" r:id="rId12"/>
    <p:sldLayoutId id="2147483735" r:id="rId13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>
            <a:extLst>
              <a:ext uri="{FF2B5EF4-FFF2-40B4-BE49-F238E27FC236}">
                <a16:creationId xmlns:a16="http://schemas.microsoft.com/office/drawing/2014/main" id="{96445CF5-7F4F-413B-8541-AD9A799353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64327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32057243-54D8-446D-9769-A38AE30FAB60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674849" y="215308"/>
            <a:ext cx="1216904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>
              <a:defRPr/>
            </a:pPr>
            <a:r>
              <a:rPr kumimoji="1" lang="en-US" altLang="zh-CN" sz="3200" b="1" i="1" dirty="0">
                <a:ln w="10541" cmpd="sng">
                  <a:noFill/>
                  <a:prstDash val="solid"/>
                </a:ln>
                <a:gradFill flip="none" rotWithShape="1">
                  <a:gsLst>
                    <a:gs pos="0">
                      <a:srgbClr val="A603AB"/>
                    </a:gs>
                    <a:gs pos="21001">
                      <a:srgbClr val="0819FB"/>
                    </a:gs>
                    <a:gs pos="35001">
                      <a:srgbClr val="1A8D48"/>
                    </a:gs>
                    <a:gs pos="52000">
                      <a:srgbClr val="FFFF00"/>
                    </a:gs>
                    <a:gs pos="73000">
                      <a:srgbClr val="EE3F17"/>
                    </a:gs>
                    <a:gs pos="88000">
                      <a:srgbClr val="E81766"/>
                    </a:gs>
                    <a:gs pos="100000">
                      <a:srgbClr val="A603AB"/>
                    </a:gs>
                  </a:gsLst>
                  <a:lin ang="0" scaled="1"/>
                  <a:tileRect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pitchFamily="34" charset="0"/>
                <a:ea typeface="黑体" panose="02010609060101010101" pitchFamily="2" charset="-122"/>
              </a:rPr>
              <a:t>SBN</a:t>
            </a:r>
            <a:endParaRPr kumimoji="1" lang="zh-CN" altLang="en-US" sz="3200" b="1" i="1" dirty="0">
              <a:ln w="10541" cmpd="sng">
                <a:noFill/>
                <a:prstDash val="solid"/>
              </a:ln>
              <a:gradFill flip="none" rotWithShape="1">
                <a:gsLst>
                  <a:gs pos="0">
                    <a:srgbClr val="A603AB"/>
                  </a:gs>
                  <a:gs pos="21001">
                    <a:srgbClr val="0819FB"/>
                  </a:gs>
                  <a:gs pos="35001">
                    <a:srgbClr val="1A8D48"/>
                  </a:gs>
                  <a:gs pos="52000">
                    <a:srgbClr val="FFFF00"/>
                  </a:gs>
                  <a:gs pos="73000">
                    <a:srgbClr val="EE3F17"/>
                  </a:gs>
                  <a:gs pos="88000">
                    <a:srgbClr val="E81766"/>
                  </a:gs>
                  <a:gs pos="100000">
                    <a:srgbClr val="A603AB"/>
                  </a:gs>
                </a:gsLst>
                <a:lin ang="0" scaled="1"/>
                <a:tileRect/>
              </a:gra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Arial Black" panose="020B0A04020102020204" pitchFamily="34" charset="0"/>
              <a:ea typeface="黑体" panose="02010609060101010101" pitchFamily="2" charset="-122"/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44500" y="73025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3124200" y="64770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 kumimoji="1" sz="1600" b="1">
                <a:solidFill>
                  <a:schemeClr val="folHlink"/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56ED39A5-D7E9-45ED-9C73-9E366D6A377B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1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1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1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1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1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20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673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5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8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9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oleObject" Target="../embeddings/oleObject11.bin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image" Target="../media/image2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8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1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34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35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36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37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38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39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4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7"/>
          <p:cNvSpPr>
            <a:spLocks noChangeArrowheads="1"/>
          </p:cNvSpPr>
          <p:nvPr/>
        </p:nvSpPr>
        <p:spPr bwMode="auto">
          <a:xfrm>
            <a:off x="2037057" y="3175682"/>
            <a:ext cx="5104887" cy="2079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帅天平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数学科学学院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tpshuai@bupt.edu.cn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03416" y="1667211"/>
            <a:ext cx="65319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BBE0E3"/>
              </a:buClr>
              <a:buSzPct val="60000"/>
              <a:buFontTx/>
              <a:buNone/>
              <a:tabLst/>
              <a:defRPr/>
            </a:pPr>
            <a:r>
              <a:rPr lang="zh-CN" altLang="en-US" sz="60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最优化理论与算法</a:t>
            </a:r>
            <a:endParaRPr kumimoji="0" lang="en-US" altLang="zh-CN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95285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第八章 算法</a:t>
            </a:r>
            <a:endParaRPr lang="en-US" altLang="zh-CN"/>
          </a:p>
        </p:txBody>
      </p:sp>
      <p:sp>
        <p:nvSpPr>
          <p:cNvPr id="4101" name="内容占位符 2"/>
          <p:cNvSpPr>
            <a:spLocks noGrp="1"/>
          </p:cNvSpPr>
          <p:nvPr>
            <p:ph idx="4294967295"/>
          </p:nvPr>
        </p:nvSpPr>
        <p:spPr>
          <a:xfrm>
            <a:off x="693019" y="1244600"/>
            <a:ext cx="8229600" cy="453072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算法概念</a:t>
            </a:r>
            <a:endParaRPr lang="en-US" altLang="zh-CN" dirty="0"/>
          </a:p>
          <a:p>
            <a:pPr eaLnBrk="1" hangingPunct="1"/>
            <a:r>
              <a:rPr lang="zh-CN" altLang="en-US" dirty="0"/>
              <a:t>算法收敛问题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kumimoji="0" lang="en-US" altLang="zh-CN" sz="3600" dirty="0"/>
              <a:t>8 </a:t>
            </a:r>
            <a:r>
              <a:rPr lang="zh-CN" altLang="en-US" sz="3600" dirty="0"/>
              <a:t>算法</a:t>
            </a:r>
            <a:r>
              <a:rPr lang="en-US" altLang="zh-CN" sz="3600" dirty="0"/>
              <a:t>-</a:t>
            </a:r>
            <a:r>
              <a:rPr lang="zh-CN" altLang="en-US" sz="3600" dirty="0"/>
              <a:t>概念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7259" y="1025525"/>
            <a:ext cx="3429000" cy="6096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CN" sz="2800" dirty="0"/>
              <a:t>8.1.1 </a:t>
            </a:r>
            <a:r>
              <a:rPr lang="zh-CN" altLang="en-US" sz="2800" dirty="0"/>
              <a:t>算法映射</a:t>
            </a:r>
          </a:p>
        </p:txBody>
      </p:sp>
      <p:graphicFrame>
        <p:nvGraphicFramePr>
          <p:cNvPr id="51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340995"/>
              </p:ext>
            </p:extLst>
          </p:nvPr>
        </p:nvGraphicFramePr>
        <p:xfrm>
          <a:off x="1054249" y="3912810"/>
          <a:ext cx="6873694" cy="896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Equation" r:id="rId3" imgW="7975600" imgH="1041400" progId="Equation.DSMT4">
                  <p:embed/>
                </p:oleObj>
              </mc:Choice>
              <mc:Fallback>
                <p:oleObj name="Equation" r:id="rId3" imgW="7975600" imgH="1041400" progId="Equation.DSMT4">
                  <p:embed/>
                  <p:pic>
                    <p:nvPicPr>
                      <p:cNvPr id="51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249" y="3912810"/>
                        <a:ext cx="6873694" cy="8967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941128" y="5019408"/>
            <a:ext cx="687369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下降</a:t>
            </a:r>
            <a:r>
              <a:rPr lang="zh-CN" altLang="en-US" sz="2400" dirty="0"/>
              <a:t>，即对某个函数，在每次迭代中后继点处的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函数值要有所减小。</a:t>
            </a:r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611188" y="324129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迭代下降算法</a:t>
            </a:r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539750" y="1628775"/>
            <a:ext cx="81375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考虑极小化问题     </a:t>
            </a:r>
            <a:r>
              <a:rPr lang="en-US" altLang="zh-CN" sz="2400" b="1" i="1" dirty="0"/>
              <a:t>f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)</a:t>
            </a:r>
            <a:r>
              <a:rPr lang="en-US" altLang="zh-CN" sz="2400" b="1" i="1" dirty="0"/>
              <a:t>  </a:t>
            </a:r>
            <a:r>
              <a:rPr lang="en-US" altLang="zh-CN" sz="2400" b="1" i="1" dirty="0" err="1"/>
              <a:t>s.t.</a:t>
            </a:r>
            <a:r>
              <a:rPr lang="en-US" altLang="zh-CN" sz="2400" b="1" i="1" dirty="0"/>
              <a:t>  </a:t>
            </a:r>
            <a:r>
              <a:rPr lang="en-US" altLang="zh-CN" sz="2400" b="1" i="1" dirty="0" err="1"/>
              <a:t>x</a:t>
            </a:r>
            <a:r>
              <a:rPr lang="en-US" altLang="zh-CN" sz="2400" b="1" dirty="0" err="1">
                <a:sym typeface="Euclid Symbol" panose="05050102010706020507" pitchFamily="18" charset="2"/>
              </a:rPr>
              <a:t></a:t>
            </a:r>
            <a:r>
              <a:rPr lang="en-US" altLang="zh-CN" sz="2400" b="1" i="1" dirty="0" err="1">
                <a:sym typeface="Euclid Symbol" panose="05050102010706020507" pitchFamily="18" charset="2"/>
              </a:rPr>
              <a:t>S</a:t>
            </a:r>
            <a:r>
              <a:rPr lang="en-US" altLang="zh-CN" sz="2400" b="1" i="1" dirty="0">
                <a:sym typeface="Euclid Symbol" panose="05050102010706020507" pitchFamily="18" charset="2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ym typeface="Euclid Symbol" panose="05050102010706020507" pitchFamily="18" charset="2"/>
              </a:rPr>
              <a:t>这里</a:t>
            </a:r>
            <a:r>
              <a:rPr lang="en-US" altLang="zh-CN" sz="2400" i="1" dirty="0">
                <a:sym typeface="Euclid Symbol" panose="05050102010706020507" pitchFamily="18" charset="2"/>
              </a:rPr>
              <a:t>f</a:t>
            </a:r>
            <a:r>
              <a:rPr lang="zh-CN" altLang="en-US" sz="2400" dirty="0">
                <a:sym typeface="Euclid Symbol" panose="05050102010706020507" pitchFamily="18" charset="2"/>
              </a:rPr>
              <a:t>是目标函数</a:t>
            </a:r>
            <a:r>
              <a:rPr lang="zh-CN" altLang="en-US" sz="2400" b="1" dirty="0">
                <a:sym typeface="Euclid Symbol" panose="05050102010706020507" pitchFamily="18" charset="2"/>
              </a:rPr>
              <a:t>，</a:t>
            </a:r>
            <a:r>
              <a:rPr lang="en-US" altLang="zh-CN" sz="2400" b="1" dirty="0">
                <a:sym typeface="Euclid Symbol" panose="05050102010706020507" pitchFamily="18" charset="2"/>
              </a:rPr>
              <a:t>S</a:t>
            </a:r>
            <a:r>
              <a:rPr lang="zh-CN" altLang="en-US" sz="2400" dirty="0">
                <a:sym typeface="Euclid Symbol" panose="05050102010706020507" pitchFamily="18" charset="2"/>
              </a:rPr>
              <a:t>是可行域。对于求解这一问题的解答程序或算法可以看作是一个迭代过程，这过程按照规定的</a:t>
            </a:r>
            <a:r>
              <a:rPr lang="zh-CN" altLang="en-US" sz="2400" dirty="0">
                <a:solidFill>
                  <a:srgbClr val="0000FF"/>
                </a:solidFill>
                <a:sym typeface="Euclid Symbol" panose="05050102010706020507" pitchFamily="18" charset="2"/>
              </a:rPr>
              <a:t>一组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sym typeface="Euclid Symbol" panose="05050102010706020507" pitchFamily="18" charset="2"/>
              </a:rPr>
              <a:t>指令和终止准则</a:t>
            </a:r>
            <a:r>
              <a:rPr lang="zh-CN" altLang="en-US" sz="2400" dirty="0">
                <a:sym typeface="Euclid Symbol" panose="05050102010706020507" pitchFamily="18" charset="2"/>
              </a:rPr>
              <a:t>一起产生一个点序列。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41D5A4-40C7-4E73-A596-F73BDED88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10139" y="4358958"/>
            <a:ext cx="7991475" cy="1584325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8.1.1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是定义在空间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上的点到集映射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即对每一个点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给定一个子集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A(x)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X.</a:t>
            </a:r>
          </a:p>
        </p:txBody>
      </p:sp>
      <p:graphicFrame>
        <p:nvGraphicFramePr>
          <p:cNvPr id="6151" name="Object 7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193992113"/>
              </p:ext>
            </p:extLst>
          </p:nvPr>
        </p:nvGraphicFramePr>
        <p:xfrm>
          <a:off x="596766" y="1134461"/>
          <a:ext cx="7775575" cy="275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7" name="Equation" r:id="rId3" imgW="4012920" imgH="1422360" progId="Equation.DSMT4">
                  <p:embed/>
                </p:oleObj>
              </mc:Choice>
              <mc:Fallback>
                <p:oleObj name="Equation" r:id="rId3" imgW="4012920" imgH="1422360" progId="Equation.DSMT4">
                  <p:embed/>
                  <p:pic>
                    <p:nvPicPr>
                      <p:cNvPr id="61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766" y="1134461"/>
                        <a:ext cx="7775575" cy="275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0673C-D469-4CC0-BE51-BCBC37131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7173" name="Object 9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406516062"/>
              </p:ext>
            </p:extLst>
          </p:nvPr>
        </p:nvGraphicFramePr>
        <p:xfrm>
          <a:off x="577516" y="971450"/>
          <a:ext cx="5041900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Equation" r:id="rId3" imgW="2247900" imgH="431800" progId="Equation.DSMT4">
                  <p:embed/>
                </p:oleObj>
              </mc:Choice>
              <mc:Fallback>
                <p:oleObj name="Equation" r:id="rId3" imgW="2247900" imgH="431800" progId="Equation.DSMT4">
                  <p:embed/>
                  <p:pic>
                    <p:nvPicPr>
                      <p:cNvPr id="717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516" y="971450"/>
                        <a:ext cx="5041900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11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09277833"/>
              </p:ext>
            </p:extLst>
          </p:nvPr>
        </p:nvGraphicFramePr>
        <p:xfrm>
          <a:off x="519765" y="2058888"/>
          <a:ext cx="8280400" cy="200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Equation" r:id="rId5" imgW="3873500" imgH="939800" progId="Equation.DSMT4">
                  <p:embed/>
                </p:oleObj>
              </mc:Choice>
              <mc:Fallback>
                <p:oleObj name="Equation" r:id="rId5" imgW="3873500" imgH="939800" progId="Equation.DSMT4">
                  <p:embed/>
                  <p:pic>
                    <p:nvPicPr>
                      <p:cNvPr id="717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765" y="2058888"/>
                        <a:ext cx="8280400" cy="200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1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953197211"/>
              </p:ext>
            </p:extLst>
          </p:nvPr>
        </p:nvGraphicFramePr>
        <p:xfrm>
          <a:off x="779646" y="4415558"/>
          <a:ext cx="7045693" cy="148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Equation" r:id="rId7" imgW="3378200" imgH="711200" progId="Equation.DSMT4">
                  <p:embed/>
                </p:oleObj>
              </mc:Choice>
              <mc:Fallback>
                <p:oleObj name="Equation" r:id="rId7" imgW="3378200" imgH="711200" progId="Equation.DSMT4">
                  <p:embed/>
                  <p:pic>
                    <p:nvPicPr>
                      <p:cNvPr id="717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646" y="4415558"/>
                        <a:ext cx="7045693" cy="148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1A6C3C-5076-4BC7-86B7-327E7F835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56134" y="865655"/>
            <a:ext cx="8299450" cy="2160587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如图所示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应用算法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经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作用得到一个闭区间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从此区间中任取一点作为后继点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重复这个过程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得一由算法产生得点列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在一定条件下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它收敛于问题的解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例如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{3,2,3/2,5/4,…} {3,3/2,9/8,33/32,…} etc.</a:t>
            </a:r>
          </a:p>
        </p:txBody>
      </p:sp>
      <p:grpSp>
        <p:nvGrpSpPr>
          <p:cNvPr id="8199" name="Group 63"/>
          <p:cNvGrpSpPr>
            <a:grpSpLocks/>
          </p:cNvGrpSpPr>
          <p:nvPr/>
        </p:nvGrpSpPr>
        <p:grpSpPr bwMode="auto">
          <a:xfrm>
            <a:off x="468313" y="3284538"/>
            <a:ext cx="3887787" cy="3024187"/>
            <a:chOff x="295" y="2069"/>
            <a:chExt cx="2449" cy="1905"/>
          </a:xfrm>
        </p:grpSpPr>
        <p:grpSp>
          <p:nvGrpSpPr>
            <p:cNvPr id="8231" name="Group 59"/>
            <p:cNvGrpSpPr>
              <a:grpSpLocks/>
            </p:cNvGrpSpPr>
            <p:nvPr/>
          </p:nvGrpSpPr>
          <p:grpSpPr bwMode="auto">
            <a:xfrm>
              <a:off x="295" y="2069"/>
              <a:ext cx="2449" cy="1905"/>
              <a:chOff x="295" y="2069"/>
              <a:chExt cx="2449" cy="1905"/>
            </a:xfrm>
          </p:grpSpPr>
          <p:grpSp>
            <p:nvGrpSpPr>
              <p:cNvPr id="8233" name="Group 17"/>
              <p:cNvGrpSpPr>
                <a:grpSpLocks/>
              </p:cNvGrpSpPr>
              <p:nvPr/>
            </p:nvGrpSpPr>
            <p:grpSpPr bwMode="auto">
              <a:xfrm>
                <a:off x="295" y="2069"/>
                <a:ext cx="2449" cy="1905"/>
                <a:chOff x="158" y="2251"/>
                <a:chExt cx="2449" cy="1905"/>
              </a:xfrm>
            </p:grpSpPr>
            <p:sp>
              <p:nvSpPr>
                <p:cNvPr id="8238" name="Line 7"/>
                <p:cNvSpPr>
                  <a:spLocks noChangeShapeType="1"/>
                </p:cNvSpPr>
                <p:nvPr/>
              </p:nvSpPr>
              <p:spPr bwMode="auto">
                <a:xfrm>
                  <a:off x="158" y="3793"/>
                  <a:ext cx="244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39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703" y="2251"/>
                  <a:ext cx="0" cy="190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40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204" y="2251"/>
                  <a:ext cx="1905" cy="172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41" name="Line 10"/>
                <p:cNvSpPr>
                  <a:spLocks noChangeShapeType="1"/>
                </p:cNvSpPr>
                <p:nvPr/>
              </p:nvSpPr>
              <p:spPr bwMode="auto">
                <a:xfrm>
                  <a:off x="1837" y="2523"/>
                  <a:ext cx="0" cy="127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42" name="Oval 13"/>
                <p:cNvSpPr>
                  <a:spLocks noChangeArrowheads="1"/>
                </p:cNvSpPr>
                <p:nvPr/>
              </p:nvSpPr>
              <p:spPr bwMode="auto">
                <a:xfrm>
                  <a:off x="884" y="3748"/>
                  <a:ext cx="45" cy="45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/>
                </a:p>
              </p:txBody>
            </p:sp>
            <p:sp>
              <p:nvSpPr>
                <p:cNvPr id="8243" name="Oval 14"/>
                <p:cNvSpPr>
                  <a:spLocks noChangeArrowheads="1"/>
                </p:cNvSpPr>
                <p:nvPr/>
              </p:nvSpPr>
              <p:spPr bwMode="auto">
                <a:xfrm>
                  <a:off x="1247" y="3748"/>
                  <a:ext cx="45" cy="45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/>
                </a:p>
              </p:txBody>
            </p:sp>
            <p:sp>
              <p:nvSpPr>
                <p:cNvPr id="8244" name="Oval 15"/>
                <p:cNvSpPr>
                  <a:spLocks noChangeArrowheads="1"/>
                </p:cNvSpPr>
                <p:nvPr/>
              </p:nvSpPr>
              <p:spPr bwMode="auto">
                <a:xfrm>
                  <a:off x="1792" y="3748"/>
                  <a:ext cx="45" cy="45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/>
                </a:p>
              </p:txBody>
            </p:sp>
            <p:sp>
              <p:nvSpPr>
                <p:cNvPr id="8245" name="Oval 16"/>
                <p:cNvSpPr>
                  <a:spLocks noChangeArrowheads="1"/>
                </p:cNvSpPr>
                <p:nvPr/>
              </p:nvSpPr>
              <p:spPr bwMode="auto">
                <a:xfrm>
                  <a:off x="1791" y="2523"/>
                  <a:ext cx="45" cy="45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/>
                </a:p>
              </p:txBody>
            </p:sp>
          </p:grpSp>
          <p:sp>
            <p:nvSpPr>
              <p:cNvPr id="8234" name="Rectangle 49"/>
              <p:cNvSpPr>
                <a:spLocks noChangeArrowheads="1"/>
              </p:cNvSpPr>
              <p:nvPr/>
            </p:nvSpPr>
            <p:spPr bwMode="auto">
              <a:xfrm>
                <a:off x="884" y="3657"/>
                <a:ext cx="4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i="1"/>
                  <a:t>x*=</a:t>
                </a:r>
                <a:r>
                  <a:rPr lang="en-US" altLang="zh-CN" sz="2000"/>
                  <a:t>1</a:t>
                </a:r>
              </a:p>
            </p:txBody>
          </p:sp>
          <p:sp>
            <p:nvSpPr>
              <p:cNvPr id="8235" name="Rectangle 50"/>
              <p:cNvSpPr>
                <a:spLocks noChangeArrowheads="1"/>
              </p:cNvSpPr>
              <p:nvPr/>
            </p:nvSpPr>
            <p:spPr bwMode="auto">
              <a:xfrm>
                <a:off x="1247" y="329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i="1"/>
                  <a:t>x</a:t>
                </a:r>
                <a:r>
                  <a:rPr lang="en-US" altLang="zh-CN" sz="2400" i="1" baseline="-25000"/>
                  <a:t>k+</a:t>
                </a:r>
                <a:r>
                  <a:rPr lang="en-US" altLang="zh-CN" sz="2400" baseline="-25000"/>
                  <a:t>1</a:t>
                </a:r>
              </a:p>
            </p:txBody>
          </p:sp>
          <p:sp>
            <p:nvSpPr>
              <p:cNvPr id="8236" name="Rectangle 52"/>
              <p:cNvSpPr>
                <a:spLocks noChangeArrowheads="1"/>
              </p:cNvSpPr>
              <p:nvPr/>
            </p:nvSpPr>
            <p:spPr bwMode="auto">
              <a:xfrm>
                <a:off x="1882" y="3566"/>
                <a:ext cx="25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i="1"/>
                  <a:t>x</a:t>
                </a:r>
                <a:r>
                  <a:rPr lang="en-US" altLang="zh-CN" sz="2400" i="1" baseline="-25000"/>
                  <a:t>k</a:t>
                </a:r>
                <a:endParaRPr lang="en-US" altLang="zh-CN" sz="2400" baseline="-25000"/>
              </a:p>
            </p:txBody>
          </p:sp>
          <p:sp>
            <p:nvSpPr>
              <p:cNvPr id="8237" name="Rectangle 53"/>
              <p:cNvSpPr>
                <a:spLocks noChangeArrowheads="1"/>
              </p:cNvSpPr>
              <p:nvPr/>
            </p:nvSpPr>
            <p:spPr bwMode="auto">
              <a:xfrm>
                <a:off x="2018" y="216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i="1" dirty="0"/>
                  <a:t>x</a:t>
                </a:r>
                <a:r>
                  <a:rPr lang="en-US" altLang="zh-CN" sz="2400" i="1" baseline="-25000" dirty="0"/>
                  <a:t>k+</a:t>
                </a:r>
                <a:r>
                  <a:rPr lang="en-US" altLang="zh-CN" sz="2400" baseline="-25000" dirty="0"/>
                  <a:t>1</a:t>
                </a:r>
              </a:p>
            </p:txBody>
          </p:sp>
        </p:grpSp>
        <p:sp>
          <p:nvSpPr>
            <p:cNvPr id="8232" name="Rectangle 60"/>
            <p:cNvSpPr>
              <a:spLocks noChangeArrowheads="1"/>
            </p:cNvSpPr>
            <p:nvPr/>
          </p:nvSpPr>
          <p:spPr bwMode="auto">
            <a:xfrm>
              <a:off x="348" y="2354"/>
              <a:ext cx="4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A(</a:t>
              </a:r>
              <a:r>
                <a:rPr lang="en-US" altLang="zh-CN" sz="2400" i="1"/>
                <a:t>x</a:t>
              </a:r>
              <a:r>
                <a:rPr lang="en-US" altLang="zh-CN" sz="2400"/>
                <a:t>)</a:t>
              </a:r>
            </a:p>
          </p:txBody>
        </p:sp>
      </p:grpSp>
      <p:grpSp>
        <p:nvGrpSpPr>
          <p:cNvPr id="8200" name="Group 58"/>
          <p:cNvGrpSpPr>
            <a:grpSpLocks/>
          </p:cNvGrpSpPr>
          <p:nvPr/>
        </p:nvGrpSpPr>
        <p:grpSpPr bwMode="auto">
          <a:xfrm>
            <a:off x="4714875" y="3000375"/>
            <a:ext cx="3887788" cy="3095625"/>
            <a:chOff x="2971" y="2115"/>
            <a:chExt cx="2449" cy="1950"/>
          </a:xfrm>
        </p:grpSpPr>
        <p:sp>
          <p:nvSpPr>
            <p:cNvPr id="8202" name="Line 19"/>
            <p:cNvSpPr>
              <a:spLocks noChangeShapeType="1"/>
            </p:cNvSpPr>
            <p:nvPr/>
          </p:nvSpPr>
          <p:spPr bwMode="auto">
            <a:xfrm>
              <a:off x="2971" y="3657"/>
              <a:ext cx="24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" name="Line 20"/>
            <p:cNvSpPr>
              <a:spLocks noChangeShapeType="1"/>
            </p:cNvSpPr>
            <p:nvPr/>
          </p:nvSpPr>
          <p:spPr bwMode="auto">
            <a:xfrm flipV="1">
              <a:off x="3331" y="2160"/>
              <a:ext cx="0" cy="19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" name="Line 21"/>
            <p:cNvSpPr>
              <a:spLocks noChangeShapeType="1"/>
            </p:cNvSpPr>
            <p:nvPr/>
          </p:nvSpPr>
          <p:spPr bwMode="auto">
            <a:xfrm flipV="1">
              <a:off x="3017" y="2115"/>
              <a:ext cx="1905" cy="17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" name="Line 22"/>
            <p:cNvSpPr>
              <a:spLocks noChangeShapeType="1"/>
            </p:cNvSpPr>
            <p:nvPr/>
          </p:nvSpPr>
          <p:spPr bwMode="auto">
            <a:xfrm>
              <a:off x="4650" y="2387"/>
              <a:ext cx="0" cy="1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" name="Oval 23"/>
            <p:cNvSpPr>
              <a:spLocks noChangeArrowheads="1"/>
            </p:cNvSpPr>
            <p:nvPr/>
          </p:nvSpPr>
          <p:spPr bwMode="auto">
            <a:xfrm>
              <a:off x="3511" y="3612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8207" name="Oval 24"/>
            <p:cNvSpPr>
              <a:spLocks noChangeArrowheads="1"/>
            </p:cNvSpPr>
            <p:nvPr/>
          </p:nvSpPr>
          <p:spPr bwMode="auto">
            <a:xfrm>
              <a:off x="4060" y="3612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8208" name="Oval 25"/>
            <p:cNvSpPr>
              <a:spLocks noChangeArrowheads="1"/>
            </p:cNvSpPr>
            <p:nvPr/>
          </p:nvSpPr>
          <p:spPr bwMode="auto">
            <a:xfrm>
              <a:off x="4605" y="3612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8209" name="Oval 26"/>
            <p:cNvSpPr>
              <a:spLocks noChangeArrowheads="1"/>
            </p:cNvSpPr>
            <p:nvPr/>
          </p:nvSpPr>
          <p:spPr bwMode="auto">
            <a:xfrm>
              <a:off x="4604" y="2659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8210" name="Line 27"/>
            <p:cNvSpPr>
              <a:spLocks noChangeShapeType="1"/>
            </p:cNvSpPr>
            <p:nvPr/>
          </p:nvSpPr>
          <p:spPr bwMode="auto">
            <a:xfrm>
              <a:off x="2971" y="3385"/>
              <a:ext cx="16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1" name="Line 28"/>
            <p:cNvSpPr>
              <a:spLocks noChangeShapeType="1"/>
            </p:cNvSpPr>
            <p:nvPr/>
          </p:nvSpPr>
          <p:spPr bwMode="auto">
            <a:xfrm>
              <a:off x="4559" y="2478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2" name="Line 29"/>
            <p:cNvSpPr>
              <a:spLocks noChangeShapeType="1"/>
            </p:cNvSpPr>
            <p:nvPr/>
          </p:nvSpPr>
          <p:spPr bwMode="auto">
            <a:xfrm>
              <a:off x="4468" y="2523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3" name="Line 30"/>
            <p:cNvSpPr>
              <a:spLocks noChangeShapeType="1"/>
            </p:cNvSpPr>
            <p:nvPr/>
          </p:nvSpPr>
          <p:spPr bwMode="auto">
            <a:xfrm>
              <a:off x="4377" y="2614"/>
              <a:ext cx="0" cy="7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4" name="Line 31"/>
            <p:cNvSpPr>
              <a:spLocks noChangeShapeType="1"/>
            </p:cNvSpPr>
            <p:nvPr/>
          </p:nvSpPr>
          <p:spPr bwMode="auto">
            <a:xfrm>
              <a:off x="4286" y="2705"/>
              <a:ext cx="0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5" name="Line 32"/>
            <p:cNvSpPr>
              <a:spLocks noChangeShapeType="1"/>
            </p:cNvSpPr>
            <p:nvPr/>
          </p:nvSpPr>
          <p:spPr bwMode="auto">
            <a:xfrm flipH="1">
              <a:off x="4196" y="2795"/>
              <a:ext cx="0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6" name="Line 33"/>
            <p:cNvSpPr>
              <a:spLocks noChangeShapeType="1"/>
            </p:cNvSpPr>
            <p:nvPr/>
          </p:nvSpPr>
          <p:spPr bwMode="auto">
            <a:xfrm>
              <a:off x="4105" y="2841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7" name="Line 34"/>
            <p:cNvSpPr>
              <a:spLocks noChangeShapeType="1"/>
            </p:cNvSpPr>
            <p:nvPr/>
          </p:nvSpPr>
          <p:spPr bwMode="auto">
            <a:xfrm>
              <a:off x="4014" y="2931"/>
              <a:ext cx="0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8" name="Line 35"/>
            <p:cNvSpPr>
              <a:spLocks noChangeShapeType="1"/>
            </p:cNvSpPr>
            <p:nvPr/>
          </p:nvSpPr>
          <p:spPr bwMode="auto">
            <a:xfrm>
              <a:off x="3924" y="3022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9" name="Line 36"/>
            <p:cNvSpPr>
              <a:spLocks noChangeShapeType="1"/>
            </p:cNvSpPr>
            <p:nvPr/>
          </p:nvSpPr>
          <p:spPr bwMode="auto">
            <a:xfrm>
              <a:off x="3833" y="3113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0" name="Line 41"/>
            <p:cNvSpPr>
              <a:spLocks noChangeShapeType="1"/>
            </p:cNvSpPr>
            <p:nvPr/>
          </p:nvSpPr>
          <p:spPr bwMode="auto">
            <a:xfrm>
              <a:off x="3742" y="320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1" name="Line 42"/>
            <p:cNvSpPr>
              <a:spLocks noChangeShapeType="1"/>
            </p:cNvSpPr>
            <p:nvPr/>
          </p:nvSpPr>
          <p:spPr bwMode="auto">
            <a:xfrm>
              <a:off x="3651" y="324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2" name="Line 43"/>
            <p:cNvSpPr>
              <a:spLocks noChangeShapeType="1"/>
            </p:cNvSpPr>
            <p:nvPr/>
          </p:nvSpPr>
          <p:spPr bwMode="auto">
            <a:xfrm>
              <a:off x="3425" y="3385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3" name="Line 44"/>
            <p:cNvSpPr>
              <a:spLocks noChangeShapeType="1"/>
            </p:cNvSpPr>
            <p:nvPr/>
          </p:nvSpPr>
          <p:spPr bwMode="auto">
            <a:xfrm>
              <a:off x="3334" y="3385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4" name="Line 45"/>
            <p:cNvSpPr>
              <a:spLocks noChangeShapeType="1"/>
            </p:cNvSpPr>
            <p:nvPr/>
          </p:nvSpPr>
          <p:spPr bwMode="auto">
            <a:xfrm>
              <a:off x="3243" y="3385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5" name="Line 46"/>
            <p:cNvSpPr>
              <a:spLocks noChangeShapeType="1"/>
            </p:cNvSpPr>
            <p:nvPr/>
          </p:nvSpPr>
          <p:spPr bwMode="auto">
            <a:xfrm>
              <a:off x="3152" y="3385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6" name="Line 47"/>
            <p:cNvSpPr>
              <a:spLocks noChangeShapeType="1"/>
            </p:cNvSpPr>
            <p:nvPr/>
          </p:nvSpPr>
          <p:spPr bwMode="auto">
            <a:xfrm>
              <a:off x="3062" y="338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7" name="Rectangle 54"/>
            <p:cNvSpPr>
              <a:spLocks noChangeArrowheads="1"/>
            </p:cNvSpPr>
            <p:nvPr/>
          </p:nvSpPr>
          <p:spPr bwMode="auto">
            <a:xfrm>
              <a:off x="3331" y="3690"/>
              <a:ext cx="4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i="1" dirty="0"/>
                <a:t>x*=</a:t>
              </a:r>
              <a:r>
                <a:rPr lang="en-US" altLang="zh-CN" sz="2000" dirty="0"/>
                <a:t>1</a:t>
              </a:r>
            </a:p>
          </p:txBody>
        </p:sp>
        <p:sp>
          <p:nvSpPr>
            <p:cNvPr id="8228" name="Rectangle 55"/>
            <p:cNvSpPr>
              <a:spLocks noChangeArrowheads="1"/>
            </p:cNvSpPr>
            <p:nvPr/>
          </p:nvSpPr>
          <p:spPr bwMode="auto">
            <a:xfrm>
              <a:off x="3937" y="3324"/>
              <a:ext cx="4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x</a:t>
              </a:r>
              <a:r>
                <a:rPr lang="en-US" altLang="zh-CN" sz="2400" i="1" baseline="-25000"/>
                <a:t>k+</a:t>
              </a:r>
              <a:r>
                <a:rPr lang="en-US" altLang="zh-CN" sz="2400" baseline="-25000"/>
                <a:t>1</a:t>
              </a:r>
            </a:p>
          </p:txBody>
        </p:sp>
        <p:sp>
          <p:nvSpPr>
            <p:cNvPr id="8229" name="Rectangle 56"/>
            <p:cNvSpPr>
              <a:spLocks noChangeArrowheads="1"/>
            </p:cNvSpPr>
            <p:nvPr/>
          </p:nvSpPr>
          <p:spPr bwMode="auto">
            <a:xfrm>
              <a:off x="4572" y="3596"/>
              <a:ext cx="2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x</a:t>
              </a:r>
              <a:r>
                <a:rPr lang="en-US" altLang="zh-CN" sz="2400" i="1" baseline="-25000"/>
                <a:t>k</a:t>
              </a:r>
              <a:endParaRPr lang="en-US" altLang="zh-CN" sz="2400" baseline="-25000"/>
            </a:p>
          </p:txBody>
        </p:sp>
        <p:sp>
          <p:nvSpPr>
            <p:cNvPr id="8230" name="Rectangle 57"/>
            <p:cNvSpPr>
              <a:spLocks noChangeArrowheads="1"/>
            </p:cNvSpPr>
            <p:nvPr/>
          </p:nvSpPr>
          <p:spPr bwMode="auto">
            <a:xfrm>
              <a:off x="4694" y="2568"/>
              <a:ext cx="4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 dirty="0"/>
                <a:t>x</a:t>
              </a:r>
              <a:r>
                <a:rPr lang="en-US" altLang="zh-CN" sz="2400" i="1" baseline="-25000" dirty="0"/>
                <a:t>k+</a:t>
              </a:r>
              <a:r>
                <a:rPr lang="en-US" altLang="zh-CN" sz="2400" baseline="-25000" dirty="0"/>
                <a:t>1</a:t>
              </a:r>
            </a:p>
          </p:txBody>
        </p:sp>
      </p:grpSp>
      <p:sp>
        <p:nvSpPr>
          <p:cNvPr id="8201" name="Rectangle 61"/>
          <p:cNvSpPr>
            <a:spLocks noChangeArrowheads="1"/>
          </p:cNvSpPr>
          <p:nvPr/>
        </p:nvSpPr>
        <p:spPr bwMode="auto">
          <a:xfrm>
            <a:off x="4932363" y="3357563"/>
            <a:ext cx="74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A(</a:t>
            </a:r>
            <a:r>
              <a:rPr lang="en-US" altLang="zh-CN" sz="2400" i="1"/>
              <a:t>x</a:t>
            </a:r>
            <a:r>
              <a:rPr lang="en-US" altLang="zh-CN" sz="2400"/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A094744-E99E-41DB-A210-76C2898C7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8.1.2 </a:t>
            </a:r>
            <a:r>
              <a:rPr lang="zh-CN" altLang="en-US" dirty="0"/>
              <a:t>解集合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21895" y="1071764"/>
            <a:ext cx="2447925" cy="503237"/>
          </a:xfrm>
          <a:prstGeom prst="rect">
            <a:avLst/>
          </a:prstGeo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800" dirty="0"/>
              <a:t>考虑</a:t>
            </a:r>
          </a:p>
        </p:txBody>
      </p:sp>
      <p:graphicFrame>
        <p:nvGraphicFramePr>
          <p:cNvPr id="9223" name="Object 7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999460871"/>
              </p:ext>
            </p:extLst>
          </p:nvPr>
        </p:nvGraphicFramePr>
        <p:xfrm>
          <a:off x="2983832" y="1319314"/>
          <a:ext cx="2151063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" name="Equation" r:id="rId3" imgW="888840" imgH="279360" progId="Equation.DSMT4">
                  <p:embed/>
                </p:oleObj>
              </mc:Choice>
              <mc:Fallback>
                <p:oleObj name="Equation" r:id="rId3" imgW="888840" imgH="279360" progId="Equation.DSMT4">
                  <p:embed/>
                  <p:pic>
                    <p:nvPicPr>
                      <p:cNvPr id="92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3832" y="1319314"/>
                        <a:ext cx="2151063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Rectangle 9"/>
          <p:cNvSpPr>
            <a:spLocks noChangeArrowheads="1"/>
          </p:cNvSpPr>
          <p:nvPr/>
        </p:nvSpPr>
        <p:spPr bwMode="auto">
          <a:xfrm>
            <a:off x="547917" y="2335211"/>
            <a:ext cx="7879080" cy="334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/>
              <a:t>为了求解上述问题，要求使用的算法具有这样的性质：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/>
              <a:t>         </a:t>
            </a:r>
            <a:r>
              <a:rPr lang="zh-CN" altLang="en-US" sz="2400" dirty="0">
                <a:solidFill>
                  <a:srgbClr val="FF0000"/>
                </a:solidFill>
              </a:rPr>
              <a:t>由算法产生的点列收敛于整体最优解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/>
              <a:t>然而，在许多情形下，要满足这一点很难做到。事实上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/>
              <a:t>由于非凸性，问题的规模和其它一些困难，达到整体最优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/>
              <a:t>几乎不可能，因此当达到属于</a:t>
            </a:r>
            <a:r>
              <a:rPr lang="zh-CN" altLang="en-US" sz="2400" dirty="0">
                <a:solidFill>
                  <a:srgbClr val="FF0000"/>
                </a:solidFill>
              </a:rPr>
              <a:t>预定集</a:t>
            </a:r>
            <a:r>
              <a:rPr lang="zh-CN" altLang="en-US" sz="2400" dirty="0"/>
              <a:t>的某一点达到，则可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/>
              <a:t>以停止迭代，这个预定集就称之为</a:t>
            </a:r>
            <a:r>
              <a:rPr lang="zh-CN" altLang="en-US" sz="2400" dirty="0">
                <a:solidFill>
                  <a:srgbClr val="FF0000"/>
                </a:solidFill>
              </a:rPr>
              <a:t>解集合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8D435BF-1D4E-46BE-BAD1-4818323C2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10246" name="Object 8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140097203"/>
              </p:ext>
            </p:extLst>
          </p:nvPr>
        </p:nvGraphicFramePr>
        <p:xfrm>
          <a:off x="616017" y="1670535"/>
          <a:ext cx="8104188" cy="431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9" name="Equation" r:id="rId3" imgW="3987720" imgH="2120760" progId="Equation.DSMT4">
                  <p:embed/>
                </p:oleObj>
              </mc:Choice>
              <mc:Fallback>
                <p:oleObj name="Equation" r:id="rId3" imgW="3987720" imgH="2120760" progId="Equation.DSMT4">
                  <p:embed/>
                  <p:pic>
                    <p:nvPicPr>
                      <p:cNvPr id="1024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017" y="1670535"/>
                        <a:ext cx="8104188" cy="431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73010A63-4792-45E3-B4EE-FC39F09AC422}"/>
              </a:ext>
            </a:extLst>
          </p:cNvPr>
          <p:cNvSpPr/>
          <p:nvPr/>
        </p:nvSpPr>
        <p:spPr>
          <a:xfrm>
            <a:off x="386239" y="1082545"/>
            <a:ext cx="4493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常用的解集合有如下几种类型：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0EE9ABD-7787-4C0A-82FC-FA8F6B657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8.1.3 </a:t>
            </a:r>
            <a:r>
              <a:rPr lang="zh-CN" altLang="en-US" dirty="0"/>
              <a:t>下降函数</a:t>
            </a:r>
          </a:p>
        </p:txBody>
      </p:sp>
      <p:graphicFrame>
        <p:nvGraphicFramePr>
          <p:cNvPr id="1127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644814"/>
              </p:ext>
            </p:extLst>
          </p:nvPr>
        </p:nvGraphicFramePr>
        <p:xfrm>
          <a:off x="662897" y="1106714"/>
          <a:ext cx="7840663" cy="235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0" name="Equation" r:id="rId3" imgW="8724600" imgH="2616120" progId="Equation.DSMT4">
                  <p:embed/>
                </p:oleObj>
              </mc:Choice>
              <mc:Fallback>
                <p:oleObj name="Equation" r:id="rId3" imgW="8724600" imgH="2616120" progId="Equation.DSMT4">
                  <p:embed/>
                  <p:pic>
                    <p:nvPicPr>
                      <p:cNvPr id="1127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897" y="1106714"/>
                        <a:ext cx="7840663" cy="235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305961"/>
              </p:ext>
            </p:extLst>
          </p:nvPr>
        </p:nvGraphicFramePr>
        <p:xfrm>
          <a:off x="1038283" y="3860256"/>
          <a:ext cx="5379076" cy="1966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1" name="Equation" r:id="rId5" imgW="5765800" imgH="2108200" progId="Equation.DSMT4">
                  <p:embed/>
                </p:oleObj>
              </mc:Choice>
              <mc:Fallback>
                <p:oleObj name="Equation" r:id="rId5" imgW="5765800" imgH="2108200" progId="Equation.DSMT4">
                  <p:embed/>
                  <p:pic>
                    <p:nvPicPr>
                      <p:cNvPr id="1127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283" y="3860256"/>
                        <a:ext cx="5379076" cy="19667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Rectangle 5"/>
          <p:cNvSpPr>
            <a:spLocks noChangeArrowheads="1"/>
          </p:cNvSpPr>
          <p:nvPr/>
        </p:nvSpPr>
        <p:spPr bwMode="auto">
          <a:xfrm>
            <a:off x="395288" y="1052513"/>
            <a:ext cx="2819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AEBB6E8-45B8-45D5-8E3C-E4C23DBB5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8.1.4 </a:t>
            </a:r>
            <a:r>
              <a:rPr lang="zh-CN" altLang="en-US" dirty="0"/>
              <a:t>闭映射</a:t>
            </a:r>
          </a:p>
        </p:txBody>
      </p:sp>
      <p:graphicFrame>
        <p:nvGraphicFramePr>
          <p:cNvPr id="12295" name="Object 7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314466959"/>
              </p:ext>
            </p:extLst>
          </p:nvPr>
        </p:nvGraphicFramePr>
        <p:xfrm>
          <a:off x="423512" y="1176421"/>
          <a:ext cx="7488238" cy="354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" name="Equation" r:id="rId3" imgW="3517560" imgH="1663560" progId="Equation.DSMT4">
                  <p:embed/>
                </p:oleObj>
              </mc:Choice>
              <mc:Fallback>
                <p:oleObj name="Equation" r:id="rId3" imgW="3517560" imgH="1663560" progId="Equation.DSMT4">
                  <p:embed/>
                  <p:pic>
                    <p:nvPicPr>
                      <p:cNvPr id="122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512" y="1176421"/>
                        <a:ext cx="7488238" cy="354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486321"/>
              </p:ext>
            </p:extLst>
          </p:nvPr>
        </p:nvGraphicFramePr>
        <p:xfrm>
          <a:off x="1745615" y="3005005"/>
          <a:ext cx="4354513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" name="Equation" r:id="rId3" imgW="4356100" imgH="1930400" progId="Equation.DSMT4">
                  <p:embed/>
                </p:oleObj>
              </mc:Choice>
              <mc:Fallback>
                <p:oleObj name="Equation" r:id="rId3" imgW="4356100" imgH="1930400" progId="Equation.DSMT4">
                  <p:embed/>
                  <p:pic>
                    <p:nvPicPr>
                      <p:cNvPr id="1331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5615" y="3005005"/>
                        <a:ext cx="4354513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19" name="Group 12"/>
          <p:cNvGrpSpPr>
            <a:grpSpLocks/>
          </p:cNvGrpSpPr>
          <p:nvPr/>
        </p:nvGrpSpPr>
        <p:grpSpPr bwMode="auto">
          <a:xfrm>
            <a:off x="2228850" y="4138613"/>
            <a:ext cx="53975" cy="28575"/>
            <a:chOff x="158" y="1888"/>
            <a:chExt cx="5472" cy="528"/>
          </a:xfrm>
        </p:grpSpPr>
        <p:pic>
          <p:nvPicPr>
            <p:cNvPr id="13323" name="Picture 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" y="1888"/>
              <a:ext cx="5472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13324" name="Object 10"/>
            <p:cNvGraphicFramePr>
              <a:graphicFrameLocks noChangeAspect="1"/>
            </p:cNvGraphicFramePr>
            <p:nvPr/>
          </p:nvGraphicFramePr>
          <p:xfrm>
            <a:off x="204" y="2205"/>
            <a:ext cx="408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76" name="Equation" r:id="rId6" imgW="736600" imgH="381000" progId="Equation.DSMT4">
                    <p:embed/>
                  </p:oleObj>
                </mc:Choice>
                <mc:Fallback>
                  <p:oleObj name="Equation" r:id="rId6" imgW="736600" imgH="381000" progId="Equation.DSMT4">
                    <p:embed/>
                    <p:pic>
                      <p:nvPicPr>
                        <p:cNvPr id="13324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" y="2205"/>
                          <a:ext cx="408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20" name="Rectangle 17"/>
          <p:cNvSpPr>
            <a:spLocks noChangeArrowheads="1"/>
          </p:cNvSpPr>
          <p:nvPr/>
        </p:nvSpPr>
        <p:spPr bwMode="auto">
          <a:xfrm>
            <a:off x="468313" y="2205038"/>
            <a:ext cx="740779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设</a:t>
            </a:r>
            <a:r>
              <a:rPr lang="zh-CN" altLang="en-US" sz="2400" dirty="0">
                <a:sym typeface="Euclid Symbol" panose="05050102010706020507" pitchFamily="18" charset="2"/>
              </a:rPr>
              <a:t>是整体最优解的集合，即</a:t>
            </a:r>
            <a:r>
              <a:rPr lang="en-US" altLang="zh-CN" sz="2400" dirty="0">
                <a:sym typeface="Euclid Symbol" panose="05050102010706020507" pitchFamily="18" charset="2"/>
              </a:rPr>
              <a:t>={1}</a:t>
            </a:r>
            <a:r>
              <a:rPr lang="zh-CN" altLang="en-US" sz="2400" dirty="0">
                <a:sym typeface="Euclid Symbol" panose="05050102010706020507" pitchFamily="18" charset="2"/>
              </a:rPr>
              <a:t>。考虑算法映射，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ym typeface="Euclid Symbol" panose="05050102010706020507" pitchFamily="18" charset="2"/>
              </a:rPr>
              <a:t>定义为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FD29C63-D884-4311-8C92-3079C1E10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13321" name="Object 18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756007721"/>
              </p:ext>
            </p:extLst>
          </p:nvPr>
        </p:nvGraphicFramePr>
        <p:xfrm>
          <a:off x="673768" y="1033263"/>
          <a:ext cx="432117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7" name="Equation" r:id="rId8" imgW="1955800" imgH="431800" progId="Equation.DSMT4">
                  <p:embed/>
                </p:oleObj>
              </mc:Choice>
              <mc:Fallback>
                <p:oleObj name="Equation" r:id="rId8" imgW="1955800" imgH="431800" progId="Equation.DSMT4">
                  <p:embed/>
                  <p:pic>
                    <p:nvPicPr>
                      <p:cNvPr id="13321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768" y="1033263"/>
                        <a:ext cx="4321175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Rectangle 20"/>
          <p:cNvSpPr>
            <a:spLocks noChangeArrowheads="1"/>
          </p:cNvSpPr>
          <p:nvPr/>
        </p:nvSpPr>
        <p:spPr bwMode="auto">
          <a:xfrm>
            <a:off x="620615" y="5029043"/>
            <a:ext cx="2622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ym typeface="Euclid Symbol" panose="05050102010706020507" pitchFamily="18" charset="2"/>
              </a:rPr>
              <a:t>映射在下图中说明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2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126" y="2552006"/>
            <a:ext cx="4901363" cy="278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343" name="Rectangle 10"/>
              <p:cNvSpPr>
                <a:spLocks noChangeArrowheads="1"/>
              </p:cNvSpPr>
              <p:nvPr/>
            </p:nvSpPr>
            <p:spPr bwMode="auto">
              <a:xfrm>
                <a:off x="530356" y="2396697"/>
                <a:ext cx="4681538" cy="3779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zh-CN" altLang="en-US" sz="2400" dirty="0"/>
                  <a:t>此例表明算法在区间</a:t>
                </a:r>
                <a:r>
                  <a:rPr lang="en-US" altLang="zh-CN" sz="2400" dirty="0"/>
                  <a:t>(-</a:t>
                </a:r>
                <a:r>
                  <a:rPr lang="en-US" altLang="zh-CN" sz="2400" dirty="0">
                    <a:sym typeface="Euclid Symbol" panose="05050102010706020507" pitchFamily="18" charset="2"/>
                  </a:rPr>
                  <a:t>,2)</a:t>
                </a:r>
                <a:r>
                  <a:rPr lang="zh-CN" altLang="en-US" sz="2400" dirty="0">
                    <a:sym typeface="Euclid Symbol" panose="05050102010706020507" pitchFamily="18" charset="2"/>
                  </a:rPr>
                  <a:t>上</a:t>
                </a:r>
              </a:p>
              <a:p>
                <a:pPr eaLnBrk="1" hangingPunct="1">
                  <a:buFontTx/>
                  <a:buNone/>
                </a:pPr>
                <a:r>
                  <a:rPr lang="zh-CN" altLang="en-US" sz="2400" dirty="0">
                    <a:sym typeface="Euclid Symbol" panose="05050102010706020507" pitchFamily="18" charset="2"/>
                  </a:rPr>
                  <a:t>收敛于集  中点，而在</a:t>
                </a:r>
                <a:r>
                  <a:rPr lang="en-US" altLang="zh-CN" sz="2400" dirty="0">
                    <a:sym typeface="Euclid Symbol" panose="05050102010706020507" pitchFamily="18" charset="2"/>
                  </a:rPr>
                  <a:t>[2,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Euclid Symbol" panose="05050102010706020507" pitchFamily="18" charset="2"/>
                      </a:rPr>
                      <m:t>∞</m:t>
                    </m:r>
                  </m:oMath>
                </a14:m>
                <a:r>
                  <a:rPr lang="en-US" altLang="zh-CN" sz="2400" dirty="0">
                    <a:sym typeface="Euclid Symbol" panose="05050102010706020507" pitchFamily="18" charset="2"/>
                  </a:rPr>
                  <a:t>)</a:t>
                </a:r>
              </a:p>
              <a:p>
                <a:pPr eaLnBrk="1" hangingPunct="1">
                  <a:buFontTx/>
                  <a:buNone/>
                </a:pPr>
                <a:r>
                  <a:rPr lang="zh-CN" altLang="en-US" sz="2400" dirty="0">
                    <a:sym typeface="Euclid Symbol" panose="05050102010706020507" pitchFamily="18" charset="2"/>
                  </a:rPr>
                  <a:t>上却不收敛于 </a:t>
                </a:r>
                <a14:m>
                  <m:oMath xmlns:m="http://schemas.openxmlformats.org/officeDocument/2006/math">
                    <m:r>
                      <a:rPr lang="zh-CN" altLang="en-US" sz="2400" b="0" i="1" smtClean="0">
                        <a:latin typeface="Cambria Math" panose="02040503050406030204" pitchFamily="18" charset="0"/>
                        <a:sym typeface="Euclid Symbol" panose="05050102010706020507" pitchFamily="18" charset="2"/>
                      </a:rPr>
                      <m:t>𝛺</m:t>
                    </m:r>
                  </m:oMath>
                </a14:m>
                <a:r>
                  <a:rPr lang="zh-CN" altLang="en-US" sz="2400" dirty="0">
                    <a:sym typeface="Euclid Symbol" panose="05050102010706020507" pitchFamily="18" charset="2"/>
                  </a:rPr>
                  <a:t>中点，</a:t>
                </a:r>
              </a:p>
              <a:p>
                <a:pPr eaLnBrk="1" hangingPunct="1">
                  <a:buFontTx/>
                  <a:buNone/>
                </a:pPr>
                <a:r>
                  <a:rPr lang="zh-CN" altLang="en-US" sz="2400" dirty="0">
                    <a:sym typeface="Euclid Symbol" panose="05050102010706020507" pitchFamily="18" charset="2"/>
                  </a:rPr>
                  <a:t>从而算法</a:t>
                </a:r>
                <a:r>
                  <a:rPr lang="zh-CN" altLang="en-US" sz="2400" dirty="0"/>
                  <a:t>不是闭的</a:t>
                </a:r>
                <a:endParaRPr lang="en-US" altLang="zh-CN" sz="2400" dirty="0"/>
              </a:p>
              <a:p>
                <a:pPr eaLnBrk="1" hangingPunct="1">
                  <a:buFontTx/>
                  <a:buNone/>
                </a:pPr>
                <a:r>
                  <a:rPr lang="zh-CN" altLang="en-US" sz="2400" dirty="0"/>
                  <a:t>（取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=2−</m:t>
                        </m:r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sz="2400" dirty="0"/>
              </a:p>
              <a:p>
                <a:pPr eaLnBrk="1" hangingPunct="1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(3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altLang="zh-CN" sz="2400" dirty="0"/>
              </a:p>
              <a:p>
                <a:pPr eaLnBrk="1" hangingPunct="1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zh-CN" altLang="en-US" sz="2400" dirty="0"/>
                  <a:t>）</a:t>
                </a:r>
              </a:p>
            </p:txBody>
          </p:sp>
        </mc:Choice>
        <mc:Fallback xmlns="">
          <p:sp>
            <p:nvSpPr>
              <p:cNvPr id="14343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356" y="2396697"/>
                <a:ext cx="4681538" cy="3779368"/>
              </a:xfrm>
              <a:prstGeom prst="rect">
                <a:avLst/>
              </a:prstGeom>
              <a:blipFill>
                <a:blip r:embed="rId3"/>
                <a:stretch>
                  <a:fillRect l="-1953" t="-241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44" name="Rectangle 11"/>
              <p:cNvSpPr>
                <a:spLocks noChangeArrowheads="1"/>
              </p:cNvSpPr>
              <p:nvPr/>
            </p:nvSpPr>
            <p:spPr bwMode="auto">
              <a:xfrm>
                <a:off x="438985" y="1132618"/>
                <a:ext cx="8095415" cy="15696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>
                    <a:ea typeface="+mn-ea"/>
                    <a:cs typeface="Times New Roman" panose="02020603050405020304" pitchFamily="18" charset="0"/>
                  </a:rPr>
                  <a:t>显然对任何初始点</a:t>
                </a:r>
                <a:r>
                  <a:rPr lang="en-US" altLang="zh-CN" sz="2400" dirty="0"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baseline="-25000" dirty="0">
                    <a:ea typeface="+mn-ea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400" dirty="0">
                    <a:ea typeface="+mn-ea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 2, </a:t>
                </a:r>
                <a:r>
                  <a:rPr lang="zh-CN" altLang="en-US" sz="2400" dirty="0">
                    <a:ea typeface="+mn-ea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由映射</a:t>
                </a:r>
                <a:r>
                  <a:rPr lang="en-US" altLang="zh-CN" sz="2400" dirty="0">
                    <a:ea typeface="+mn-ea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A</a:t>
                </a:r>
                <a:r>
                  <a:rPr lang="zh-CN" altLang="en-US" sz="2400" dirty="0">
                    <a:ea typeface="+mn-ea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产生的任何序列都收敛于点</a:t>
                </a:r>
                <a:r>
                  <a:rPr lang="en-US" altLang="zh-CN" sz="2400" dirty="0">
                    <a:ea typeface="+mn-ea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x*=2 </a:t>
                </a:r>
                <a14:m>
                  <m:oMath xmlns:m="http://schemas.openxmlformats.org/officeDocument/2006/math">
                    <m:r>
                      <a:rPr lang="zh-CN" altLang="en-US" sz="2400" b="0" i="1" smtClean="0">
                        <a:latin typeface="Cambria Math" panose="02040503050406030204" pitchFamily="18" charset="0"/>
                        <a:sym typeface="Euclid Symbol" panose="05050102010706020507" pitchFamily="18" charset="2"/>
                      </a:rPr>
                      <m:t>∉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sym typeface="Euclid Symbol" panose="05050102010706020507" pitchFamily="18" charset="2"/>
                      </a:rPr>
                      <m:t>𝛺</m:t>
                    </m:r>
                  </m:oMath>
                </a14:m>
                <a:r>
                  <a:rPr lang="zh-CN" altLang="en-US" sz="2400" dirty="0">
                    <a:ea typeface="+mn-ea"/>
                    <a:cs typeface="Times New Roman" panose="02020603050405020304" pitchFamily="18" charset="0"/>
                  </a:rPr>
                  <a:t>对初始点</a:t>
                </a:r>
                <a:r>
                  <a:rPr lang="en-US" altLang="zh-CN" sz="2400" i="1" dirty="0"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baseline="-25000" dirty="0">
                    <a:ea typeface="+mn-ea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400" dirty="0">
                    <a:ea typeface="+mn-ea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&lt;2, </a:t>
                </a:r>
                <a:r>
                  <a:rPr lang="zh-CN" altLang="en-US" sz="2400" dirty="0">
                    <a:ea typeface="+mn-ea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由映射</a:t>
                </a:r>
                <a:r>
                  <a:rPr lang="en-US" altLang="zh-CN" sz="2400" dirty="0">
                    <a:ea typeface="+mn-ea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A</a:t>
                </a:r>
                <a:r>
                  <a:rPr lang="zh-CN" altLang="en-US" sz="2400" dirty="0">
                    <a:ea typeface="+mn-ea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产生的任何序列都收敛于点</a:t>
                </a:r>
                <a:r>
                  <a:rPr lang="en-US" altLang="zh-CN" sz="2400" i="1" dirty="0">
                    <a:ea typeface="+mn-ea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x*=</a:t>
                </a:r>
                <a:r>
                  <a:rPr lang="en-US" altLang="zh-CN" sz="2400" dirty="0">
                    <a:ea typeface="+mn-ea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1</a:t>
                </a:r>
                <a14:m>
                  <m:oMath xmlns:m="http://schemas.openxmlformats.org/officeDocument/2006/math"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+mn-ea"/>
                        <a:sym typeface="Euclid Symbol" panose="05050102010706020507" pitchFamily="18" charset="2"/>
                      </a:rPr>
                      <m:t>∈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+mn-ea"/>
                        <a:sym typeface="Euclid Symbol" panose="05050102010706020507" pitchFamily="18" charset="2"/>
                      </a:rPr>
                      <m:t>𝛺</m:t>
                    </m:r>
                  </m:oMath>
                </a14:m>
                <a:r>
                  <a:rPr lang="en-US" altLang="zh-CN" sz="2400" dirty="0">
                    <a:ea typeface="+mn-ea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 </a:t>
                </a:r>
              </a:p>
              <a:p>
                <a:pPr algn="dist"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400" dirty="0">
                  <a:ea typeface="+mn-ea"/>
                  <a:cs typeface="Times New Roman" panose="02020603050405020304" pitchFamily="18" charset="0"/>
                  <a:sym typeface="Euclid 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4344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985" y="1132618"/>
                <a:ext cx="8095415" cy="1569660"/>
              </a:xfrm>
              <a:prstGeom prst="rect">
                <a:avLst/>
              </a:prstGeom>
              <a:blipFill>
                <a:blip r:embed="rId4"/>
                <a:stretch>
                  <a:fillRect l="-1130" t="-583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67E958D4-772D-4B7F-B8B2-B74795310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48B7C6-1ED9-4ECE-B1C0-FA8357E80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5760" y="1042888"/>
            <a:ext cx="8207375" cy="1223962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0" dirty="0"/>
              <a:t>评注：上面例子表明初始点</a:t>
            </a:r>
            <a:r>
              <a:rPr lang="en-US" altLang="zh-CN" sz="2400" b="0" i="1" dirty="0"/>
              <a:t>x</a:t>
            </a:r>
            <a:r>
              <a:rPr lang="en-US" altLang="zh-CN" sz="2400" b="0" baseline="-25000" dirty="0"/>
              <a:t>1</a:t>
            </a:r>
            <a:r>
              <a:rPr lang="zh-CN" altLang="en-US" sz="2400" b="0" dirty="0"/>
              <a:t>选取的重要性：若</a:t>
            </a:r>
            <a:r>
              <a:rPr lang="en-US" altLang="zh-CN" sz="2400" b="0" i="1" dirty="0"/>
              <a:t>x</a:t>
            </a:r>
            <a:r>
              <a:rPr lang="en-US" altLang="zh-CN" sz="2400" b="0" baseline="-25000" dirty="0"/>
              <a:t>1</a:t>
            </a:r>
            <a:r>
              <a:rPr lang="en-US" altLang="zh-CN" sz="2400" b="0" dirty="0"/>
              <a:t> &lt;2</a:t>
            </a:r>
            <a:r>
              <a:rPr lang="zh-CN" altLang="en-US" sz="2400" b="0" dirty="0"/>
              <a:t>则达到收敛于</a:t>
            </a:r>
            <a:r>
              <a:rPr lang="zh-CN" altLang="en-US" b="0" dirty="0">
                <a:sym typeface="Euclid Symbol" panose="05050102010706020507" pitchFamily="18" charset="2"/>
              </a:rPr>
              <a:t></a:t>
            </a:r>
            <a:r>
              <a:rPr lang="zh-CN" altLang="en-US" sz="2400" b="0" dirty="0"/>
              <a:t>中的点，否则就不能实现。另外注意到，在上面的例子中都满足如下条件：</a:t>
            </a: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620896" y="5769661"/>
            <a:ext cx="74168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dirty="0"/>
              <a:t>但对任何</a:t>
            </a:r>
            <a:r>
              <a:rPr lang="en-US" altLang="zh-CN" sz="2400" i="1" dirty="0"/>
              <a:t>x</a:t>
            </a:r>
            <a:r>
              <a:rPr lang="en-US" altLang="zh-CN" sz="2400" baseline="-25000" dirty="0"/>
              <a:t>1</a:t>
            </a:r>
            <a:r>
              <a:rPr lang="en-US" altLang="zh-CN" sz="2000" dirty="0">
                <a:sym typeface="Euclid Symbol" panose="05050102010706020507" pitchFamily="18" charset="2"/>
              </a:rPr>
              <a:t></a:t>
            </a:r>
            <a:r>
              <a:rPr lang="en-US" altLang="zh-CN" sz="2400" dirty="0">
                <a:sym typeface="Euclid Symbol" panose="05050102010706020507" pitchFamily="18" charset="2"/>
              </a:rPr>
              <a:t>2</a:t>
            </a:r>
            <a:r>
              <a:rPr lang="zh-CN" altLang="en-US" sz="2400" dirty="0"/>
              <a:t>都不收敛于 </a:t>
            </a:r>
            <a:r>
              <a:rPr lang="en-US" altLang="zh-CN" sz="2400" i="1" dirty="0"/>
              <a:t>x</a:t>
            </a:r>
            <a:r>
              <a:rPr lang="en-US" altLang="zh-CN" sz="2400" dirty="0"/>
              <a:t>*=1 ,</a:t>
            </a:r>
            <a:r>
              <a:rPr lang="zh-CN" altLang="en-US" sz="2400" dirty="0"/>
              <a:t>即算法不是闭的</a:t>
            </a:r>
            <a:r>
              <a:rPr lang="zh-CN" altLang="en-US" sz="2000" dirty="0"/>
              <a:t>      </a:t>
            </a:r>
          </a:p>
        </p:txBody>
      </p:sp>
      <p:sp>
        <p:nvSpPr>
          <p:cNvPr id="15368" name="Rectangle 16"/>
          <p:cNvSpPr>
            <a:spLocks noChangeArrowheads="1"/>
          </p:cNvSpPr>
          <p:nvPr/>
        </p:nvSpPr>
        <p:spPr bwMode="auto">
          <a:xfrm>
            <a:off x="395288" y="2420937"/>
            <a:ext cx="8065318" cy="3165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，给出一可行点</a:t>
            </a:r>
            <a:r>
              <a:rPr lang="en-US" altLang="zh-CN" sz="2400" i="1" dirty="0" err="1"/>
              <a:t>x</a:t>
            </a:r>
            <a:r>
              <a:rPr lang="en-US" altLang="zh-CN" sz="2400" i="1" baseline="-25000" dirty="0" err="1"/>
              <a:t>k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Euclid Symbol" panose="05050102010706020507" pitchFamily="18" charset="2"/>
              </a:rPr>
              <a:t></a:t>
            </a:r>
            <a:r>
              <a:rPr lang="en-US" altLang="zh-CN" sz="2400" dirty="0"/>
              <a:t>1,</a:t>
            </a:r>
            <a:r>
              <a:rPr lang="zh-CN" altLang="en-US" sz="2400" dirty="0"/>
              <a:t>任何后继点</a:t>
            </a:r>
            <a:r>
              <a:rPr lang="en-US" altLang="zh-CN" sz="2400" i="1" dirty="0" err="1"/>
              <a:t>x</a:t>
            </a:r>
            <a:r>
              <a:rPr lang="en-US" altLang="zh-CN" sz="2400" i="1" baseline="-25000" dirty="0" err="1"/>
              <a:t>k</a:t>
            </a:r>
            <a:r>
              <a:rPr lang="zh-CN" altLang="en-US" sz="2400" dirty="0"/>
              <a:t>也是可行的</a:t>
            </a:r>
            <a:r>
              <a:rPr lang="en-US" altLang="zh-CN" sz="2400" dirty="0"/>
              <a:t>,</a:t>
            </a:r>
            <a:r>
              <a:rPr lang="zh-CN" altLang="en-US" sz="2400" dirty="0"/>
              <a:t>即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k+1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Euclid Symbol" panose="05050102010706020507" pitchFamily="18" charset="2"/>
              </a:rPr>
              <a:t></a:t>
            </a:r>
            <a:r>
              <a:rPr lang="en-US" altLang="zh-CN" sz="2400" dirty="0"/>
              <a:t>1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，给出一个不在解集</a:t>
            </a:r>
            <a:r>
              <a:rPr lang="zh-CN" altLang="en-US" sz="2400" dirty="0">
                <a:sym typeface="Euclid Symbol" panose="05050102010706020507" pitchFamily="18" charset="2"/>
              </a:rPr>
              <a:t>内的可行点</a:t>
            </a:r>
            <a:r>
              <a:rPr lang="en-US" altLang="zh-CN" sz="2400" i="1" dirty="0" err="1">
                <a:sym typeface="Euclid Symbol" panose="05050102010706020507" pitchFamily="18" charset="2"/>
              </a:rPr>
              <a:t>x</a:t>
            </a:r>
            <a:r>
              <a:rPr lang="en-US" altLang="zh-CN" sz="2400" baseline="-25000" dirty="0" err="1">
                <a:sym typeface="Euclid Symbol" panose="05050102010706020507" pitchFamily="18" charset="2"/>
              </a:rPr>
              <a:t>k</a:t>
            </a:r>
            <a:r>
              <a:rPr lang="en-US" altLang="zh-CN" sz="2400" dirty="0">
                <a:sym typeface="Euclid Symbol" panose="05050102010706020507" pitchFamily="18" charset="2"/>
              </a:rPr>
              <a:t>,</a:t>
            </a:r>
            <a:r>
              <a:rPr lang="zh-CN" altLang="en-US" sz="2400" dirty="0">
                <a:sym typeface="Euclid Symbol" panose="05050102010706020507" pitchFamily="18" charset="2"/>
              </a:rPr>
              <a:t>任何后继点</a:t>
            </a:r>
            <a:r>
              <a:rPr lang="en-US" altLang="zh-CN" sz="2400" i="1" dirty="0">
                <a:sym typeface="Euclid Symbol" panose="05050102010706020507" pitchFamily="18" charset="2"/>
              </a:rPr>
              <a:t>x</a:t>
            </a:r>
            <a:r>
              <a:rPr lang="en-US" altLang="zh-CN" sz="2400" baseline="-25000" dirty="0">
                <a:sym typeface="Euclid Symbol" panose="05050102010706020507" pitchFamily="18" charset="2"/>
              </a:rPr>
              <a:t>k+1</a:t>
            </a:r>
            <a:r>
              <a:rPr lang="zh-CN" altLang="en-US" sz="2400" dirty="0">
                <a:sym typeface="Euclid Symbol" panose="05050102010706020507" pitchFamily="18" charset="2"/>
              </a:rPr>
              <a:t>满足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ym typeface="Euclid Symbol" panose="05050102010706020507" pitchFamily="18" charset="2"/>
              </a:rPr>
              <a:t>                  </a:t>
            </a:r>
            <a:r>
              <a:rPr lang="en-US" altLang="zh-CN" sz="2400" i="1" dirty="0">
                <a:sym typeface="Euclid Symbol" panose="05050102010706020507" pitchFamily="18" charset="2"/>
              </a:rPr>
              <a:t>f</a:t>
            </a:r>
            <a:r>
              <a:rPr lang="en-US" altLang="zh-CN" sz="2400" dirty="0">
                <a:sym typeface="Euclid Symbol" panose="05050102010706020507" pitchFamily="18" charset="2"/>
              </a:rPr>
              <a:t>(</a:t>
            </a:r>
            <a:r>
              <a:rPr lang="en-US" altLang="zh-CN" sz="2400" i="1" dirty="0">
                <a:sym typeface="Euclid Symbol" panose="05050102010706020507" pitchFamily="18" charset="2"/>
              </a:rPr>
              <a:t>x</a:t>
            </a:r>
            <a:r>
              <a:rPr lang="en-US" altLang="zh-CN" sz="2400" baseline="-25000" dirty="0">
                <a:sym typeface="Euclid Symbol" panose="05050102010706020507" pitchFamily="18" charset="2"/>
              </a:rPr>
              <a:t>k+1</a:t>
            </a:r>
            <a:r>
              <a:rPr lang="en-US" altLang="zh-CN" sz="2400" dirty="0">
                <a:sym typeface="Euclid Symbol" panose="05050102010706020507" pitchFamily="18" charset="2"/>
              </a:rPr>
              <a:t>)&lt;</a:t>
            </a:r>
            <a:r>
              <a:rPr lang="en-US" altLang="zh-CN" sz="2400" i="1" dirty="0">
                <a:sym typeface="Euclid Symbol" panose="05050102010706020507" pitchFamily="18" charset="2"/>
              </a:rPr>
              <a:t>f </a:t>
            </a:r>
            <a:r>
              <a:rPr lang="en-US" altLang="zh-CN" sz="2400" dirty="0">
                <a:sym typeface="Euclid Symbol" panose="05050102010706020507" pitchFamily="18" charset="2"/>
              </a:rPr>
              <a:t>(</a:t>
            </a:r>
            <a:r>
              <a:rPr lang="en-US" altLang="zh-CN" sz="2400" i="1" dirty="0" err="1">
                <a:sym typeface="Euclid Symbol" panose="05050102010706020507" pitchFamily="18" charset="2"/>
              </a:rPr>
              <a:t>x</a:t>
            </a:r>
            <a:r>
              <a:rPr lang="en-US" altLang="zh-CN" sz="2400" baseline="-25000" dirty="0" err="1">
                <a:sym typeface="Euclid Symbol" panose="05050102010706020507" pitchFamily="18" charset="2"/>
              </a:rPr>
              <a:t>k</a:t>
            </a:r>
            <a:r>
              <a:rPr lang="en-US" altLang="zh-CN" sz="2400" dirty="0">
                <a:sym typeface="Euclid Symbol" panose="05050102010706020507" pitchFamily="18" charset="2"/>
              </a:rPr>
              <a:t>), </a:t>
            </a:r>
            <a:r>
              <a:rPr lang="zh-CN" altLang="en-US" sz="2400" dirty="0">
                <a:sym typeface="Euclid Symbol" panose="05050102010706020507" pitchFamily="18" charset="2"/>
              </a:rPr>
              <a:t>其中</a:t>
            </a:r>
            <a:r>
              <a:rPr lang="en-US" altLang="zh-CN" sz="2400" i="1" dirty="0">
                <a:sym typeface="Euclid Symbol" panose="05050102010706020507" pitchFamily="18" charset="2"/>
              </a:rPr>
              <a:t>f</a:t>
            </a:r>
            <a:r>
              <a:rPr lang="en-US" altLang="zh-CN" sz="2400" dirty="0">
                <a:sym typeface="Euclid Symbol" panose="05050102010706020507" pitchFamily="18" charset="2"/>
              </a:rPr>
              <a:t>(</a:t>
            </a:r>
            <a:r>
              <a:rPr lang="en-US" altLang="zh-CN" sz="2400" i="1" dirty="0">
                <a:sym typeface="Euclid Symbol" panose="05050102010706020507" pitchFamily="18" charset="2"/>
              </a:rPr>
              <a:t>x</a:t>
            </a:r>
            <a:r>
              <a:rPr lang="en-US" altLang="zh-CN" sz="2400" dirty="0">
                <a:sym typeface="Euclid Symbol" panose="05050102010706020507" pitchFamily="18" charset="2"/>
              </a:rPr>
              <a:t>)=</a:t>
            </a:r>
            <a:r>
              <a:rPr lang="en-US" altLang="zh-CN" sz="2400" i="1" dirty="0">
                <a:sym typeface="Euclid Symbol" panose="05050102010706020507" pitchFamily="18" charset="2"/>
              </a:rPr>
              <a:t>x</a:t>
            </a:r>
            <a:r>
              <a:rPr lang="en-US" altLang="zh-CN" sz="2400" baseline="30000" dirty="0">
                <a:sym typeface="Euclid Symbol" panose="05050102010706020507" pitchFamily="18" charset="2"/>
              </a:rPr>
              <a:t>2</a:t>
            </a:r>
            <a:r>
              <a:rPr lang="en-US" altLang="zh-CN" sz="2400" dirty="0">
                <a:sym typeface="Euclid Symbol" panose="05050102010706020507" pitchFamily="18" charset="2"/>
              </a:rPr>
              <a:t>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ym typeface="Euclid Symbol" panose="05050102010706020507" pitchFamily="18" charset="2"/>
              </a:rPr>
              <a:t>     </a:t>
            </a:r>
            <a:r>
              <a:rPr lang="zh-CN" altLang="en-US" sz="2400" dirty="0">
                <a:sym typeface="Euclid Symbol" panose="05050102010706020507" pitchFamily="18" charset="2"/>
              </a:rPr>
              <a:t>即目标函数严格下降。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ym typeface="Euclid Symbol" panose="05050102010706020507" pitchFamily="18" charset="2"/>
              </a:rPr>
              <a:t>3</a:t>
            </a:r>
            <a:r>
              <a:rPr lang="zh-CN" altLang="en-US" sz="2400" dirty="0">
                <a:sym typeface="Euclid Symbol" panose="05050102010706020507" pitchFamily="18" charset="2"/>
              </a:rPr>
              <a:t>，给出</a:t>
            </a:r>
            <a:r>
              <a:rPr lang="zh-CN" altLang="en-US" sz="2400" dirty="0"/>
              <a:t>一在</a:t>
            </a:r>
            <a:r>
              <a:rPr lang="zh-CN" altLang="en-US" sz="2400" dirty="0">
                <a:sym typeface="Euclid Symbol" panose="05050102010706020507" pitchFamily="18" charset="2"/>
              </a:rPr>
              <a:t>内的</a:t>
            </a:r>
            <a:r>
              <a:rPr lang="zh-CN" altLang="en-US" sz="2400" dirty="0"/>
              <a:t>可行点</a:t>
            </a:r>
            <a:r>
              <a:rPr lang="en-US" altLang="zh-CN" sz="2400" i="1" dirty="0" err="1"/>
              <a:t>x</a:t>
            </a:r>
            <a:r>
              <a:rPr lang="en-US" altLang="zh-CN" sz="2400" baseline="-25000" dirty="0" err="1"/>
              <a:t>k</a:t>
            </a:r>
            <a:r>
              <a:rPr lang="en-US" altLang="zh-CN" sz="2400" dirty="0">
                <a:sym typeface="Euclid Symbol" panose="05050102010706020507" pitchFamily="18" charset="2"/>
              </a:rPr>
              <a:t>(=</a:t>
            </a:r>
            <a:r>
              <a:rPr lang="en-US" altLang="zh-CN" sz="2400" dirty="0"/>
              <a:t>1),</a:t>
            </a:r>
            <a:r>
              <a:rPr lang="zh-CN" altLang="en-US" sz="2400" dirty="0"/>
              <a:t>任何后继点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k+1</a:t>
            </a:r>
            <a:r>
              <a:rPr lang="zh-CN" altLang="en-US" sz="2400" dirty="0"/>
              <a:t>也在</a:t>
            </a:r>
            <a:r>
              <a:rPr lang="zh-CN" altLang="en-US" sz="2400" dirty="0">
                <a:sym typeface="Euclid Symbol" panose="05050102010706020507" pitchFamily="18" charset="2"/>
              </a:rPr>
              <a:t>内</a:t>
            </a:r>
            <a:r>
              <a:rPr lang="en-US" altLang="zh-CN" sz="2400" dirty="0"/>
              <a:t>,</a:t>
            </a:r>
            <a:r>
              <a:rPr lang="zh-CN" altLang="en-US" sz="2400" dirty="0"/>
              <a:t>即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/>
              <a:t>     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k+1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Euclid Symbol" panose="05050102010706020507" pitchFamily="18" charset="2"/>
              </a:rPr>
              <a:t>=</a:t>
            </a:r>
            <a:r>
              <a:rPr lang="en-US" altLang="zh-CN" sz="2400" dirty="0"/>
              <a:t>1</a:t>
            </a:r>
            <a:endParaRPr lang="zh-CN" altLang="zh-CN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22A32D4-AC7B-421E-A24A-19C1F5D56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8.1.5 </a:t>
            </a:r>
            <a:r>
              <a:rPr lang="zh-CN" altLang="en-US" dirty="0"/>
              <a:t>合成映射</a:t>
            </a:r>
          </a:p>
        </p:txBody>
      </p:sp>
      <p:graphicFrame>
        <p:nvGraphicFramePr>
          <p:cNvPr id="16391" name="Object 1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278987875"/>
              </p:ext>
            </p:extLst>
          </p:nvPr>
        </p:nvGraphicFramePr>
        <p:xfrm>
          <a:off x="510139" y="1046848"/>
          <a:ext cx="7920038" cy="221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5" name="Equation" r:id="rId3" imgW="3809880" imgH="1066680" progId="Equation.DSMT4">
                  <p:embed/>
                </p:oleObj>
              </mc:Choice>
              <mc:Fallback>
                <p:oleObj name="Equation" r:id="rId3" imgW="3809880" imgH="1066680" progId="Equation.DSMT4">
                  <p:embed/>
                  <p:pic>
                    <p:nvPicPr>
                      <p:cNvPr id="1639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139" y="1046848"/>
                        <a:ext cx="7920038" cy="221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2" name="Group 42"/>
          <p:cNvGrpSpPr>
            <a:grpSpLocks/>
          </p:cNvGrpSpPr>
          <p:nvPr/>
        </p:nvGrpSpPr>
        <p:grpSpPr bwMode="auto">
          <a:xfrm>
            <a:off x="2627313" y="2636838"/>
            <a:ext cx="5903912" cy="3743325"/>
            <a:chOff x="1383" y="1797"/>
            <a:chExt cx="3719" cy="2358"/>
          </a:xfrm>
        </p:grpSpPr>
        <p:grpSp>
          <p:nvGrpSpPr>
            <p:cNvPr id="16393" name="Group 36"/>
            <p:cNvGrpSpPr>
              <a:grpSpLocks/>
            </p:cNvGrpSpPr>
            <p:nvPr/>
          </p:nvGrpSpPr>
          <p:grpSpPr bwMode="auto">
            <a:xfrm>
              <a:off x="1383" y="1797"/>
              <a:ext cx="3719" cy="2358"/>
              <a:chOff x="1383" y="1797"/>
              <a:chExt cx="3719" cy="2358"/>
            </a:xfrm>
          </p:grpSpPr>
          <p:sp>
            <p:nvSpPr>
              <p:cNvPr id="16399" name="Oval 17"/>
              <p:cNvSpPr>
                <a:spLocks noChangeArrowheads="1"/>
              </p:cNvSpPr>
              <p:nvPr/>
            </p:nvSpPr>
            <p:spPr bwMode="auto">
              <a:xfrm>
                <a:off x="1610" y="2478"/>
                <a:ext cx="1134" cy="725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solidFill>
                      <a:srgbClr val="FF0000"/>
                    </a:solidFill>
                  </a:rPr>
                  <a:t>x</a:t>
                </a:r>
              </a:p>
            </p:txBody>
          </p:sp>
          <p:sp>
            <p:nvSpPr>
              <p:cNvPr id="16400" name="Oval 18"/>
              <p:cNvSpPr>
                <a:spLocks noChangeArrowheads="1"/>
              </p:cNvSpPr>
              <p:nvPr/>
            </p:nvSpPr>
            <p:spPr bwMode="auto">
              <a:xfrm>
                <a:off x="3696" y="1797"/>
                <a:ext cx="1406" cy="1044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>
                    <a:solidFill>
                      <a:schemeClr val="tx2"/>
                    </a:solidFill>
                  </a:rPr>
                  <a:t>         </a:t>
                </a:r>
              </a:p>
            </p:txBody>
          </p:sp>
          <p:sp>
            <p:nvSpPr>
              <p:cNvPr id="16401" name="Oval 19"/>
              <p:cNvSpPr>
                <a:spLocks noChangeArrowheads="1"/>
              </p:cNvSpPr>
              <p:nvPr/>
            </p:nvSpPr>
            <p:spPr bwMode="auto">
              <a:xfrm>
                <a:off x="3878" y="1933"/>
                <a:ext cx="953" cy="544"/>
              </a:xfrm>
              <a:prstGeom prst="ellipse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 b="1">
                  <a:solidFill>
                    <a:schemeClr val="tx2"/>
                  </a:solidFill>
                </a:endParaRPr>
              </a:p>
            </p:txBody>
          </p:sp>
          <p:sp>
            <p:nvSpPr>
              <p:cNvPr id="16402" name="Oval 20"/>
              <p:cNvSpPr>
                <a:spLocks noChangeArrowheads="1"/>
              </p:cNvSpPr>
              <p:nvPr/>
            </p:nvSpPr>
            <p:spPr bwMode="auto">
              <a:xfrm>
                <a:off x="1973" y="2795"/>
                <a:ext cx="45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6403" name="Oval 21"/>
              <p:cNvSpPr>
                <a:spLocks noChangeArrowheads="1"/>
              </p:cNvSpPr>
              <p:nvPr/>
            </p:nvSpPr>
            <p:spPr bwMode="auto">
              <a:xfrm>
                <a:off x="4286" y="2296"/>
                <a:ext cx="45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6404" name="Rectangle 22"/>
              <p:cNvSpPr>
                <a:spLocks noChangeArrowheads="1"/>
              </p:cNvSpPr>
              <p:nvPr/>
            </p:nvSpPr>
            <p:spPr bwMode="auto">
              <a:xfrm>
                <a:off x="1383" y="2840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>
                    <a:solidFill>
                      <a:schemeClr val="tx2"/>
                    </a:solidFill>
                  </a:rPr>
                  <a:t>X</a:t>
                </a:r>
              </a:p>
            </p:txBody>
          </p:sp>
          <p:sp>
            <p:nvSpPr>
              <p:cNvPr id="16405" name="Rectangle 23"/>
              <p:cNvSpPr>
                <a:spLocks noChangeArrowheads="1"/>
              </p:cNvSpPr>
              <p:nvPr/>
            </p:nvSpPr>
            <p:spPr bwMode="auto">
              <a:xfrm>
                <a:off x="4558" y="2523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>
                    <a:solidFill>
                      <a:schemeClr val="tx2"/>
                    </a:solidFill>
                  </a:rPr>
                  <a:t>Y</a:t>
                </a:r>
              </a:p>
            </p:txBody>
          </p:sp>
          <p:sp>
            <p:nvSpPr>
              <p:cNvPr id="16406" name="Oval 24"/>
              <p:cNvSpPr>
                <a:spLocks noChangeArrowheads="1"/>
              </p:cNvSpPr>
              <p:nvPr/>
            </p:nvSpPr>
            <p:spPr bwMode="auto">
              <a:xfrm>
                <a:off x="2699" y="3067"/>
                <a:ext cx="1996" cy="1088"/>
              </a:xfrm>
              <a:prstGeom prst="ellipse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6407" name="Rectangle 25"/>
              <p:cNvSpPr>
                <a:spLocks noChangeArrowheads="1"/>
              </p:cNvSpPr>
              <p:nvPr/>
            </p:nvSpPr>
            <p:spPr bwMode="auto">
              <a:xfrm>
                <a:off x="2880" y="3657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>
                    <a:solidFill>
                      <a:schemeClr val="tx2"/>
                    </a:solidFill>
                  </a:rPr>
                  <a:t>Z</a:t>
                </a:r>
              </a:p>
            </p:txBody>
          </p:sp>
          <p:sp>
            <p:nvSpPr>
              <p:cNvPr id="16408" name="Oval 27"/>
              <p:cNvSpPr>
                <a:spLocks noChangeArrowheads="1"/>
              </p:cNvSpPr>
              <p:nvPr/>
            </p:nvSpPr>
            <p:spPr bwMode="auto">
              <a:xfrm>
                <a:off x="3061" y="3249"/>
                <a:ext cx="1225" cy="726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6409" name="Oval 26"/>
              <p:cNvSpPr>
                <a:spLocks noChangeArrowheads="1"/>
              </p:cNvSpPr>
              <p:nvPr/>
            </p:nvSpPr>
            <p:spPr bwMode="auto">
              <a:xfrm>
                <a:off x="3515" y="3339"/>
                <a:ext cx="726" cy="499"/>
              </a:xfrm>
              <a:prstGeom prst="ellipse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6410" name="Freeform 29"/>
              <p:cNvSpPr>
                <a:spLocks/>
              </p:cNvSpPr>
              <p:nvPr/>
            </p:nvSpPr>
            <p:spPr bwMode="auto">
              <a:xfrm>
                <a:off x="2018" y="2205"/>
                <a:ext cx="2087" cy="590"/>
              </a:xfrm>
              <a:custGeom>
                <a:avLst/>
                <a:gdLst>
                  <a:gd name="T0" fmla="*/ 0 w 2087"/>
                  <a:gd name="T1" fmla="*/ 590 h 590"/>
                  <a:gd name="T2" fmla="*/ 817 w 2087"/>
                  <a:gd name="T3" fmla="*/ 136 h 590"/>
                  <a:gd name="T4" fmla="*/ 2087 w 2087"/>
                  <a:gd name="T5" fmla="*/ 0 h 590"/>
                  <a:gd name="T6" fmla="*/ 0 60000 65536"/>
                  <a:gd name="T7" fmla="*/ 0 60000 65536"/>
                  <a:gd name="T8" fmla="*/ 0 60000 65536"/>
                  <a:gd name="T9" fmla="*/ 0 w 2087"/>
                  <a:gd name="T10" fmla="*/ 0 h 590"/>
                  <a:gd name="T11" fmla="*/ 2087 w 2087"/>
                  <a:gd name="T12" fmla="*/ 590 h 5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87" h="590">
                    <a:moveTo>
                      <a:pt x="0" y="590"/>
                    </a:moveTo>
                    <a:cubicBezTo>
                      <a:pt x="234" y="412"/>
                      <a:pt x="469" y="234"/>
                      <a:pt x="817" y="136"/>
                    </a:cubicBezTo>
                    <a:cubicBezTo>
                      <a:pt x="1165" y="38"/>
                      <a:pt x="1868" y="23"/>
                      <a:pt x="2087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1" name="Line 31"/>
              <p:cNvSpPr>
                <a:spLocks noChangeShapeType="1"/>
              </p:cNvSpPr>
              <p:nvPr/>
            </p:nvSpPr>
            <p:spPr bwMode="auto">
              <a:xfrm flipV="1">
                <a:off x="2562" y="2386"/>
                <a:ext cx="136" cy="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2" name="Rectangle 32"/>
              <p:cNvSpPr>
                <a:spLocks noChangeArrowheads="1"/>
              </p:cNvSpPr>
              <p:nvPr/>
            </p:nvSpPr>
            <p:spPr bwMode="auto">
              <a:xfrm>
                <a:off x="4241" y="1917"/>
                <a:ext cx="46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solidFill>
                      <a:srgbClr val="FF0000"/>
                    </a:solidFill>
                  </a:rPr>
                  <a:t>B</a:t>
                </a:r>
                <a:r>
                  <a:rPr lang="en-US" altLang="zh-CN" sz="2400" b="1">
                    <a:solidFill>
                      <a:srgbClr val="FF0000"/>
                    </a:solidFill>
                  </a:rPr>
                  <a:t>(</a:t>
                </a:r>
                <a:r>
                  <a:rPr lang="en-US" altLang="zh-CN" sz="2400" b="1" i="1">
                    <a:solidFill>
                      <a:srgbClr val="FF0000"/>
                    </a:solidFill>
                  </a:rPr>
                  <a:t>x</a:t>
                </a:r>
                <a:r>
                  <a:rPr lang="en-US" altLang="zh-CN" sz="2400" b="1">
                    <a:solidFill>
                      <a:srgbClr val="FF0000"/>
                    </a:solidFill>
                  </a:rPr>
                  <a:t>)</a:t>
                </a:r>
              </a:p>
            </p:txBody>
          </p:sp>
          <p:sp>
            <p:nvSpPr>
              <p:cNvPr id="16413" name="Rectangle 33"/>
              <p:cNvSpPr>
                <a:spLocks noChangeArrowheads="1"/>
              </p:cNvSpPr>
              <p:nvPr/>
            </p:nvSpPr>
            <p:spPr bwMode="auto">
              <a:xfrm>
                <a:off x="4176" y="2235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solidFill>
                      <a:schemeClr val="accent2"/>
                    </a:solidFill>
                  </a:rPr>
                  <a:t>y</a:t>
                </a:r>
              </a:p>
            </p:txBody>
          </p:sp>
          <p:sp>
            <p:nvSpPr>
              <p:cNvPr id="16414" name="Rectangle 34"/>
              <p:cNvSpPr>
                <a:spLocks noChangeArrowheads="1"/>
              </p:cNvSpPr>
              <p:nvPr/>
            </p:nvSpPr>
            <p:spPr bwMode="auto">
              <a:xfrm>
                <a:off x="3016" y="3475"/>
                <a:ext cx="5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solidFill>
                      <a:srgbClr val="FF0000"/>
                    </a:solidFill>
                  </a:rPr>
                  <a:t>A </a:t>
                </a:r>
                <a:r>
                  <a:rPr lang="en-US" altLang="zh-CN" sz="2400" b="1">
                    <a:solidFill>
                      <a:srgbClr val="FF0000"/>
                    </a:solidFill>
                  </a:rPr>
                  <a:t>(</a:t>
                </a:r>
                <a:r>
                  <a:rPr lang="en-US" altLang="zh-CN" sz="2400" b="1" i="1">
                    <a:solidFill>
                      <a:srgbClr val="FF0000"/>
                    </a:solidFill>
                  </a:rPr>
                  <a:t>x</a:t>
                </a:r>
                <a:r>
                  <a:rPr lang="en-US" altLang="zh-CN" sz="2400" b="1">
                    <a:solidFill>
                      <a:srgbClr val="FF0000"/>
                    </a:solidFill>
                  </a:rPr>
                  <a:t>)</a:t>
                </a:r>
              </a:p>
            </p:txBody>
          </p:sp>
          <p:sp>
            <p:nvSpPr>
              <p:cNvPr id="16415" name="Rectangle 35"/>
              <p:cNvSpPr>
                <a:spLocks noChangeArrowheads="1"/>
              </p:cNvSpPr>
              <p:nvPr/>
            </p:nvSpPr>
            <p:spPr bwMode="auto">
              <a:xfrm>
                <a:off x="3696" y="3430"/>
                <a:ext cx="45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solidFill>
                      <a:schemeClr val="accent2"/>
                    </a:solidFill>
                  </a:rPr>
                  <a:t>C(y)</a:t>
                </a:r>
              </a:p>
            </p:txBody>
          </p:sp>
        </p:grpSp>
        <p:cxnSp>
          <p:nvCxnSpPr>
            <p:cNvPr id="16394" name="AutoShape 37"/>
            <p:cNvCxnSpPr>
              <a:cxnSpLocks noChangeShapeType="1"/>
              <a:endCxn id="16415" idx="0"/>
            </p:cNvCxnSpPr>
            <p:nvPr/>
          </p:nvCxnSpPr>
          <p:spPr bwMode="auto">
            <a:xfrm rot="5400000">
              <a:off x="3584" y="2682"/>
              <a:ext cx="1089" cy="407"/>
            </a:xfrm>
            <a:prstGeom prst="curvedConnector3">
              <a:avLst>
                <a:gd name="adj1" fmla="val 49954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5" name="AutoShape 38"/>
            <p:cNvCxnSpPr>
              <a:cxnSpLocks noChangeShapeType="1"/>
              <a:stCxn id="16410" idx="0"/>
              <a:endCxn id="16414" idx="0"/>
            </p:cNvCxnSpPr>
            <p:nvPr/>
          </p:nvCxnSpPr>
          <p:spPr bwMode="auto">
            <a:xfrm rot="10800000" flipH="1" flipV="1">
              <a:off x="2018" y="2795"/>
              <a:ext cx="1256" cy="680"/>
            </a:xfrm>
            <a:prstGeom prst="curvedConnector4">
              <a:avLst>
                <a:gd name="adj1" fmla="val -1146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396" name="Rectangle 39"/>
            <p:cNvSpPr>
              <a:spLocks noChangeArrowheads="1"/>
            </p:cNvSpPr>
            <p:nvPr/>
          </p:nvSpPr>
          <p:spPr bwMode="auto">
            <a:xfrm>
              <a:off x="2774" y="201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16397" name="Rectangle 40"/>
            <p:cNvSpPr>
              <a:spLocks noChangeArrowheads="1"/>
            </p:cNvSpPr>
            <p:nvPr/>
          </p:nvSpPr>
          <p:spPr bwMode="auto">
            <a:xfrm>
              <a:off x="2562" y="3022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16398" name="Rectangle 41"/>
            <p:cNvSpPr>
              <a:spLocks noChangeArrowheads="1"/>
            </p:cNvSpPr>
            <p:nvPr/>
          </p:nvSpPr>
          <p:spPr bwMode="auto">
            <a:xfrm>
              <a:off x="4059" y="2795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C</a:t>
              </a:r>
            </a:p>
          </p:txBody>
        </p:sp>
      </p:grp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75314"/>
              </p:ext>
            </p:extLst>
          </p:nvPr>
        </p:nvGraphicFramePr>
        <p:xfrm>
          <a:off x="349250" y="1119188"/>
          <a:ext cx="8443913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6" name="Equation" r:id="rId3" imgW="8661240" imgH="1523880" progId="Equation.DSMT4">
                  <p:embed/>
                </p:oleObj>
              </mc:Choice>
              <mc:Fallback>
                <p:oleObj name="Equation" r:id="rId3" imgW="8661240" imgH="1523880" progId="Equation.DSMT4">
                  <p:embed/>
                  <p:pic>
                    <p:nvPicPr>
                      <p:cNvPr id="1741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" y="1119188"/>
                        <a:ext cx="8443913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1A77DF1-5B20-42D7-B74F-1DD5E9487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15367" name="Object 7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50934675"/>
              </p:ext>
            </p:extLst>
          </p:nvPr>
        </p:nvGraphicFramePr>
        <p:xfrm>
          <a:off x="496904" y="3216275"/>
          <a:ext cx="8054975" cy="275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7" name="Equation" r:id="rId5" imgW="6311880" imgH="2158920" progId="Equation.DSMT4">
                  <p:embed/>
                </p:oleObj>
              </mc:Choice>
              <mc:Fallback>
                <p:oleObj name="Equation" r:id="rId5" imgW="6311880" imgH="2158920" progId="Equation.DSMT4">
                  <p:embed/>
                  <p:pic>
                    <p:nvPicPr>
                      <p:cNvPr id="153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904" y="3216275"/>
                        <a:ext cx="8054975" cy="275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0DB01C-E3F5-4F0B-8968-7E343A7B8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18437" name="Object 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55759097"/>
              </p:ext>
            </p:extLst>
          </p:nvPr>
        </p:nvGraphicFramePr>
        <p:xfrm>
          <a:off x="690430" y="1119973"/>
          <a:ext cx="8135937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0" name="Equation" r:id="rId3" imgW="3644900" imgH="914400" progId="Equation.DSMT4">
                  <p:embed/>
                </p:oleObj>
              </mc:Choice>
              <mc:Fallback>
                <p:oleObj name="Equation" r:id="rId3" imgW="3644900" imgH="914400" progId="Equation.DSMT4">
                  <p:embed/>
                  <p:pic>
                    <p:nvPicPr>
                      <p:cNvPr id="1843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430" y="1119973"/>
                        <a:ext cx="8135937" cy="204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8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995293087"/>
              </p:ext>
            </p:extLst>
          </p:nvPr>
        </p:nvGraphicFramePr>
        <p:xfrm>
          <a:off x="770020" y="3486752"/>
          <a:ext cx="8064500" cy="197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1" name="Equation" r:id="rId5" imgW="3721100" imgH="914400" progId="Equation.DSMT4">
                  <p:embed/>
                </p:oleObj>
              </mc:Choice>
              <mc:Fallback>
                <p:oleObj name="Equation" r:id="rId5" imgW="3721100" imgH="914400" progId="Equation.DSMT4">
                  <p:embed/>
                  <p:pic>
                    <p:nvPicPr>
                      <p:cNvPr id="1843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020" y="3486752"/>
                        <a:ext cx="8064500" cy="197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3600" dirty="0"/>
              <a:t>8 </a:t>
            </a:r>
            <a:r>
              <a:rPr lang="zh-CN" altLang="en-US" sz="3600" dirty="0"/>
              <a:t>算法</a:t>
            </a:r>
            <a:r>
              <a:rPr lang="en-US" altLang="zh-CN" sz="3600" dirty="0"/>
              <a:t>-</a:t>
            </a:r>
            <a:r>
              <a:rPr lang="zh-CN" altLang="en-US" sz="3600" dirty="0"/>
              <a:t>收敛定理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90888" y="1177140"/>
            <a:ext cx="37338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8.2.1</a:t>
            </a:r>
            <a:r>
              <a:rPr lang="zh-CN" altLang="en-US" sz="2800" dirty="0"/>
              <a:t>收敛定理</a:t>
            </a:r>
          </a:p>
        </p:txBody>
      </p:sp>
      <p:graphicFrame>
        <p:nvGraphicFramePr>
          <p:cNvPr id="1946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60962"/>
              </p:ext>
            </p:extLst>
          </p:nvPr>
        </p:nvGraphicFramePr>
        <p:xfrm>
          <a:off x="394030" y="1731076"/>
          <a:ext cx="8559800" cy="424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7" name="Equation" r:id="rId3" imgW="8966160" imgH="4444920" progId="Equation.DSMT4">
                  <p:embed/>
                </p:oleObj>
              </mc:Choice>
              <mc:Fallback>
                <p:oleObj name="Equation" r:id="rId3" imgW="8966160" imgH="4444920" progId="Equation.DSMT4">
                  <p:embed/>
                  <p:pic>
                    <p:nvPicPr>
                      <p:cNvPr id="1946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30" y="1731076"/>
                        <a:ext cx="8559800" cy="424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6" name="Object 5"/>
          <p:cNvGraphicFramePr>
            <a:graphicFrameLocks noChangeAspect="1"/>
          </p:cNvGraphicFramePr>
          <p:nvPr/>
        </p:nvGraphicFramePr>
        <p:xfrm>
          <a:off x="368300" y="1196975"/>
          <a:ext cx="8164513" cy="407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" name="Equation" r:id="rId3" imgW="9004300" imgH="4495800" progId="Equation.DSMT4">
                  <p:embed/>
                </p:oleObj>
              </mc:Choice>
              <mc:Fallback>
                <p:oleObj name="Equation" r:id="rId3" imgW="9004300" imgH="4495800" progId="Equation.DSMT4">
                  <p:embed/>
                  <p:pic>
                    <p:nvPicPr>
                      <p:cNvPr id="2048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" y="1196975"/>
                        <a:ext cx="8164513" cy="407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F8236A7-A9ED-49E1-BDC4-3C93ECBF1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457348"/>
              </p:ext>
            </p:extLst>
          </p:nvPr>
        </p:nvGraphicFramePr>
        <p:xfrm>
          <a:off x="689728" y="1181100"/>
          <a:ext cx="6883400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5" name="Equation" r:id="rId3" imgW="6883400" imgH="4495800" progId="Equation.DSMT4">
                  <p:embed/>
                </p:oleObj>
              </mc:Choice>
              <mc:Fallback>
                <p:oleObj name="Equation" r:id="rId3" imgW="6883400" imgH="4495800" progId="Equation.DSMT4">
                  <p:embed/>
                  <p:pic>
                    <p:nvPicPr>
                      <p:cNvPr id="215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728" y="1181100"/>
                        <a:ext cx="6883400" cy="449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F7FE4F0-6059-4598-AF61-3670B70D4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4" name="Object 5"/>
          <p:cNvGraphicFramePr>
            <a:graphicFrameLocks noChangeAspect="1"/>
          </p:cNvGraphicFramePr>
          <p:nvPr/>
        </p:nvGraphicFramePr>
        <p:xfrm>
          <a:off x="468313" y="1125538"/>
          <a:ext cx="83693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9" name="Equation" r:id="rId3" imgW="8369300" imgH="3429000" progId="Equation.DSMT4">
                  <p:embed/>
                </p:oleObj>
              </mc:Choice>
              <mc:Fallback>
                <p:oleObj name="Equation" r:id="rId3" imgW="8369300" imgH="3429000" progId="Equation.DSMT4">
                  <p:embed/>
                  <p:pic>
                    <p:nvPicPr>
                      <p:cNvPr id="2253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125538"/>
                        <a:ext cx="8369300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A61D6F3-AAAC-4BDE-BD61-F374D36DA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8" name="Object 5"/>
          <p:cNvGraphicFramePr>
            <a:graphicFrameLocks noChangeAspect="1"/>
          </p:cNvGraphicFramePr>
          <p:nvPr/>
        </p:nvGraphicFramePr>
        <p:xfrm>
          <a:off x="827088" y="1052513"/>
          <a:ext cx="6629400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3" name="Equation" r:id="rId3" imgW="6629400" imgH="4343400" progId="Equation.DSMT4">
                  <p:embed/>
                </p:oleObj>
              </mc:Choice>
              <mc:Fallback>
                <p:oleObj name="Equation" r:id="rId3" imgW="6629400" imgH="4343400" progId="Equation.DSMT4">
                  <p:embed/>
                  <p:pic>
                    <p:nvPicPr>
                      <p:cNvPr id="2355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052513"/>
                        <a:ext cx="6629400" cy="434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22BFC88-2F4F-4ACA-AF07-B9F1D465D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3" name="Rectangle 10"/>
          <p:cNvSpPr>
            <a:spLocks noChangeArrowheads="1"/>
          </p:cNvSpPr>
          <p:nvPr/>
        </p:nvSpPr>
        <p:spPr bwMode="auto">
          <a:xfrm>
            <a:off x="468313" y="1219994"/>
            <a:ext cx="7775575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zh-CN" altLang="en-US" sz="2400"/>
              <a:t>正如在收敛定理中所指出，若我们达到解集</a:t>
            </a:r>
            <a:r>
              <a:rPr lang="zh-CN" altLang="en-US" sz="2400">
                <a:sym typeface="Euclid Symbol" panose="05050102010706020507" pitchFamily="18" charset="2"/>
              </a:rPr>
              <a:t>中的一个点时，就终止算法。然而，在大多数情形下，收敛于中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zh-CN" sz="2400">
                <a:sym typeface="Euclid Symbol" panose="05050102010706020507" pitchFamily="18" charset="2"/>
              </a:rPr>
              <a:t>的点仅仅出现在极限意义上，因此我们必须依靠终止迭代过程的某些实际规则，下面给出一些常用的终止规则。这里0和正整数N是预先给定的。</a:t>
            </a:r>
          </a:p>
        </p:txBody>
      </p:sp>
      <p:sp>
        <p:nvSpPr>
          <p:cNvPr id="24584" name="Rectangle 11"/>
          <p:cNvSpPr>
            <a:spLocks noChangeArrowheads="1"/>
          </p:cNvSpPr>
          <p:nvPr/>
        </p:nvSpPr>
        <p:spPr bwMode="auto">
          <a:xfrm>
            <a:off x="431800" y="3013501"/>
            <a:ext cx="8280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arenR"/>
            </a:pPr>
            <a:r>
              <a:rPr lang="en-US" altLang="zh-CN" sz="2400" b="1" dirty="0">
                <a:sym typeface="Euclid Symbol" panose="05050102010706020507" pitchFamily="18" charset="2"/>
              </a:rPr>
              <a:t>||</a:t>
            </a:r>
            <a:r>
              <a:rPr lang="en-US" altLang="zh-CN" sz="2400" b="1" dirty="0" err="1">
                <a:sym typeface="Euclid Symbol" panose="05050102010706020507" pitchFamily="18" charset="2"/>
              </a:rPr>
              <a:t>x</a:t>
            </a:r>
            <a:r>
              <a:rPr lang="en-US" altLang="zh-CN" sz="2400" b="1" baseline="-25000" dirty="0" err="1">
                <a:sym typeface="Euclid Symbol" panose="05050102010706020507" pitchFamily="18" charset="2"/>
              </a:rPr>
              <a:t>k+N</a:t>
            </a:r>
            <a:r>
              <a:rPr lang="en-US" altLang="zh-CN" sz="2400" b="1" dirty="0" err="1">
                <a:sym typeface="Euclid Symbol" panose="05050102010706020507" pitchFamily="18" charset="2"/>
              </a:rPr>
              <a:t>x</a:t>
            </a:r>
            <a:r>
              <a:rPr lang="en-US" altLang="zh-CN" sz="2400" b="1" baseline="-25000" dirty="0" err="1">
                <a:sym typeface="Euclid Symbol" panose="05050102010706020507" pitchFamily="18" charset="2"/>
              </a:rPr>
              <a:t>k</a:t>
            </a:r>
            <a:r>
              <a:rPr lang="en-US" altLang="zh-CN" sz="2400" b="1" dirty="0">
                <a:sym typeface="Euclid Symbol" panose="05050102010706020507" pitchFamily="18" charset="2"/>
              </a:rPr>
              <a:t>||</a:t>
            </a:r>
            <a:r>
              <a:rPr lang="en-US" altLang="zh-CN" sz="2400" b="1" dirty="0">
                <a:cs typeface="Times New Roman" panose="02020603050405020304" pitchFamily="18" charset="0"/>
                <a:sym typeface="Euclid Symbol" panose="05050102010706020507" pitchFamily="18" charset="2"/>
              </a:rPr>
              <a:t>&lt;</a:t>
            </a:r>
          </a:p>
          <a:p>
            <a:pPr marL="0" indent="0" eaLnBrk="1" hangingPunct="1">
              <a:spcBef>
                <a:spcPct val="0"/>
              </a:spcBef>
              <a:buNone/>
            </a:pPr>
            <a:endParaRPr lang="en-US" altLang="zh-CN" sz="2400" b="1" dirty="0">
              <a:cs typeface="Times New Roman" panose="02020603050405020304" pitchFamily="18" charset="0"/>
              <a:sym typeface="Euclid 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cs typeface="Times New Roman" panose="02020603050405020304" pitchFamily="18" charset="0"/>
                <a:sym typeface="Euclid Symbol" panose="05050102010706020507" pitchFamily="18" charset="2"/>
              </a:rPr>
              <a:t>    </a:t>
            </a:r>
            <a:r>
              <a:rPr lang="zh-CN" altLang="en-US" sz="2400" dirty="0">
                <a:cs typeface="Times New Roman" panose="02020603050405020304" pitchFamily="18" charset="0"/>
                <a:sym typeface="Euclid Symbol" panose="05050102010706020507" pitchFamily="18" charset="2"/>
              </a:rPr>
              <a:t>如果应用映射</a:t>
            </a:r>
            <a:r>
              <a:rPr lang="en-US" altLang="zh-CN" sz="2400" dirty="0">
                <a:cs typeface="Times New Roman" panose="02020603050405020304" pitchFamily="18" charset="0"/>
                <a:sym typeface="Euclid Symbol" panose="05050102010706020507" pitchFamily="18" charset="2"/>
              </a:rPr>
              <a:t>A</a:t>
            </a:r>
            <a:r>
              <a:rPr lang="zh-CN" altLang="en-US" sz="2400" dirty="0">
                <a:cs typeface="Times New Roman" panose="02020603050405020304" pitchFamily="18" charset="0"/>
                <a:sym typeface="Euclid Symbol" panose="05050102010706020507" pitchFamily="18" charset="2"/>
              </a:rPr>
              <a:t>的</a:t>
            </a:r>
            <a:r>
              <a:rPr lang="en-US" altLang="zh-CN" sz="2400" dirty="0">
                <a:cs typeface="Times New Roman" panose="02020603050405020304" pitchFamily="18" charset="0"/>
                <a:sym typeface="Euclid Symbol" panose="05050102010706020507" pitchFamily="18" charset="2"/>
              </a:rPr>
              <a:t>N</a:t>
            </a:r>
            <a:r>
              <a:rPr lang="zh-CN" altLang="en-US" sz="2400" dirty="0">
                <a:cs typeface="Times New Roman" panose="02020603050405020304" pitchFamily="18" charset="0"/>
                <a:sym typeface="Euclid Symbol" panose="05050102010706020507" pitchFamily="18" charset="2"/>
              </a:rPr>
              <a:t>次后移动的距离小于时，算法终止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DCC7CF3-D935-4195-9767-B00171C2E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8.2.2</a:t>
            </a:r>
            <a:r>
              <a:rPr lang="zh-CN" altLang="en-US" dirty="0"/>
              <a:t>实用收敛准则</a:t>
            </a:r>
          </a:p>
        </p:txBody>
      </p:sp>
      <p:graphicFrame>
        <p:nvGraphicFramePr>
          <p:cNvPr id="24585" name="Object 1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708411352"/>
              </p:ext>
            </p:extLst>
          </p:nvPr>
        </p:nvGraphicFramePr>
        <p:xfrm>
          <a:off x="616017" y="4461878"/>
          <a:ext cx="2879725" cy="149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7" name="Equation" r:id="rId3" imgW="1422400" imgH="736600" progId="Equation.DSMT4">
                  <p:embed/>
                </p:oleObj>
              </mc:Choice>
              <mc:Fallback>
                <p:oleObj name="Equation" r:id="rId3" imgW="1422400" imgH="736600" progId="Equation.DSMT4">
                  <p:embed/>
                  <p:pic>
                    <p:nvPicPr>
                      <p:cNvPr id="2458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017" y="4461878"/>
                        <a:ext cx="2879725" cy="1490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6" name="Object 6"/>
          <p:cNvGraphicFramePr>
            <a:graphicFrameLocks noChangeAspect="1"/>
          </p:cNvGraphicFramePr>
          <p:nvPr/>
        </p:nvGraphicFramePr>
        <p:xfrm>
          <a:off x="539750" y="1052513"/>
          <a:ext cx="7632700" cy="276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1" name="Equation" r:id="rId3" imgW="4000500" imgH="1447800" progId="Equation.DSMT4">
                  <p:embed/>
                </p:oleObj>
              </mc:Choice>
              <mc:Fallback>
                <p:oleObj name="Equation" r:id="rId3" imgW="4000500" imgH="1447800" progId="Equation.DSMT4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052513"/>
                        <a:ext cx="7632700" cy="2763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C6715C94-6D85-4FED-A5C6-DDC80611A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E84C6C2-1AA7-4623-8F0F-CCD519B0E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8.2.3 </a:t>
            </a:r>
            <a:r>
              <a:rPr lang="zh-CN" altLang="en-US" dirty="0"/>
              <a:t>收敛速率  </a:t>
            </a:r>
          </a:p>
        </p:txBody>
      </p:sp>
      <p:graphicFrame>
        <p:nvGraphicFramePr>
          <p:cNvPr id="26631" name="Object 7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958921048"/>
              </p:ext>
            </p:extLst>
          </p:nvPr>
        </p:nvGraphicFramePr>
        <p:xfrm>
          <a:off x="606392" y="1125220"/>
          <a:ext cx="8016875" cy="325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5" name="Equation" r:id="rId3" imgW="4381200" imgH="1777680" progId="Equation.DSMT4">
                  <p:embed/>
                </p:oleObj>
              </mc:Choice>
              <mc:Fallback>
                <p:oleObj name="Equation" r:id="rId3" imgW="4381200" imgH="1777680" progId="Equation.DSMT4">
                  <p:embed/>
                  <p:pic>
                    <p:nvPicPr>
                      <p:cNvPr id="2663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392" y="1125220"/>
                        <a:ext cx="8016875" cy="325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xu">
  <a:themeElements>
    <a:clrScheme name="xu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xu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xu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xu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HITACHI">
  <a:themeElements>
    <a:clrScheme name="2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2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</TotalTime>
  <Words>780</Words>
  <Application>Microsoft Office PowerPoint</Application>
  <PresentationFormat>全屏显示(4:3)</PresentationFormat>
  <Paragraphs>79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46" baseType="lpstr">
      <vt:lpstr>黑体</vt:lpstr>
      <vt:lpstr>华文楷体</vt:lpstr>
      <vt:lpstr>隶书</vt:lpstr>
      <vt:lpstr>宋体</vt:lpstr>
      <vt:lpstr>Arial</vt:lpstr>
      <vt:lpstr>Arial Black</vt:lpstr>
      <vt:lpstr>Calibri</vt:lpstr>
      <vt:lpstr>Calibri Light</vt:lpstr>
      <vt:lpstr>Cambria Math</vt:lpstr>
      <vt:lpstr>Garamond</vt:lpstr>
      <vt:lpstr>Times New Roman</vt:lpstr>
      <vt:lpstr>Verdana</vt:lpstr>
      <vt:lpstr>Wingdings</vt:lpstr>
      <vt:lpstr>xu</vt:lpstr>
      <vt:lpstr>HITACHI</vt:lpstr>
      <vt:lpstr>1_HITACHI</vt:lpstr>
      <vt:lpstr>4_HITACHI</vt:lpstr>
      <vt:lpstr>2_HITACHI</vt:lpstr>
      <vt:lpstr>3_HITACHI</vt:lpstr>
      <vt:lpstr>2_默认设计模板</vt:lpstr>
      <vt:lpstr>Equation</vt:lpstr>
      <vt:lpstr>MathType 7.0 Equation</vt:lpstr>
      <vt:lpstr>PowerPoint 演示文稿</vt:lpstr>
      <vt:lpstr>第八章 算法</vt:lpstr>
      <vt:lpstr>8 算法-概念</vt:lpstr>
      <vt:lpstr>PowerPoint 演示文稿</vt:lpstr>
      <vt:lpstr>PowerPoint 演示文稿</vt:lpstr>
      <vt:lpstr>PowerPoint 演示文稿</vt:lpstr>
      <vt:lpstr>8.1.2 解集合</vt:lpstr>
      <vt:lpstr>PowerPoint 演示文稿</vt:lpstr>
      <vt:lpstr>8.1.3 下降函数</vt:lpstr>
      <vt:lpstr>8.1.4 闭映射</vt:lpstr>
      <vt:lpstr>PowerPoint 演示文稿</vt:lpstr>
      <vt:lpstr>PowerPoint 演示文稿</vt:lpstr>
      <vt:lpstr>PowerPoint 演示文稿</vt:lpstr>
      <vt:lpstr>8.1.5 合成映射</vt:lpstr>
      <vt:lpstr>PowerPoint 演示文稿</vt:lpstr>
      <vt:lpstr>PowerPoint 演示文稿</vt:lpstr>
      <vt:lpstr>8 算法-收敛定理</vt:lpstr>
      <vt:lpstr>PowerPoint 演示文稿</vt:lpstr>
      <vt:lpstr>PowerPoint 演示文稿</vt:lpstr>
      <vt:lpstr>PowerPoint 演示文稿</vt:lpstr>
      <vt:lpstr>PowerPoint 演示文稿</vt:lpstr>
      <vt:lpstr>8.2.2实用收敛准则</vt:lpstr>
      <vt:lpstr>PowerPoint 演示文稿</vt:lpstr>
      <vt:lpstr>8.2.3 收敛速率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tpshuai</dc:creator>
  <cp:lastModifiedBy>tpshu</cp:lastModifiedBy>
  <cp:revision>1704</cp:revision>
  <dcterms:created xsi:type="dcterms:W3CDTF">2012-04-20T06:02:00Z</dcterms:created>
  <dcterms:modified xsi:type="dcterms:W3CDTF">2026-04-21T00:48:23Z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9CF86C79608144ADBEF3A26E5FD9A904</vt:lpwstr>
  </property>
</Properties>
</file>