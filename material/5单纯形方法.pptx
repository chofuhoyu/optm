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90" r:id="rId4"/>
    <p:sldMasterId id="2147483702" r:id="rId5"/>
    <p:sldMasterId id="2147483714" r:id="rId6"/>
    <p:sldMasterId id="2147483726" r:id="rId7"/>
    <p:sldMasterId id="2147483738" r:id="rId8"/>
  </p:sldMasterIdLst>
  <p:notesMasterIdLst>
    <p:notesMasterId r:id="rId84"/>
  </p:notesMasterIdLst>
  <p:handoutMasterIdLst>
    <p:handoutMasterId r:id="rId85"/>
  </p:handoutMasterIdLst>
  <p:sldIdLst>
    <p:sldId id="377" r:id="rId9"/>
    <p:sldId id="598" r:id="rId10"/>
    <p:sldId id="599" r:id="rId11"/>
    <p:sldId id="405" r:id="rId12"/>
    <p:sldId id="411" r:id="rId13"/>
    <p:sldId id="600" r:id="rId14"/>
    <p:sldId id="412" r:id="rId15"/>
    <p:sldId id="429" r:id="rId16"/>
    <p:sldId id="416" r:id="rId17"/>
    <p:sldId id="417" r:id="rId18"/>
    <p:sldId id="602" r:id="rId19"/>
    <p:sldId id="601" r:id="rId20"/>
    <p:sldId id="603" r:id="rId21"/>
    <p:sldId id="427" r:id="rId22"/>
    <p:sldId id="265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6" r:id="rId31"/>
    <p:sldId id="289" r:id="rId32"/>
    <p:sldId id="290" r:id="rId33"/>
    <p:sldId id="266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92" r:id="rId43"/>
    <p:sldId id="293" r:id="rId44"/>
    <p:sldId id="294" r:id="rId45"/>
    <p:sldId id="336" r:id="rId46"/>
    <p:sldId id="295" r:id="rId47"/>
    <p:sldId id="296" r:id="rId48"/>
    <p:sldId id="297" r:id="rId49"/>
    <p:sldId id="298" r:id="rId50"/>
    <p:sldId id="430" r:id="rId51"/>
    <p:sldId id="594" r:id="rId52"/>
    <p:sldId id="596" r:id="rId53"/>
    <p:sldId id="597" r:id="rId54"/>
    <p:sldId id="338" r:id="rId55"/>
    <p:sldId id="303" r:id="rId56"/>
    <p:sldId id="304" r:id="rId57"/>
    <p:sldId id="305" r:id="rId58"/>
    <p:sldId id="306" r:id="rId59"/>
    <p:sldId id="307" r:id="rId60"/>
    <p:sldId id="344" r:id="rId61"/>
    <p:sldId id="351" r:id="rId62"/>
    <p:sldId id="352" r:id="rId63"/>
    <p:sldId id="353" r:id="rId64"/>
    <p:sldId id="354" r:id="rId65"/>
    <p:sldId id="355" r:id="rId66"/>
    <p:sldId id="403" r:id="rId67"/>
    <p:sldId id="358" r:id="rId68"/>
    <p:sldId id="607" r:id="rId69"/>
    <p:sldId id="604" r:id="rId70"/>
    <p:sldId id="371" r:id="rId71"/>
    <p:sldId id="372" r:id="rId72"/>
    <p:sldId id="373" r:id="rId73"/>
    <p:sldId id="374" r:id="rId74"/>
    <p:sldId id="375" r:id="rId75"/>
    <p:sldId id="376" r:id="rId76"/>
    <p:sldId id="400" r:id="rId77"/>
    <p:sldId id="401" r:id="rId78"/>
    <p:sldId id="379" r:id="rId79"/>
    <p:sldId id="380" r:id="rId80"/>
    <p:sldId id="381" r:id="rId81"/>
    <p:sldId id="382" r:id="rId82"/>
    <p:sldId id="383" r:id="rId83"/>
  </p:sldIdLst>
  <p:sldSz cx="9144000" cy="6858000" type="screen4x3"/>
  <p:notesSz cx="6797675" cy="9929813"/>
  <p:custDataLst>
    <p:tags r:id="rId8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1">
          <p15:clr>
            <a:srgbClr val="A4A3A4"/>
          </p15:clr>
        </p15:guide>
        <p15:guide id="2" pos="216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7" autoAdjust="0"/>
    <p:restoredTop sz="92552" autoAdjust="0"/>
  </p:normalViewPr>
  <p:slideViewPr>
    <p:cSldViewPr snapToGrid="0" showGuides="1">
      <p:cViewPr varScale="1">
        <p:scale>
          <a:sx n="61" d="100"/>
          <a:sy n="61" d="100"/>
        </p:scale>
        <p:origin x="1356" y="64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0400"/>
    </p:cViewPr>
  </p:sorterViewPr>
  <p:notesViewPr>
    <p:cSldViewPr snapToGrid="0">
      <p:cViewPr varScale="1">
        <p:scale>
          <a:sx n="46" d="100"/>
          <a:sy n="46" d="100"/>
        </p:scale>
        <p:origin x="2808" y="56"/>
      </p:cViewPr>
      <p:guideLst>
        <p:guide orient="horz" pos="3091"/>
        <p:guide pos="216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5.xml"/><Relationship Id="rId90" Type="http://schemas.openxmlformats.org/officeDocument/2006/relationships/tableStyles" Target="tableStyles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presProps" Target="pres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4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93.wmf"/><Relationship Id="rId7" Type="http://schemas.openxmlformats.org/officeDocument/2006/relationships/image" Target="../media/image88.wmf"/><Relationship Id="rId2" Type="http://schemas.openxmlformats.org/officeDocument/2006/relationships/image" Target="../media/image91.wmf"/><Relationship Id="rId1" Type="http://schemas.openxmlformats.org/officeDocument/2006/relationships/image" Target="../media/image9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94.wmf"/><Relationship Id="rId1" Type="http://schemas.openxmlformats.org/officeDocument/2006/relationships/image" Target="../media/image92.wmf"/><Relationship Id="rId6" Type="http://schemas.openxmlformats.org/officeDocument/2006/relationships/image" Target="../media/image88.wmf"/><Relationship Id="rId11" Type="http://schemas.openxmlformats.org/officeDocument/2006/relationships/image" Target="../media/image96.wmf"/><Relationship Id="rId5" Type="http://schemas.openxmlformats.org/officeDocument/2006/relationships/image" Target="../media/image87.wmf"/><Relationship Id="rId10" Type="http://schemas.openxmlformats.org/officeDocument/2006/relationships/image" Target="../media/image95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94.wmf"/><Relationship Id="rId1" Type="http://schemas.openxmlformats.org/officeDocument/2006/relationships/image" Target="../media/image92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87.wmf"/><Relationship Id="rId7" Type="http://schemas.openxmlformats.org/officeDocument/2006/relationships/image" Target="../media/image98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7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9" Type="http://schemas.openxmlformats.org/officeDocument/2006/relationships/image" Target="../media/image10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76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16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4" Type="http://schemas.openxmlformats.org/officeDocument/2006/relationships/image" Target="../media/image125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5" Type="http://schemas.openxmlformats.org/officeDocument/2006/relationships/image" Target="../media/image143.wmf"/><Relationship Id="rId4" Type="http://schemas.openxmlformats.org/officeDocument/2006/relationships/image" Target="../media/image139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4" Type="http://schemas.openxmlformats.org/officeDocument/2006/relationships/image" Target="../media/image14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4" Type="http://schemas.openxmlformats.org/officeDocument/2006/relationships/image" Target="../media/image14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5" Type="http://schemas.openxmlformats.org/officeDocument/2006/relationships/image" Target="../media/image149.wmf"/><Relationship Id="rId4" Type="http://schemas.openxmlformats.org/officeDocument/2006/relationships/image" Target="../media/image158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4" Type="http://schemas.openxmlformats.org/officeDocument/2006/relationships/image" Target="../media/image162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50294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algn="r"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2026/3/24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50294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algn="r"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50294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algn="r"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2026/3/24</a:t>
            </a:fld>
            <a:endParaRPr lang="en-US" alt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79464" y="4716160"/>
            <a:ext cx="5438748" cy="446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50294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algn="r" defTabSz="955675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8" name="幻灯片图像占位符 7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7575" y="746125"/>
            <a:ext cx="4962525" cy="3722688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6915" indent="-27559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02995" indent="-2203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44320" indent="-2203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985645" indent="-2203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26335" indent="-2203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867660" indent="-2203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08985" indent="-2203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750310" indent="-2203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6D11E2-820F-49DA-B696-0A30519D091A}" type="slidenum">
              <a:rPr lang="zh-CN" altLang="en-US"/>
              <a:t>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眉占位符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690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875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30059-A9EF-447A-9EB2-7C3EEBE8B88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30059-A9EF-447A-9EB2-7C3EEBE8B88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30059-A9EF-447A-9EB2-7C3EEBE8B88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675" y="127635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625" y="168283"/>
            <a:ext cx="8229600" cy="7572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54C6B-E87F-416C-AD0A-A502EA9A1E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53665-DA37-4E0A-B4C1-88A5554EF41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9B978-E381-4E2D-8E2E-C48C4513B56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41B8D-B5E3-46C7-9964-D32822BE5AB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0DA2F-5277-44D3-BC8A-AB7A5137E8D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6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9" y="6067647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5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82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8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ransition spd="slow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100">
          <a:solidFill>
            <a:srgbClr val="336600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1800">
          <a:solidFill>
            <a:schemeClr val="folHlink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8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8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8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89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5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65.w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3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6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89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7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77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7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5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64.bin"/><Relationship Id="rId18" Type="http://schemas.openxmlformats.org/officeDocument/2006/relationships/oleObject" Target="../embeddings/oleObject67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89.xml"/><Relationship Id="rId16" Type="http://schemas.openxmlformats.org/officeDocument/2006/relationships/image" Target="../media/image91.wmf"/><Relationship Id="rId20" Type="http://schemas.openxmlformats.org/officeDocument/2006/relationships/oleObject" Target="../embeddings/oleObject69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90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88.wmf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79.bin"/><Relationship Id="rId7" Type="http://schemas.openxmlformats.org/officeDocument/2006/relationships/image" Target="../media/image91.wmf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89.xml"/><Relationship Id="rId16" Type="http://schemas.openxmlformats.org/officeDocument/2006/relationships/image" Target="../media/image87.wmf"/><Relationship Id="rId20" Type="http://schemas.openxmlformats.org/officeDocument/2006/relationships/image" Target="../media/image89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1.bin"/><Relationship Id="rId11" Type="http://schemas.openxmlformats.org/officeDocument/2006/relationships/oleObject" Target="../embeddings/oleObject74.bin"/><Relationship Id="rId5" Type="http://schemas.openxmlformats.org/officeDocument/2006/relationships/image" Target="../media/image92.wmf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0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78.bin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86.wmf"/><Relationship Id="rId22" Type="http://schemas.openxmlformats.org/officeDocument/2006/relationships/image" Target="../media/image9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88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91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9.wmf"/><Relationship Id="rId25" Type="http://schemas.openxmlformats.org/officeDocument/2006/relationships/image" Target="../media/image96.wmf"/><Relationship Id="rId2" Type="http://schemas.openxmlformats.org/officeDocument/2006/relationships/slideLayout" Target="../slideLayouts/slideLayout89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6.wmf"/><Relationship Id="rId24" Type="http://schemas.openxmlformats.org/officeDocument/2006/relationships/oleObject" Target="../embeddings/oleObject91.bin"/><Relationship Id="rId5" Type="http://schemas.openxmlformats.org/officeDocument/2006/relationships/image" Target="../media/image92.wmf"/><Relationship Id="rId15" Type="http://schemas.openxmlformats.org/officeDocument/2006/relationships/image" Target="../media/image88.wmf"/><Relationship Id="rId23" Type="http://schemas.openxmlformats.org/officeDocument/2006/relationships/image" Target="../media/image95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89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8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108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99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98.wmf"/><Relationship Id="rId2" Type="http://schemas.openxmlformats.org/officeDocument/2006/relationships/slideLayout" Target="../slideLayouts/slideLayout89.xml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10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7.wmf"/><Relationship Id="rId23" Type="http://schemas.openxmlformats.org/officeDocument/2006/relationships/image" Target="../media/image100.wmf"/><Relationship Id="rId10" Type="http://schemas.openxmlformats.org/officeDocument/2006/relationships/oleObject" Target="../embeddings/oleObject104.bin"/><Relationship Id="rId19" Type="http://schemas.openxmlformats.org/officeDocument/2006/relationships/oleObject" Target="../embeddings/oleObject109.bin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76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0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06.wmf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1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11.wmf"/><Relationship Id="rId3" Type="http://schemas.openxmlformats.org/officeDocument/2006/relationships/image" Target="../media/image127.png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23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09.wmf"/><Relationship Id="rId14" Type="http://schemas.openxmlformats.org/officeDocument/2006/relationships/image" Target="../media/image1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1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11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115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16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18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20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16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39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7" Type="http://schemas.openxmlformats.org/officeDocument/2006/relationships/image" Target="../media/image128.png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26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slideLayout" Target="../slideLayouts/slideLayout8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2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0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32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35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37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39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5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44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62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49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66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49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70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74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79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3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5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16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1709798" y="3233433"/>
            <a:ext cx="5730529" cy="2455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单纯形方法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t>1</a:t>
            </a:fld>
            <a:endParaRPr lang="en-US" altLang="x-non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DA7EF-31C2-469F-945B-782566A4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40" y="309370"/>
            <a:ext cx="8058022" cy="5840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6EB4E9-EAF8-44E0-871E-3DE0A26D4C6A}"/>
              </a:ext>
            </a:extLst>
          </p:cNvPr>
          <p:cNvSpPr txBox="1"/>
          <p:nvPr/>
        </p:nvSpPr>
        <p:spPr>
          <a:xfrm>
            <a:off x="511675" y="1152391"/>
            <a:ext cx="80288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zh-CN" altLang="en-US" sz="2800" dirty="0"/>
              <a:t>      上一节课我们学习了线性规划的基本性质，</a:t>
            </a:r>
            <a:r>
              <a:rPr lang="zh-CN" altLang="en-US" sz="2800" kern="0" dirty="0">
                <a:solidFill>
                  <a:srgbClr val="000000"/>
                </a:solidFill>
                <a:latin typeface="Verdana"/>
                <a:ea typeface="宋体"/>
              </a:rPr>
              <a:t>我们知道：若线性规划</a:t>
            </a:r>
            <a:endParaRPr lang="en-US" altLang="zh-CN" sz="28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pPr marL="0" indent="0" eaLnBrk="1" hangingPunct="1">
              <a:buNone/>
            </a:pPr>
            <a:r>
              <a:rPr lang="en-US" altLang="zh-CN" sz="2800" b="0" kern="0" dirty="0">
                <a:solidFill>
                  <a:srgbClr val="000000"/>
                </a:solidFill>
                <a:latin typeface="Verdana"/>
                <a:ea typeface="宋体"/>
                <a:cs typeface="Times New Roman" panose="02020603050405020304" pitchFamily="18" charset="0"/>
              </a:rPr>
              <a:t>                      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            </a:t>
            </a:r>
            <a:r>
              <a:rPr lang="en-US" altLang="zh-CN" sz="2800" b="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800" b="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Ax=b</a:t>
            </a:r>
          </a:p>
          <a:p>
            <a:pPr marL="0" indent="0" eaLnBrk="1" hangingPunct="1">
              <a:buNone/>
            </a:pP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x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sz="2800" kern="0" dirty="0">
                <a:solidFill>
                  <a:srgbClr val="000000"/>
                </a:solidFill>
                <a:latin typeface="Verdana"/>
                <a:ea typeface="宋体"/>
              </a:rPr>
              <a:t>有最优解，则最优解可在基本可行解上达到。</a:t>
            </a:r>
            <a:endParaRPr lang="en-US" altLang="zh-CN" sz="28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endParaRPr lang="en-US" altLang="zh-CN" sz="28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r>
              <a:rPr lang="zh-CN" altLang="en-US" sz="2800" kern="0" dirty="0">
                <a:solidFill>
                  <a:srgbClr val="000000"/>
                </a:solidFill>
                <a:latin typeface="Verdana"/>
                <a:ea typeface="宋体"/>
              </a:rPr>
              <a:t>    如何来求这个最优的基本可行解呢？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84450655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43E492-1893-44B1-83C0-43E298F2D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94" y="281088"/>
            <a:ext cx="7768555" cy="72790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改进搜索算法</a:t>
            </a:r>
          </a:p>
          <a:p>
            <a:pPr marL="0" indent="0">
              <a:buNone/>
            </a:pPr>
            <a:endParaRPr lang="zh-CN" altLang="en-US" sz="28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EA0EAF-B20D-4590-A3FC-E0EAA6BF5E2C}"/>
              </a:ext>
            </a:extLst>
          </p:cNvPr>
          <p:cNvSpPr txBox="1"/>
          <p:nvPr/>
        </p:nvSpPr>
        <p:spPr>
          <a:xfrm>
            <a:off x="687271" y="1296972"/>
            <a:ext cx="76943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改进搜索按如下格式从当前可行解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移动到新的可行解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t+1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t+1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x</a:t>
            </a:r>
          </a:p>
          <a:p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其中向量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定义了</a:t>
            </a:r>
            <a:r>
              <a:rPr lang="en-US" altLang="zh-CN" sz="2800" b="0" i="1" kern="12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0" kern="1200" baseline="30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kern="1200" baseline="30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0" kern="1200" baseline="30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处的移动方向，步长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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确定了沿此方向行进多远。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向量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是可行解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处的改进可行方向。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55741575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521503" y="265530"/>
            <a:ext cx="8229600" cy="7572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改进方向与可行方向</a:t>
            </a:r>
            <a:b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4294967295"/>
          </p:nvPr>
        </p:nvSpPr>
        <p:spPr>
          <a:xfrm>
            <a:off x="536284" y="1164550"/>
            <a:ext cx="8258175" cy="154305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x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称为可行解</a:t>
            </a:r>
            <a:r>
              <a:rPr lang="en-US" altLang="zh-CN" sz="2800" b="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改进方向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若对充分小的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&gt;0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0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</a:t>
            </a:r>
            <a:r>
              <a:rPr lang="en-US" altLang="zh-CN" sz="2800" b="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处的目标函数值都好于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(t)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的目标函数值。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2F35F81-0C99-4CC6-9F4D-B4CC5DD4DC57}"/>
              </a:ext>
            </a:extLst>
          </p:cNvPr>
          <p:cNvSpPr txBox="1"/>
          <p:nvPr/>
        </p:nvSpPr>
        <p:spPr bwMode="auto">
          <a:xfrm>
            <a:off x="425748" y="2832435"/>
            <a:ext cx="8449341" cy="12437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向量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x 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称为可行解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处的</a:t>
            </a: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可行方向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，若对充分小的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&gt;0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，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都是可行解。</a:t>
            </a:r>
            <a:endParaRPr lang="zh-CN" altLang="en-US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91E94BC-46C6-47CE-99A4-F198D8513DD8}"/>
              </a:ext>
            </a:extLst>
          </p:cNvPr>
          <p:cNvSpPr txBox="1">
            <a:spLocks/>
          </p:cNvSpPr>
          <p:nvPr/>
        </p:nvSpPr>
        <p:spPr>
          <a:xfrm>
            <a:off x="587258" y="3816542"/>
            <a:ext cx="8167859" cy="2594768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100">
                <a:solidFill>
                  <a:srgbClr val="336600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1800">
                <a:solidFill>
                  <a:schemeClr val="folHlink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zh-CN" altLang="en-US" sz="2800" b="0" kern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3B4F93-2276-4EB8-A6E2-A3AEBED545C7}"/>
              </a:ext>
            </a:extLst>
          </p:cNvPr>
          <p:cNvSpPr txBox="1"/>
          <p:nvPr/>
        </p:nvSpPr>
        <p:spPr>
          <a:xfrm>
            <a:off x="505650" y="4089566"/>
            <a:ext cx="82809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kern="0" dirty="0"/>
              <a:t>下面考虑如何用改进搜索方法来求最优基本可行解。</a:t>
            </a:r>
            <a:endParaRPr lang="en-US" altLang="zh-CN" sz="2800" b="0" dirty="0"/>
          </a:p>
          <a:p>
            <a:pPr marL="0" indent="0" eaLnBrk="1" hangingPunct="1"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altLang="zh-CN" sz="2800" kern="0" dirty="0"/>
          </a:p>
          <a:p>
            <a:r>
              <a:rPr lang="zh-CN" altLang="en-US" sz="2800" kern="0" dirty="0"/>
              <a:t>为方便起见，假设基本可行解都是非退化的。</a:t>
            </a:r>
          </a:p>
          <a:p>
            <a:pPr marL="0" indent="0" eaLnBrk="1" hangingPunct="1">
              <a:buNone/>
            </a:pPr>
            <a:endParaRPr lang="zh-CN" altLang="en-US" sz="2800" b="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20328" y="1026782"/>
            <a:ext cx="8587038" cy="547912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设当前基本可行解为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，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为对应的基变量下标集，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为非基变量下标集。 令搜索方向为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，要保持可行，则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)=b,</a:t>
            </a:r>
            <a:r>
              <a:rPr lang="en-US" altLang="zh-CN" sz="2800" b="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=b</a:t>
            </a: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得            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=0.</a:t>
            </a: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因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是非退化的基本可行解，故对充分小的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0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。即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是可行方向。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是改进方向，则   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)&lt;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&lt;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0 </a:t>
            </a:r>
          </a:p>
          <a:p>
            <a:pPr marL="0" indent="0">
              <a:buNone/>
            </a:pPr>
            <a:r>
              <a:rPr lang="zh-CN" altLang="en-US" sz="1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于是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:     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&lt;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0,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=0,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改进可行方向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260C4-CE15-4F3D-B3BC-96825BE2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90882" cy="37085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778FE-2FBC-40A6-9C8A-1CAA689BA478}"/>
              </a:ext>
            </a:extLst>
          </p:cNvPr>
          <p:cNvSpPr txBox="1"/>
          <p:nvPr/>
        </p:nvSpPr>
        <p:spPr>
          <a:xfrm>
            <a:off x="397598" y="1042382"/>
            <a:ext cx="8073484" cy="250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下面来求这种形式的改进可行方向。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为方便，也用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）表示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中基变量（非基变量）对应的子矩阵，于是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A=(B,N)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，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可行方向条件   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=0 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化为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               B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+N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=0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，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52B3CD-B196-41A2-BA00-1499858362F3}"/>
              </a:ext>
            </a:extLst>
          </p:cNvPr>
          <p:cNvSpPr txBox="1"/>
          <p:nvPr/>
        </p:nvSpPr>
        <p:spPr>
          <a:xfrm>
            <a:off x="412594" y="3717511"/>
            <a:ext cx="8437116" cy="1988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于是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             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=-B</a:t>
            </a:r>
            <a:r>
              <a:rPr kumimoji="0" lang="en-US" altLang="zh-CN" sz="2800" b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-1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，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  <a:p>
            <a:pPr lvl="0" eaLnBrk="0" hangingPunct="0">
              <a:spcBef>
                <a:spcPct val="20000"/>
              </a:spcBef>
              <a:buClr>
                <a:srgbClr val="666600"/>
              </a:buClr>
              <a:buSzPct val="75000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若取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0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等于单位向量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e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（第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j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个分量为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，其余全为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），则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   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=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-B</a:t>
            </a:r>
            <a:r>
              <a:rPr lang="en-US" altLang="zh-CN" sz="2800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-1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e</a:t>
            </a:r>
            <a:r>
              <a:rPr lang="en-US" altLang="zh-CN" sz="2800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j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Times New Roman" panose="02020603050405020304" pitchFamily="18" charset="0"/>
              <a:sym typeface="Symbol" panose="05050102010706020507"/>
            </a:endParaRPr>
          </a:p>
          <a:p>
            <a:pPr lvl="0" eaLnBrk="0" hangingPunct="0">
              <a:spcBef>
                <a:spcPct val="20000"/>
              </a:spcBef>
              <a:buClr>
                <a:srgbClr val="666600"/>
              </a:buClr>
              <a:buSzPct val="75000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/>
              </a:rPr>
              <a:t>    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0978858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29106" y="929271"/>
            <a:ext cx="8667750" cy="546417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=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c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-c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b="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-1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e</a:t>
            </a:r>
            <a:r>
              <a:rPr lang="en-US" altLang="zh-CN" sz="2800" b="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=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c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-z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endParaRPr lang="en-US" altLang="zh-CN" sz="2800" b="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故当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z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-c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&gt;0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时，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&lt;0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于是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为改进方向。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称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z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-c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为检验数，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对应的非基变量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为进基变量。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如何沿改进可行方向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搜索得到一个新的基可行解？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50A6BA-F84A-4F50-9F36-350789C9CFDE}"/>
              </a:ext>
            </a:extLst>
          </p:cNvPr>
          <p:cNvSpPr txBox="1"/>
          <p:nvPr/>
        </p:nvSpPr>
        <p:spPr>
          <a:xfrm>
            <a:off x="473734" y="3934595"/>
            <a:ext cx="8051180" cy="238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0" dirty="0"/>
              <a:t>由       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0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0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知：若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0,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则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可取无穷大，从而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    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c</a:t>
            </a:r>
            <a:r>
              <a:rPr lang="en-US" altLang="zh-CN" sz="28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 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趋于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-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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即问题无下界（无有限最优解）。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C3CC17-D83F-4182-8082-7D864F52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1" y="1724014"/>
            <a:ext cx="8387210" cy="45941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3DC5ED-193D-43D9-A986-E23BDCF5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62" y="922534"/>
            <a:ext cx="8498561" cy="148145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3C703B-6188-44E2-84AB-948CB7D35176}"/>
              </a:ext>
            </a:extLst>
          </p:cNvPr>
          <p:cNvSpPr txBox="1"/>
          <p:nvPr/>
        </p:nvSpPr>
        <p:spPr>
          <a:xfrm>
            <a:off x="498857" y="1172579"/>
            <a:ext cx="7214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0" dirty="0"/>
              <a:t>设最小值在第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0" dirty="0"/>
              <a:t>个分量达到，即</a:t>
            </a:r>
            <a:endParaRPr lang="en-US" altLang="zh-CN" sz="2800" b="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06A13A-286E-4250-8BC8-F484CD40B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80" y="1085263"/>
            <a:ext cx="1865538" cy="7986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2F1FA72-A924-4FE0-926B-1EC5C2B94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91" y="2839047"/>
            <a:ext cx="7797460" cy="26093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9AEFB9-EEC5-474D-85BC-27D431A1A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16" y="1800161"/>
            <a:ext cx="8480271" cy="117663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26F775F-26BF-403B-ABB8-A2C8C9588F52}"/>
              </a:ext>
            </a:extLst>
          </p:cNvPr>
          <p:cNvSpPr txBox="1"/>
          <p:nvPr/>
        </p:nvSpPr>
        <p:spPr>
          <a:xfrm>
            <a:off x="751490" y="568010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新的基</a:t>
            </a:r>
            <a:r>
              <a:rPr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=B\{p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}</a:t>
            </a:r>
            <a:r>
              <a:rPr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Euclid Symbol" panose="05050102010706020507" pitchFamily="18" charset="2"/>
              </a:rPr>
              <a:t>{</a:t>
            </a:r>
            <a:r>
              <a:rPr lang="en-US" altLang="zh-CN" sz="2400" b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Euclid Symbol" panose="05050102010706020507" pitchFamily="18" charset="2"/>
              </a:rPr>
              <a:t>p</a:t>
            </a:r>
            <a:r>
              <a:rPr lang="en-US" altLang="zh-CN" sz="2400" b="0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Euclid Symbol" panose="05050102010706020507" pitchFamily="18" charset="2"/>
              </a:rPr>
              <a:t>j</a:t>
            </a:r>
            <a:r>
              <a:rPr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Euclid Symbol" panose="05050102010706020507" pitchFamily="18" charset="2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089164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36188" y="954668"/>
                <a:ext cx="8529392" cy="5334620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b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上面讨论表明：若</a:t>
                </a: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  <a:sym typeface="Symbol" panose="05050102010706020507"/>
                  </a:rPr>
                  <a:t>令 </a:t>
                </a:r>
                <a:r>
                  <a:rPr lang="en-US" altLang="zh-CN" sz="2800" b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N</a:t>
                </a:r>
                <a:r>
                  <a:rPr kumimoji="0" lang="en-US" altLang="zh-C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  <a:sym typeface="Symbol" panose="05050102010706020507"/>
                  </a:rPr>
                  <a:t>=</a:t>
                </a:r>
                <a:r>
                  <a:rPr lang="en-US" altLang="zh-CN" sz="2800" b="0" dirty="0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𝑒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  <a:sym typeface="Symbol" panose="05050102010706020507"/>
                  </a:rPr>
                  <a:t>时求得的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/>
                    <a:cs typeface="Times New Roman" panose="02020603050405020304" pitchFamily="18" charset="0"/>
                    <a:sym typeface="Symbol" panose="05050102010706020507"/>
                  </a:rPr>
                  <a:t>满足 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&lt;0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，则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是改进的可行方向</a:t>
                </a:r>
                <a:r>
                  <a:rPr lang="zh-CN" altLang="en-US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否则，则换一个单位向量试探，检查是否</a:t>
                </a:r>
                <a:r>
                  <a:rPr lang="zh-CN" altLang="en-US" sz="2800" b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满足 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&lt;0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。如对所有单位向量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𝑒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求得的方向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均有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≥0</m:t>
                    </m:r>
                  </m:oMath>
                </a14:m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，则当前解为最优解。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定理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1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：设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(t)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是基本可行解，对应的基为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B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，若对任意的非基变量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,</a:t>
                </a:r>
                <a:r>
                  <a:rPr lang="zh-CN" altLang="en-US" sz="2800" b="0" dirty="0">
                    <a:latin typeface="+mn-ea"/>
                  </a:rPr>
                  <a:t> 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c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-z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≥ </m:t>
                    </m:r>
                  </m:oMath>
                </a14:m>
                <a:r>
                  <a:rPr lang="en-US" altLang="zh-CN" sz="2800" b="0" dirty="0">
                    <a:latin typeface="+mn-ea"/>
                    <a:cs typeface="Times New Roman" panose="02020603050405020304" pitchFamily="18" charset="0"/>
                    <a:sym typeface="Symbol" panose="05050102010706020507"/>
                  </a:rPr>
                  <a:t>0</a:t>
                </a:r>
                <a:r>
                  <a:rPr lang="zh-CN" altLang="en-US" sz="2800" b="0" dirty="0">
                    <a:latin typeface="+mn-ea"/>
                    <a:cs typeface="Times New Roman" panose="02020603050405020304" pitchFamily="18" charset="0"/>
                    <a:sym typeface="Symbol" panose="05050102010706020507"/>
                  </a:rPr>
                  <a:t>，则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(t)</a:t>
                </a:r>
                <a:r>
                  <a:rPr lang="zh-CN" altLang="en-US" sz="2800" b="0" dirty="0">
                    <a:latin typeface="+mn-ea"/>
                    <a:cs typeface="Times New Roman" panose="02020603050405020304" pitchFamily="18" charset="0"/>
                    <a:sym typeface="Symbol" panose="05050102010706020507"/>
                  </a:rPr>
                  <a:t>为最优基本可行解。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endParaRPr lang="zh-CN" altLang="en-US" sz="2800" b="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36188" y="954668"/>
                <a:ext cx="8529392" cy="5334620"/>
              </a:xfrm>
              <a:prstGeom prst="rect">
                <a:avLst/>
              </a:prstGeom>
              <a:blipFill>
                <a:blip r:embed="rId2"/>
                <a:stretch>
                  <a:fillRect l="-1501" r="-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49070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296424" y="1018225"/>
                <a:ext cx="8624551" cy="5482936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证明：设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是任一可行解，则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Ay=b,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A(y-x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)=0.</a:t>
                </a: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d=y-x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，则有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Ad=0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</a:t>
                </a:r>
                <a:r>
                  <a:rPr lang="en-US" altLang="zh-CN" sz="2800" b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+Nd</a:t>
                </a:r>
                <a:r>
                  <a:rPr lang="en-US" altLang="zh-CN" sz="2800" b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从而，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       d</a:t>
                </a:r>
                <a:r>
                  <a:rPr lang="en-US" altLang="zh-CN" sz="28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B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N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d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N</a:t>
                </a:r>
                <a:r>
                  <a:rPr lang="en-US" altLang="zh-CN" sz="28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(y-x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</a:t>
                </a:r>
                <a:r>
                  <a:rPr lang="en-US" altLang="zh-CN" sz="2800" b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jN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c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-z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d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endParaRPr lang="en-US" altLang="zh-CN" sz="2800" b="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由假设知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c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-z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0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N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8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N</a:t>
                </a:r>
                <a:r>
                  <a:rPr lang="en-US" altLang="zh-CN" sz="2800" b="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知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d</a:t>
                </a:r>
                <a:r>
                  <a:rPr lang="en-US" altLang="zh-CN" sz="2800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b="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8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，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N</a:t>
                </a:r>
                <a:endParaRPr lang="en-US" altLang="zh-CN" sz="2800" b="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故 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即 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altLang="zh-CN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altLang="zh-CN" sz="2800" b="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由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的任意性，定理得证。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96424" y="1018225"/>
                <a:ext cx="8624551" cy="5482936"/>
              </a:xfrm>
              <a:prstGeom prst="rect">
                <a:avLst/>
              </a:prstGeom>
              <a:blipFill>
                <a:blip r:embed="rId2"/>
                <a:stretch>
                  <a:fillRect l="-1485" t="-1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71C5D8B-B9E8-4B56-85B7-A6E4CF74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483" y="2179042"/>
            <a:ext cx="4243184" cy="388958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293742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单纯形算法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02994" y="955675"/>
            <a:ext cx="8336509" cy="559226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注意到：上述算法的每次搜索得到一个新的基本可行解，算法从一个基本可行解向相邻的基本可行解移动，并且目标值不增加。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注意到两个相邻的基本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可行解对应的基变量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中只有一个不同，故可知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上述得到的方向对应于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可行域的一条棱。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该算法由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Dantzig </a:t>
            </a: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1947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年给出。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571898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703B6-3614-4DE5-B693-A7705CA9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5FDBEC-6FA5-4FFB-9BF9-1F9C03D18D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399" y="1600316"/>
                <a:ext cx="7348654" cy="1053673"/>
              </a:xfrm>
              <a:prstGeom prst="rect">
                <a:avLst/>
              </a:prstGeom>
            </p:spPr>
            <p:txBody>
              <a:bodyPr/>
              <a:lstStyle>
                <a:lvl1pPr marL="257175" indent="-2571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57530" indent="-2146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100">
                    <a:solidFill>
                      <a:srgbClr val="336600"/>
                    </a:solidFill>
                    <a:latin typeface="+mn-lt"/>
                    <a:ea typeface="+mn-ea"/>
                  </a:defRPr>
                </a:lvl2pPr>
                <a:lvl3pPr marL="8572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p"/>
                  <a:defRPr sz="1800">
                    <a:solidFill>
                      <a:schemeClr val="folHlink"/>
                    </a:solidFill>
                    <a:latin typeface="+mn-lt"/>
                    <a:ea typeface="+mn-ea"/>
                  </a:defRPr>
                </a:lvl3pPr>
                <a:lvl4pPr marL="12001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885950" indent="-1714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228850" indent="-1714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2571750" indent="-1714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2914650" indent="-1714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=(B</a:t>
                </a:r>
                <a:r>
                  <a:rPr lang="zh-CN" altLang="en-US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N)</a:t>
                </a:r>
                <a:r>
                  <a:rPr lang="zh-CN" altLang="en-US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b="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B=</a:t>
                </a:r>
                <a:r>
                  <a:rPr lang="en-US" altLang="zh-CN" sz="2800" b="0" kern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b>
                        </m:sSub>
                        <m:r>
                          <a:rPr lang="en-US" altLang="zh-CN" sz="2800" b="0" i="1" ker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800" b="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5FDBEC-6FA5-4FFB-9BF9-1F9C03D18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600316"/>
                <a:ext cx="7348654" cy="1053673"/>
              </a:xfrm>
              <a:prstGeom prst="rect">
                <a:avLst/>
              </a:prstGeom>
              <a:blipFill>
                <a:blip r:embed="rId2"/>
                <a:stretch>
                  <a:fillRect t="-6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261C2E-A105-40BB-A54D-6274F38DC2F2}"/>
                  </a:ext>
                </a:extLst>
              </p:cNvPr>
              <p:cNvSpPr txBox="1"/>
              <p:nvPr/>
            </p:nvSpPr>
            <p:spPr>
              <a:xfrm>
                <a:off x="473092" y="2310097"/>
                <a:ext cx="6378499" cy="3698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则    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</a:t>
                </a:r>
                <a:r>
                  <a:rPr lang="en-US" altLang="zh-CN" sz="2800" i="1" dirty="0" err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B</a:t>
                </a:r>
                <a:r>
                  <a:rPr lang="en-US" altLang="zh-CN" sz="28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N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dirty="0" err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e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j</a:t>
                </a:r>
                <a:r>
                  <a:rPr lang="en-US" altLang="zh-CN" sz="28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/>
                  </a:rPr>
                  <a:t>=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dirty="0"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        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Symbol" panose="05050102010706020507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记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y</m:t>
                    </m:r>
                    <m:sSup>
                      <m:sSupPr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b="0" dirty="0">
                    <a:cs typeface="Times New Roman" panose="02020603050405020304" pitchFamily="18" charset="0"/>
                    <a:sym typeface="Symbol" panose="05050102010706020507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  </m:t>
                    </m:r>
                    <m:sSubSup>
                      <m:sSub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Sub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B</m:t>
                        </m:r>
                      </m:sub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(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𝑡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5261C2E-A105-40BB-A54D-6274F38D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2" y="2310097"/>
                <a:ext cx="6378499" cy="3698641"/>
              </a:xfrm>
              <a:prstGeom prst="rect">
                <a:avLst/>
              </a:prstGeom>
              <a:blipFill>
                <a:blip r:embed="rId3"/>
                <a:stretch>
                  <a:fillRect l="-2008" b="-2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CB5FB8C-D59A-496F-BF01-DE5920900848}"/>
              </a:ext>
            </a:extLst>
          </p:cNvPr>
          <p:cNvSpPr txBox="1"/>
          <p:nvPr/>
        </p:nvSpPr>
        <p:spPr>
          <a:xfrm>
            <a:off x="234176" y="108099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</a:p>
        </p:txBody>
      </p:sp>
    </p:spTree>
    <p:extLst>
      <p:ext uri="{BB962C8B-B14F-4D97-AF65-F5344CB8AC3E}">
        <p14:creationId xmlns:p14="http://schemas.microsoft.com/office/powerpoint/2010/main" val="80167505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24568" y="982607"/>
                <a:ext cx="8518710" cy="3310614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则步长</a:t>
                </a:r>
                <a:endParaRPr lang="en-US" altLang="zh-CN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sz="2800" b="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altLang="zh-CN" sz="2800" b="0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∗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sz="2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800" b="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𝑖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|"/>
                            <m:endChr m:val=""/>
                            <m:ctrlP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𝑖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/>
                              </a:rPr>
                              <m:t>&gt;0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=1,2,…,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𝑚</m:t>
                        </m:r>
                      </m:e>
                    </m:d>
                  </m:oMath>
                </a14:m>
                <a:endParaRPr lang="zh-CN" altLang="en-US" sz="2800" b="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24568" y="982607"/>
                <a:ext cx="8518710" cy="3310614"/>
              </a:xfrm>
              <a:prstGeom prst="rect">
                <a:avLst/>
              </a:prstGeom>
              <a:blipFill>
                <a:blip r:embed="rId3"/>
                <a:stretch>
                  <a:fillRect l="-1503" t="-2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BA9321A-9D3D-4769-BB7B-A54AB4F38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391136"/>
              </p:ext>
            </p:extLst>
          </p:nvPr>
        </p:nvGraphicFramePr>
        <p:xfrm>
          <a:off x="1793875" y="3324225"/>
          <a:ext cx="5400675" cy="201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31" name="Equation" r:id="rId4" imgW="2019240" imgH="761760" progId="Equation.DSMT4">
                  <p:embed/>
                </p:oleObj>
              </mc:Choice>
              <mc:Fallback>
                <p:oleObj name="Equation" r:id="rId4" imgW="2019240" imgH="76176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324225"/>
                        <a:ext cx="5400675" cy="201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1BDA440-68A1-4427-9154-7D2237FB29EC}"/>
              </a:ext>
            </a:extLst>
          </p:cNvPr>
          <p:cNvSpPr txBox="1"/>
          <p:nvPr/>
        </p:nvSpPr>
        <p:spPr>
          <a:xfrm>
            <a:off x="501419" y="2602243"/>
            <a:ext cx="49429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666600"/>
              </a:buClr>
              <a:buSzPct val="75000"/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新的基可行解的目标值</a:t>
            </a:r>
            <a:endParaRPr lang="zh-CN" altLang="en-US" sz="280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38622" y="246280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sz="4400" b="0" dirty="0">
                <a:latin typeface="宋体" panose="02010600030101010101" pitchFamily="2" charset="-122"/>
                <a:ea typeface="宋体" panose="02010600030101010101" pitchFamily="2" charset="-122"/>
              </a:rPr>
              <a:t>单纯形法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7EF84E-5C73-4C14-A848-71A9537E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6" y="1125263"/>
            <a:ext cx="7321296" cy="54483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26285" y="1128638"/>
            <a:ext cx="8302405" cy="4830728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注：若有退化的基本可行解，则上述算法迭代时由最小比值原则确定的步长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可能取值为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，进基变量替换离基变量得到的解不发生变化，但基变量会发生变化，此时在新的基下继续进行迭代即可。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单纯形法的收敛性）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对于每个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基可行解都是非退化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问题， 那么经过有限次迭代后，单纯形法或者得到最优基本可行解或判断问题无界。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退化情形下的收敛性后面再讨论。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3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85173596"/>
              </p:ext>
            </p:extLst>
          </p:nvPr>
        </p:nvGraphicFramePr>
        <p:xfrm>
          <a:off x="722365" y="1683551"/>
          <a:ext cx="26797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8" name="Equation" r:id="rId3" imgW="1816100" imgH="1854200" progId="Equation.DSMT4">
                  <p:embed/>
                </p:oleObj>
              </mc:Choice>
              <mc:Fallback>
                <p:oleObj name="Equation" r:id="rId3" imgW="1816100" imgH="185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65" y="1683551"/>
                        <a:ext cx="267970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29766144"/>
              </p:ext>
            </p:extLst>
          </p:nvPr>
        </p:nvGraphicFramePr>
        <p:xfrm>
          <a:off x="4286640" y="2434459"/>
          <a:ext cx="4277497" cy="2635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9" name="Equation" r:id="rId5" imgW="3009900" imgH="1854200" progId="Equation.DSMT4">
                  <p:embed/>
                </p:oleObj>
              </mc:Choice>
              <mc:Fallback>
                <p:oleObj name="Equation" r:id="rId5" imgW="3009900" imgH="1854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640" y="2434459"/>
                        <a:ext cx="4277497" cy="2635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450256" y="1086953"/>
            <a:ext cx="744114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3C2A76-462C-449B-9DC9-34EB36F583A3}"/>
              </a:ext>
            </a:extLst>
          </p:cNvPr>
          <p:cNvSpPr txBox="1"/>
          <p:nvPr/>
        </p:nvSpPr>
        <p:spPr>
          <a:xfrm>
            <a:off x="4114800" y="1777947"/>
            <a:ext cx="4092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解：先化成标准型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1" name="Group 3"/>
          <p:cNvGrpSpPr/>
          <p:nvPr/>
        </p:nvGrpSpPr>
        <p:grpSpPr bwMode="auto">
          <a:xfrm>
            <a:off x="2150022" y="1318268"/>
            <a:ext cx="5323909" cy="3418211"/>
            <a:chOff x="455" y="412"/>
            <a:chExt cx="3534" cy="2314"/>
          </a:xfrm>
        </p:grpSpPr>
        <p:graphicFrame>
          <p:nvGraphicFramePr>
            <p:cNvPr id="1741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7182265"/>
                </p:ext>
              </p:extLst>
            </p:nvPr>
          </p:nvGraphicFramePr>
          <p:xfrm>
            <a:off x="455" y="707"/>
            <a:ext cx="2268" cy="1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29" name="Equation" r:id="rId3" imgW="1562100" imgH="1168400" progId="Equation.DSMT4">
                    <p:embed/>
                  </p:oleObj>
                </mc:Choice>
                <mc:Fallback>
                  <p:oleObj name="Equation" r:id="rId3" imgW="1562100" imgH="1168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" y="707"/>
                          <a:ext cx="2268" cy="16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5"/>
            <p:cNvGraphicFramePr>
              <a:graphicFrameLocks noChangeAspect="1"/>
            </p:cNvGraphicFramePr>
            <p:nvPr/>
          </p:nvGraphicFramePr>
          <p:xfrm>
            <a:off x="2977" y="412"/>
            <a:ext cx="1012" cy="2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30" name="Equation" r:id="rId5" imgW="711200" imgH="1625600" progId="Equation.DSMT4">
                    <p:embed/>
                  </p:oleObj>
                </mc:Choice>
                <mc:Fallback>
                  <p:oleObj name="Equation" r:id="rId5" imgW="711200" imgH="1625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7" y="412"/>
                          <a:ext cx="1012" cy="2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975534-1FF6-4085-A6CE-149CCCA85073}"/>
              </a:ext>
            </a:extLst>
          </p:cNvPr>
          <p:cNvSpPr txBox="1"/>
          <p:nvPr/>
        </p:nvSpPr>
        <p:spPr>
          <a:xfrm>
            <a:off x="367990" y="101966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写成矩阵形式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7B8C06-467B-474D-B0DA-4A9DB98EFFBB}"/>
              </a:ext>
            </a:extLst>
          </p:cNvPr>
          <p:cNvSpPr txBox="1"/>
          <p:nvPr/>
        </p:nvSpPr>
        <p:spPr>
          <a:xfrm>
            <a:off x="730467" y="5005579"/>
            <a:ext cx="63324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取初始基本可行解 </a:t>
            </a:r>
            <a:r>
              <a:rPr lang="en-US" altLang="zh-CN" sz="2800" b="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kern="1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=(2,02,0,0,1,4),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基矩阵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719941" y="2810430"/>
            <a:ext cx="18466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计算检验数：</a:t>
            </a:r>
            <a:endParaRPr kumimoji="1" lang="en-US" altLang="zh-CN" sz="2400" baseline="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CFB26C-5D5D-44FB-9BFE-527DD8B0DDCE}"/>
              </a:ext>
            </a:extLst>
          </p:cNvPr>
          <p:cNvSpPr txBox="1"/>
          <p:nvPr/>
        </p:nvSpPr>
        <p:spPr>
          <a:xfrm>
            <a:off x="751489" y="594286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en-US" altLang="zh-CN" sz="24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=3&gt;0</a:t>
            </a:r>
            <a:r>
              <a:rPr lang="zh-CN" altLang="en-US" sz="24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en-US" altLang="zh-CN" sz="24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sz="24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进基</a:t>
            </a: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BE56C-84D9-4028-B04B-0CDC52095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946" y="2661246"/>
            <a:ext cx="5448300" cy="32171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D079BF-14C9-49F6-AAA7-547EF670E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307" y="1015458"/>
            <a:ext cx="4475409" cy="15967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8EC53A-1951-4864-AED1-2ACB4634A368}"/>
              </a:ext>
            </a:extLst>
          </p:cNvPr>
          <p:cNvSpPr txBox="1"/>
          <p:nvPr/>
        </p:nvSpPr>
        <p:spPr>
          <a:xfrm>
            <a:off x="541283" y="101351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计算主列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1A09B9-0DDD-4D9F-AEFC-920E80E28335}"/>
              </a:ext>
            </a:extLst>
          </p:cNvPr>
          <p:cNvSpPr txBox="1"/>
          <p:nvPr/>
        </p:nvSpPr>
        <p:spPr>
          <a:xfrm>
            <a:off x="625365" y="209607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计算步长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8951684-2BE6-4577-9F38-6C981927B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049529"/>
              </p:ext>
            </p:extLst>
          </p:nvPr>
        </p:nvGraphicFramePr>
        <p:xfrm>
          <a:off x="887631" y="4600135"/>
          <a:ext cx="7908473" cy="15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9" name="Equation" r:id="rId3" imgW="4800600" imgH="914400" progId="Equation.DSMT4">
                  <p:embed/>
                </p:oleObj>
              </mc:Choice>
              <mc:Fallback>
                <p:oleObj name="Equation" r:id="rId3" imgW="48006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7631" y="4600135"/>
                        <a:ext cx="7908473" cy="150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58CB7B6-11AC-4895-9230-B380E74CDE3D}"/>
              </a:ext>
            </a:extLst>
          </p:cNvPr>
          <p:cNvSpPr txBox="1"/>
          <p:nvPr/>
        </p:nvSpPr>
        <p:spPr>
          <a:xfrm>
            <a:off x="719958" y="3893348"/>
            <a:ext cx="7425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此时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B(3)=6 </a:t>
            </a: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离基，计算</a:t>
            </a:r>
            <a:r>
              <a:rPr lang="zh-CN" altLang="en-US" sz="2800" dirty="0"/>
              <a:t>新的基本可行解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5B198F-BD1D-44BA-A1D7-A67BB2CD3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547" y="2860128"/>
            <a:ext cx="6051804" cy="990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BD22DD-FF60-4AB5-B9EA-4269EC94A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067" y="1070899"/>
            <a:ext cx="2090928" cy="17312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572742-D36B-4B5A-8DB0-B279F7B0819D}"/>
              </a:ext>
            </a:extLst>
          </p:cNvPr>
          <p:cNvSpPr txBox="1"/>
          <p:nvPr/>
        </p:nvSpPr>
        <p:spPr>
          <a:xfrm>
            <a:off x="467710" y="1085221"/>
            <a:ext cx="7215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新的基本可行解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x=(1,0,3,0,1,0,3)</a:t>
            </a:r>
            <a:r>
              <a:rPr lang="en-US" altLang="zh-CN" sz="2400" kern="100" baseline="300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新的基矩阵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kern="100" baseline="-250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kern="100" baseline="-250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kern="100" baseline="-250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kern="100" baseline="-250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effectLst/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9536AC-0D00-4EC7-9639-AF66A35DF85D}"/>
              </a:ext>
            </a:extLst>
          </p:cNvPr>
          <p:cNvSpPr txBox="1"/>
          <p:nvPr/>
        </p:nvSpPr>
        <p:spPr>
          <a:xfrm>
            <a:off x="677918" y="4250701"/>
            <a:ext cx="675289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zh-CN" altLang="en-US" sz="24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计算检验数，同理可得</a:t>
            </a:r>
            <a:endParaRPr lang="zh-CN" altLang="en-US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-c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=-4</a:t>
            </a:r>
            <a:r>
              <a:rPr lang="zh-CN" altLang="en-US" sz="24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-c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=1, z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-c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=-3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-c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=1&gt;0</a:t>
            </a:r>
            <a:r>
              <a:rPr lang="zh-CN" altLang="en-US" sz="24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为最大，故</a:t>
            </a:r>
            <a:r>
              <a:rPr lang="en-US" altLang="zh-CN" sz="24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进基</a:t>
            </a:r>
            <a:endParaRPr lang="zh-CN" altLang="en-US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zh-CN" altLang="en-US" sz="32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4AB540-023E-46EF-A8B2-934E0B49C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27" y="2371764"/>
            <a:ext cx="4636008" cy="165201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07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925513814"/>
              </p:ext>
            </p:extLst>
          </p:nvPr>
        </p:nvGraphicFramePr>
        <p:xfrm>
          <a:off x="1876425" y="1079500"/>
          <a:ext cx="258445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28" name="Equation" r:id="rId3" imgW="1434960" imgH="1218960" progId="Equation.DSMT4">
                  <p:embed/>
                </p:oleObj>
              </mc:Choice>
              <mc:Fallback>
                <p:oleObj name="Equation" r:id="rId3" imgW="1434960" imgH="1218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079500"/>
                        <a:ext cx="258445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343825667"/>
              </p:ext>
            </p:extLst>
          </p:nvPr>
        </p:nvGraphicFramePr>
        <p:xfrm>
          <a:off x="2427288" y="3509963"/>
          <a:ext cx="15081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29" name="Equation" r:id="rId5" imgW="1015920" imgH="596880" progId="Equation.DSMT4">
                  <p:embed/>
                </p:oleObj>
              </mc:Choice>
              <mc:Fallback>
                <p:oleObj name="Equation" r:id="rId5" imgW="1015920" imgH="596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3509963"/>
                        <a:ext cx="15081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8E08CCA-9549-41B8-8814-0095C8B530FC}"/>
              </a:ext>
            </a:extLst>
          </p:cNvPr>
          <p:cNvSpPr txBox="1"/>
          <p:nvPr/>
        </p:nvSpPr>
        <p:spPr>
          <a:xfrm>
            <a:off x="762001" y="4528885"/>
            <a:ext cx="67003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B(1)=1,x</a:t>
            </a:r>
            <a:r>
              <a:rPr lang="en-US" altLang="zh-CN" sz="2800" b="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离基</a:t>
            </a:r>
            <a:r>
              <a:rPr lang="zh-CN" altLang="en-US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得到新的基本可行解</a:t>
            </a:r>
            <a:r>
              <a:rPr lang="en-US" altLang="zh-CN" sz="2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x=(0,0,3,1,2,0,3)</a:t>
            </a:r>
            <a:r>
              <a:rPr lang="en-US" altLang="zh-CN" sz="2800" b="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altLang="en-US" sz="2800" kern="100" baseline="300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A32AFD-162A-44F9-94D6-BC27B78A5ED1}"/>
              </a:ext>
            </a:extLst>
          </p:cNvPr>
          <p:cNvSpPr txBox="1"/>
          <p:nvPr/>
        </p:nvSpPr>
        <p:spPr>
          <a:xfrm>
            <a:off x="677917" y="3136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由最小比值原则，计算步长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AA616F-F834-4D15-9795-ACE2766FB8EC}"/>
              </a:ext>
            </a:extLst>
          </p:cNvPr>
          <p:cNvSpPr txBox="1"/>
          <p:nvPr/>
        </p:nvSpPr>
        <p:spPr>
          <a:xfrm>
            <a:off x="562303" y="11921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计算主列</a:t>
            </a:r>
            <a:endParaRPr lang="zh-CN" altLang="en-US" sz="2800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5760" y="1106204"/>
            <a:ext cx="7033523" cy="617493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新的基为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B=(A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1457528"/>
              </p:ext>
            </p:extLst>
          </p:nvPr>
        </p:nvGraphicFramePr>
        <p:xfrm>
          <a:off x="1974507" y="1948416"/>
          <a:ext cx="4489450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20" name="Equation" r:id="rId3" imgW="3378200" imgH="1219200" progId="Equation.DSMT4">
                  <p:embed/>
                </p:oleObj>
              </mc:Choice>
              <mc:Fallback>
                <p:oleObj name="Equation" r:id="rId3" imgW="3378200" imgH="1219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507" y="1948416"/>
                        <a:ext cx="4489450" cy="156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FFD7965-41AC-45EA-8726-DF11E8D61960}"/>
              </a:ext>
            </a:extLst>
          </p:cNvPr>
          <p:cNvSpPr txBox="1"/>
          <p:nvPr/>
        </p:nvSpPr>
        <p:spPr>
          <a:xfrm>
            <a:off x="467709" y="3742472"/>
            <a:ext cx="857118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计算检验数，同理可得</a:t>
            </a:r>
            <a:endParaRPr lang="en-US" altLang="zh-CN" sz="2800" b="0" kern="1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ts val="0"/>
              </a:spcBef>
              <a:spcAft>
                <a:spcPts val="0"/>
              </a:spcAft>
            </a:pPr>
            <a:endParaRPr lang="zh-CN" altLang="en-US" sz="28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=-1,z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=-4</a:t>
            </a:r>
            <a:r>
              <a:rPr lang="zh-CN" altLang="en-US" sz="28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en-US" altLang="zh-CN" sz="2800" b="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800" b="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=-3,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400" b="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所有的检验数均非正，故当前解为最优解，</a:t>
            </a:r>
            <a:endParaRPr lang="en-US" altLang="zh-CN" sz="2800" b="0" kern="1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算法结束。</a:t>
            </a:r>
            <a:endParaRPr lang="zh-CN" altLang="en-US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3333CC"/>
                </a:solidFill>
              </a:rPr>
              <a:t>表格形式的单纯形方法</a:t>
            </a:r>
            <a:endParaRPr lang="zh-CN" altLang="en-US" dirty="0"/>
          </a:p>
        </p:txBody>
      </p:sp>
      <p:graphicFrame>
        <p:nvGraphicFramePr>
          <p:cNvPr id="2560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57150154"/>
              </p:ext>
            </p:extLst>
          </p:nvPr>
        </p:nvGraphicFramePr>
        <p:xfrm>
          <a:off x="2123527" y="1193143"/>
          <a:ext cx="3771900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1" name="Equation" r:id="rId3" imgW="3593880" imgH="1346040" progId="Equation.DSMT4">
                  <p:embed/>
                </p:oleObj>
              </mc:Choice>
              <mc:Fallback>
                <p:oleObj name="Equation" r:id="rId3" imgW="3593880" imgH="1346040" progId="Equation.DSMT4">
                  <p:embed/>
                  <p:pic>
                    <p:nvPicPr>
                      <p:cNvPr id="256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527" y="1193143"/>
                        <a:ext cx="3771900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32493757"/>
              </p:ext>
            </p:extLst>
          </p:nvPr>
        </p:nvGraphicFramePr>
        <p:xfrm>
          <a:off x="620166" y="2656052"/>
          <a:ext cx="736282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2" name="Equation" r:id="rId5" imgW="4736880" imgH="609480" progId="Equation.DSMT4">
                  <p:embed/>
                </p:oleObj>
              </mc:Choice>
              <mc:Fallback>
                <p:oleObj name="Equation" r:id="rId5" imgW="4736880" imgH="609480" progId="Equation.DSMT4">
                  <p:embed/>
                  <p:pic>
                    <p:nvPicPr>
                      <p:cNvPr id="40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166" y="2656052"/>
                        <a:ext cx="736282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652007893"/>
              </p:ext>
            </p:extLst>
          </p:nvPr>
        </p:nvGraphicFramePr>
        <p:xfrm>
          <a:off x="2424570" y="4050844"/>
          <a:ext cx="3455988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33" name="Equation" r:id="rId7" imgW="2032000" imgH="1193800" progId="Equation.DSMT4">
                  <p:embed/>
                </p:oleObj>
              </mc:Choice>
              <mc:Fallback>
                <p:oleObj name="Equation" r:id="rId7" imgW="2032000" imgH="1193800" progId="Equation.DSMT4">
                  <p:embed/>
                  <p:pic>
                    <p:nvPicPr>
                      <p:cNvPr id="409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570" y="4050844"/>
                        <a:ext cx="3455988" cy="203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69848" y="3557953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则标准型等价于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219C1D-7CCF-45A7-BEAC-AE8980B6E1E5}"/>
              </a:ext>
            </a:extLst>
          </p:cNvPr>
          <p:cNvSpPr/>
          <p:nvPr/>
        </p:nvSpPr>
        <p:spPr>
          <a:xfrm>
            <a:off x="459489" y="1051236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考虑标准型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>
                <a:solidFill>
                  <a:srgbClr val="3333CC"/>
                </a:solidFill>
              </a:rPr>
              <a:t> </a:t>
            </a:r>
            <a:endParaRPr lang="en-US" altLang="zh-CN" sz="3200" b="1" dirty="0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41991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32346727"/>
              </p:ext>
            </p:extLst>
          </p:nvPr>
        </p:nvGraphicFramePr>
        <p:xfrm>
          <a:off x="832088" y="1960067"/>
          <a:ext cx="7343775" cy="252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48" name="Equation" r:id="rId3" imgW="3619500" imgH="1244600" progId="Equation.DSMT4">
                  <p:embed/>
                </p:oleObj>
              </mc:Choice>
              <mc:Fallback>
                <p:oleObj name="Equation" r:id="rId3" imgW="3619500" imgH="124460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88" y="1960067"/>
                        <a:ext cx="7343775" cy="252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74667176"/>
              </p:ext>
            </p:extLst>
          </p:nvPr>
        </p:nvGraphicFramePr>
        <p:xfrm>
          <a:off x="827088" y="1155700"/>
          <a:ext cx="68405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49" name="Equation" r:id="rId5" imgW="4051080" imgH="304560" progId="Equation.DSMT4">
                  <p:embed/>
                </p:oleObj>
              </mc:Choice>
              <mc:Fallback>
                <p:oleObj name="Equation" r:id="rId5" imgW="4051080" imgH="304560" progId="Equation.DSMT4">
                  <p:embed/>
                  <p:pic>
                    <p:nvPicPr>
                      <p:cNvPr id="2663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55700"/>
                        <a:ext cx="68405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680402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360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4D46F6-75AF-4568-A6BF-8987C95F6BE0}"/>
              </a:ext>
            </a:extLst>
          </p:cNvPr>
          <p:cNvSpPr/>
          <p:nvPr/>
        </p:nvSpPr>
        <p:spPr>
          <a:xfrm>
            <a:off x="653929" y="4714091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将其写到如下表格里面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350" name="Group 62"/>
          <p:cNvGraphicFramePr>
            <a:graphicFrameLocks noGrp="1"/>
          </p:cNvGraphicFramePr>
          <p:nvPr>
            <p:ph sz="quarter" idx="4294967295"/>
          </p:nvPr>
        </p:nvGraphicFramePr>
        <p:xfrm>
          <a:off x="1226604" y="1648025"/>
          <a:ext cx="7416882" cy="1525588"/>
        </p:xfrm>
        <a:graphic>
          <a:graphicData uri="http://schemas.openxmlformats.org/drawingml/2006/table">
            <a:tbl>
              <a:tblPr/>
              <a:tblGrid>
                <a:gridCol w="14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7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3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34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68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01735335"/>
              </p:ext>
            </p:extLst>
          </p:nvPr>
        </p:nvGraphicFramePr>
        <p:xfrm>
          <a:off x="720342" y="3440550"/>
          <a:ext cx="5575355" cy="1123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21" name="Equation" r:id="rId3" imgW="3657600" imgH="736560" progId="Equation.DSMT4">
                  <p:embed/>
                </p:oleObj>
              </mc:Choice>
              <mc:Fallback>
                <p:oleObj name="Equation" r:id="rId3" imgW="3657600" imgH="736560" progId="Equation.DSMT4">
                  <p:embed/>
                  <p:pic>
                    <p:nvPicPr>
                      <p:cNvPr id="276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342" y="3440550"/>
                        <a:ext cx="5575355" cy="1123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864421"/>
              </p:ext>
            </p:extLst>
          </p:nvPr>
        </p:nvGraphicFramePr>
        <p:xfrm>
          <a:off x="916617" y="4577036"/>
          <a:ext cx="5431968" cy="1047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22" name="Equation" r:id="rId5" imgW="82296000" imgH="15849600" progId="Equation.DSMT4">
                  <p:embed/>
                </p:oleObj>
              </mc:Choice>
              <mc:Fallback>
                <p:oleObj name="Equation" r:id="rId5" imgW="82296000" imgH="15849600" progId="Equation.DSMT4">
                  <p:embed/>
                  <p:pic>
                    <p:nvPicPr>
                      <p:cNvPr id="2767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617" y="4577036"/>
                        <a:ext cx="5431968" cy="1047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71" name="Group 57"/>
          <p:cNvGrpSpPr/>
          <p:nvPr/>
        </p:nvGrpSpPr>
        <p:grpSpPr bwMode="auto">
          <a:xfrm>
            <a:off x="333393" y="826988"/>
            <a:ext cx="7850187" cy="2243137"/>
            <a:chOff x="158" y="935"/>
            <a:chExt cx="4945" cy="1413"/>
          </a:xfrm>
        </p:grpSpPr>
        <p:grpSp>
          <p:nvGrpSpPr>
            <p:cNvPr id="27672" name="Group 56"/>
            <p:cNvGrpSpPr/>
            <p:nvPr/>
          </p:nvGrpSpPr>
          <p:grpSpPr bwMode="auto">
            <a:xfrm>
              <a:off x="2699" y="1434"/>
              <a:ext cx="2404" cy="914"/>
              <a:chOff x="2699" y="1434"/>
              <a:chExt cx="2404" cy="914"/>
            </a:xfrm>
          </p:grpSpPr>
          <p:graphicFrame>
            <p:nvGraphicFramePr>
              <p:cNvPr id="27681" name="Object 38"/>
              <p:cNvGraphicFramePr>
                <a:graphicFrameLocks noChangeAspect="1"/>
              </p:cNvGraphicFramePr>
              <p:nvPr/>
            </p:nvGraphicFramePr>
            <p:xfrm>
              <a:off x="2880" y="1434"/>
              <a:ext cx="726" cy="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3" name="Equation" r:id="rId7" imgW="482600" imgH="254000" progId="Equation.DSMT4">
                      <p:embed/>
                    </p:oleObj>
                  </mc:Choice>
                  <mc:Fallback>
                    <p:oleObj name="Equation" r:id="rId7" imgW="482600" imgH="254000" progId="Equation.DSMT4">
                      <p:embed/>
                      <p:pic>
                        <p:nvPicPr>
                          <p:cNvPr id="27681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434"/>
                            <a:ext cx="726" cy="3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2" name="Object 40"/>
              <p:cNvGraphicFramePr>
                <a:graphicFrameLocks noChangeAspect="1"/>
              </p:cNvGraphicFramePr>
              <p:nvPr/>
            </p:nvGraphicFramePr>
            <p:xfrm>
              <a:off x="2699" y="1933"/>
              <a:ext cx="1315" cy="4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4" name="Equation" r:id="rId9" imgW="964565" imgH="304800" progId="Equation.DSMT4">
                      <p:embed/>
                    </p:oleObj>
                  </mc:Choice>
                  <mc:Fallback>
                    <p:oleObj name="Equation" r:id="rId9" imgW="964565" imgH="304800" progId="Equation.DSMT4">
                      <p:embed/>
                      <p:pic>
                        <p:nvPicPr>
                          <p:cNvPr id="27682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9" y="1933"/>
                            <a:ext cx="1315" cy="4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3" name="Object 42"/>
              <p:cNvGraphicFramePr>
                <a:graphicFrameLocks noChangeAspect="1"/>
              </p:cNvGraphicFramePr>
              <p:nvPr/>
            </p:nvGraphicFramePr>
            <p:xfrm>
              <a:off x="4377" y="1434"/>
              <a:ext cx="590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5" name="Equation" r:id="rId11" imgW="405765" imgH="254000" progId="Equation.DSMT4">
                      <p:embed/>
                    </p:oleObj>
                  </mc:Choice>
                  <mc:Fallback>
                    <p:oleObj name="Equation" r:id="rId11" imgW="405765" imgH="254000" progId="Equation.DSMT4">
                      <p:embed/>
                      <p:pic>
                        <p:nvPicPr>
                          <p:cNvPr id="27683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7" y="1434"/>
                            <a:ext cx="590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4" name="Object 43"/>
              <p:cNvGraphicFramePr>
                <a:graphicFrameLocks noChangeAspect="1"/>
              </p:cNvGraphicFramePr>
              <p:nvPr/>
            </p:nvGraphicFramePr>
            <p:xfrm>
              <a:off x="4332" y="1933"/>
              <a:ext cx="771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6" name="Equation" r:id="rId13" imgW="584200" imgH="304800" progId="Equation.DSMT4">
                      <p:embed/>
                    </p:oleObj>
                  </mc:Choice>
                  <mc:Fallback>
                    <p:oleObj name="Equation" r:id="rId13" imgW="584200" imgH="304800" progId="Equation.DSMT4">
                      <p:embed/>
                      <p:pic>
                        <p:nvPicPr>
                          <p:cNvPr id="27684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1933"/>
                            <a:ext cx="771" cy="4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3" name="Group 55"/>
            <p:cNvGrpSpPr/>
            <p:nvPr/>
          </p:nvGrpSpPr>
          <p:grpSpPr bwMode="auto">
            <a:xfrm>
              <a:off x="158" y="1298"/>
              <a:ext cx="454" cy="953"/>
              <a:chOff x="158" y="1298"/>
              <a:chExt cx="454" cy="953"/>
            </a:xfrm>
          </p:grpSpPr>
          <p:sp>
            <p:nvSpPr>
              <p:cNvPr id="27679" name="Rectangle 30"/>
              <p:cNvSpPr>
                <a:spLocks noChangeArrowheads="1"/>
              </p:cNvSpPr>
              <p:nvPr/>
            </p:nvSpPr>
            <p:spPr bwMode="auto">
              <a:xfrm>
                <a:off x="249" y="1979"/>
                <a:ext cx="36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f</a:t>
                </a:r>
                <a:endParaRPr lang="en-US" altLang="zh-CN" sz="2000" i="1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7680" name="Object 46"/>
              <p:cNvGraphicFramePr>
                <a:graphicFrameLocks noChangeAspect="1"/>
              </p:cNvGraphicFramePr>
              <p:nvPr/>
            </p:nvGraphicFramePr>
            <p:xfrm>
              <a:off x="158" y="1298"/>
              <a:ext cx="408" cy="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7" name="Equation" r:id="rId15" imgW="228600" imgH="279400" progId="Equation.DSMT4">
                      <p:embed/>
                    </p:oleObj>
                  </mc:Choice>
                  <mc:Fallback>
                    <p:oleObj name="Equation" r:id="rId15" imgW="228600" imgH="279400" progId="Equation.DSMT4">
                      <p:embed/>
                      <p:pic>
                        <p:nvPicPr>
                          <p:cNvPr id="2768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" y="1298"/>
                            <a:ext cx="408" cy="4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4" name="Group 54"/>
            <p:cNvGrpSpPr/>
            <p:nvPr/>
          </p:nvGrpSpPr>
          <p:grpSpPr bwMode="auto">
            <a:xfrm>
              <a:off x="930" y="935"/>
              <a:ext cx="4013" cy="447"/>
              <a:chOff x="930" y="935"/>
              <a:chExt cx="4013" cy="447"/>
            </a:xfrm>
          </p:grpSpPr>
          <p:graphicFrame>
            <p:nvGraphicFramePr>
              <p:cNvPr id="27675" name="Object 33"/>
              <p:cNvGraphicFramePr>
                <a:graphicFrameLocks noChangeAspect="1"/>
              </p:cNvGraphicFramePr>
              <p:nvPr/>
            </p:nvGraphicFramePr>
            <p:xfrm>
              <a:off x="1837" y="935"/>
              <a:ext cx="366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8" name="Equation" r:id="rId17" imgW="228600" imgH="279400" progId="Equation.DSMT4">
                      <p:embed/>
                    </p:oleObj>
                  </mc:Choice>
                  <mc:Fallback>
                    <p:oleObj name="Equation" r:id="rId17" imgW="228600" imgH="279400" progId="Equation.DSMT4">
                      <p:embed/>
                      <p:pic>
                        <p:nvPicPr>
                          <p:cNvPr id="27675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7" y="935"/>
                            <a:ext cx="366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6" name="Rectangle 31"/>
              <p:cNvSpPr>
                <a:spLocks noChangeArrowheads="1"/>
              </p:cNvSpPr>
              <p:nvPr/>
            </p:nvSpPr>
            <p:spPr bwMode="auto">
              <a:xfrm>
                <a:off x="930" y="1026"/>
                <a:ext cx="178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f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7677" name="Object 41"/>
              <p:cNvGraphicFramePr>
                <a:graphicFrameLocks noChangeAspect="1"/>
              </p:cNvGraphicFramePr>
              <p:nvPr/>
            </p:nvGraphicFramePr>
            <p:xfrm>
              <a:off x="3152" y="935"/>
              <a:ext cx="385" cy="4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129" name="Equation" r:id="rId19" imgW="241300" imgH="279400" progId="Equation.DSMT4">
                      <p:embed/>
                    </p:oleObj>
                  </mc:Choice>
                  <mc:Fallback>
                    <p:oleObj name="Equation" r:id="rId19" imgW="241300" imgH="279400" progId="Equation.DSMT4">
                      <p:embed/>
                      <p:pic>
                        <p:nvPicPr>
                          <p:cNvPr id="27677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2" y="935"/>
                            <a:ext cx="385" cy="4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8" name="Rectangle 53"/>
              <p:cNvSpPr>
                <a:spLocks noChangeArrowheads="1"/>
              </p:cNvSpPr>
              <p:nvPr/>
            </p:nvSpPr>
            <p:spPr bwMode="auto">
              <a:xfrm>
                <a:off x="4377" y="1026"/>
                <a:ext cx="566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FontTx/>
                  <a:buNone/>
                </a:pPr>
                <a:r>
                  <a:rPr lang="zh-CN" altLang="en-US" sz="2800" b="1"/>
                  <a:t>右端</a:t>
                </a:r>
              </a:p>
            </p:txBody>
          </p: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0A6DF0FE-0B31-4ED8-83D5-51C9739C589E}"/>
              </a:ext>
            </a:extLst>
          </p:cNvPr>
          <p:cNvSpPr/>
          <p:nvPr/>
        </p:nvSpPr>
        <p:spPr>
          <a:xfrm>
            <a:off x="580800" y="5754615"/>
            <a:ext cx="7401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不妨设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列组成，上述表格可以写成如下形式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4786313" y="4071938"/>
            <a:ext cx="1752600" cy="2057400"/>
            <a:chOff x="3168" y="2736"/>
            <a:chExt cx="1104" cy="1296"/>
          </a:xfrm>
        </p:grpSpPr>
        <p:sp>
          <p:nvSpPr>
            <p:cNvPr id="28693" name="Oval 3"/>
            <p:cNvSpPr>
              <a:spLocks noChangeArrowheads="1"/>
            </p:cNvSpPr>
            <p:nvPr/>
          </p:nvSpPr>
          <p:spPr bwMode="auto">
            <a:xfrm>
              <a:off x="3648" y="2736"/>
              <a:ext cx="624" cy="480"/>
            </a:xfrm>
            <a:prstGeom prst="ellipse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28694" name="Line 4"/>
            <p:cNvSpPr>
              <a:spLocks noChangeShapeType="1"/>
            </p:cNvSpPr>
            <p:nvPr/>
          </p:nvSpPr>
          <p:spPr bwMode="auto">
            <a:xfrm flipH="1">
              <a:off x="3168" y="3120"/>
              <a:ext cx="672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75" name="Rectangle 5"/>
          <p:cNvSpPr>
            <a:spLocks noGrp="1" noChangeArrowheads="1"/>
          </p:cNvSpPr>
          <p:nvPr>
            <p:ph type="title"/>
          </p:nvPr>
        </p:nvSpPr>
        <p:spPr>
          <a:xfrm>
            <a:off x="404229" y="105329"/>
            <a:ext cx="8004047" cy="746009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3333CC"/>
                </a:solidFill>
                <a:ea typeface="楷体_GB2312" panose="02010609030101010101" pitchFamily="49" charset="-122"/>
              </a:rPr>
              <a:t>单纯形表</a:t>
            </a:r>
            <a:endParaRPr lang="en-US" altLang="zh-CN" sz="3200" b="1" dirty="0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28676" name="Group 6"/>
          <p:cNvGrpSpPr/>
          <p:nvPr/>
        </p:nvGrpSpPr>
        <p:grpSpPr bwMode="auto">
          <a:xfrm>
            <a:off x="357188" y="2241550"/>
            <a:ext cx="8429625" cy="3571875"/>
            <a:chOff x="-144" y="1440"/>
            <a:chExt cx="6295" cy="2448"/>
          </a:xfrm>
        </p:grpSpPr>
        <p:graphicFrame>
          <p:nvGraphicFramePr>
            <p:cNvPr id="2868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8632318"/>
                </p:ext>
              </p:extLst>
            </p:nvPr>
          </p:nvGraphicFramePr>
          <p:xfrm>
            <a:off x="-144" y="1440"/>
            <a:ext cx="6242" cy="2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89" name="Equation" r:id="rId3" imgW="4533840" imgH="1600200" progId="Equation.DSMT4">
                    <p:embed/>
                  </p:oleObj>
                </mc:Choice>
                <mc:Fallback>
                  <p:oleObj name="Equation" r:id="rId3" imgW="4533840" imgH="1600200" progId="Equation.DSMT4">
                    <p:embed/>
                    <p:pic>
                      <p:nvPicPr>
                        <p:cNvPr id="2868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 contras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44" y="1440"/>
                          <a:ext cx="6242" cy="2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6" name="Group 8"/>
            <p:cNvGrpSpPr/>
            <p:nvPr/>
          </p:nvGrpSpPr>
          <p:grpSpPr bwMode="auto">
            <a:xfrm>
              <a:off x="229" y="1783"/>
              <a:ext cx="5922" cy="2105"/>
              <a:chOff x="229" y="1783"/>
              <a:chExt cx="5922" cy="2105"/>
            </a:xfrm>
          </p:grpSpPr>
          <p:sp>
            <p:nvSpPr>
              <p:cNvPr id="28687" name="Line 9"/>
              <p:cNvSpPr>
                <a:spLocks noChangeShapeType="1"/>
              </p:cNvSpPr>
              <p:nvPr/>
            </p:nvSpPr>
            <p:spPr bwMode="auto">
              <a:xfrm>
                <a:off x="229" y="1793"/>
                <a:ext cx="5869" cy="31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88" name="Line 10"/>
              <p:cNvSpPr>
                <a:spLocks noChangeShapeType="1"/>
              </p:cNvSpPr>
              <p:nvPr/>
            </p:nvSpPr>
            <p:spPr bwMode="auto">
              <a:xfrm>
                <a:off x="229" y="2059"/>
                <a:ext cx="5922" cy="31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89" name="Line 11"/>
              <p:cNvSpPr>
                <a:spLocks noChangeShapeType="1"/>
              </p:cNvSpPr>
              <p:nvPr/>
            </p:nvSpPr>
            <p:spPr bwMode="auto">
              <a:xfrm flipV="1">
                <a:off x="229" y="3821"/>
                <a:ext cx="5869" cy="31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0" name="Line 12"/>
              <p:cNvSpPr>
                <a:spLocks noChangeShapeType="1"/>
              </p:cNvSpPr>
              <p:nvPr/>
            </p:nvSpPr>
            <p:spPr bwMode="auto">
              <a:xfrm flipV="1">
                <a:off x="6091" y="1814"/>
                <a:ext cx="34" cy="2025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1" name="Line 13"/>
              <p:cNvSpPr>
                <a:spLocks noChangeShapeType="1"/>
              </p:cNvSpPr>
              <p:nvPr/>
            </p:nvSpPr>
            <p:spPr bwMode="auto">
              <a:xfrm flipH="1" flipV="1">
                <a:off x="5511" y="1824"/>
                <a:ext cx="0" cy="206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2" name="Line 14"/>
              <p:cNvSpPr>
                <a:spLocks noChangeShapeType="1"/>
              </p:cNvSpPr>
              <p:nvPr/>
            </p:nvSpPr>
            <p:spPr bwMode="auto">
              <a:xfrm flipH="1" flipV="1">
                <a:off x="229" y="1783"/>
                <a:ext cx="0" cy="206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711" name="AutoShape 15"/>
          <p:cNvSpPr>
            <a:spLocks noChangeArrowheads="1"/>
          </p:cNvSpPr>
          <p:nvPr/>
        </p:nvSpPr>
        <p:spPr bwMode="auto">
          <a:xfrm>
            <a:off x="3571875" y="1428750"/>
            <a:ext cx="1905000" cy="609600"/>
          </a:xfrm>
          <a:prstGeom prst="wedgeRoundRectCallout">
            <a:avLst>
              <a:gd name="adj1" fmla="val 68750"/>
              <a:gd name="adj2" fmla="val 9453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进基变量</a:t>
            </a:r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 flipH="1">
            <a:off x="214313" y="857250"/>
            <a:ext cx="1981200" cy="609600"/>
          </a:xfrm>
          <a:prstGeom prst="wedgeRoundRectCallout">
            <a:avLst>
              <a:gd name="adj1" fmla="val 25477"/>
              <a:gd name="adj2" fmla="val 52968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离基变量</a:t>
            </a: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3786188" y="60721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旋转元</a:t>
            </a:r>
          </a:p>
        </p:txBody>
      </p:sp>
      <p:sp>
        <p:nvSpPr>
          <p:cNvPr id="29714" name="AutoShape 18"/>
          <p:cNvSpPr>
            <a:spLocks noChangeArrowheads="1"/>
          </p:cNvSpPr>
          <p:nvPr/>
        </p:nvSpPr>
        <p:spPr bwMode="auto">
          <a:xfrm flipH="1">
            <a:off x="7019925" y="845250"/>
            <a:ext cx="1981200" cy="609600"/>
          </a:xfrm>
          <a:prstGeom prst="wedgeRoundRectCallout">
            <a:avLst>
              <a:gd name="adj1" fmla="val -20522"/>
              <a:gd name="adj2" fmla="val 1894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右端向量</a:t>
            </a:r>
          </a:p>
        </p:txBody>
      </p:sp>
      <p:sp>
        <p:nvSpPr>
          <p:cNvPr id="28682" name="Rectangle 36"/>
          <p:cNvSpPr>
            <a:spLocks noChangeArrowheads="1"/>
          </p:cNvSpPr>
          <p:nvPr/>
        </p:nvSpPr>
        <p:spPr bwMode="auto">
          <a:xfrm>
            <a:off x="323850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1" grpId="0" animBg="1" autoUpdateAnimBg="0"/>
      <p:bldP spid="29712" grpId="0" animBg="1" autoUpdateAnimBg="0"/>
      <p:bldP spid="29713" grpId="0" autoUpdateAnimBg="0"/>
      <p:bldP spid="29714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1042988" y="1700213"/>
          <a:ext cx="4814887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20" name="Document" r:id="rId3" imgW="2733675" imgH="828675" progId="Word.Document.8">
                  <p:embed/>
                </p:oleObj>
              </mc:Choice>
              <mc:Fallback>
                <p:oleObj name="Document" r:id="rId3" imgW="2733675" imgH="828675" progId="Word.Document.8">
                  <p:embed/>
                  <p:pic>
                    <p:nvPicPr>
                      <p:cNvPr id="296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00213"/>
                        <a:ext cx="4814887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714375" y="3714750"/>
          <a:ext cx="7545388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21" name="文档" r:id="rId5" imgW="3328670" imgH="791210" progId="Word.Document.8">
                  <p:embed/>
                </p:oleObj>
              </mc:Choice>
              <mc:Fallback>
                <p:oleObj name="文档" r:id="rId5" imgW="3328670" imgH="791210" progId="Word.Document.8">
                  <p:embed/>
                  <p:pic>
                    <p:nvPicPr>
                      <p:cNvPr id="307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714750"/>
                        <a:ext cx="7545388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468313" y="105251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： 求解线性规划问题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642938" y="314325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化成标准化形式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250825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539750" y="3862388"/>
          <a:ext cx="8423275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44" name="文档" r:id="rId3" imgW="4025900" imgH="788670" progId="Word.Document.8">
                  <p:embed/>
                </p:oleObj>
              </mc:Choice>
              <mc:Fallback>
                <p:oleObj name="文档" r:id="rId3" imgW="4025900" imgH="788670" progId="Word.Document.8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862388"/>
                        <a:ext cx="8423275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258888" y="4646613"/>
            <a:ext cx="6697662" cy="438150"/>
          </a:xfrm>
          <a:prstGeom prst="rect">
            <a:avLst/>
          </a:prstGeom>
          <a:noFill/>
          <a:ln w="28575">
            <a:solidFill>
              <a:srgbClr val="00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209800" y="3860800"/>
            <a:ext cx="762000" cy="1684338"/>
          </a:xfrm>
          <a:prstGeom prst="rect">
            <a:avLst/>
          </a:prstGeom>
          <a:noFill/>
          <a:ln w="28575">
            <a:solidFill>
              <a:srgbClr val="00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042988" y="2133600"/>
            <a:ext cx="65373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2843213" y="1268413"/>
            <a:ext cx="533400" cy="1200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318294" y="910430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写出单纯形表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7667625" y="1628775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25/1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7667625" y="2143125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36/2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2843213" y="2060575"/>
            <a:ext cx="533400" cy="5334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312420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88620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-3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472440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548640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622935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7067550" y="424973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-72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3186113" y="4675188"/>
            <a:ext cx="665162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3848100" y="46529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4770438" y="4652963"/>
            <a:ext cx="665162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5505450" y="467518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6283325" y="46529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-1/2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8001000" y="45085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7/0.5</a:t>
            </a: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3105150" y="50847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3867150" y="510698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4724400" y="50847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5505450" y="50847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71" name="Text Box 27"/>
          <p:cNvSpPr txBox="1">
            <a:spLocks noChangeArrowheads="1"/>
          </p:cNvSpPr>
          <p:nvPr/>
        </p:nvSpPr>
        <p:spPr bwMode="auto">
          <a:xfrm>
            <a:off x="6267450" y="50847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8001000" y="5059363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18/0.5</a:t>
            </a:r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1447800" y="510698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x2</a:t>
            </a:r>
          </a:p>
        </p:txBody>
      </p:sp>
      <p:sp>
        <p:nvSpPr>
          <p:cNvPr id="31774" name="Text Box 30"/>
          <p:cNvSpPr txBox="1">
            <a:spLocks noChangeArrowheads="1"/>
          </p:cNvSpPr>
          <p:nvPr/>
        </p:nvSpPr>
        <p:spPr bwMode="auto">
          <a:xfrm>
            <a:off x="7146925" y="46529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1775" name="Text Box 31"/>
          <p:cNvSpPr txBox="1">
            <a:spLocks noChangeArrowheads="1"/>
          </p:cNvSpPr>
          <p:nvPr/>
        </p:nvSpPr>
        <p:spPr bwMode="auto">
          <a:xfrm>
            <a:off x="7172325" y="50720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2305050" y="4314825"/>
            <a:ext cx="665163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2266950" y="46529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2286000" y="5084763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1779" name="Text Box 35"/>
          <p:cNvSpPr txBox="1">
            <a:spLocks noChangeArrowheads="1"/>
          </p:cNvSpPr>
          <p:nvPr/>
        </p:nvSpPr>
        <p:spPr bwMode="auto">
          <a:xfrm>
            <a:off x="1447800" y="4725988"/>
            <a:ext cx="66516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x5</a:t>
            </a:r>
            <a:endParaRPr lang="en-US" altLang="zh-CN" sz="2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0" name="Oval 36"/>
          <p:cNvSpPr>
            <a:spLocks noChangeArrowheads="1"/>
          </p:cNvSpPr>
          <p:nvPr/>
        </p:nvSpPr>
        <p:spPr bwMode="auto">
          <a:xfrm>
            <a:off x="2286000" y="4652963"/>
            <a:ext cx="609600" cy="3810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1781" name="Text Box 37"/>
          <p:cNvSpPr txBox="1">
            <a:spLocks noChangeArrowheads="1"/>
          </p:cNvSpPr>
          <p:nvPr/>
        </p:nvSpPr>
        <p:spPr bwMode="auto">
          <a:xfrm>
            <a:off x="3203575" y="27813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离基，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2" name="Text Box 38"/>
          <p:cNvSpPr txBox="1">
            <a:spLocks noChangeArrowheads="1"/>
          </p:cNvSpPr>
          <p:nvPr/>
        </p:nvSpPr>
        <p:spPr bwMode="auto">
          <a:xfrm>
            <a:off x="1908175" y="27813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进基，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3" name="Text Box 39"/>
          <p:cNvSpPr txBox="1">
            <a:spLocks noChangeArrowheads="1"/>
          </p:cNvSpPr>
          <p:nvPr/>
        </p:nvSpPr>
        <p:spPr bwMode="auto">
          <a:xfrm>
            <a:off x="3348038" y="5876925"/>
            <a:ext cx="1557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离基，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4" name="Text Box 40"/>
          <p:cNvSpPr txBox="1">
            <a:spLocks noChangeArrowheads="1"/>
          </p:cNvSpPr>
          <p:nvPr/>
        </p:nvSpPr>
        <p:spPr bwMode="auto">
          <a:xfrm>
            <a:off x="1933575" y="5876925"/>
            <a:ext cx="155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进基，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61" name="Object 41"/>
          <p:cNvGraphicFramePr>
            <a:graphicFrameLocks noChangeAspect="1"/>
          </p:cNvGraphicFramePr>
          <p:nvPr/>
        </p:nvGraphicFramePr>
        <p:xfrm>
          <a:off x="241300" y="1222375"/>
          <a:ext cx="8218488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45" name="文档" r:id="rId5" imgW="4027805" imgH="791210" progId="Word.Document.8">
                  <p:embed/>
                </p:oleObj>
              </mc:Choice>
              <mc:Fallback>
                <p:oleObj name="文档" r:id="rId5" imgW="4027805" imgH="791210" progId="Word.Document.8">
                  <p:embed/>
                  <p:pic>
                    <p:nvPicPr>
                      <p:cNvPr id="3076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1222375"/>
                        <a:ext cx="8218488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2" name="Rectangle 42"/>
          <p:cNvSpPr>
            <a:spLocks noChangeArrowheads="1"/>
          </p:cNvSpPr>
          <p:nvPr/>
        </p:nvSpPr>
        <p:spPr bwMode="auto">
          <a:xfrm>
            <a:off x="395288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31748" grpId="0" animBg="1" autoUpdateAnimBg="0"/>
      <p:bldP spid="31749" grpId="0" animBg="1"/>
      <p:bldP spid="31750" grpId="0" animBg="1"/>
      <p:bldP spid="31752" grpId="0" autoUpdateAnimBg="0"/>
      <p:bldP spid="31753" grpId="0" autoUpdateAnimBg="0"/>
      <p:bldP spid="31754" grpId="0" animBg="1"/>
      <p:bldP spid="31755" grpId="0" animBg="1" autoUpdateAnimBg="0"/>
      <p:bldP spid="31756" grpId="0" animBg="1" autoUpdateAnimBg="0"/>
      <p:bldP spid="31757" grpId="0" animBg="1" autoUpdateAnimBg="0"/>
      <p:bldP spid="31758" grpId="0" animBg="1" autoUpdateAnimBg="0"/>
      <p:bldP spid="31759" grpId="0" animBg="1" autoUpdateAnimBg="0"/>
      <p:bldP spid="31760" grpId="0" animBg="1" autoUpdateAnimBg="0"/>
      <p:bldP spid="31761" grpId="0" animBg="1" autoUpdateAnimBg="0"/>
      <p:bldP spid="31762" grpId="0" animBg="1" autoUpdateAnimBg="0"/>
      <p:bldP spid="31763" grpId="0" animBg="1" autoUpdateAnimBg="0"/>
      <p:bldP spid="31764" grpId="0" animBg="1" autoUpdateAnimBg="0"/>
      <p:bldP spid="31765" grpId="0" animBg="1" autoUpdateAnimBg="0"/>
      <p:bldP spid="31766" grpId="0" autoUpdateAnimBg="0"/>
      <p:bldP spid="31767" grpId="0" animBg="1" autoUpdateAnimBg="0"/>
      <p:bldP spid="31768" grpId="0" animBg="1" autoUpdateAnimBg="0"/>
      <p:bldP spid="31769" grpId="0" animBg="1" autoUpdateAnimBg="0"/>
      <p:bldP spid="31770" grpId="0" animBg="1" autoUpdateAnimBg="0"/>
      <p:bldP spid="31771" grpId="0" animBg="1" autoUpdateAnimBg="0"/>
      <p:bldP spid="31772" grpId="0" autoUpdateAnimBg="0"/>
      <p:bldP spid="31773" grpId="0" animBg="1" autoUpdateAnimBg="0"/>
      <p:bldP spid="31774" grpId="0" animBg="1" autoUpdateAnimBg="0"/>
      <p:bldP spid="31775" grpId="0" animBg="1" autoUpdateAnimBg="0"/>
      <p:bldP spid="31776" grpId="0" animBg="1" autoUpdateAnimBg="0"/>
      <p:bldP spid="31777" grpId="0" animBg="1" autoUpdateAnimBg="0"/>
      <p:bldP spid="31778" grpId="0" animBg="1" autoUpdateAnimBg="0"/>
      <p:bldP spid="31779" grpId="0" animBg="1" autoUpdateAnimBg="0"/>
      <p:bldP spid="31780" grpId="0" animBg="1"/>
      <p:bldP spid="31781" grpId="0" autoUpdateAnimBg="0"/>
      <p:bldP spid="31782" grpId="0" autoUpdateAnimBg="0"/>
      <p:bldP spid="31783" grpId="0" autoUpdateAnimBg="0"/>
      <p:bldP spid="3178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468313" y="1165225"/>
          <a:ext cx="8304212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161" name="文档" r:id="rId3" imgW="4037330" imgH="791210" progId="Word.Document.8">
                  <p:embed/>
                </p:oleObj>
              </mc:Choice>
              <mc:Fallback>
                <p:oleObj name="文档" r:id="rId3" imgW="4037330" imgH="791210" progId="Word.Document.8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65225"/>
                        <a:ext cx="8304212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3074988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924300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-4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675188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5513388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6354763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7123113" y="16144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-86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3074988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3921125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4656138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5532438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6354763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055938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3905250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4675188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5532438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6392863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108825" y="209073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142163" y="2532063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2308225" y="1631950"/>
            <a:ext cx="539750" cy="395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2289175" y="2566988"/>
            <a:ext cx="539750" cy="395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>
            <a:off x="395288" y="3213100"/>
            <a:ext cx="4608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得到最优解，最优解为：</a:t>
            </a:r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323850" y="3933825"/>
            <a:ext cx="8534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14,11,0,0,0,0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min z’=-86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，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max z=86</a:t>
            </a:r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2303463" y="2098675"/>
            <a:ext cx="539750" cy="395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70" name="Oval 26"/>
          <p:cNvSpPr>
            <a:spLocks noChangeArrowheads="1"/>
          </p:cNvSpPr>
          <p:nvPr/>
        </p:nvSpPr>
        <p:spPr bwMode="auto">
          <a:xfrm>
            <a:off x="2309813" y="2062163"/>
            <a:ext cx="533400" cy="4191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1772" name="Rectangle 28"/>
          <p:cNvSpPr>
            <a:spLocks noChangeArrowheads="1"/>
          </p:cNvSpPr>
          <p:nvPr/>
        </p:nvSpPr>
        <p:spPr bwMode="auto">
          <a:xfrm>
            <a:off x="250825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nimBg="1" autoUpdateAnimBg="0"/>
      <p:bldP spid="32772" grpId="0" animBg="1" autoUpdateAnimBg="0"/>
      <p:bldP spid="32773" grpId="0" animBg="1" autoUpdateAnimBg="0"/>
      <p:bldP spid="32774" grpId="0" animBg="1" autoUpdateAnimBg="0"/>
      <p:bldP spid="32775" grpId="0" animBg="1" autoUpdateAnimBg="0"/>
      <p:bldP spid="32776" grpId="0" animBg="1" autoUpdateAnimBg="0"/>
      <p:bldP spid="32777" grpId="0" animBg="1" autoUpdateAnimBg="0"/>
      <p:bldP spid="32778" grpId="0" animBg="1" autoUpdateAnimBg="0"/>
      <p:bldP spid="32779" grpId="0" animBg="1" autoUpdateAnimBg="0"/>
      <p:bldP spid="32780" grpId="0" animBg="1" autoUpdateAnimBg="0"/>
      <p:bldP spid="32781" grpId="0" animBg="1" autoUpdateAnimBg="0"/>
      <p:bldP spid="32782" grpId="0" animBg="1" autoUpdateAnimBg="0"/>
      <p:bldP spid="32783" grpId="0" animBg="1" autoUpdateAnimBg="0"/>
      <p:bldP spid="32784" grpId="0" animBg="1" autoUpdateAnimBg="0"/>
      <p:bldP spid="32785" grpId="0" animBg="1" autoUpdateAnimBg="0"/>
      <p:bldP spid="32786" grpId="0" animBg="1" autoUpdateAnimBg="0"/>
      <p:bldP spid="32787" grpId="0" animBg="1" autoUpdateAnimBg="0"/>
      <p:bldP spid="32788" grpId="0" animBg="1" autoUpdateAnimBg="0"/>
      <p:bldP spid="32789" grpId="0" animBg="1" autoUpdateAnimBg="0"/>
      <p:bldP spid="32790" grpId="0" animBg="1" autoUpdateAnimBg="0"/>
      <p:bldP spid="32791" grpId="0" autoUpdateAnimBg="0"/>
      <p:bldP spid="32792" grpId="0" autoUpdateAnimBg="0"/>
      <p:bldP spid="32793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1116013" y="1700213"/>
          <a:ext cx="5637212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92" name="文档" r:id="rId3" imgW="3494405" imgH="1606550" progId="Word.Document.8">
                  <p:embed/>
                </p:oleObj>
              </mc:Choice>
              <mc:Fallback>
                <p:oleObj name="文档" r:id="rId3" imgW="3494405" imgH="1606550" progId="Word.Document.8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700213"/>
                        <a:ext cx="5637212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611188" y="105251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： 求解线性规划问题</a:t>
            </a:r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282466"/>
              </p:ext>
            </p:extLst>
          </p:nvPr>
        </p:nvGraphicFramePr>
        <p:xfrm>
          <a:off x="661988" y="3933825"/>
          <a:ext cx="8158162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93" name="文档" r:id="rId5" imgW="5632450" imgH="1555750" progId="Word.Document.8">
                  <p:embed/>
                </p:oleObj>
              </mc:Choice>
              <mc:Fallback>
                <p:oleObj name="文档" r:id="rId5" imgW="5632450" imgH="1555750" progId="Word.Document.8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3933825"/>
                        <a:ext cx="8158162" cy="287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250825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92100" y="1084263"/>
          <a:ext cx="86487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16" name="文档" r:id="rId3" imgW="5644515" imgH="1633855" progId="Word.Document.8">
                  <p:embed/>
                </p:oleObj>
              </mc:Choice>
              <mc:Fallback>
                <p:oleObj name="文档" r:id="rId3" imgW="5644515" imgH="1633855" progId="Word.Document.8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1084263"/>
                        <a:ext cx="86487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03200" y="3500438"/>
          <a:ext cx="8890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17" name="文档" r:id="rId5" imgW="5297805" imgH="1635125" progId="Word.Document.8">
                  <p:embed/>
                </p:oleObj>
              </mc:Choice>
              <mc:Fallback>
                <p:oleObj name="文档" r:id="rId5" imgW="5297805" imgH="1635125" progId="Word.Document.8">
                  <p:embed/>
                  <p:pic>
                    <p:nvPicPr>
                      <p:cNvPr id="348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3500438"/>
                        <a:ext cx="88900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50825" y="0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425450" y="3213100"/>
          <a:ext cx="816610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40" name="文档" r:id="rId3" imgW="5111750" imgH="2157730" progId="Word.Document.8">
                  <p:embed/>
                </p:oleObj>
              </mc:Choice>
              <mc:Fallback>
                <p:oleObj name="文档" r:id="rId3" imgW="5111750" imgH="2157730" progId="Word.Document.8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3213100"/>
                        <a:ext cx="816610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051050" y="2708275"/>
            <a:ext cx="2436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x3</a:t>
            </a:r>
            <a:r>
              <a:rPr lang="zh-CN" altLang="en-US" sz="2400"/>
              <a:t>进基，</a:t>
            </a:r>
            <a:r>
              <a:rPr lang="en-US" altLang="zh-CN" sz="2400"/>
              <a:t>x6</a:t>
            </a:r>
            <a:r>
              <a:rPr lang="zh-CN" altLang="en-US" sz="2400"/>
              <a:t>离基 </a:t>
            </a: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98463" y="404813"/>
          <a:ext cx="8745537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41" name="文档" r:id="rId5" imgW="5759450" imgH="2292985" progId="Word.Document.8">
                  <p:embed/>
                </p:oleObj>
              </mc:Choice>
              <mc:Fallback>
                <p:oleObj name="文档" r:id="rId5" imgW="5759450" imgH="2292985" progId="Word.Document.8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404813"/>
                        <a:ext cx="8745537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4211638" y="4294188"/>
            <a:ext cx="2663825" cy="17272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979613" y="188913"/>
            <a:ext cx="2160587" cy="2087562"/>
          </a:xfrm>
          <a:prstGeom prst="rect">
            <a:avLst/>
          </a:prstGeom>
          <a:solidFill>
            <a:srgbClr val="CC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68313" y="3841750"/>
          <a:ext cx="8208962" cy="311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8" name="文档" r:id="rId3" imgW="5111750" imgH="1947545" progId="Word.Document.8">
                  <p:embed/>
                </p:oleObj>
              </mc:Choice>
              <mc:Fallback>
                <p:oleObj name="文档" r:id="rId3" imgW="5111750" imgH="1947545" progId="Word.Document.8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841750"/>
                        <a:ext cx="8208962" cy="311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2051050" y="2708275"/>
          <a:ext cx="36004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79" name="Equation" r:id="rId5" imgW="1091565" imgH="228600" progId="Equation.DSMT4">
                  <p:embed/>
                </p:oleObj>
              </mc:Choice>
              <mc:Fallback>
                <p:oleObj name="Equation" r:id="rId5" imgW="1091565" imgH="228600" progId="Equation.DSMT4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08275"/>
                        <a:ext cx="36004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457200" y="279400"/>
          <a:ext cx="86487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80" name="文档" r:id="rId7" imgW="5644515" imgH="1633855" progId="Word.Document.8">
                  <p:embed/>
                </p:oleObj>
              </mc:Choice>
              <mc:Fallback>
                <p:oleObj name="文档" r:id="rId7" imgW="5644515" imgH="1633855" progId="Word.Document.8">
                  <p:embed/>
                  <p:pic>
                    <p:nvPicPr>
                      <p:cNvPr id="35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9400"/>
                        <a:ext cx="86487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07950" y="2395538"/>
            <a:ext cx="235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初始单纯型表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107950" y="3835400"/>
            <a:ext cx="218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最优单纯型表</a:t>
            </a:r>
          </a:p>
        </p:txBody>
      </p:sp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2195513" y="2276475"/>
            <a:ext cx="649287" cy="504825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9525" algn="ctr">
            <a:solidFill>
              <a:srgbClr val="66FF33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 flipV="1">
            <a:off x="4572000" y="3284538"/>
            <a:ext cx="649288" cy="64928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9525" algn="ctr">
            <a:solidFill>
              <a:srgbClr val="66FF33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aphicFrame>
        <p:nvGraphicFramePr>
          <p:cNvPr id="36875" name="Object 11"/>
          <p:cNvGraphicFramePr>
            <a:graphicFrameLocks noChangeAspect="1"/>
          </p:cNvGraphicFramePr>
          <p:nvPr/>
        </p:nvGraphicFramePr>
        <p:xfrm>
          <a:off x="5614988" y="2293938"/>
          <a:ext cx="3313112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81" name="Equation" r:id="rId9" imgW="2311400" imgH="939800" progId="Equation.DSMT4">
                  <p:embed/>
                </p:oleObj>
              </mc:Choice>
              <mc:Fallback>
                <p:oleObj name="Equation" r:id="rId9" imgW="2311400" imgH="939800" progId="Equation.DSMT4">
                  <p:embed/>
                  <p:pic>
                    <p:nvPicPr>
                      <p:cNvPr id="368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2293938"/>
                        <a:ext cx="3313112" cy="16398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1258888" y="1052513"/>
            <a:ext cx="6689725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1233488" y="1077913"/>
            <a:ext cx="0" cy="449262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>
            <a:off x="1982788" y="1077913"/>
            <a:ext cx="0" cy="449262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>
            <a:off x="7939088" y="1052513"/>
            <a:ext cx="0" cy="449262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>
            <a:off x="6718300" y="673100"/>
            <a:ext cx="0" cy="162560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/>
      <p:bldP spid="36867" grpId="0" animBg="1"/>
      <p:bldP spid="36872" grpId="0"/>
      <p:bldP spid="36873" grpId="0" animBg="1"/>
      <p:bldP spid="3687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3.2 </a:t>
            </a:r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两阶段法</a:t>
            </a:r>
            <a:r>
              <a:rPr lang="en-US" altLang="zh-CN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&amp;</a:t>
            </a:r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大</a:t>
            </a:r>
            <a:r>
              <a:rPr lang="en-US" altLang="zh-CN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法</a:t>
            </a:r>
            <a:endParaRPr lang="en-US" altLang="zh-CN" sz="40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7048" y="1105666"/>
            <a:ext cx="8280400" cy="18716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b="0" dirty="0"/>
              <a:t>单纯形法三要素：</a:t>
            </a:r>
          </a:p>
          <a:p>
            <a:pPr eaLnBrk="1" hangingPunct="1">
              <a:buFontTx/>
              <a:buNone/>
            </a:pPr>
            <a:r>
              <a:rPr lang="zh-CN" altLang="en-US" sz="2800" b="0" dirty="0"/>
              <a:t>       初始基本可行解，解的迭代，最优性检验</a:t>
            </a:r>
          </a:p>
          <a:p>
            <a:pPr eaLnBrk="1" hangingPunct="1"/>
            <a:r>
              <a:rPr lang="zh-CN" altLang="en-US" sz="2800" b="0" dirty="0"/>
              <a:t>后两个已解决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现考虑如何获得一个初始基可行解。</a:t>
            </a:r>
            <a:endParaRPr lang="en-US" altLang="zh-CN" sz="2800" b="0" dirty="0"/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354711" y="2684059"/>
            <a:ext cx="3671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  <a:cs typeface="Times New Roman" panose="02020603050405020304" pitchFamily="18" charset="0"/>
              </a:rPr>
              <a:t>（一）两阶段法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9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418000"/>
              </p:ext>
            </p:extLst>
          </p:nvPr>
        </p:nvGraphicFramePr>
        <p:xfrm>
          <a:off x="2476378" y="4052160"/>
          <a:ext cx="4895850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81" name="Equation" r:id="rId3" imgW="37185600" imgH="17068800" progId="Equation.DSMT4">
                  <p:embed/>
                </p:oleObj>
              </mc:Choice>
              <mc:Fallback>
                <p:oleObj name="Equation" r:id="rId3" imgW="37185600" imgH="17068800" progId="Equation.DSMT4">
                  <p:embed/>
                  <p:pic>
                    <p:nvPicPr>
                      <p:cNvPr id="491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378" y="4052160"/>
                        <a:ext cx="4895850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827088" y="3357563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</a:rPr>
              <a:t>设标准</a:t>
            </a:r>
            <a:r>
              <a:rPr lang="en-US" altLang="zh-CN" sz="2800" dirty="0">
                <a:latin typeface="+mn-ea"/>
                <a:ea typeface="+mn-ea"/>
              </a:rPr>
              <a:t>LP</a:t>
            </a:r>
            <a:r>
              <a:rPr lang="zh-CN" altLang="en-US" sz="2800" dirty="0">
                <a:latin typeface="+mn-ea"/>
                <a:ea typeface="+mn-ea"/>
              </a:rPr>
              <a:t>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61" grpId="0"/>
      <p:bldP spid="491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1638" y="1029201"/>
            <a:ext cx="8280400" cy="1512888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800" b="0" dirty="0"/>
              <a:t>若系数矩阵中有一个单位矩阵，则容易得到</a:t>
            </a:r>
          </a:p>
          <a:p>
            <a:pPr eaLnBrk="1" hangingPunct="1">
              <a:buFontTx/>
              <a:buNone/>
            </a:pPr>
            <a:r>
              <a:rPr lang="zh-CN" altLang="en-US" sz="2800" b="0" dirty="0"/>
              <a:t>初始基可行解</a:t>
            </a:r>
            <a:r>
              <a:rPr lang="en-US" altLang="zh-CN" sz="2800" b="0" dirty="0"/>
              <a:t>.</a:t>
            </a:r>
            <a:r>
              <a:rPr lang="zh-CN" altLang="en-US" sz="2800" b="0" dirty="0"/>
              <a:t>所以我们希望幸运的碰到这种矩阵</a:t>
            </a:r>
            <a:r>
              <a:rPr lang="en-US" altLang="zh-CN" sz="2800" b="0" dirty="0"/>
              <a:t>.</a:t>
            </a:r>
          </a:p>
          <a:p>
            <a:pPr eaLnBrk="1" hangingPunct="1">
              <a:buFontTx/>
              <a:buNone/>
            </a:pPr>
            <a:r>
              <a:rPr lang="zh-CN" altLang="en-US" sz="2800" b="0" dirty="0"/>
              <a:t>没有的话，硬性加一个？</a:t>
            </a:r>
          </a:p>
        </p:txBody>
      </p:sp>
      <p:graphicFrame>
        <p:nvGraphicFramePr>
          <p:cNvPr id="50187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62545110"/>
              </p:ext>
            </p:extLst>
          </p:nvPr>
        </p:nvGraphicFramePr>
        <p:xfrm>
          <a:off x="649538" y="4362997"/>
          <a:ext cx="7488238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12" name="Equation" r:id="rId3" imgW="3517900" imgH="736600" progId="Equation.DSMT4">
                  <p:embed/>
                </p:oleObj>
              </mc:Choice>
              <mc:Fallback>
                <p:oleObj name="Equation" r:id="rId3" imgW="3517900" imgH="736600" progId="Equation.DSMT4">
                  <p:embed/>
                  <p:pic>
                    <p:nvPicPr>
                      <p:cNvPr id="501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38" y="4362997"/>
                        <a:ext cx="7488238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55007"/>
              </p:ext>
            </p:extLst>
          </p:nvPr>
        </p:nvGraphicFramePr>
        <p:xfrm>
          <a:off x="611188" y="2536825"/>
          <a:ext cx="7791450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13" name="Equation" r:id="rId5" imgW="2349360" imgH="736560" progId="Equation.DSMT4">
                  <p:embed/>
                </p:oleObj>
              </mc:Choice>
              <mc:Fallback>
                <p:oleObj name="Equation" r:id="rId5" imgW="2349360" imgH="736560" progId="Equation.DSMT4">
                  <p:embed/>
                  <p:pic>
                    <p:nvPicPr>
                      <p:cNvPr id="501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536825"/>
                        <a:ext cx="7791450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两阶段法</a:t>
            </a:r>
            <a:endParaRPr lang="en-US" altLang="zh-CN" sz="40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3780" y="955675"/>
            <a:ext cx="8142288" cy="15065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b="0" dirty="0"/>
              <a:t>如何由</a:t>
            </a:r>
            <a:r>
              <a:rPr lang="en-US" altLang="zh-CN" sz="2800" b="0" dirty="0"/>
              <a:t>(3.2.3)</a:t>
            </a:r>
            <a:r>
              <a:rPr lang="zh-CN" altLang="en-US" sz="2800" b="0" dirty="0"/>
              <a:t>的初始可行解获得原来</a:t>
            </a:r>
            <a:r>
              <a:rPr lang="en-US" altLang="zh-CN" sz="2800" b="0" dirty="0"/>
              <a:t>LP</a:t>
            </a:r>
            <a:r>
              <a:rPr lang="zh-CN" altLang="en-US" sz="2800" b="0" dirty="0"/>
              <a:t>的一个初始可行解？</a:t>
            </a:r>
          </a:p>
          <a:p>
            <a:pPr eaLnBrk="1" hangingPunct="1"/>
            <a:r>
              <a:rPr lang="zh-CN" altLang="en-US" sz="2800" b="0" dirty="0"/>
              <a:t>为此，考虑如下辅助</a:t>
            </a:r>
            <a:r>
              <a:rPr lang="en-US" altLang="zh-CN" sz="2800" b="0" dirty="0"/>
              <a:t>LP(</a:t>
            </a:r>
            <a:r>
              <a:rPr lang="zh-CN" altLang="en-US" sz="2800" b="0" dirty="0"/>
              <a:t>第一阶段</a:t>
            </a:r>
            <a:r>
              <a:rPr lang="en-US" altLang="zh-CN" sz="2800" b="0" dirty="0"/>
              <a:t>)</a:t>
            </a:r>
          </a:p>
        </p:txBody>
      </p:sp>
      <p:graphicFrame>
        <p:nvGraphicFramePr>
          <p:cNvPr id="51208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10489393"/>
              </p:ext>
            </p:extLst>
          </p:nvPr>
        </p:nvGraphicFramePr>
        <p:xfrm>
          <a:off x="841375" y="2662238"/>
          <a:ext cx="6481763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29" name="Equation" r:id="rId3" imgW="2679480" imgH="990360" progId="Equation.DSMT4">
                  <p:embed/>
                </p:oleObj>
              </mc:Choice>
              <mc:Fallback>
                <p:oleObj name="Equation" r:id="rId3" imgW="2679480" imgH="990360" progId="Equation.DSMT4">
                  <p:embed/>
                  <p:pic>
                    <p:nvPicPr>
                      <p:cNvPr id="512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2662238"/>
                        <a:ext cx="6481763" cy="239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684213" y="3141663"/>
            <a:ext cx="76628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sz="2400" dirty="0"/>
              <a:t>如果原问题有可行解，则辅助问题的最优值为</a:t>
            </a:r>
            <a:r>
              <a:rPr lang="en-US" altLang="zh-CN" sz="2400" dirty="0"/>
              <a:t>0</a:t>
            </a:r>
            <a:r>
              <a:rPr lang="zh-CN" altLang="en-US" sz="2400" dirty="0"/>
              <a:t>，反之亦然。</a:t>
            </a:r>
          </a:p>
        </p:txBody>
      </p:sp>
      <p:grpSp>
        <p:nvGrpSpPr>
          <p:cNvPr id="2" name="Group 35"/>
          <p:cNvGrpSpPr/>
          <p:nvPr/>
        </p:nvGrpSpPr>
        <p:grpSpPr bwMode="auto">
          <a:xfrm>
            <a:off x="661057" y="4196583"/>
            <a:ext cx="7566025" cy="1822450"/>
            <a:chOff x="518" y="1647"/>
            <a:chExt cx="4766" cy="1148"/>
          </a:xfrm>
        </p:grpSpPr>
        <p:grpSp>
          <p:nvGrpSpPr>
            <p:cNvPr id="39953" name="Group 4"/>
            <p:cNvGrpSpPr/>
            <p:nvPr/>
          </p:nvGrpSpPr>
          <p:grpSpPr bwMode="auto">
            <a:xfrm>
              <a:off x="662" y="2035"/>
              <a:ext cx="3130" cy="270"/>
              <a:chOff x="662" y="2035"/>
              <a:chExt cx="3130" cy="270"/>
            </a:xfrm>
          </p:grpSpPr>
          <p:graphicFrame>
            <p:nvGraphicFramePr>
              <p:cNvPr id="39966" name="Object 5"/>
              <p:cNvGraphicFramePr>
                <a:graphicFrameLocks noChangeAspect="1"/>
              </p:cNvGraphicFramePr>
              <p:nvPr/>
            </p:nvGraphicFramePr>
            <p:xfrm>
              <a:off x="3312" y="2039"/>
              <a:ext cx="480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95" name="Equation" r:id="rId3" imgW="419100" imgH="228600" progId="Equation.DSMT4">
                      <p:embed/>
                    </p:oleObj>
                  </mc:Choice>
                  <mc:Fallback>
                    <p:oleObj name="Equation" r:id="rId3" imgW="419100" imgH="228600" progId="Equation.DSMT4">
                      <p:embed/>
                      <p:pic>
                        <p:nvPicPr>
                          <p:cNvPr id="39966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039"/>
                            <a:ext cx="480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7" name="Rectangle 6"/>
              <p:cNvSpPr>
                <a:spLocks noChangeArrowheads="1"/>
              </p:cNvSpPr>
              <p:nvPr/>
            </p:nvSpPr>
            <p:spPr bwMode="auto">
              <a:xfrm>
                <a:off x="662" y="2035"/>
                <a:ext cx="26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就可以得到辅助问题的初始基可行解</a:t>
                </a:r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954" name="Group 7"/>
            <p:cNvGrpSpPr/>
            <p:nvPr/>
          </p:nvGrpSpPr>
          <p:grpSpPr bwMode="auto">
            <a:xfrm>
              <a:off x="518" y="1647"/>
              <a:ext cx="4766" cy="293"/>
              <a:chOff x="518" y="1647"/>
              <a:chExt cx="4766" cy="293"/>
            </a:xfrm>
          </p:grpSpPr>
          <p:sp>
            <p:nvSpPr>
              <p:cNvPr id="39961" name="Rectangle 8"/>
              <p:cNvSpPr>
                <a:spLocks noChangeArrowheads="1"/>
              </p:cNvSpPr>
              <p:nvPr/>
            </p:nvSpPr>
            <p:spPr bwMode="auto">
              <a:xfrm>
                <a:off x="518" y="1676"/>
                <a:ext cx="6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．由于</a:t>
                </a:r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9962" name="Object 9"/>
              <p:cNvGraphicFramePr>
                <a:graphicFrameLocks noChangeAspect="1"/>
              </p:cNvGraphicFramePr>
              <p:nvPr/>
            </p:nvGraphicFramePr>
            <p:xfrm>
              <a:off x="1242" y="1705"/>
              <a:ext cx="448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96" name="Equation" r:id="rId5" imgW="381000" imgH="190500" progId="Equation.DSMT4">
                      <p:embed/>
                    </p:oleObj>
                  </mc:Choice>
                  <mc:Fallback>
                    <p:oleObj name="Equation" r:id="rId5" imgW="381000" imgH="190500" progId="Equation.DSMT4">
                      <p:embed/>
                      <p:pic>
                        <p:nvPicPr>
                          <p:cNvPr id="39962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2" y="1705"/>
                            <a:ext cx="448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3" name="Rectangle 10"/>
              <p:cNvSpPr>
                <a:spLocks noChangeArrowheads="1"/>
              </p:cNvSpPr>
              <p:nvPr/>
            </p:nvSpPr>
            <p:spPr bwMode="auto">
              <a:xfrm>
                <a:off x="1598" y="1676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，所以以</a:t>
                </a:r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9964" name="Object 11"/>
              <p:cNvGraphicFramePr>
                <a:graphicFrameLocks noChangeAspect="1"/>
              </p:cNvGraphicFramePr>
              <p:nvPr/>
            </p:nvGraphicFramePr>
            <p:xfrm>
              <a:off x="2396" y="1647"/>
              <a:ext cx="1953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97" name="Equation" r:id="rId7" imgW="1663700" imgH="241300" progId="Equation.DSMT4">
                      <p:embed/>
                    </p:oleObj>
                  </mc:Choice>
                  <mc:Fallback>
                    <p:oleObj name="Equation" r:id="rId7" imgW="1663700" imgH="241300" progId="Equation.DSMT4">
                      <p:embed/>
                      <p:pic>
                        <p:nvPicPr>
                          <p:cNvPr id="39964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6" y="1647"/>
                            <a:ext cx="1953" cy="2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5" name="Rectangle 12"/>
              <p:cNvSpPr>
                <a:spLocks noChangeArrowheads="1"/>
              </p:cNvSpPr>
              <p:nvPr/>
            </p:nvSpPr>
            <p:spPr bwMode="auto">
              <a:xfrm>
                <a:off x="4368" y="1690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/>
                  <a:t>为基变量，</a:t>
                </a:r>
              </a:p>
            </p:txBody>
          </p:sp>
        </p:grpSp>
        <p:grpSp>
          <p:nvGrpSpPr>
            <p:cNvPr id="39955" name="Group 13"/>
            <p:cNvGrpSpPr/>
            <p:nvPr/>
          </p:nvGrpSpPr>
          <p:grpSpPr bwMode="auto">
            <a:xfrm>
              <a:off x="3744" y="2016"/>
              <a:ext cx="1096" cy="282"/>
              <a:chOff x="3744" y="2016"/>
              <a:chExt cx="1096" cy="282"/>
            </a:xfrm>
          </p:grpSpPr>
          <p:graphicFrame>
            <p:nvGraphicFramePr>
              <p:cNvPr id="39959" name="Object 14"/>
              <p:cNvGraphicFramePr>
                <a:graphicFrameLocks noChangeAspect="1"/>
              </p:cNvGraphicFramePr>
              <p:nvPr/>
            </p:nvGraphicFramePr>
            <p:xfrm>
              <a:off x="4280" y="2016"/>
              <a:ext cx="560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398" name="Equation" r:id="rId9" imgW="457200" imgH="228600" progId="Equation.DSMT4">
                      <p:embed/>
                    </p:oleObj>
                  </mc:Choice>
                  <mc:Fallback>
                    <p:oleObj name="Equation" r:id="rId9" imgW="457200" imgH="228600" progId="Equation.DSMT4">
                      <p:embed/>
                      <p:pic>
                        <p:nvPicPr>
                          <p:cNvPr id="39959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2016"/>
                            <a:ext cx="560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0" name="Rectangle 15"/>
              <p:cNvSpPr>
                <a:spLocks noChangeArrowheads="1"/>
              </p:cNvSpPr>
              <p:nvPr/>
            </p:nvSpPr>
            <p:spPr bwMode="auto">
              <a:xfrm>
                <a:off x="3744" y="2035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同时</a:t>
                </a:r>
                <a:endParaRPr lang="zh-CN" altLang="en-US" sz="2000"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9956" name="Object 19"/>
            <p:cNvGraphicFramePr>
              <a:graphicFrameLocks noChangeAspect="1"/>
            </p:cNvGraphicFramePr>
            <p:nvPr/>
          </p:nvGraphicFramePr>
          <p:xfrm>
            <a:off x="1139" y="2296"/>
            <a:ext cx="73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399" name="Equation" r:id="rId11" imgW="673100" imgH="457200" progId="Equation.DSMT4">
                    <p:embed/>
                  </p:oleObj>
                </mc:Choice>
                <mc:Fallback>
                  <p:oleObj name="Equation" r:id="rId11" imgW="673100" imgH="457200" progId="Equation.DSMT4">
                    <p:embed/>
                    <p:pic>
                      <p:nvPicPr>
                        <p:cNvPr id="39956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" y="2296"/>
                          <a:ext cx="738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7" name="Rectangle 20"/>
            <p:cNvSpPr>
              <a:spLocks noChangeArrowheads="1"/>
            </p:cNvSpPr>
            <p:nvPr/>
          </p:nvSpPr>
          <p:spPr bwMode="auto">
            <a:xfrm>
              <a:off x="657" y="2411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39958" name="Text Box 21"/>
            <p:cNvSpPr txBox="1">
              <a:spLocks noChangeArrowheads="1"/>
            </p:cNvSpPr>
            <p:nvPr/>
          </p:nvSpPr>
          <p:spPr bwMode="auto">
            <a:xfrm>
              <a:off x="1925" y="2415"/>
              <a:ext cx="18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/>
                <a:t>一定有最小值</a:t>
              </a:r>
              <a:r>
                <a:rPr lang="en-US" altLang="zh-CN" sz="2000"/>
                <a:t>.</a:t>
              </a:r>
            </a:p>
          </p:txBody>
        </p:sp>
      </p:grpSp>
      <p:grpSp>
        <p:nvGrpSpPr>
          <p:cNvPr id="39942" name="Group 46"/>
          <p:cNvGrpSpPr/>
          <p:nvPr/>
        </p:nvGrpSpPr>
        <p:grpSpPr bwMode="auto">
          <a:xfrm>
            <a:off x="1021968" y="1183782"/>
            <a:ext cx="6430962" cy="1746250"/>
            <a:chOff x="657" y="845"/>
            <a:chExt cx="4051" cy="1100"/>
          </a:xfrm>
        </p:grpSpPr>
        <p:grpSp>
          <p:nvGrpSpPr>
            <p:cNvPr id="39943" name="Group 44"/>
            <p:cNvGrpSpPr/>
            <p:nvPr/>
          </p:nvGrpSpPr>
          <p:grpSpPr bwMode="auto">
            <a:xfrm>
              <a:off x="657" y="845"/>
              <a:ext cx="4051" cy="1100"/>
              <a:chOff x="657" y="845"/>
              <a:chExt cx="4051" cy="1100"/>
            </a:xfrm>
          </p:grpSpPr>
          <p:graphicFrame>
            <p:nvGraphicFramePr>
              <p:cNvPr id="39945" name="Object 16"/>
              <p:cNvGraphicFramePr>
                <a:graphicFrameLocks noChangeAspect="1"/>
              </p:cNvGraphicFramePr>
              <p:nvPr/>
            </p:nvGraphicFramePr>
            <p:xfrm>
              <a:off x="3379" y="845"/>
              <a:ext cx="1329" cy="1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400" name="Equation" r:id="rId13" imgW="1143000" imgH="939800" progId="Equation.DSMT4">
                      <p:embed/>
                    </p:oleObj>
                  </mc:Choice>
                  <mc:Fallback>
                    <p:oleObj name="Equation" r:id="rId13" imgW="1143000" imgH="939800" progId="Equation.DSMT4">
                      <p:embed/>
                      <p:pic>
                        <p:nvPicPr>
                          <p:cNvPr id="39945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9" y="845"/>
                            <a:ext cx="1329" cy="11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46" name="Object 17"/>
              <p:cNvGraphicFramePr>
                <a:graphicFrameLocks noChangeAspect="1"/>
              </p:cNvGraphicFramePr>
              <p:nvPr/>
            </p:nvGraphicFramePr>
            <p:xfrm>
              <a:off x="657" y="981"/>
              <a:ext cx="1248" cy="8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401" name="Equation" r:id="rId15" imgW="774065" imgH="786765" progId="Equation.DSMT4">
                      <p:embed/>
                    </p:oleObj>
                  </mc:Choice>
                  <mc:Fallback>
                    <p:oleObj name="Equation" r:id="rId15" imgW="774065" imgH="786765" progId="Equation.DSMT4">
                      <p:embed/>
                      <p:pic>
                        <p:nvPicPr>
                          <p:cNvPr id="3994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7" y="981"/>
                            <a:ext cx="1248" cy="81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47" name="Line 41"/>
              <p:cNvSpPr>
                <a:spLocks noChangeShapeType="1"/>
              </p:cNvSpPr>
              <p:nvPr/>
            </p:nvSpPr>
            <p:spPr bwMode="auto">
              <a:xfrm>
                <a:off x="1973" y="1389"/>
                <a:ext cx="140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9948" name="Line 42"/>
              <p:cNvSpPr>
                <a:spLocks noChangeShapeType="1"/>
              </p:cNvSpPr>
              <p:nvPr/>
            </p:nvSpPr>
            <p:spPr bwMode="auto">
              <a:xfrm flipH="1">
                <a:off x="1973" y="1389"/>
                <a:ext cx="1361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tailEnd type="triangle" w="med" len="med"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9949" name="Line 43"/>
              <p:cNvSpPr>
                <a:spLocks noChangeShapeType="1"/>
              </p:cNvSpPr>
              <p:nvPr/>
            </p:nvSpPr>
            <p:spPr bwMode="auto">
              <a:xfrm flipH="1">
                <a:off x="1927" y="1389"/>
                <a:ext cx="14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9944" name="Rectangle 45"/>
            <p:cNvSpPr>
              <a:spLocks noChangeArrowheads="1"/>
            </p:cNvSpPr>
            <p:nvPr/>
          </p:nvSpPr>
          <p:spPr bwMode="auto">
            <a:xfrm>
              <a:off x="2290" y="994"/>
              <a:ext cx="703" cy="32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3333CC"/>
                  </a:solidFill>
                  <a:ea typeface="楷体_GB2312" panose="02010609030101010101" pitchFamily="49" charset="-122"/>
                </a:rPr>
                <a:t>关系</a:t>
              </a:r>
              <a:r>
                <a:rPr lang="en-US" altLang="zh-CN" sz="2800" b="1">
                  <a:solidFill>
                    <a:srgbClr val="3333CC"/>
                  </a:solidFill>
                  <a:ea typeface="楷体_GB2312" panose="02010609030101010101" pitchFamily="49" charset="-122"/>
                </a:rPr>
                <a:t>?</a:t>
              </a: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两阶段法</a:t>
            </a:r>
            <a:endParaRPr lang="en-US" altLang="zh-CN" sz="40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20414" y="920750"/>
            <a:ext cx="7991475" cy="863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0" dirty="0"/>
              <a:t>利用单纯形法求得辅助问题的一个最优可行解</a:t>
            </a:r>
            <a:r>
              <a:rPr lang="en-US" altLang="zh-CN" sz="2800" b="0" dirty="0"/>
              <a:t>.</a:t>
            </a:r>
            <a:r>
              <a:rPr lang="zh-CN" altLang="en-US" sz="2800" b="0" dirty="0"/>
              <a:t>这个解将会给我们带来什么？</a:t>
            </a:r>
          </a:p>
        </p:txBody>
      </p:sp>
      <p:graphicFrame>
        <p:nvGraphicFramePr>
          <p:cNvPr id="52232" name="Object 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44385376"/>
              </p:ext>
            </p:extLst>
          </p:nvPr>
        </p:nvGraphicFramePr>
        <p:xfrm>
          <a:off x="599089" y="1917043"/>
          <a:ext cx="71278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4" name="Equation" r:id="rId3" imgW="3289300" imgH="457200" progId="Equation.DSMT4">
                  <p:embed/>
                </p:oleObj>
              </mc:Choice>
              <mc:Fallback>
                <p:oleObj name="Equation" r:id="rId3" imgW="3289300" imgH="457200" progId="Equation.DSMT4">
                  <p:embed/>
                  <p:pic>
                    <p:nvPicPr>
                      <p:cNvPr id="522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089" y="1917043"/>
                        <a:ext cx="712787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85873875"/>
              </p:ext>
            </p:extLst>
          </p:nvPr>
        </p:nvGraphicFramePr>
        <p:xfrm>
          <a:off x="620110" y="3010393"/>
          <a:ext cx="6696075" cy="324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5" name="Equation" r:id="rId5" imgW="2933700" imgH="1422400" progId="Equation.DSMT4">
                  <p:embed/>
                </p:oleObj>
              </mc:Choice>
              <mc:Fallback>
                <p:oleObj name="Equation" r:id="rId5" imgW="2933700" imgH="1422400" progId="Equation.DSMT4">
                  <p:embed/>
                  <p:pic>
                    <p:nvPicPr>
                      <p:cNvPr id="522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110" y="3010393"/>
                        <a:ext cx="6696075" cy="324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3269" y="1083496"/>
            <a:ext cx="8064500" cy="79216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0" dirty="0"/>
              <a:t>于是我们获得一个初始基可行解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从而可以从该基可行解出发利用单纯形法求出最优解。</a:t>
            </a:r>
            <a:endParaRPr lang="en-US" altLang="zh-CN" sz="2400" b="0" dirty="0"/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395288" y="1989138"/>
            <a:ext cx="8153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第一阶段：</a:t>
            </a:r>
            <a:r>
              <a:rPr kumimoji="1" lang="zh-CN" altLang="en-US" sz="2400">
                <a:latin typeface="Times New Roman" panose="02020603050405020304" pitchFamily="18" charset="0"/>
              </a:rPr>
              <a:t>不考虑原</a:t>
            </a:r>
            <a:r>
              <a:rPr kumimoji="1" lang="en-US" altLang="zh-CN" sz="2400">
                <a:latin typeface="Times New Roman" panose="02020603050405020304" pitchFamily="18" charset="0"/>
              </a:rPr>
              <a:t>LP</a:t>
            </a:r>
            <a:r>
              <a:rPr kumimoji="1" lang="zh-CN" altLang="en-US" sz="2400">
                <a:latin typeface="Times New Roman" panose="02020603050405020304" pitchFamily="18" charset="0"/>
              </a:rPr>
              <a:t>问题是否有基可行解，添加人工变量，构造仅含人工变量的目标函数，得辅助规划</a:t>
            </a:r>
            <a:r>
              <a:rPr kumimoji="1" lang="en-US" altLang="zh-CN" sz="2400">
                <a:latin typeface="Times New Roman" panose="02020603050405020304" pitchFamily="18" charset="0"/>
              </a:rPr>
              <a:t>(3.2.4)</a:t>
            </a:r>
            <a:endParaRPr kumimoji="1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68313" y="2924175"/>
            <a:ext cx="822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2400" dirty="0"/>
              <a:t>利用单纯形法求解上述模型，若有目标函数</a:t>
            </a:r>
            <a:r>
              <a:rPr kumimoji="1" lang="en-US" altLang="zh-CN" sz="2400" dirty="0"/>
              <a:t>=0</a:t>
            </a:r>
            <a:r>
              <a:rPr kumimoji="1" lang="zh-CN" altLang="en-US" sz="2400" dirty="0"/>
              <a:t>，说明原问题存在</a:t>
            </a:r>
            <a:r>
              <a:rPr kumimoji="1" lang="zh-CN" altLang="en-US" sz="2400" dirty="0">
                <a:solidFill>
                  <a:srgbClr val="0000FF"/>
                </a:solidFill>
              </a:rPr>
              <a:t>初始基本可行解，转入第二阶段。</a:t>
            </a:r>
            <a:r>
              <a:rPr kumimoji="1" lang="zh-CN" altLang="en-US" sz="2400" dirty="0"/>
              <a:t>否则，原问题无可行解，计算停止。</a:t>
            </a:r>
          </a:p>
        </p:txBody>
      </p:sp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468313" y="4149725"/>
            <a:ext cx="7975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第二阶段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将第一阶段计算得到的最终表，除去人工变量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从该初始基本可行解开始，用单纯形法求原问题的最优解或判定原问题无界。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/>
      <p:bldP spid="53257" grpId="0"/>
      <p:bldP spid="5326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3132138" y="1341438"/>
          <a:ext cx="244475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8" name="Equation" r:id="rId3" imgW="1257300" imgH="990600" progId="Equation.DSMT4">
                  <p:embed/>
                </p:oleObj>
              </mc:Choice>
              <mc:Fallback>
                <p:oleObj name="Equation" r:id="rId3" imgW="1257300" imgH="990600" progId="Equation.DSMT4">
                  <p:embed/>
                  <p:pic>
                    <p:nvPicPr>
                      <p:cNvPr id="542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341438"/>
                        <a:ext cx="2444750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2771775" y="3500438"/>
          <a:ext cx="3124200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9" name="Equation" r:id="rId5" imgW="1638300" imgH="990600" progId="Equation.DSMT4">
                  <p:embed/>
                </p:oleObj>
              </mc:Choice>
              <mc:Fallback>
                <p:oleObj name="Equation" r:id="rId5" imgW="1638300" imgH="990600" progId="Equation.DSMT4">
                  <p:embed/>
                  <p:pic>
                    <p:nvPicPr>
                      <p:cNvPr id="542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500438"/>
                        <a:ext cx="3124200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395288" y="270827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写成标准化形式</a:t>
            </a:r>
          </a:p>
        </p:txBody>
      </p:sp>
      <p:sp>
        <p:nvSpPr>
          <p:cNvPr id="43015" name="Rectangle 12"/>
          <p:cNvSpPr>
            <a:spLocks noChangeArrowheads="1"/>
          </p:cNvSpPr>
          <p:nvPr/>
        </p:nvSpPr>
        <p:spPr bwMode="auto">
          <a:xfrm>
            <a:off x="250825" y="1196975"/>
            <a:ext cx="2819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 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求解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455613" y="1577190"/>
            <a:ext cx="457200" cy="2224087"/>
          </a:xfrm>
          <a:prstGeom prst="rect">
            <a:avLst/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第</a:t>
            </a:r>
            <a:r>
              <a:rPr lang="en-US" altLang="zh-CN" sz="2400" b="1">
                <a:solidFill>
                  <a:srgbClr val="0000FF"/>
                </a:solidFill>
              </a:rPr>
              <a:t>1 </a:t>
            </a:r>
            <a:br>
              <a:rPr lang="en-US" altLang="zh-CN" sz="2400" b="1">
                <a:solidFill>
                  <a:srgbClr val="0000FF"/>
                </a:solidFill>
              </a:rPr>
            </a:br>
            <a:r>
              <a:rPr lang="zh-CN" altLang="en-US" sz="2400" b="1">
                <a:solidFill>
                  <a:srgbClr val="0000FF"/>
                </a:solidFill>
              </a:rPr>
              <a:t>阶段</a:t>
            </a: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304800" y="1051719"/>
            <a:ext cx="5392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首先引入人工变量，构造辅助规划问题</a:t>
            </a:r>
          </a:p>
        </p:txBody>
      </p:sp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1566862" y="1602262"/>
          <a:ext cx="5151438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46" name="Equation" r:id="rId3" imgW="2247900" imgH="990600" progId="Equation.DSMT4">
                  <p:embed/>
                </p:oleObj>
              </mc:Choice>
              <mc:Fallback>
                <p:oleObj name="Equation" r:id="rId3" imgW="2247900" imgH="990600" progId="Equation.DSMT4">
                  <p:embed/>
                  <p:pic>
                    <p:nvPicPr>
                      <p:cNvPr id="553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2" y="1602262"/>
                        <a:ext cx="5151438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/>
          <p:nvPr/>
        </p:nvGrpSpPr>
        <p:grpSpPr bwMode="auto">
          <a:xfrm>
            <a:off x="684213" y="4365625"/>
            <a:ext cx="7127875" cy="511175"/>
            <a:chOff x="796" y="425"/>
            <a:chExt cx="4490" cy="322"/>
          </a:xfrm>
        </p:grpSpPr>
        <p:graphicFrame>
          <p:nvGraphicFramePr>
            <p:cNvPr id="44043" name="Object 13"/>
            <p:cNvGraphicFramePr>
              <a:graphicFrameLocks noChangeAspect="1"/>
            </p:cNvGraphicFramePr>
            <p:nvPr/>
          </p:nvGraphicFramePr>
          <p:xfrm>
            <a:off x="1456" y="425"/>
            <a:ext cx="300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47" name="Equation" r:id="rId5" imgW="215900" imgH="228600" progId="Equation.DSMT4">
                    <p:embed/>
                  </p:oleObj>
                </mc:Choice>
                <mc:Fallback>
                  <p:oleObj name="Equation" r:id="rId5" imgW="215900" imgH="228600" progId="Equation.DSMT4">
                    <p:embed/>
                    <p:pic>
                      <p:nvPicPr>
                        <p:cNvPr id="4404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6" y="425"/>
                          <a:ext cx="300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4" name="Object 14"/>
            <p:cNvGraphicFramePr>
              <a:graphicFrameLocks noChangeAspect="1"/>
            </p:cNvGraphicFramePr>
            <p:nvPr/>
          </p:nvGraphicFramePr>
          <p:xfrm>
            <a:off x="1822" y="425"/>
            <a:ext cx="23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48" name="Equation" r:id="rId7" imgW="165100" imgH="228600" progId="Equation.DSMT4">
                    <p:embed/>
                  </p:oleObj>
                </mc:Choice>
                <mc:Fallback>
                  <p:oleObj name="Equation" r:id="rId7" imgW="165100" imgH="228600" progId="Equation.DSMT4">
                    <p:embed/>
                    <p:pic>
                      <p:nvPicPr>
                        <p:cNvPr id="4404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2" y="425"/>
                          <a:ext cx="233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5" name="Rectangle 15"/>
            <p:cNvSpPr>
              <a:spLocks noChangeArrowheads="1"/>
            </p:cNvSpPr>
            <p:nvPr/>
          </p:nvSpPr>
          <p:spPr bwMode="auto">
            <a:xfrm>
              <a:off x="796" y="425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如果以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44046" name="Rectangle 16"/>
            <p:cNvSpPr>
              <a:spLocks noChangeArrowheads="1"/>
            </p:cNvSpPr>
            <p:nvPr/>
          </p:nvSpPr>
          <p:spPr bwMode="auto">
            <a:xfrm>
              <a:off x="2140" y="432"/>
              <a:ext cx="31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为基变量，则可以得到该问题的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BFS</a:t>
              </a:r>
              <a:endParaRPr lang="en-US" altLang="zh-CN" sz="2400"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1116013" y="4868863"/>
            <a:ext cx="5602287" cy="515937"/>
            <a:chOff x="945" y="827"/>
            <a:chExt cx="3529" cy="325"/>
          </a:xfrm>
        </p:grpSpPr>
        <p:graphicFrame>
          <p:nvGraphicFramePr>
            <p:cNvPr id="44041" name="Object 18"/>
            <p:cNvGraphicFramePr>
              <a:graphicFrameLocks noChangeAspect="1"/>
            </p:cNvGraphicFramePr>
            <p:nvPr/>
          </p:nvGraphicFramePr>
          <p:xfrm>
            <a:off x="945" y="827"/>
            <a:ext cx="1445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49" name="Equation" r:id="rId9" imgW="1028700" imgH="228600" progId="Equation.DSMT4">
                    <p:embed/>
                  </p:oleObj>
                </mc:Choice>
                <mc:Fallback>
                  <p:oleObj name="Equation" r:id="rId9" imgW="1028700" imgH="228600" progId="Equation.DSMT4">
                    <p:embed/>
                    <p:pic>
                      <p:nvPicPr>
                        <p:cNvPr id="4404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827"/>
                          <a:ext cx="1445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2" name="Rectangle 19"/>
            <p:cNvSpPr>
              <a:spLocks noChangeArrowheads="1"/>
            </p:cNvSpPr>
            <p:nvPr/>
          </p:nvSpPr>
          <p:spPr bwMode="auto">
            <a:xfrm>
              <a:off x="2524" y="864"/>
              <a:ext cx="19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, </a:t>
              </a:r>
              <a:r>
                <a:rPr lang="zh-CN" altLang="en-US" sz="2400"/>
                <a:t>其对应的单纯形表为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4" grpId="0" animBg="1" autoUpdateAnimBg="0"/>
      <p:bldP spid="5530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380999" y="2192338"/>
            <a:ext cx="7910245" cy="1136489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381000" y="1658938"/>
            <a:ext cx="7772400" cy="53340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666666"/>
              </a:gs>
            </a:gsLst>
            <a:lin ang="0" scaled="1"/>
          </a:gradFill>
          <a:ln w="9525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aphicFrame>
        <p:nvGraphicFramePr>
          <p:cNvPr id="56339" name="Group 19"/>
          <p:cNvGraphicFramePr>
            <a:graphicFrameLocks noGrp="1"/>
          </p:cNvGraphicFramePr>
          <p:nvPr/>
        </p:nvGraphicFramePr>
        <p:xfrm>
          <a:off x="934948" y="1658938"/>
          <a:ext cx="7218452" cy="1676400"/>
        </p:xfrm>
        <a:graphic>
          <a:graphicData uri="http://schemas.openxmlformats.org/drawingml/2006/table">
            <a:tbl>
              <a:tblPr/>
              <a:tblGrid>
                <a:gridCol w="453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0       0      0        0       0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-1    -1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  -1     6       -1      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1     0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     1      2        0        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42"/>
          <p:cNvGrpSpPr/>
          <p:nvPr/>
        </p:nvGrpSpPr>
        <p:grpSpPr bwMode="auto">
          <a:xfrm>
            <a:off x="1223963" y="1125538"/>
            <a:ext cx="6934200" cy="533400"/>
            <a:chOff x="771" y="1152"/>
            <a:chExt cx="4368" cy="336"/>
          </a:xfrm>
        </p:grpSpPr>
        <p:graphicFrame>
          <p:nvGraphicFramePr>
            <p:cNvPr id="45119" name="Object 43"/>
            <p:cNvGraphicFramePr>
              <a:graphicFrameLocks noChangeAspect="1"/>
            </p:cNvGraphicFramePr>
            <p:nvPr/>
          </p:nvGraphicFramePr>
          <p:xfrm>
            <a:off x="771" y="1152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19" name="Equation" r:id="rId3" imgW="152400" imgH="228600" progId="Equation.DSMT4">
                    <p:embed/>
                  </p:oleObj>
                </mc:Choice>
                <mc:Fallback>
                  <p:oleObj name="Equation" r:id="rId3" imgW="152400" imgH="228600" progId="Equation.DSMT4">
                    <p:embed/>
                    <p:pic>
                      <p:nvPicPr>
                        <p:cNvPr id="45119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152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0" name="Object 44"/>
            <p:cNvGraphicFramePr>
              <a:graphicFrameLocks noChangeAspect="1"/>
            </p:cNvGraphicFramePr>
            <p:nvPr/>
          </p:nvGraphicFramePr>
          <p:xfrm>
            <a:off x="129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0" name="Equation" r:id="rId5" imgW="165100" imgH="228600" progId="Equation.DSMT4">
                    <p:embed/>
                  </p:oleObj>
                </mc:Choice>
                <mc:Fallback>
                  <p:oleObj name="Equation" r:id="rId5" imgW="165100" imgH="228600" progId="Equation.DSMT4">
                    <p:embed/>
                    <p:pic>
                      <p:nvPicPr>
                        <p:cNvPr id="4512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1" name="Object 45"/>
            <p:cNvGraphicFramePr>
              <a:graphicFrameLocks noChangeAspect="1"/>
            </p:cNvGraphicFramePr>
            <p:nvPr/>
          </p:nvGraphicFramePr>
          <p:xfrm>
            <a:off x="181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1" name="Equation" r:id="rId7" imgW="165100" imgH="228600" progId="Equation.DSMT4">
                    <p:embed/>
                  </p:oleObj>
                </mc:Choice>
                <mc:Fallback>
                  <p:oleObj name="Equation" r:id="rId7" imgW="165100" imgH="228600" progId="Equation.DSMT4">
                    <p:embed/>
                    <p:pic>
                      <p:nvPicPr>
                        <p:cNvPr id="4512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2" name="Object 46"/>
            <p:cNvGraphicFramePr>
              <a:graphicFrameLocks noChangeAspect="1"/>
            </p:cNvGraphicFramePr>
            <p:nvPr/>
          </p:nvGraphicFramePr>
          <p:xfrm>
            <a:off x="2355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2" name="Equation" r:id="rId9" imgW="165100" imgH="228600" progId="Equation.DSMT4">
                    <p:embed/>
                  </p:oleObj>
                </mc:Choice>
                <mc:Fallback>
                  <p:oleObj name="Equation" r:id="rId9" imgW="165100" imgH="228600" progId="Equation.DSMT4">
                    <p:embed/>
                    <p:pic>
                      <p:nvPicPr>
                        <p:cNvPr id="45122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3" name="Object 47"/>
            <p:cNvGraphicFramePr>
              <a:graphicFrameLocks noChangeAspect="1"/>
            </p:cNvGraphicFramePr>
            <p:nvPr/>
          </p:nvGraphicFramePr>
          <p:xfrm>
            <a:off x="2976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3" name="Equation" r:id="rId11" imgW="165100" imgH="228600" progId="Equation.DSMT4">
                    <p:embed/>
                  </p:oleObj>
                </mc:Choice>
                <mc:Fallback>
                  <p:oleObj name="Equation" r:id="rId11" imgW="165100" imgH="228600" progId="Equation.DSMT4">
                    <p:embed/>
                    <p:pic>
                      <p:nvPicPr>
                        <p:cNvPr id="45123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4" name="Object 48"/>
            <p:cNvGraphicFramePr>
              <a:graphicFrameLocks noChangeAspect="1"/>
            </p:cNvGraphicFramePr>
            <p:nvPr/>
          </p:nvGraphicFramePr>
          <p:xfrm>
            <a:off x="3600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4" name="Equation" r:id="rId13" imgW="165100" imgH="228600" progId="Equation.DSMT4">
                    <p:embed/>
                  </p:oleObj>
                </mc:Choice>
                <mc:Fallback>
                  <p:oleObj name="Equation" r:id="rId13" imgW="165100" imgH="228600" progId="Equation.DSMT4">
                    <p:embed/>
                    <p:pic>
                      <p:nvPicPr>
                        <p:cNvPr id="45124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25" name="Object 49"/>
            <p:cNvGraphicFramePr>
              <a:graphicFrameLocks noChangeAspect="1"/>
            </p:cNvGraphicFramePr>
            <p:nvPr/>
          </p:nvGraphicFramePr>
          <p:xfrm>
            <a:off x="4083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5" name="Equation" r:id="rId15" imgW="165100" imgH="228600" progId="Equation.DSMT4">
                    <p:embed/>
                  </p:oleObj>
                </mc:Choice>
                <mc:Fallback>
                  <p:oleObj name="Equation" r:id="rId15" imgW="165100" imgH="228600" progId="Equation.DSMT4">
                    <p:embed/>
                    <p:pic>
                      <p:nvPicPr>
                        <p:cNvPr id="45125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26" name="Text Box 50"/>
            <p:cNvSpPr txBox="1">
              <a:spLocks noChangeArrowheads="1"/>
            </p:cNvSpPr>
            <p:nvPr/>
          </p:nvSpPr>
          <p:spPr bwMode="auto">
            <a:xfrm>
              <a:off x="4611" y="12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/>
                <a:t>RHS</a:t>
              </a:r>
            </a:p>
          </p:txBody>
        </p:sp>
      </p:grpSp>
      <p:grpSp>
        <p:nvGrpSpPr>
          <p:cNvPr id="4" name="Group 75"/>
          <p:cNvGrpSpPr/>
          <p:nvPr/>
        </p:nvGrpSpPr>
        <p:grpSpPr bwMode="auto">
          <a:xfrm>
            <a:off x="508571" y="1225711"/>
            <a:ext cx="461963" cy="2057400"/>
            <a:chOff x="288" y="1584"/>
            <a:chExt cx="291" cy="1296"/>
          </a:xfrm>
        </p:grpSpPr>
        <p:graphicFrame>
          <p:nvGraphicFramePr>
            <p:cNvPr id="45115" name="Object 76"/>
            <p:cNvGraphicFramePr>
              <a:graphicFrameLocks noChangeAspect="1"/>
            </p:cNvGraphicFramePr>
            <p:nvPr/>
          </p:nvGraphicFramePr>
          <p:xfrm>
            <a:off x="288" y="2208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6" name="Equation" r:id="rId17" imgW="165100" imgH="228600" progId="Equation.DSMT4">
                    <p:embed/>
                  </p:oleObj>
                </mc:Choice>
                <mc:Fallback>
                  <p:oleObj name="Equation" r:id="rId17" imgW="165100" imgH="228600" progId="Equation.DSMT4">
                    <p:embed/>
                    <p:pic>
                      <p:nvPicPr>
                        <p:cNvPr id="45115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208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16" name="Object 77"/>
            <p:cNvGraphicFramePr>
              <a:graphicFrameLocks noChangeAspect="1"/>
            </p:cNvGraphicFramePr>
            <p:nvPr/>
          </p:nvGraphicFramePr>
          <p:xfrm>
            <a:off x="288" y="2544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7" name="Equation" r:id="rId18" imgW="165100" imgH="228600" progId="Equation.DSMT4">
                    <p:embed/>
                  </p:oleObj>
                </mc:Choice>
                <mc:Fallback>
                  <p:oleObj name="Equation" r:id="rId18" imgW="165100" imgH="228600" progId="Equation.DSMT4">
                    <p:embed/>
                    <p:pic>
                      <p:nvPicPr>
                        <p:cNvPr id="45116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544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17" name="Text Box 78"/>
            <p:cNvSpPr txBox="1">
              <a:spLocks noChangeArrowheads="1"/>
            </p:cNvSpPr>
            <p:nvPr/>
          </p:nvSpPr>
          <p:spPr bwMode="auto">
            <a:xfrm>
              <a:off x="291" y="192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45118" name="Text Box 79"/>
            <p:cNvSpPr txBox="1">
              <a:spLocks noChangeArrowheads="1"/>
            </p:cNvSpPr>
            <p:nvPr/>
          </p:nvSpPr>
          <p:spPr bwMode="auto">
            <a:xfrm>
              <a:off x="291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zh-CN" sz="1800" dirty="0"/>
            </a:p>
          </p:txBody>
        </p:sp>
      </p:grpSp>
      <p:grpSp>
        <p:nvGrpSpPr>
          <p:cNvPr id="5" name="Group 80"/>
          <p:cNvGrpSpPr/>
          <p:nvPr/>
        </p:nvGrpSpPr>
        <p:grpSpPr bwMode="auto">
          <a:xfrm>
            <a:off x="553948" y="4487758"/>
            <a:ext cx="503238" cy="1398588"/>
            <a:chOff x="336" y="3552"/>
            <a:chExt cx="317" cy="881"/>
          </a:xfrm>
        </p:grpSpPr>
        <p:graphicFrame>
          <p:nvGraphicFramePr>
            <p:cNvPr id="45111" name="Object 81"/>
            <p:cNvGraphicFramePr>
              <a:graphicFrameLocks noChangeAspect="1"/>
            </p:cNvGraphicFramePr>
            <p:nvPr/>
          </p:nvGraphicFramePr>
          <p:xfrm>
            <a:off x="336" y="35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8" name="Equation" r:id="rId19" imgW="165100" imgH="228600" progId="Equation.DSMT4">
                    <p:embed/>
                  </p:oleObj>
                </mc:Choice>
                <mc:Fallback>
                  <p:oleObj name="Equation" r:id="rId19" imgW="165100" imgH="228600" progId="Equation.DSMT4">
                    <p:embed/>
                    <p:pic>
                      <p:nvPicPr>
                        <p:cNvPr id="45111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35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12" name="Object 82"/>
            <p:cNvGraphicFramePr>
              <a:graphicFrameLocks noChangeAspect="1"/>
            </p:cNvGraphicFramePr>
            <p:nvPr/>
          </p:nvGraphicFramePr>
          <p:xfrm>
            <a:off x="336" y="3888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9" name="Equation" r:id="rId20" imgW="165100" imgH="228600" progId="Equation.DSMT4">
                    <p:embed/>
                  </p:oleObj>
                </mc:Choice>
                <mc:Fallback>
                  <p:oleObj name="Equation" r:id="rId20" imgW="165100" imgH="228600" progId="Equation.DSMT4">
                    <p:embed/>
                    <p:pic>
                      <p:nvPicPr>
                        <p:cNvPr id="45112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3888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13" name="Text Box 83"/>
            <p:cNvSpPr txBox="1">
              <a:spLocks noChangeArrowheads="1"/>
            </p:cNvSpPr>
            <p:nvPr/>
          </p:nvSpPr>
          <p:spPr bwMode="auto">
            <a:xfrm>
              <a:off x="365" y="420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zh-CN" sz="1800" dirty="0">
                <a:solidFill>
                  <a:srgbClr val="0000FF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52"/>
          <p:cNvGraphicFramePr>
            <a:graphicFrameLocks noGrp="1"/>
          </p:cNvGraphicFramePr>
          <p:nvPr>
            <p:ph idx="4294967295"/>
          </p:nvPr>
        </p:nvGraphicFramePr>
        <p:xfrm>
          <a:off x="1987550" y="4414838"/>
          <a:ext cx="7156806" cy="1719602"/>
        </p:xfrm>
        <a:graphic>
          <a:graphicData uri="http://schemas.openxmlformats.org/drawingml/2006/table">
            <a:tbl>
              <a:tblPr/>
              <a:tblGrid>
                <a:gridCol w="44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  -1     6       -1      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1     0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     1      2        0        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0      1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0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       0      8      -1       -1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0      0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animBg="1"/>
      <p:bldP spid="563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Group 52"/>
          <p:cNvGraphicFramePr>
            <a:graphicFrameLocks noGrp="1"/>
          </p:cNvGraphicFramePr>
          <p:nvPr>
            <p:ph idx="4294967295"/>
          </p:nvPr>
        </p:nvGraphicFramePr>
        <p:xfrm>
          <a:off x="882867" y="1609725"/>
          <a:ext cx="7156806" cy="1676400"/>
        </p:xfrm>
        <a:graphic>
          <a:graphicData uri="http://schemas.openxmlformats.org/drawingml/2006/table">
            <a:tbl>
              <a:tblPr/>
              <a:tblGrid>
                <a:gridCol w="44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1/6  -1/6     1   -1/6      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1/6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2/3   4/3      0    1/3        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-1/3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2/3   4/3      0    1/3       -1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-4/3    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65"/>
          <p:cNvGraphicFramePr>
            <a:graphicFrameLocks noChangeAspect="1"/>
          </p:cNvGraphicFramePr>
          <p:nvPr/>
        </p:nvGraphicFramePr>
        <p:xfrm>
          <a:off x="385942" y="1578564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43" name="Equation" r:id="rId4" imgW="165100" imgH="228600" progId="Equation.DSMT4">
                  <p:embed/>
                </p:oleObj>
              </mc:Choice>
              <mc:Fallback>
                <p:oleObj name="Equation" r:id="rId4" imgW="165100" imgH="228600" progId="Equation.DSMT4">
                  <p:embed/>
                  <p:pic>
                    <p:nvPicPr>
                      <p:cNvPr id="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42" y="1578564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6"/>
          <p:cNvGraphicFramePr>
            <a:graphicFrameLocks noChangeAspect="1"/>
          </p:cNvGraphicFramePr>
          <p:nvPr/>
        </p:nvGraphicFramePr>
        <p:xfrm>
          <a:off x="416105" y="2102439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44" name="Equation" r:id="rId6" imgW="165100" imgH="228600" progId="Equation.DSMT4">
                  <p:embed/>
                </p:oleObj>
              </mc:Choice>
              <mc:Fallback>
                <p:oleObj name="Equation" r:id="rId6" imgW="165100" imgH="228600" progId="Equation.DSMT4">
                  <p:embed/>
                  <p:pic>
                    <p:nvPicPr>
                      <p:cNvPr id="6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05" y="2102439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oup 52"/>
          <p:cNvGraphicFramePr/>
          <p:nvPr/>
        </p:nvGraphicFramePr>
        <p:xfrm>
          <a:off x="945222" y="4032215"/>
          <a:ext cx="7115926" cy="1676400"/>
        </p:xfrm>
        <a:graphic>
          <a:graphicData uri="http://schemas.openxmlformats.org/drawingml/2006/table">
            <a:tbl>
              <a:tblPr/>
              <a:tblGrid>
                <a:gridCol w="442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1/4      0      1      -1/8       -1/8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1/8   1/8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     1       0       1/4        -3/4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-1/4   3/4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0       0        0         0        0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-1    -1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65"/>
          <p:cNvGraphicFramePr>
            <a:graphicFrameLocks noChangeAspect="1"/>
          </p:cNvGraphicFramePr>
          <p:nvPr/>
        </p:nvGraphicFramePr>
        <p:xfrm>
          <a:off x="394506" y="4001554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45" name="Equation" r:id="rId8" imgW="165100" imgH="228600" progId="Equation.DSMT4">
                  <p:embed/>
                </p:oleObj>
              </mc:Choice>
              <mc:Fallback>
                <p:oleObj name="Equation" r:id="rId8" imgW="165100" imgH="228600" progId="Equation.DSMT4">
                  <p:embed/>
                  <p:pic>
                    <p:nvPicPr>
                      <p:cNvPr id="8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06" y="4001554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6"/>
          <p:cNvGraphicFramePr>
            <a:graphicFrameLocks noChangeAspect="1"/>
          </p:cNvGraphicFramePr>
          <p:nvPr/>
        </p:nvGraphicFramePr>
        <p:xfrm>
          <a:off x="424669" y="4525429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46" name="Equation" r:id="rId9" imgW="3962400" imgH="5486400" progId="Equation.DSMT4">
                  <p:embed/>
                </p:oleObj>
              </mc:Choice>
              <mc:Fallback>
                <p:oleObj name="Equation" r:id="rId9" imgW="3962400" imgH="5486400" progId="Equation.DSMT4">
                  <p:embed/>
                  <p:pic>
                    <p:nvPicPr>
                      <p:cNvPr id="9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69" y="4525429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2"/>
          <p:cNvGrpSpPr/>
          <p:nvPr/>
        </p:nvGrpSpPr>
        <p:grpSpPr bwMode="auto">
          <a:xfrm>
            <a:off x="1144654" y="1066314"/>
            <a:ext cx="6934200" cy="533400"/>
            <a:chOff x="771" y="1152"/>
            <a:chExt cx="4368" cy="336"/>
          </a:xfrm>
        </p:grpSpPr>
        <p:graphicFrame>
          <p:nvGraphicFramePr>
            <p:cNvPr id="11" name="Object 103"/>
            <p:cNvGraphicFramePr>
              <a:graphicFrameLocks noChangeAspect="1"/>
            </p:cNvGraphicFramePr>
            <p:nvPr/>
          </p:nvGraphicFramePr>
          <p:xfrm>
            <a:off x="771" y="1152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47" name="Equation" r:id="rId11" imgW="152400" imgH="228600" progId="Equation.DSMT4">
                    <p:embed/>
                  </p:oleObj>
                </mc:Choice>
                <mc:Fallback>
                  <p:oleObj name="Equation" r:id="rId11" imgW="152400" imgH="228600" progId="Equation.DSMT4">
                    <p:embed/>
                    <p:pic>
                      <p:nvPicPr>
                        <p:cNvPr id="11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152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04"/>
            <p:cNvGraphicFramePr>
              <a:graphicFrameLocks noChangeAspect="1"/>
            </p:cNvGraphicFramePr>
            <p:nvPr/>
          </p:nvGraphicFramePr>
          <p:xfrm>
            <a:off x="129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48" name="Equation" r:id="rId13" imgW="165100" imgH="228600" progId="Equation.DSMT4">
                    <p:embed/>
                  </p:oleObj>
                </mc:Choice>
                <mc:Fallback>
                  <p:oleObj name="Equation" r:id="rId13" imgW="165100" imgH="228600" progId="Equation.DSMT4">
                    <p:embed/>
                    <p:pic>
                      <p:nvPicPr>
                        <p:cNvPr id="12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05"/>
            <p:cNvGraphicFramePr>
              <a:graphicFrameLocks noChangeAspect="1"/>
            </p:cNvGraphicFramePr>
            <p:nvPr/>
          </p:nvGraphicFramePr>
          <p:xfrm>
            <a:off x="181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49" name="Equation" r:id="rId15" imgW="165100" imgH="228600" progId="Equation.DSMT4">
                    <p:embed/>
                  </p:oleObj>
                </mc:Choice>
                <mc:Fallback>
                  <p:oleObj name="Equation" r:id="rId15" imgW="165100" imgH="228600" progId="Equation.DSMT4">
                    <p:embed/>
                    <p:pic>
                      <p:nvPicPr>
                        <p:cNvPr id="13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6"/>
            <p:cNvGraphicFramePr>
              <a:graphicFrameLocks noChangeAspect="1"/>
            </p:cNvGraphicFramePr>
            <p:nvPr/>
          </p:nvGraphicFramePr>
          <p:xfrm>
            <a:off x="2355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50" name="Equation" r:id="rId17" imgW="165100" imgH="228600" progId="Equation.DSMT4">
                    <p:embed/>
                  </p:oleObj>
                </mc:Choice>
                <mc:Fallback>
                  <p:oleObj name="Equation" r:id="rId17" imgW="165100" imgH="228600" progId="Equation.DSMT4">
                    <p:embed/>
                    <p:pic>
                      <p:nvPicPr>
                        <p:cNvPr id="14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7"/>
            <p:cNvGraphicFramePr>
              <a:graphicFrameLocks noChangeAspect="1"/>
            </p:cNvGraphicFramePr>
            <p:nvPr/>
          </p:nvGraphicFramePr>
          <p:xfrm>
            <a:off x="2976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51" name="Equation" r:id="rId19" imgW="165100" imgH="228600" progId="Equation.DSMT4">
                    <p:embed/>
                  </p:oleObj>
                </mc:Choice>
                <mc:Fallback>
                  <p:oleObj name="Equation" r:id="rId19" imgW="165100" imgH="228600" progId="Equation.DSMT4">
                    <p:embed/>
                    <p:pic>
                      <p:nvPicPr>
                        <p:cNvPr id="15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8"/>
            <p:cNvGraphicFramePr>
              <a:graphicFrameLocks noChangeAspect="1"/>
            </p:cNvGraphicFramePr>
            <p:nvPr/>
          </p:nvGraphicFramePr>
          <p:xfrm>
            <a:off x="3600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52" name="Equation" r:id="rId21" imgW="165100" imgH="228600" progId="Equation.DSMT4">
                    <p:embed/>
                  </p:oleObj>
                </mc:Choice>
                <mc:Fallback>
                  <p:oleObj name="Equation" r:id="rId21" imgW="165100" imgH="228600" progId="Equation.DSMT4">
                    <p:embed/>
                    <p:pic>
                      <p:nvPicPr>
                        <p:cNvPr id="16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09"/>
            <p:cNvGraphicFramePr>
              <a:graphicFrameLocks noChangeAspect="1"/>
            </p:cNvGraphicFramePr>
            <p:nvPr/>
          </p:nvGraphicFramePr>
          <p:xfrm>
            <a:off x="4083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53" name="Equation" r:id="rId23" imgW="165100" imgH="228600" progId="Equation.DSMT4">
                    <p:embed/>
                  </p:oleObj>
                </mc:Choice>
                <mc:Fallback>
                  <p:oleObj name="Equation" r:id="rId23" imgW="165100" imgH="228600" progId="Equation.DSMT4">
                    <p:embed/>
                    <p:pic>
                      <p:nvPicPr>
                        <p:cNvPr id="17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10"/>
            <p:cNvSpPr txBox="1">
              <a:spLocks noChangeArrowheads="1"/>
            </p:cNvSpPr>
            <p:nvPr/>
          </p:nvSpPr>
          <p:spPr bwMode="auto">
            <a:xfrm>
              <a:off x="4611" y="12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/>
                <a:t>RHS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65"/>
          <p:cNvGraphicFramePr>
            <a:graphicFrameLocks noChangeAspect="1"/>
          </p:cNvGraphicFramePr>
          <p:nvPr/>
        </p:nvGraphicFramePr>
        <p:xfrm>
          <a:off x="385942" y="1578564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67" name="Equation" r:id="rId4" imgW="165100" imgH="228600" progId="Equation.DSMT4">
                  <p:embed/>
                </p:oleObj>
              </mc:Choice>
              <mc:Fallback>
                <p:oleObj name="Equation" r:id="rId4" imgW="165100" imgH="228600" progId="Equation.DSMT4">
                  <p:embed/>
                  <p:pic>
                    <p:nvPicPr>
                      <p:cNvPr id="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42" y="1578564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oup 52"/>
          <p:cNvGraphicFramePr/>
          <p:nvPr/>
        </p:nvGraphicFramePr>
        <p:xfrm>
          <a:off x="832207" y="1535594"/>
          <a:ext cx="7115926" cy="1676400"/>
        </p:xfrm>
        <a:graphic>
          <a:graphicData uri="http://schemas.openxmlformats.org/drawingml/2006/table">
            <a:tbl>
              <a:tblPr/>
              <a:tblGrid>
                <a:gridCol w="442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1/4      0      1      -1/8       -1/8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1/8   1/8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     1       0       1/4        -3/4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-1/4   3/4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0       0        0         0        0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-1    -1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66"/>
          <p:cNvGraphicFramePr>
            <a:graphicFrameLocks noChangeAspect="1"/>
          </p:cNvGraphicFramePr>
          <p:nvPr/>
        </p:nvGraphicFramePr>
        <p:xfrm>
          <a:off x="373298" y="2069905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68" name="Equation" r:id="rId6" imgW="3962400" imgH="5486400" progId="Equation.DSMT4">
                  <p:embed/>
                </p:oleObj>
              </mc:Choice>
              <mc:Fallback>
                <p:oleObj name="Equation" r:id="rId6" imgW="3962400" imgH="5486400" progId="Equation.DSMT4">
                  <p:embed/>
                  <p:pic>
                    <p:nvPicPr>
                      <p:cNvPr id="9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98" y="2069905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2"/>
          <p:cNvGrpSpPr/>
          <p:nvPr/>
        </p:nvGrpSpPr>
        <p:grpSpPr bwMode="auto">
          <a:xfrm>
            <a:off x="1071081" y="1034783"/>
            <a:ext cx="6934200" cy="533400"/>
            <a:chOff x="771" y="1152"/>
            <a:chExt cx="4368" cy="336"/>
          </a:xfrm>
        </p:grpSpPr>
        <p:graphicFrame>
          <p:nvGraphicFramePr>
            <p:cNvPr id="11" name="Object 103"/>
            <p:cNvGraphicFramePr>
              <a:graphicFrameLocks noChangeAspect="1"/>
            </p:cNvGraphicFramePr>
            <p:nvPr/>
          </p:nvGraphicFramePr>
          <p:xfrm>
            <a:off x="771" y="1152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69" name="Equation" r:id="rId8" imgW="152400" imgH="228600" progId="Equation.DSMT4">
                    <p:embed/>
                  </p:oleObj>
                </mc:Choice>
                <mc:Fallback>
                  <p:oleObj name="Equation" r:id="rId8" imgW="152400" imgH="228600" progId="Equation.DSMT4">
                    <p:embed/>
                    <p:pic>
                      <p:nvPicPr>
                        <p:cNvPr id="11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152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04"/>
            <p:cNvGraphicFramePr>
              <a:graphicFrameLocks noChangeAspect="1"/>
            </p:cNvGraphicFramePr>
            <p:nvPr/>
          </p:nvGraphicFramePr>
          <p:xfrm>
            <a:off x="129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0" name="Equation" r:id="rId10" imgW="165100" imgH="228600" progId="Equation.DSMT4">
                    <p:embed/>
                  </p:oleObj>
                </mc:Choice>
                <mc:Fallback>
                  <p:oleObj name="Equation" r:id="rId10" imgW="165100" imgH="228600" progId="Equation.DSMT4">
                    <p:embed/>
                    <p:pic>
                      <p:nvPicPr>
                        <p:cNvPr id="12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05"/>
            <p:cNvGraphicFramePr>
              <a:graphicFrameLocks noChangeAspect="1"/>
            </p:cNvGraphicFramePr>
            <p:nvPr/>
          </p:nvGraphicFramePr>
          <p:xfrm>
            <a:off x="181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1" name="Equation" r:id="rId12" imgW="165100" imgH="228600" progId="Equation.DSMT4">
                    <p:embed/>
                  </p:oleObj>
                </mc:Choice>
                <mc:Fallback>
                  <p:oleObj name="Equation" r:id="rId12" imgW="165100" imgH="228600" progId="Equation.DSMT4">
                    <p:embed/>
                    <p:pic>
                      <p:nvPicPr>
                        <p:cNvPr id="13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6"/>
            <p:cNvGraphicFramePr>
              <a:graphicFrameLocks noChangeAspect="1"/>
            </p:cNvGraphicFramePr>
            <p:nvPr/>
          </p:nvGraphicFramePr>
          <p:xfrm>
            <a:off x="2355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2" name="Equation" r:id="rId14" imgW="165100" imgH="228600" progId="Equation.DSMT4">
                    <p:embed/>
                  </p:oleObj>
                </mc:Choice>
                <mc:Fallback>
                  <p:oleObj name="Equation" r:id="rId14" imgW="165100" imgH="228600" progId="Equation.DSMT4">
                    <p:embed/>
                    <p:pic>
                      <p:nvPicPr>
                        <p:cNvPr id="14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7"/>
            <p:cNvGraphicFramePr>
              <a:graphicFrameLocks noChangeAspect="1"/>
            </p:cNvGraphicFramePr>
            <p:nvPr/>
          </p:nvGraphicFramePr>
          <p:xfrm>
            <a:off x="2976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3" name="Equation" r:id="rId16" imgW="165100" imgH="228600" progId="Equation.DSMT4">
                    <p:embed/>
                  </p:oleObj>
                </mc:Choice>
                <mc:Fallback>
                  <p:oleObj name="Equation" r:id="rId16" imgW="165100" imgH="228600" progId="Equation.DSMT4">
                    <p:embed/>
                    <p:pic>
                      <p:nvPicPr>
                        <p:cNvPr id="15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8"/>
            <p:cNvGraphicFramePr>
              <a:graphicFrameLocks noChangeAspect="1"/>
            </p:cNvGraphicFramePr>
            <p:nvPr/>
          </p:nvGraphicFramePr>
          <p:xfrm>
            <a:off x="3600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4" name="Equation" r:id="rId18" imgW="165100" imgH="228600" progId="Equation.DSMT4">
                    <p:embed/>
                  </p:oleObj>
                </mc:Choice>
                <mc:Fallback>
                  <p:oleObj name="Equation" r:id="rId18" imgW="165100" imgH="228600" progId="Equation.DSMT4">
                    <p:embed/>
                    <p:pic>
                      <p:nvPicPr>
                        <p:cNvPr id="16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09"/>
            <p:cNvGraphicFramePr>
              <a:graphicFrameLocks noChangeAspect="1"/>
            </p:cNvGraphicFramePr>
            <p:nvPr/>
          </p:nvGraphicFramePr>
          <p:xfrm>
            <a:off x="4083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5" name="Equation" r:id="rId20" imgW="165100" imgH="228600" progId="Equation.DSMT4">
                    <p:embed/>
                  </p:oleObj>
                </mc:Choice>
                <mc:Fallback>
                  <p:oleObj name="Equation" r:id="rId20" imgW="165100" imgH="228600" progId="Equation.DSMT4">
                    <p:embed/>
                    <p:pic>
                      <p:nvPicPr>
                        <p:cNvPr id="17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10"/>
            <p:cNvSpPr txBox="1">
              <a:spLocks noChangeArrowheads="1"/>
            </p:cNvSpPr>
            <p:nvPr/>
          </p:nvSpPr>
          <p:spPr bwMode="auto">
            <a:xfrm>
              <a:off x="4611" y="12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/>
                <a:t>RHS</a:t>
              </a:r>
            </a:p>
          </p:txBody>
        </p:sp>
      </p:grpSp>
      <p:grpSp>
        <p:nvGrpSpPr>
          <p:cNvPr id="22" name="Group 39"/>
          <p:cNvGrpSpPr/>
          <p:nvPr/>
        </p:nvGrpSpPr>
        <p:grpSpPr bwMode="auto">
          <a:xfrm>
            <a:off x="452919" y="3634554"/>
            <a:ext cx="8077200" cy="658813"/>
            <a:chOff x="288" y="2321"/>
            <a:chExt cx="5088" cy="415"/>
          </a:xfrm>
        </p:grpSpPr>
        <p:sp>
          <p:nvSpPr>
            <p:cNvPr id="23" name="Text Box 40"/>
            <p:cNvSpPr txBox="1">
              <a:spLocks noChangeArrowheads="1"/>
            </p:cNvSpPr>
            <p:nvPr/>
          </p:nvSpPr>
          <p:spPr bwMode="auto">
            <a:xfrm>
              <a:off x="288" y="2369"/>
              <a:ext cx="4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第一阶段结束，得到辅助问题的一个最优解</a:t>
              </a:r>
            </a:p>
          </p:txBody>
        </p:sp>
        <p:graphicFrame>
          <p:nvGraphicFramePr>
            <p:cNvPr id="24" name="Object 41"/>
            <p:cNvGraphicFramePr>
              <a:graphicFrameLocks noChangeAspect="1"/>
            </p:cNvGraphicFramePr>
            <p:nvPr/>
          </p:nvGraphicFramePr>
          <p:xfrm>
            <a:off x="4023" y="2321"/>
            <a:ext cx="1353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6" name="Equation" r:id="rId22" imgW="1155700" imgH="393700" progId="Equation.DSMT4">
                    <p:embed/>
                  </p:oleObj>
                </mc:Choice>
                <mc:Fallback>
                  <p:oleObj name="Equation" r:id="rId22" imgW="1155700" imgH="393700" progId="Equation.DSMT4">
                    <p:embed/>
                    <p:pic>
                      <p:nvPicPr>
                        <p:cNvPr id="24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2321"/>
                          <a:ext cx="1353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42"/>
          <p:cNvGrpSpPr/>
          <p:nvPr/>
        </p:nvGrpSpPr>
        <p:grpSpPr bwMode="auto">
          <a:xfrm>
            <a:off x="529119" y="4467992"/>
            <a:ext cx="7620000" cy="658812"/>
            <a:chOff x="288" y="2801"/>
            <a:chExt cx="4800" cy="415"/>
          </a:xfrm>
        </p:grpSpPr>
        <p:graphicFrame>
          <p:nvGraphicFramePr>
            <p:cNvPr id="26" name="Object 43"/>
            <p:cNvGraphicFramePr>
              <a:graphicFrameLocks noChangeAspect="1"/>
            </p:cNvGraphicFramePr>
            <p:nvPr/>
          </p:nvGraphicFramePr>
          <p:xfrm>
            <a:off x="3675" y="2801"/>
            <a:ext cx="1413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577" name="Equation" r:id="rId24" imgW="1205865" imgH="393700" progId="Equation.DSMT4">
                    <p:embed/>
                  </p:oleObj>
                </mc:Choice>
                <mc:Fallback>
                  <p:oleObj name="Equation" r:id="rId24" imgW="1205865" imgH="393700" progId="Equation.DSMT4">
                    <p:embed/>
                    <p:pic>
                      <p:nvPicPr>
                        <p:cNvPr id="26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5" y="2801"/>
                          <a:ext cx="1413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44"/>
            <p:cNvSpPr txBox="1">
              <a:spLocks noChangeArrowheads="1"/>
            </p:cNvSpPr>
            <p:nvPr/>
          </p:nvSpPr>
          <p:spPr bwMode="auto">
            <a:xfrm>
              <a:off x="288" y="2849"/>
              <a:ext cx="40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同时得到原问题的一个初始基本可行解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85011" y="1117567"/>
            <a:ext cx="7745413" cy="1235075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去掉人工变量对应的行、列，计算当前可行基下的检验数并填入表中得到</a:t>
            </a:r>
            <a:r>
              <a:rPr lang="zh-CN" altLang="en-US" sz="2800" dirty="0">
                <a:solidFill>
                  <a:srgbClr val="0000FF"/>
                </a:solidFill>
              </a:rPr>
              <a:t>原问题的初始单纯形表</a:t>
            </a:r>
            <a:r>
              <a:rPr lang="zh-CN" altLang="en-US" sz="2800" dirty="0"/>
              <a:t>，开始第二阶段运算。</a:t>
            </a:r>
          </a:p>
          <a:p>
            <a:endParaRPr lang="zh-CN" altLang="en-US" dirty="0"/>
          </a:p>
        </p:txBody>
      </p:sp>
      <p:graphicFrame>
        <p:nvGraphicFramePr>
          <p:cNvPr id="25" name="Object 65"/>
          <p:cNvGraphicFramePr>
            <a:graphicFrameLocks noChangeAspect="1"/>
          </p:cNvGraphicFramePr>
          <p:nvPr/>
        </p:nvGraphicFramePr>
        <p:xfrm>
          <a:off x="611974" y="3335440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77" name="Equation" r:id="rId3" imgW="165100" imgH="228600" progId="Equation.DSMT4">
                  <p:embed/>
                </p:oleObj>
              </mc:Choice>
              <mc:Fallback>
                <p:oleObj name="Equation" r:id="rId3" imgW="165100" imgH="228600" progId="Equation.DSMT4">
                  <p:embed/>
                  <p:pic>
                    <p:nvPicPr>
                      <p:cNvPr id="2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74" y="3335440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Group 52"/>
          <p:cNvGraphicFramePr/>
          <p:nvPr/>
        </p:nvGraphicFramePr>
        <p:xfrm>
          <a:off x="1058239" y="3292470"/>
          <a:ext cx="7115926" cy="1676400"/>
        </p:xfrm>
        <a:graphic>
          <a:graphicData uri="http://schemas.openxmlformats.org/drawingml/2006/table">
            <a:tbl>
              <a:tblPr/>
              <a:tblGrid>
                <a:gridCol w="442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1/4      0      1      -1/8       -1/8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1/8   1/8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     1       0       1/4        -3/4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-1/4   3/4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0       0        0         0        0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-1    -1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Object 66"/>
          <p:cNvGraphicFramePr>
            <a:graphicFrameLocks noChangeAspect="1"/>
          </p:cNvGraphicFramePr>
          <p:nvPr/>
        </p:nvGraphicFramePr>
        <p:xfrm>
          <a:off x="599330" y="3826781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78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27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330" y="3826781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102"/>
          <p:cNvGrpSpPr/>
          <p:nvPr/>
        </p:nvGrpSpPr>
        <p:grpSpPr bwMode="auto">
          <a:xfrm>
            <a:off x="1297113" y="2791659"/>
            <a:ext cx="6934200" cy="533400"/>
            <a:chOff x="771" y="1152"/>
            <a:chExt cx="4368" cy="336"/>
          </a:xfrm>
        </p:grpSpPr>
        <p:graphicFrame>
          <p:nvGraphicFramePr>
            <p:cNvPr id="29" name="Object 103"/>
            <p:cNvGraphicFramePr>
              <a:graphicFrameLocks noChangeAspect="1"/>
            </p:cNvGraphicFramePr>
            <p:nvPr/>
          </p:nvGraphicFramePr>
          <p:xfrm>
            <a:off x="771" y="1152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79" name="Equation" r:id="rId7" imgW="152400" imgH="228600" progId="Equation.DSMT4">
                    <p:embed/>
                  </p:oleObj>
                </mc:Choice>
                <mc:Fallback>
                  <p:oleObj name="Equation" r:id="rId7" imgW="152400" imgH="228600" progId="Equation.DSMT4">
                    <p:embed/>
                    <p:pic>
                      <p:nvPicPr>
                        <p:cNvPr id="29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152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04"/>
            <p:cNvGraphicFramePr>
              <a:graphicFrameLocks noChangeAspect="1"/>
            </p:cNvGraphicFramePr>
            <p:nvPr/>
          </p:nvGraphicFramePr>
          <p:xfrm>
            <a:off x="129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0" name="Equation" r:id="rId9" imgW="165100" imgH="228600" progId="Equation.DSMT4">
                    <p:embed/>
                  </p:oleObj>
                </mc:Choice>
                <mc:Fallback>
                  <p:oleObj name="Equation" r:id="rId9" imgW="165100" imgH="228600" progId="Equation.DSMT4">
                    <p:embed/>
                    <p:pic>
                      <p:nvPicPr>
                        <p:cNvPr id="3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05"/>
            <p:cNvGraphicFramePr>
              <a:graphicFrameLocks noChangeAspect="1"/>
            </p:cNvGraphicFramePr>
            <p:nvPr/>
          </p:nvGraphicFramePr>
          <p:xfrm>
            <a:off x="181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1" name="Equation" r:id="rId11" imgW="165100" imgH="228600" progId="Equation.DSMT4">
                    <p:embed/>
                  </p:oleObj>
                </mc:Choice>
                <mc:Fallback>
                  <p:oleObj name="Equation" r:id="rId11" imgW="165100" imgH="228600" progId="Equation.DSMT4">
                    <p:embed/>
                    <p:pic>
                      <p:nvPicPr>
                        <p:cNvPr id="31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06"/>
            <p:cNvGraphicFramePr>
              <a:graphicFrameLocks noChangeAspect="1"/>
            </p:cNvGraphicFramePr>
            <p:nvPr/>
          </p:nvGraphicFramePr>
          <p:xfrm>
            <a:off x="2355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2" name="Equation" r:id="rId13" imgW="165100" imgH="228600" progId="Equation.DSMT4">
                    <p:embed/>
                  </p:oleObj>
                </mc:Choice>
                <mc:Fallback>
                  <p:oleObj name="Equation" r:id="rId13" imgW="165100" imgH="228600" progId="Equation.DSMT4">
                    <p:embed/>
                    <p:pic>
                      <p:nvPicPr>
                        <p:cNvPr id="32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07"/>
            <p:cNvGraphicFramePr>
              <a:graphicFrameLocks noChangeAspect="1"/>
            </p:cNvGraphicFramePr>
            <p:nvPr/>
          </p:nvGraphicFramePr>
          <p:xfrm>
            <a:off x="2976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3" name="Equation" r:id="rId15" imgW="165100" imgH="228600" progId="Equation.DSMT4">
                    <p:embed/>
                  </p:oleObj>
                </mc:Choice>
                <mc:Fallback>
                  <p:oleObj name="Equation" r:id="rId15" imgW="165100" imgH="228600" progId="Equation.DSMT4">
                    <p:embed/>
                    <p:pic>
                      <p:nvPicPr>
                        <p:cNvPr id="33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108"/>
            <p:cNvGraphicFramePr>
              <a:graphicFrameLocks noChangeAspect="1"/>
            </p:cNvGraphicFramePr>
            <p:nvPr/>
          </p:nvGraphicFramePr>
          <p:xfrm>
            <a:off x="3600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4" name="Equation" r:id="rId17" imgW="165100" imgH="228600" progId="Equation.DSMT4">
                    <p:embed/>
                  </p:oleObj>
                </mc:Choice>
                <mc:Fallback>
                  <p:oleObj name="Equation" r:id="rId17" imgW="165100" imgH="228600" progId="Equation.DSMT4">
                    <p:embed/>
                    <p:pic>
                      <p:nvPicPr>
                        <p:cNvPr id="34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109"/>
            <p:cNvGraphicFramePr>
              <a:graphicFrameLocks noChangeAspect="1"/>
            </p:cNvGraphicFramePr>
            <p:nvPr/>
          </p:nvGraphicFramePr>
          <p:xfrm>
            <a:off x="4083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585" name="Equation" r:id="rId19" imgW="165100" imgH="228600" progId="Equation.DSMT4">
                    <p:embed/>
                  </p:oleObj>
                </mc:Choice>
                <mc:Fallback>
                  <p:oleObj name="Equation" r:id="rId19" imgW="165100" imgH="228600" progId="Equation.DSMT4">
                    <p:embed/>
                    <p:pic>
                      <p:nvPicPr>
                        <p:cNvPr id="35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110"/>
            <p:cNvSpPr txBox="1">
              <a:spLocks noChangeArrowheads="1"/>
            </p:cNvSpPr>
            <p:nvPr/>
          </p:nvSpPr>
          <p:spPr bwMode="auto">
            <a:xfrm>
              <a:off x="4611" y="12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/>
                <a:t>RHS</a:t>
              </a:r>
            </a:p>
          </p:txBody>
        </p:sp>
      </p:grpSp>
      <p:sp>
        <p:nvSpPr>
          <p:cNvPr id="37" name="Rectangle 44"/>
          <p:cNvSpPr>
            <a:spLocks noChangeArrowheads="1"/>
          </p:cNvSpPr>
          <p:nvPr/>
        </p:nvSpPr>
        <p:spPr bwMode="auto">
          <a:xfrm>
            <a:off x="5569450" y="2647308"/>
            <a:ext cx="1676400" cy="2590800"/>
          </a:xfrm>
          <a:prstGeom prst="rect">
            <a:avLst/>
          </a:prstGeom>
          <a:gradFill rotWithShape="1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09609" y="4464391"/>
            <a:ext cx="4582274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1/4    0       0     -21/8    -21/8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7448764" y="4464389"/>
            <a:ext cx="92467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63/8</a:t>
            </a:r>
            <a:endParaRPr lang="zh-CN" alt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Oval 2"/>
          <p:cNvSpPr>
            <a:spLocks noChangeArrowheads="1"/>
          </p:cNvSpPr>
          <p:nvPr/>
        </p:nvSpPr>
        <p:spPr bwMode="auto">
          <a:xfrm>
            <a:off x="1126732" y="2269733"/>
            <a:ext cx="838200" cy="533400"/>
          </a:xfrm>
          <a:prstGeom prst="ellipse">
            <a:avLst/>
          </a:prstGeom>
          <a:solidFill>
            <a:srgbClr val="CCFF33"/>
          </a:solidFill>
          <a:ln w="9525">
            <a:solidFill>
              <a:srgbClr val="CC99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aphicFrame>
        <p:nvGraphicFramePr>
          <p:cNvPr id="100358" name="Group 6"/>
          <p:cNvGraphicFramePr>
            <a:graphicFrameLocks noGrp="1"/>
          </p:cNvGraphicFramePr>
          <p:nvPr/>
        </p:nvGraphicFramePr>
        <p:xfrm>
          <a:off x="1284270" y="1682393"/>
          <a:ext cx="5662452" cy="1668463"/>
        </p:xfrm>
        <a:graphic>
          <a:graphicData uri="http://schemas.openxmlformats.org/drawingml/2006/table">
            <a:tbl>
              <a:tblPr/>
              <a:tblGrid>
                <a:gridCol w="459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1/4      0      1      -1/8       -1/8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     1       0       1/4        -3/4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1/4    0       0     -21/8    -21/8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63/8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29"/>
          <p:cNvGrpSpPr/>
          <p:nvPr/>
        </p:nvGrpSpPr>
        <p:grpSpPr bwMode="auto">
          <a:xfrm>
            <a:off x="1447800" y="1143000"/>
            <a:ext cx="5383213" cy="533400"/>
            <a:chOff x="771" y="1152"/>
            <a:chExt cx="3391" cy="336"/>
          </a:xfrm>
        </p:grpSpPr>
        <p:graphicFrame>
          <p:nvGraphicFramePr>
            <p:cNvPr id="48200" name="Object 30"/>
            <p:cNvGraphicFramePr>
              <a:graphicFrameLocks noChangeAspect="1"/>
            </p:cNvGraphicFramePr>
            <p:nvPr/>
          </p:nvGraphicFramePr>
          <p:xfrm>
            <a:off x="771" y="1152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15" name="Equation" r:id="rId4" imgW="152400" imgH="228600" progId="Equation.DSMT4">
                    <p:embed/>
                  </p:oleObj>
                </mc:Choice>
                <mc:Fallback>
                  <p:oleObj name="Equation" r:id="rId4" imgW="152400" imgH="228600" progId="Equation.DSMT4">
                    <p:embed/>
                    <p:pic>
                      <p:nvPicPr>
                        <p:cNvPr id="4820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152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01" name="Object 31"/>
            <p:cNvGraphicFramePr>
              <a:graphicFrameLocks noChangeAspect="1"/>
            </p:cNvGraphicFramePr>
            <p:nvPr/>
          </p:nvGraphicFramePr>
          <p:xfrm>
            <a:off x="129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16" name="Equation" r:id="rId6" imgW="165100" imgH="228600" progId="Equation.DSMT4">
                    <p:embed/>
                  </p:oleObj>
                </mc:Choice>
                <mc:Fallback>
                  <p:oleObj name="Equation" r:id="rId6" imgW="165100" imgH="228600" progId="Equation.DSMT4">
                    <p:embed/>
                    <p:pic>
                      <p:nvPicPr>
                        <p:cNvPr id="4820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02" name="Object 32"/>
            <p:cNvGraphicFramePr>
              <a:graphicFrameLocks noChangeAspect="1"/>
            </p:cNvGraphicFramePr>
            <p:nvPr/>
          </p:nvGraphicFramePr>
          <p:xfrm>
            <a:off x="1819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17" name="Equation" r:id="rId8" imgW="165100" imgH="228600" progId="Equation.DSMT4">
                    <p:embed/>
                  </p:oleObj>
                </mc:Choice>
                <mc:Fallback>
                  <p:oleObj name="Equation" r:id="rId8" imgW="165100" imgH="228600" progId="Equation.DSMT4">
                    <p:embed/>
                    <p:pic>
                      <p:nvPicPr>
                        <p:cNvPr id="48202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9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03" name="Object 33"/>
            <p:cNvGraphicFramePr>
              <a:graphicFrameLocks noChangeAspect="1"/>
            </p:cNvGraphicFramePr>
            <p:nvPr/>
          </p:nvGraphicFramePr>
          <p:xfrm>
            <a:off x="2355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18" name="Equation" r:id="rId10" imgW="165100" imgH="228600" progId="Equation.DSMT4">
                    <p:embed/>
                  </p:oleObj>
                </mc:Choice>
                <mc:Fallback>
                  <p:oleObj name="Equation" r:id="rId10" imgW="165100" imgH="228600" progId="Equation.DSMT4">
                    <p:embed/>
                    <p:pic>
                      <p:nvPicPr>
                        <p:cNvPr id="48203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04" name="Object 34"/>
            <p:cNvGraphicFramePr>
              <a:graphicFrameLocks noChangeAspect="1"/>
            </p:cNvGraphicFramePr>
            <p:nvPr/>
          </p:nvGraphicFramePr>
          <p:xfrm>
            <a:off x="2976" y="1152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19" name="Equation" r:id="rId12" imgW="165100" imgH="228600" progId="Equation.DSMT4">
                    <p:embed/>
                  </p:oleObj>
                </mc:Choice>
                <mc:Fallback>
                  <p:oleObj name="Equation" r:id="rId12" imgW="165100" imgH="228600" progId="Equation.DSMT4">
                    <p:embed/>
                    <p:pic>
                      <p:nvPicPr>
                        <p:cNvPr id="48204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152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207" name="Text Box 37"/>
            <p:cNvSpPr txBox="1">
              <a:spLocks noChangeArrowheads="1"/>
            </p:cNvSpPr>
            <p:nvPr/>
          </p:nvSpPr>
          <p:spPr bwMode="auto">
            <a:xfrm>
              <a:off x="3634" y="120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dirty="0"/>
                <a:t>RHS</a:t>
              </a:r>
            </a:p>
          </p:txBody>
        </p:sp>
      </p:grpSp>
      <p:grpSp>
        <p:nvGrpSpPr>
          <p:cNvPr id="3" name="Group 38"/>
          <p:cNvGrpSpPr/>
          <p:nvPr/>
        </p:nvGrpSpPr>
        <p:grpSpPr bwMode="auto">
          <a:xfrm>
            <a:off x="777875" y="1681163"/>
            <a:ext cx="498475" cy="1046163"/>
            <a:chOff x="346" y="531"/>
            <a:chExt cx="314" cy="659"/>
          </a:xfrm>
        </p:grpSpPr>
        <p:graphicFrame>
          <p:nvGraphicFramePr>
            <p:cNvPr id="48196" name="Object 39"/>
            <p:cNvGraphicFramePr>
              <a:graphicFrameLocks noChangeAspect="1"/>
            </p:cNvGraphicFramePr>
            <p:nvPr/>
          </p:nvGraphicFramePr>
          <p:xfrm>
            <a:off x="346" y="531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0" name="Equation" r:id="rId14" imgW="165100" imgH="228600" progId="Equation.DSMT4">
                    <p:embed/>
                  </p:oleObj>
                </mc:Choice>
                <mc:Fallback>
                  <p:oleObj name="Equation" r:id="rId14" imgW="165100" imgH="228600" progId="Equation.DSMT4">
                    <p:embed/>
                    <p:pic>
                      <p:nvPicPr>
                        <p:cNvPr id="48196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531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97" name="Object 40"/>
            <p:cNvGraphicFramePr>
              <a:graphicFrameLocks noChangeAspect="1"/>
            </p:cNvGraphicFramePr>
            <p:nvPr/>
          </p:nvGraphicFramePr>
          <p:xfrm>
            <a:off x="367" y="785"/>
            <a:ext cx="293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1" name="Equation" r:id="rId16" imgW="165100" imgH="228600" progId="Equation.DSMT4">
                    <p:embed/>
                  </p:oleObj>
                </mc:Choice>
                <mc:Fallback>
                  <p:oleObj name="Equation" r:id="rId16" imgW="165100" imgH="228600" progId="Equation.DSMT4">
                    <p:embed/>
                    <p:pic>
                      <p:nvPicPr>
                        <p:cNvPr id="48197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" y="785"/>
                          <a:ext cx="293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4"/>
          <p:cNvGrpSpPr/>
          <p:nvPr/>
        </p:nvGrpSpPr>
        <p:grpSpPr bwMode="auto">
          <a:xfrm>
            <a:off x="768850" y="3051425"/>
            <a:ext cx="461963" cy="1524000"/>
            <a:chOff x="96" y="2880"/>
            <a:chExt cx="291" cy="960"/>
          </a:xfrm>
        </p:grpSpPr>
        <p:graphicFrame>
          <p:nvGraphicFramePr>
            <p:cNvPr id="48187" name="Object 75"/>
            <p:cNvGraphicFramePr>
              <a:graphicFrameLocks noChangeAspect="1"/>
            </p:cNvGraphicFramePr>
            <p:nvPr/>
          </p:nvGraphicFramePr>
          <p:xfrm>
            <a:off x="96" y="3168"/>
            <a:ext cx="2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2" name="Equation" r:id="rId18" imgW="165100" imgH="228600" progId="Equation.DSMT4">
                    <p:embed/>
                  </p:oleObj>
                </mc:Choice>
                <mc:Fallback>
                  <p:oleObj name="Equation" r:id="rId18" imgW="165100" imgH="228600" progId="Equation.DSMT4">
                    <p:embed/>
                    <p:pic>
                      <p:nvPicPr>
                        <p:cNvPr id="48187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3168"/>
                          <a:ext cx="24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88" name="Object 76"/>
            <p:cNvGraphicFramePr>
              <a:graphicFrameLocks noChangeAspect="1"/>
            </p:cNvGraphicFramePr>
            <p:nvPr/>
          </p:nvGraphicFramePr>
          <p:xfrm>
            <a:off x="105" y="3504"/>
            <a:ext cx="2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3" name="Equation" r:id="rId19" imgW="152400" imgH="228600" progId="Equation.DSMT4">
                    <p:embed/>
                  </p:oleObj>
                </mc:Choice>
                <mc:Fallback>
                  <p:oleObj name="Equation" r:id="rId19" imgW="152400" imgH="228600" progId="Equation.DSMT4">
                    <p:embed/>
                    <p:pic>
                      <p:nvPicPr>
                        <p:cNvPr id="48188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" y="3504"/>
                          <a:ext cx="22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89" name="Text Box 77"/>
            <p:cNvSpPr txBox="1">
              <a:spLocks noChangeArrowheads="1"/>
            </p:cNvSpPr>
            <p:nvPr/>
          </p:nvSpPr>
          <p:spPr bwMode="auto">
            <a:xfrm>
              <a:off x="99" y="28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zh-CN" sz="1800" dirty="0"/>
            </a:p>
          </p:txBody>
        </p:sp>
      </p:grpSp>
      <p:sp>
        <p:nvSpPr>
          <p:cNvPr id="100430" name="Text Box 78"/>
          <p:cNvSpPr txBox="1">
            <a:spLocks noChangeArrowheads="1"/>
          </p:cNvSpPr>
          <p:nvPr/>
        </p:nvSpPr>
        <p:spPr bwMode="auto">
          <a:xfrm>
            <a:off x="907784" y="5637890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原问题的最优解</a:t>
            </a:r>
          </a:p>
        </p:txBody>
      </p:sp>
      <p:graphicFrame>
        <p:nvGraphicFramePr>
          <p:cNvPr id="100431" name="Object 79"/>
          <p:cNvGraphicFramePr>
            <a:graphicFrameLocks noChangeAspect="1"/>
          </p:cNvGraphicFramePr>
          <p:nvPr/>
        </p:nvGraphicFramePr>
        <p:xfrm>
          <a:off x="3131941" y="5471542"/>
          <a:ext cx="247173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24" name="Equation" r:id="rId20" imgW="1205865" imgH="393700" progId="Equation.DSMT4">
                  <p:embed/>
                </p:oleObj>
              </mc:Choice>
              <mc:Fallback>
                <p:oleObj name="Equation" r:id="rId20" imgW="1205865" imgH="393700" progId="Equation.DSMT4">
                  <p:embed/>
                  <p:pic>
                    <p:nvPicPr>
                      <p:cNvPr id="100431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941" y="5471542"/>
                        <a:ext cx="2471737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80"/>
          <p:cNvGrpSpPr/>
          <p:nvPr/>
        </p:nvGrpSpPr>
        <p:grpSpPr bwMode="auto">
          <a:xfrm>
            <a:off x="5604623" y="5417906"/>
            <a:ext cx="2285930" cy="910975"/>
            <a:chOff x="440" y="3275"/>
            <a:chExt cx="1181" cy="480"/>
          </a:xfrm>
        </p:grpSpPr>
        <p:sp>
          <p:nvSpPr>
            <p:cNvPr id="48185" name="Rectangle 81"/>
            <p:cNvSpPr>
              <a:spLocks noChangeArrowheads="1"/>
            </p:cNvSpPr>
            <p:nvPr/>
          </p:nvSpPr>
          <p:spPr bwMode="auto">
            <a:xfrm>
              <a:off x="440" y="3390"/>
              <a:ext cx="10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/>
                <a:t>其最优值为</a:t>
              </a:r>
            </a:p>
          </p:txBody>
        </p:sp>
        <p:graphicFrame>
          <p:nvGraphicFramePr>
            <p:cNvPr id="48186" name="Object 82"/>
            <p:cNvGraphicFramePr>
              <a:graphicFrameLocks noChangeAspect="1"/>
            </p:cNvGraphicFramePr>
            <p:nvPr/>
          </p:nvGraphicFramePr>
          <p:xfrm>
            <a:off x="1357" y="3275"/>
            <a:ext cx="26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5" name="Equation" r:id="rId22" imgW="215900" imgH="393065" progId="Equation.DSMT4">
                    <p:embed/>
                  </p:oleObj>
                </mc:Choice>
                <mc:Fallback>
                  <p:oleObj name="Equation" r:id="rId22" imgW="215900" imgH="393065" progId="Equation.DSMT4">
                    <p:embed/>
                    <p:pic>
                      <p:nvPicPr>
                        <p:cNvPr id="48186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7" y="3275"/>
                          <a:ext cx="26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第二阶段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325366" y="3526605"/>
          <a:ext cx="5589142" cy="1702941"/>
        </p:xfrm>
        <a:graphic>
          <a:graphicData uri="http://schemas.openxmlformats.org/drawingml/2006/table">
            <a:tbl>
              <a:tblPr/>
              <a:tblGrid>
                <a:gridCol w="4597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0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-1/2      1       -1/4        1/4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9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   2        0       1/2        -3/2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0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 -1/2      0      -11/4      -9/4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nimBg="1"/>
      <p:bldP spid="10043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大</a:t>
            </a:r>
            <a:r>
              <a:rPr lang="en-US" altLang="zh-CN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法</a:t>
            </a:r>
            <a:endParaRPr lang="en-US" altLang="zh-CN" sz="40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3269" y="1042002"/>
            <a:ext cx="8353425" cy="93662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前面所说的两阶段法分成两步走。能不能把这两步合并？如何合并？</a:t>
            </a:r>
          </a:p>
        </p:txBody>
      </p:sp>
      <p:sp>
        <p:nvSpPr>
          <p:cNvPr id="57349" name="Rectangle 9"/>
          <p:cNvSpPr>
            <a:spLocks noChangeArrowheads="1"/>
          </p:cNvSpPr>
          <p:nvPr/>
        </p:nvSpPr>
        <p:spPr bwMode="auto">
          <a:xfrm>
            <a:off x="323850" y="1844675"/>
            <a:ext cx="417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楷体_GB2312" panose="02010609030101010101" pitchFamily="49" charset="-122"/>
              </a:rPr>
              <a:t>（二）大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2800" b="1">
                <a:solidFill>
                  <a:srgbClr val="FF0000"/>
                </a:solidFill>
                <a:ea typeface="楷体_GB2312" panose="02010609030101010101" pitchFamily="49" charset="-122"/>
              </a:rPr>
              <a:t>法</a:t>
            </a:r>
          </a:p>
        </p:txBody>
      </p:sp>
      <p:grpSp>
        <p:nvGrpSpPr>
          <p:cNvPr id="3" name="Group 10"/>
          <p:cNvGrpSpPr/>
          <p:nvPr/>
        </p:nvGrpSpPr>
        <p:grpSpPr bwMode="auto">
          <a:xfrm>
            <a:off x="3836409" y="1557338"/>
            <a:ext cx="4336040" cy="1511300"/>
            <a:chOff x="514" y="336"/>
            <a:chExt cx="2606" cy="922"/>
          </a:xfrm>
        </p:grpSpPr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514" y="619"/>
              <a:ext cx="139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设原问题为</a:t>
              </a:r>
              <a:endParaRPr lang="zh-CN" altLang="en-US" sz="20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7356" name="Object 12"/>
            <p:cNvGraphicFramePr>
              <a:graphicFrameLocks noChangeAspect="1"/>
            </p:cNvGraphicFramePr>
            <p:nvPr/>
          </p:nvGraphicFramePr>
          <p:xfrm>
            <a:off x="1776" y="336"/>
            <a:ext cx="1344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3" name="Equation" r:id="rId3" imgW="774065" imgH="786765" progId="Equation.DSMT4">
                    <p:embed/>
                  </p:oleObj>
                </mc:Choice>
                <mc:Fallback>
                  <p:oleObj name="Equation" r:id="rId3" imgW="774065" imgH="786765" progId="Equation.DSMT4">
                    <p:embed/>
                    <p:pic>
                      <p:nvPicPr>
                        <p:cNvPr id="5735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36"/>
                          <a:ext cx="1344" cy="9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4"/>
          <p:cNvGrpSpPr/>
          <p:nvPr/>
        </p:nvGrpSpPr>
        <p:grpSpPr bwMode="auto">
          <a:xfrm>
            <a:off x="611188" y="2636838"/>
            <a:ext cx="3744912" cy="719137"/>
            <a:chOff x="288" y="1728"/>
            <a:chExt cx="2272" cy="313"/>
          </a:xfrm>
        </p:grpSpPr>
        <p:graphicFrame>
          <p:nvGraphicFramePr>
            <p:cNvPr id="57353" name="Object 15"/>
            <p:cNvGraphicFramePr>
              <a:graphicFrameLocks noChangeAspect="1"/>
            </p:cNvGraphicFramePr>
            <p:nvPr/>
          </p:nvGraphicFramePr>
          <p:xfrm>
            <a:off x="1728" y="1728"/>
            <a:ext cx="83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4" name="Equation" r:id="rId5" imgW="736600" imgH="228600" progId="Equation.DSMT4">
                    <p:embed/>
                  </p:oleObj>
                </mc:Choice>
                <mc:Fallback>
                  <p:oleObj name="Equation" r:id="rId5" imgW="736600" imgH="228600" progId="Equation.DSMT4">
                    <p:embed/>
                    <p:pic>
                      <p:nvPicPr>
                        <p:cNvPr id="5735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728"/>
                          <a:ext cx="832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54" name="Rectangle 16"/>
            <p:cNvSpPr>
              <a:spLocks noChangeArrowheads="1"/>
            </p:cNvSpPr>
            <p:nvPr/>
          </p:nvSpPr>
          <p:spPr bwMode="auto">
            <a:xfrm>
              <a:off x="288" y="1766"/>
              <a:ext cx="13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/>
                <a:t>引入</a:t>
              </a:r>
              <a:r>
                <a:rPr lang="en-US" altLang="zh-CN" sz="2000"/>
                <a:t>m</a:t>
              </a:r>
              <a:r>
                <a:rPr lang="zh-CN" altLang="en-US" sz="2000"/>
                <a:t>个人工变量</a:t>
              </a:r>
            </a:p>
          </p:txBody>
        </p:sp>
      </p:grpSp>
      <p:graphicFrame>
        <p:nvGraphicFramePr>
          <p:cNvPr id="60433" name="Object 17"/>
          <p:cNvGraphicFramePr>
            <a:graphicFrameLocks noChangeAspect="1"/>
          </p:cNvGraphicFramePr>
          <p:nvPr/>
        </p:nvGraphicFramePr>
        <p:xfrm>
          <a:off x="755650" y="3573463"/>
          <a:ext cx="7561263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5" name="Equation" r:id="rId7" imgW="4152900" imgH="1155700" progId="Equation.DSMT4">
                  <p:embed/>
                </p:oleObj>
              </mc:Choice>
              <mc:Fallback>
                <p:oleObj name="Equation" r:id="rId7" imgW="4152900" imgH="1155700" progId="Equation.DSMT4">
                  <p:embed/>
                  <p:pic>
                    <p:nvPicPr>
                      <p:cNvPr id="604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573463"/>
                        <a:ext cx="7561263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大</a:t>
            </a:r>
            <a:r>
              <a:rPr lang="en-US" altLang="zh-CN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lang="zh-CN" altLang="en-US" sz="40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法</a:t>
            </a:r>
            <a:endParaRPr lang="en-US" altLang="zh-CN" sz="40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5386" y="1129515"/>
            <a:ext cx="8353425" cy="194468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现在关键是如何选取目标函数，因要包含原问题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</a:rPr>
              <a:t>所以必须包含原目标。联系到两阶段法，我们要强迫人工变量取值为</a:t>
            </a:r>
            <a:r>
              <a:rPr lang="en-US" altLang="zh-CN" dirty="0">
                <a:latin typeface="宋体" panose="02010600030101010101" pitchFamily="2" charset="-122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，于是加上一个惩罚因子，因为是极小化，所以希望这个惩罚因子越大越好！！</a:t>
            </a:r>
          </a:p>
        </p:txBody>
      </p:sp>
      <p:graphicFrame>
        <p:nvGraphicFramePr>
          <p:cNvPr id="61451" name="Object 1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27183" y="3836904"/>
          <a:ext cx="3600450" cy="223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0" name="Equation" r:id="rId3" imgW="1262380" imgH="779145" progId="Equation.DSMT4">
                  <p:embed/>
                </p:oleObj>
              </mc:Choice>
              <mc:Fallback>
                <p:oleObj name="Equation" r:id="rId3" imgW="1262380" imgH="779145" progId="Equation.DSMT4">
                  <p:embed/>
                  <p:pic>
                    <p:nvPicPr>
                      <p:cNvPr id="614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183" y="3836904"/>
                        <a:ext cx="3600450" cy="223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 bwMode="auto">
          <a:xfrm>
            <a:off x="534300" y="2788894"/>
            <a:ext cx="6135687" cy="903288"/>
            <a:chOff x="204" y="2024"/>
            <a:chExt cx="3865" cy="569"/>
          </a:xfrm>
        </p:grpSpPr>
        <p:sp>
          <p:nvSpPr>
            <p:cNvPr id="58375" name="Text Box 9"/>
            <p:cNvSpPr txBox="1">
              <a:spLocks noChangeArrowheads="1"/>
            </p:cNvSpPr>
            <p:nvPr/>
          </p:nvSpPr>
          <p:spPr bwMode="auto">
            <a:xfrm>
              <a:off x="204" y="2115"/>
              <a:ext cx="2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在目标函数中增加</a:t>
              </a:r>
            </a:p>
          </p:txBody>
        </p:sp>
        <p:graphicFrame>
          <p:nvGraphicFramePr>
            <p:cNvPr id="58376" name="Object 10"/>
            <p:cNvGraphicFramePr>
              <a:graphicFrameLocks noChangeAspect="1"/>
            </p:cNvGraphicFramePr>
            <p:nvPr/>
          </p:nvGraphicFramePr>
          <p:xfrm>
            <a:off x="1791" y="2024"/>
            <a:ext cx="2278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01" name="Equation" r:id="rId5" imgW="1651000" imgH="431800" progId="Equation.DSMT4">
                    <p:embed/>
                  </p:oleObj>
                </mc:Choice>
                <mc:Fallback>
                  <p:oleObj name="Equation" r:id="rId5" imgW="1651000" imgH="431800" progId="Equation.DSMT4">
                    <p:embed/>
                    <p:pic>
                      <p:nvPicPr>
                        <p:cNvPr id="5837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2024"/>
                          <a:ext cx="2278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" y="1014513"/>
            <a:ext cx="7848600" cy="6477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dirty="0"/>
              <a:t>可行吗？</a:t>
            </a:r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418118" y="4253288"/>
            <a:ext cx="82076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问题的最优解对应一个原问题的（基本）可行解，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75" name="Rectangle 11"/>
              <p:cNvSpPr>
                <a:spLocks noChangeArrowheads="1"/>
              </p:cNvSpPr>
              <p:nvPr/>
            </p:nvSpPr>
            <p:spPr bwMode="auto">
              <a:xfrm>
                <a:off x="457200" y="2684883"/>
                <a:ext cx="8229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因原问题有最优解，且</a:t>
                </a:r>
                <a:r>
                  <a:rPr lang="en-US" altLang="zh-CN" sz="2400" dirty="0"/>
                  <a:t>M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为足够大的正数，则新问题最优解对应的人工变量取值应满足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 此时两个问题的目标函数值满足</a:t>
                </a:r>
              </a:p>
            </p:txBody>
          </p:sp>
        </mc:Choice>
        <mc:Fallback xmlns="">
          <p:sp>
            <p:nvSpPr>
              <p:cNvPr id="6247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684883"/>
                <a:ext cx="82296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t="-9" b="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877282" y="1553700"/>
          <a:ext cx="4420582" cy="1131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24" name="Equation" r:id="rId4" imgW="1968500" imgH="482600" progId="Equation.DSMT4">
                  <p:embed/>
                </p:oleObj>
              </mc:Choice>
              <mc:Fallback>
                <p:oleObj name="Equation" r:id="rId4" imgW="1968500" imgH="482600" progId="Equation.DSMT4">
                  <p:embed/>
                  <p:pic>
                    <p:nvPicPr>
                      <p:cNvPr id="62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282" y="1553700"/>
                        <a:ext cx="4420582" cy="1131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8" name="Object 14"/>
          <p:cNvGraphicFramePr>
            <a:graphicFrameLocks noChangeAspect="1"/>
          </p:cNvGraphicFramePr>
          <p:nvPr/>
        </p:nvGraphicFramePr>
        <p:xfrm>
          <a:off x="3645735" y="3514624"/>
          <a:ext cx="11509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25" name="Equation" r:id="rId6" imgW="444500" imgH="241300" progId="Equation.DSMT4">
                  <p:embed/>
                </p:oleObj>
              </mc:Choice>
              <mc:Fallback>
                <p:oleObj name="Equation" r:id="rId6" imgW="444500" imgH="241300" progId="Equation.DSMT4">
                  <p:embed/>
                  <p:pic>
                    <p:nvPicPr>
                      <p:cNvPr id="624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735" y="3514624"/>
                        <a:ext cx="115093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4" grpId="0"/>
      <p:bldP spid="6247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377468" y="3990368"/>
            <a:ext cx="8084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因此只需求解辅助问题就可求得原问题的最优解。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34" name="Rectangle 15"/>
              <p:cNvSpPr>
                <a:spLocks noChangeArrowheads="1"/>
              </p:cNvSpPr>
              <p:nvPr/>
            </p:nvSpPr>
            <p:spPr bwMode="auto">
              <a:xfrm>
                <a:off x="391427" y="992726"/>
                <a:ext cx="8338565" cy="18178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反之，原问题的任意可行解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对应于辅助问题的</a:t>
                </a:r>
              </a:p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可行解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,0)</a:t>
                </a:r>
                <a:r>
                  <a:rPr lang="en-US" altLang="zh-CN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也对应新问题的一个可行解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,0)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且两个规划的目标值相等，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故原问题的最优解</a:t>
                </a:r>
              </a:p>
              <a:p>
                <a:pPr>
                  <a:spcBef>
                    <a:spcPct val="0"/>
                  </a:spcBef>
                  <a:buNone/>
                </a:pP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34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427" y="992726"/>
                <a:ext cx="8338565" cy="1817870"/>
              </a:xfrm>
              <a:prstGeom prst="rect">
                <a:avLst/>
              </a:prstGeom>
              <a:blipFill rotWithShape="1">
                <a:blip r:embed="rId3"/>
                <a:stretch>
                  <a:fillRect l="-3" t="-12" b="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3508" name="Object 20"/>
          <p:cNvGraphicFramePr>
            <a:graphicFrameLocks noChangeAspect="1"/>
          </p:cNvGraphicFramePr>
          <p:nvPr/>
        </p:nvGraphicFramePr>
        <p:xfrm>
          <a:off x="3079750" y="2412935"/>
          <a:ext cx="13398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69" name="Equation" r:id="rId4" imgW="444500" imgH="241300" progId="Equation.DSMT4">
                  <p:embed/>
                </p:oleObj>
              </mc:Choice>
              <mc:Fallback>
                <p:oleObj name="Equation" r:id="rId4" imgW="444500" imgH="241300" progId="Equation.DSMT4">
                  <p:embed/>
                  <p:pic>
                    <p:nvPicPr>
                      <p:cNvPr id="6350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412935"/>
                        <a:ext cx="13398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23"/>
          <p:cNvGraphicFramePr>
            <a:graphicFrameLocks noChangeAspect="1"/>
          </p:cNvGraphicFramePr>
          <p:nvPr/>
        </p:nvGraphicFramePr>
        <p:xfrm>
          <a:off x="1098330" y="3322742"/>
          <a:ext cx="1396066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70" name="Equation" r:id="rId6" imgW="596900" imgH="241300" progId="Equation.DSMT4">
                  <p:embed/>
                </p:oleObj>
              </mc:Choice>
              <mc:Fallback>
                <p:oleObj name="Equation" r:id="rId6" imgW="596900" imgH="241300" progId="Equation.DSMT4">
                  <p:embed/>
                  <p:pic>
                    <p:nvPicPr>
                      <p:cNvPr id="6043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330" y="3322742"/>
                        <a:ext cx="1396066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/>
          <p:cNvGrpSpPr/>
          <p:nvPr/>
        </p:nvGrpSpPr>
        <p:grpSpPr bwMode="auto">
          <a:xfrm>
            <a:off x="3302000" y="3301848"/>
            <a:ext cx="2540000" cy="563562"/>
            <a:chOff x="2928" y="2304"/>
            <a:chExt cx="1600" cy="355"/>
          </a:xfrm>
        </p:grpSpPr>
        <p:graphicFrame>
          <p:nvGraphicFramePr>
            <p:cNvPr id="60427" name="Object 26"/>
            <p:cNvGraphicFramePr>
              <a:graphicFrameLocks noChangeAspect="1"/>
            </p:cNvGraphicFramePr>
            <p:nvPr/>
          </p:nvGraphicFramePr>
          <p:xfrm>
            <a:off x="2928" y="2304"/>
            <a:ext cx="26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71" name="Equation" r:id="rId8" imgW="190500" imgH="241300" progId="Equation.DSMT4">
                    <p:embed/>
                  </p:oleObj>
                </mc:Choice>
                <mc:Fallback>
                  <p:oleObj name="Equation" r:id="rId8" imgW="190500" imgH="241300" progId="Equation.DSMT4">
                    <p:embed/>
                    <p:pic>
                      <p:nvPicPr>
                        <p:cNvPr id="60427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304"/>
                          <a:ext cx="26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8" name="Object 27"/>
            <p:cNvGraphicFramePr>
              <a:graphicFrameLocks noChangeAspect="1"/>
            </p:cNvGraphicFramePr>
            <p:nvPr/>
          </p:nvGraphicFramePr>
          <p:xfrm>
            <a:off x="3888" y="2352"/>
            <a:ext cx="64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72" name="Equation" r:id="rId10" imgW="508000" imgH="241300" progId="Equation.DSMT4">
                    <p:embed/>
                  </p:oleObj>
                </mc:Choice>
                <mc:Fallback>
                  <p:oleObj name="Equation" r:id="rId10" imgW="508000" imgH="241300" progId="Equation.DSMT4">
                    <p:embed/>
                    <p:pic>
                      <p:nvPicPr>
                        <p:cNvPr id="60428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352"/>
                          <a:ext cx="64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9" name="AutoShape 28"/>
            <p:cNvSpPr>
              <a:spLocks noChangeArrowheads="1"/>
            </p:cNvSpPr>
            <p:nvPr/>
          </p:nvSpPr>
          <p:spPr bwMode="auto">
            <a:xfrm>
              <a:off x="3312" y="2448"/>
              <a:ext cx="528" cy="144"/>
            </a:xfrm>
            <a:prstGeom prst="leftRightArrow">
              <a:avLst>
                <a:gd name="adj1" fmla="val 50000"/>
                <a:gd name="adj2" fmla="val 73333"/>
              </a:avLst>
            </a:prstGeom>
            <a:solidFill>
              <a:schemeClr val="accent1"/>
            </a:solidFill>
            <a:ln w="9525">
              <a:solidFill>
                <a:srgbClr val="FF33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</p:grpSp>
      <p:graphicFrame>
        <p:nvGraphicFramePr>
          <p:cNvPr id="63517" name="Object 29"/>
          <p:cNvGraphicFramePr>
            <a:graphicFrameLocks noChangeAspect="1"/>
          </p:cNvGraphicFramePr>
          <p:nvPr/>
        </p:nvGraphicFramePr>
        <p:xfrm>
          <a:off x="659218" y="4620741"/>
          <a:ext cx="2274290" cy="59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73" name="Equation" r:id="rId12" imgW="876300" imgH="228600" progId="Equation.DSMT4">
                  <p:embed/>
                </p:oleObj>
              </mc:Choice>
              <mc:Fallback>
                <p:oleObj name="Equation" r:id="rId12" imgW="876300" imgH="228600" progId="Equation.DSMT4">
                  <p:embed/>
                  <p:pic>
                    <p:nvPicPr>
                      <p:cNvPr id="6351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18" y="4620741"/>
                        <a:ext cx="2274290" cy="59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302000" y="4691158"/>
            <a:ext cx="3152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Euclid Symbol" panose="05050102010706020507" pitchFamily="18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原问题不可行</a:t>
            </a:r>
          </a:p>
        </p:txBody>
      </p:sp>
      <p:sp>
        <p:nvSpPr>
          <p:cNvPr id="2" name="矩形 1"/>
          <p:cNvSpPr/>
          <p:nvPr/>
        </p:nvSpPr>
        <p:spPr>
          <a:xfrm>
            <a:off x="471736" y="540152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dobeHeitiStd-Regular"/>
              </a:rPr>
              <a:t>新问题不存在有限最优值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911600" y="5338545"/>
                <a:ext cx="354609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AdobeHeitiStd-Regular"/>
                    <a:sym typeface="Euclid Symbol" panose="05050102010706020507" pitchFamily="18" charset="2"/>
                  </a:rPr>
                  <a:t></a:t>
                </a:r>
                <a:r>
                  <a:rPr lang="zh-CN" altLang="en-US" sz="2400" dirty="0">
                    <a:latin typeface="AdobeHeitiStd-Regular"/>
                  </a:rPr>
                  <a:t>原问题无界（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sz="2400" dirty="0">
                  <a:latin typeface="AdobeHeitiStd-Regular"/>
                </a:endParaRPr>
              </a:p>
              <a:p>
                <a:r>
                  <a:rPr lang="zh-CN" altLang="en-US" sz="2400" dirty="0">
                    <a:latin typeface="AdobeHeitiStd-Regular"/>
                  </a:rPr>
                  <a:t>    或不可行（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00" y="5338545"/>
                <a:ext cx="3546099" cy="830997"/>
              </a:xfrm>
              <a:prstGeom prst="rect">
                <a:avLst/>
              </a:prstGeom>
              <a:blipFill rotWithShape="1">
                <a:blip r:embed="rId14"/>
                <a:stretch>
                  <a:fillRect t="-3986" r="7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0" grpId="0"/>
      <p:bldP spid="20" grpId="0"/>
      <p:bldP spid="2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9508" y="994678"/>
            <a:ext cx="3455988" cy="503238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</a:t>
            </a:r>
            <a:r>
              <a:rPr lang="en-US" altLang="zh-CN" sz="2800" dirty="0"/>
              <a:t>2 </a:t>
            </a:r>
            <a:r>
              <a:rPr lang="zh-CN" altLang="en-US" sz="2800" dirty="0"/>
              <a:t>求解如下</a:t>
            </a:r>
            <a:r>
              <a:rPr lang="en-US" altLang="zh-CN" sz="2800" dirty="0"/>
              <a:t>LP</a:t>
            </a:r>
          </a:p>
        </p:txBody>
      </p:sp>
      <p:graphicFrame>
        <p:nvGraphicFramePr>
          <p:cNvPr id="61445" name="Object 8"/>
          <p:cNvGraphicFramePr>
            <a:graphicFrameLocks noChangeAspect="1"/>
          </p:cNvGraphicFramePr>
          <p:nvPr/>
        </p:nvGraphicFramePr>
        <p:xfrm>
          <a:off x="3355156" y="1062054"/>
          <a:ext cx="3777864" cy="2200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72" name="Equation" r:id="rId3" imgW="2006600" imgH="1168400" progId="Equation.DSMT4">
                  <p:embed/>
                </p:oleObj>
              </mc:Choice>
              <mc:Fallback>
                <p:oleObj name="Equation" r:id="rId3" imgW="2006600" imgH="1168400" progId="Equation.DSMT4">
                  <p:embed/>
                  <p:pic>
                    <p:nvPicPr>
                      <p:cNvPr id="6144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56" y="1062054"/>
                        <a:ext cx="3777864" cy="220091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747447" y="3760321"/>
          <a:ext cx="5268344" cy="2364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73" name="Equation" r:id="rId5" imgW="2832100" imgH="1168400" progId="Equation.DSMT4">
                  <p:embed/>
                </p:oleObj>
              </mc:Choice>
              <mc:Fallback>
                <p:oleObj name="Equation" r:id="rId5" imgW="2832100" imgH="1168400" progId="Equation.DSMT4">
                  <p:embed/>
                  <p:pic>
                    <p:nvPicPr>
                      <p:cNvPr id="645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447" y="3760321"/>
                        <a:ext cx="5268344" cy="236423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FF33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Rectangle 10"/>
          <p:cNvSpPr>
            <a:spLocks noChangeArrowheads="1"/>
          </p:cNvSpPr>
          <p:nvPr/>
        </p:nvSpPr>
        <p:spPr bwMode="auto">
          <a:xfrm>
            <a:off x="712922" y="3045159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解：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76200" y="715963"/>
            <a:ext cx="8878888" cy="1676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auto">
          <a:xfrm>
            <a:off x="5544838" y="864219"/>
            <a:ext cx="2627312" cy="306387"/>
          </a:xfrm>
          <a:prstGeom prst="rect">
            <a:avLst/>
          </a:prstGeom>
          <a:solidFill>
            <a:srgbClr val="FFCC00"/>
          </a:solidFill>
          <a:ln w="9525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76200" y="4602163"/>
            <a:ext cx="8991600" cy="1143000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76200" y="3459163"/>
            <a:ext cx="89916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76200" y="2392363"/>
            <a:ext cx="8991600" cy="1143000"/>
          </a:xfrm>
          <a:prstGeom prst="rect">
            <a:avLst/>
          </a:prstGeom>
          <a:solidFill>
            <a:srgbClr val="CC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452438" y="5665788"/>
            <a:ext cx="5913437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en-US" altLang="zh-CN" sz="2400" b="1"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宋体" panose="02010600030101010101" pitchFamily="2" charset="-122"/>
              </a:rPr>
              <a:t>得到最优解：</a:t>
            </a:r>
            <a:r>
              <a:rPr kumimoji="1" lang="en-US" altLang="zh-CN" sz="2400" b="1">
                <a:latin typeface="宋体" panose="02010600030101010101" pitchFamily="2" charset="-122"/>
              </a:rPr>
              <a:t>(25/3</a:t>
            </a:r>
            <a:r>
              <a:rPr kumimoji="1" lang="zh-CN" altLang="en-US" sz="2400" b="1">
                <a:latin typeface="宋体" panose="02010600030101010101" pitchFamily="2" charset="-122"/>
              </a:rPr>
              <a:t>，</a:t>
            </a:r>
            <a:r>
              <a:rPr kumimoji="1" lang="en-US" altLang="zh-CN" sz="2400" b="1">
                <a:latin typeface="宋体" panose="02010600030101010101" pitchFamily="2" charset="-122"/>
              </a:rPr>
              <a:t>10/3</a:t>
            </a:r>
            <a:r>
              <a:rPr kumimoji="1" lang="zh-CN" altLang="en-US" sz="2400" b="1">
                <a:latin typeface="宋体" panose="02010600030101010101" pitchFamily="2" charset="-122"/>
              </a:rPr>
              <a:t>，</a:t>
            </a:r>
            <a:r>
              <a:rPr kumimoji="1" lang="en-US" altLang="zh-CN" sz="2400" b="1">
                <a:latin typeface="宋体" panose="02010600030101010101" pitchFamily="2" charset="-122"/>
              </a:rPr>
              <a:t>0</a:t>
            </a:r>
            <a:r>
              <a:rPr kumimoji="1" lang="zh-CN" altLang="en-US" sz="2400" b="1">
                <a:latin typeface="宋体" panose="02010600030101010101" pitchFamily="2" charset="-122"/>
              </a:rPr>
              <a:t>，</a:t>
            </a:r>
            <a:r>
              <a:rPr kumimoji="1" lang="en-US" altLang="zh-CN" sz="2400" b="1">
                <a:latin typeface="宋体" panose="02010600030101010101" pitchFamily="2" charset="-122"/>
              </a:rPr>
              <a:t>11)</a:t>
            </a:r>
            <a:r>
              <a:rPr kumimoji="1" lang="en-US" altLang="zh-CN" sz="2400" b="1" baseline="30000">
                <a:latin typeface="宋体" panose="02010600030101010101" pitchFamily="2" charset="-122"/>
              </a:rPr>
              <a:t>T    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400" b="1" baseline="30000"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宋体" panose="02010600030101010101" pitchFamily="2" charset="-122"/>
              </a:rPr>
              <a:t>最优目标值：</a:t>
            </a:r>
            <a:r>
              <a:rPr kumimoji="1" lang="en-US" altLang="zh-CN" sz="2400" b="1">
                <a:latin typeface="宋体" panose="02010600030101010101" pitchFamily="2" charset="-122"/>
              </a:rPr>
              <a:t>max=112/3</a:t>
            </a:r>
          </a:p>
        </p:txBody>
      </p:sp>
      <p:sp>
        <p:nvSpPr>
          <p:cNvPr id="110600" name="Rectangle 8"/>
          <p:cNvSpPr>
            <a:spLocks noChangeArrowheads="1"/>
          </p:cNvSpPr>
          <p:nvPr/>
        </p:nvSpPr>
        <p:spPr bwMode="auto">
          <a:xfrm>
            <a:off x="0" y="2141538"/>
            <a:ext cx="8912225" cy="234950"/>
          </a:xfrm>
          <a:prstGeom prst="rect">
            <a:avLst/>
          </a:prstGeom>
          <a:solidFill>
            <a:srgbClr val="FFCC00"/>
          </a:solidFill>
          <a:ln w="9525">
            <a:solidFill>
              <a:srgbClr val="FF33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73" name="Object 9"/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0" y="884238"/>
          <a:ext cx="8964613" cy="469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689" name="Document" r:id="rId3" imgW="8741410" imgH="4582795" progId="Word.Document.8">
                  <p:embed/>
                </p:oleObj>
              </mc:Choice>
              <mc:Fallback>
                <p:oleObj name="Document" r:id="rId3" imgW="8741410" imgH="4582795" progId="Word.Document.8">
                  <p:embed/>
                  <p:pic>
                    <p:nvPicPr>
                      <p:cNvPr id="62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84238"/>
                        <a:ext cx="8964613" cy="469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Oval 10"/>
          <p:cNvSpPr>
            <a:spLocks noChangeArrowheads="1"/>
          </p:cNvSpPr>
          <p:nvPr/>
        </p:nvSpPr>
        <p:spPr bwMode="auto">
          <a:xfrm>
            <a:off x="4719638" y="1481138"/>
            <a:ext cx="768350" cy="39211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603" name="Oval 11"/>
          <p:cNvSpPr>
            <a:spLocks noChangeArrowheads="1"/>
          </p:cNvSpPr>
          <p:nvPr/>
        </p:nvSpPr>
        <p:spPr bwMode="auto">
          <a:xfrm>
            <a:off x="3711575" y="2343150"/>
            <a:ext cx="768350" cy="290513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0604" name="Oval 12"/>
          <p:cNvSpPr>
            <a:spLocks noChangeArrowheads="1"/>
          </p:cNvSpPr>
          <p:nvPr/>
        </p:nvSpPr>
        <p:spPr bwMode="auto">
          <a:xfrm>
            <a:off x="2665413" y="3738563"/>
            <a:ext cx="768350" cy="290512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animBg="1"/>
      <p:bldP spid="110595" grpId="0" animBg="1"/>
      <p:bldP spid="110596" grpId="0" animBg="1"/>
      <p:bldP spid="110597" grpId="0" animBg="1"/>
      <p:bldP spid="110598" grpId="0" animBg="1"/>
      <p:bldP spid="110599" grpId="0"/>
      <p:bldP spid="110600" grpId="0" animBg="1"/>
      <p:bldP spid="110602" grpId="0" animBg="1"/>
      <p:bldP spid="110603" grpId="0" animBg="1"/>
      <p:bldP spid="11060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3.3 </a:t>
            </a:r>
            <a:r>
              <a:rPr lang="zh-CN" altLang="en-US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退化情形</a:t>
            </a:r>
            <a:endParaRPr lang="en-US" altLang="zh-CN" sz="32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6134" y="943376"/>
            <a:ext cx="8280400" cy="863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0" dirty="0"/>
              <a:t>单纯形法收敛定理要求</a:t>
            </a:r>
            <a:r>
              <a:rPr lang="en-US" altLang="zh-CN" sz="2400" b="0" dirty="0"/>
              <a:t>BFS</a:t>
            </a:r>
            <a:r>
              <a:rPr lang="zh-CN" altLang="en-US" sz="2400" b="0" dirty="0"/>
              <a:t>非退化，这个限制可以去掉吗？试看下例。</a:t>
            </a: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673702" y="1704483"/>
            <a:ext cx="6769100" cy="3402012"/>
            <a:chOff x="431" y="981"/>
            <a:chExt cx="4264" cy="2143"/>
          </a:xfrm>
        </p:grpSpPr>
        <p:graphicFrame>
          <p:nvGraphicFramePr>
            <p:cNvPr id="70663" name="Object 8"/>
            <p:cNvGraphicFramePr>
              <a:graphicFrameLocks noChangeAspect="1"/>
            </p:cNvGraphicFramePr>
            <p:nvPr/>
          </p:nvGraphicFramePr>
          <p:xfrm>
            <a:off x="1020" y="1344"/>
            <a:ext cx="3039" cy="1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13" name="Equation" r:id="rId3" imgW="4140200" imgH="2425700" progId="Equation.DSMT4">
                    <p:embed/>
                  </p:oleObj>
                </mc:Choice>
                <mc:Fallback>
                  <p:oleObj name="Equation" r:id="rId3" imgW="4140200" imgH="2425700" progId="Equation.DSMT4">
                    <p:embed/>
                    <p:pic>
                      <p:nvPicPr>
                        <p:cNvPr id="7066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344"/>
                          <a:ext cx="3039" cy="1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4" name="Rectangle 9"/>
            <p:cNvSpPr>
              <a:spLocks noChangeArrowheads="1"/>
            </p:cNvSpPr>
            <p:nvPr/>
          </p:nvSpPr>
          <p:spPr bwMode="auto">
            <a:xfrm>
              <a:off x="431" y="981"/>
              <a:ext cx="4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例</a:t>
              </a:r>
              <a:r>
                <a:rPr lang="en-US" altLang="zh-CN" sz="24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(3.3.1</a:t>
              </a:r>
              <a:r>
                <a:rPr lang="en-US" altLang="zh-CN" sz="2400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)</a:t>
              </a:r>
              <a:r>
                <a:rPr lang="zh-CN" altLang="en-US" sz="24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：用单纯形法求解下面的</a:t>
              </a:r>
              <a:r>
                <a:rPr lang="en-US" altLang="zh-CN" sz="24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LP</a:t>
              </a:r>
            </a:p>
          </p:txBody>
        </p:sp>
      </p:grpSp>
      <p:sp>
        <p:nvSpPr>
          <p:cNvPr id="117775" name="Rectangle 15"/>
          <p:cNvSpPr>
            <a:spLocks noChangeArrowheads="1"/>
          </p:cNvSpPr>
          <p:nvPr/>
        </p:nvSpPr>
        <p:spPr bwMode="auto">
          <a:xfrm>
            <a:off x="569146" y="5360167"/>
            <a:ext cx="77057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400"/>
              <a:t>注意到该</a:t>
            </a:r>
            <a:r>
              <a:rPr lang="en-US" altLang="zh-CN" sz="2400"/>
              <a:t>LP</a:t>
            </a:r>
            <a:r>
              <a:rPr lang="zh-CN" altLang="en-US" sz="2400"/>
              <a:t>有一个明显的</a:t>
            </a:r>
            <a:r>
              <a:rPr lang="en-US" altLang="zh-CN" sz="2400"/>
              <a:t>BFS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/>
              <a:t>               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=(0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en-US" altLang="zh-CN" sz="2400"/>
              <a:t>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3.3 </a:t>
            </a:r>
            <a:r>
              <a:rPr lang="zh-CN" altLang="en-US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退化情形</a:t>
            </a:r>
            <a:endParaRPr lang="en-US" altLang="zh-CN" sz="32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1684" name="Rectangle 9"/>
          <p:cNvSpPr>
            <a:spLocks noChangeArrowheads="1"/>
          </p:cNvSpPr>
          <p:nvPr/>
        </p:nvSpPr>
        <p:spPr bwMode="auto">
          <a:xfrm>
            <a:off x="295059" y="879994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迭代过程如下：</a:t>
            </a: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347019" y="1206601"/>
            <a:ext cx="5746800" cy="2624255"/>
            <a:chOff x="657" y="754"/>
            <a:chExt cx="3947" cy="1769"/>
          </a:xfrm>
        </p:grpSpPr>
        <p:graphicFrame>
          <p:nvGraphicFramePr>
            <p:cNvPr id="71693" name="Object 8"/>
            <p:cNvGraphicFramePr>
              <a:graphicFrameLocks noChangeAspect="1"/>
            </p:cNvGraphicFramePr>
            <p:nvPr/>
          </p:nvGraphicFramePr>
          <p:xfrm>
            <a:off x="657" y="754"/>
            <a:ext cx="3856" cy="1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744" name="Equation" r:id="rId3" imgW="5397500" imgH="2374900" progId="Equation.DSMT4">
                    <p:embed/>
                  </p:oleObj>
                </mc:Choice>
                <mc:Fallback>
                  <p:oleObj name="Equation" r:id="rId3" imgW="5397500" imgH="2374900" progId="Equation.DSMT4">
                    <p:embed/>
                    <p:pic>
                      <p:nvPicPr>
                        <p:cNvPr id="7169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754"/>
                          <a:ext cx="3856" cy="1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694" name="Rectangle 12"/>
            <p:cNvSpPr>
              <a:spLocks noChangeArrowheads="1"/>
            </p:cNvSpPr>
            <p:nvPr/>
          </p:nvSpPr>
          <p:spPr bwMode="auto">
            <a:xfrm>
              <a:off x="1020" y="1071"/>
              <a:ext cx="3583" cy="1451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71695" name="Line 13"/>
            <p:cNvSpPr>
              <a:spLocks noChangeShapeType="1"/>
            </p:cNvSpPr>
            <p:nvPr/>
          </p:nvSpPr>
          <p:spPr bwMode="auto">
            <a:xfrm>
              <a:off x="1020" y="2115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696" name="Line 14"/>
            <p:cNvSpPr>
              <a:spLocks noChangeShapeType="1"/>
            </p:cNvSpPr>
            <p:nvPr/>
          </p:nvSpPr>
          <p:spPr bwMode="auto">
            <a:xfrm>
              <a:off x="4241" y="1071"/>
              <a:ext cx="0" cy="1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18800" name="Oval 16"/>
          <p:cNvSpPr>
            <a:spLocks noChangeArrowheads="1"/>
          </p:cNvSpPr>
          <p:nvPr/>
        </p:nvSpPr>
        <p:spPr bwMode="auto">
          <a:xfrm>
            <a:off x="3779838" y="1700213"/>
            <a:ext cx="431800" cy="576262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pSp>
        <p:nvGrpSpPr>
          <p:cNvPr id="4" name="Group 20"/>
          <p:cNvGrpSpPr/>
          <p:nvPr/>
        </p:nvGrpSpPr>
        <p:grpSpPr bwMode="auto">
          <a:xfrm>
            <a:off x="1171077" y="3937971"/>
            <a:ext cx="5913116" cy="2163383"/>
            <a:chOff x="653" y="2614"/>
            <a:chExt cx="3905" cy="1478"/>
          </a:xfrm>
        </p:grpSpPr>
        <p:graphicFrame>
          <p:nvGraphicFramePr>
            <p:cNvPr id="71689" name="Object 10"/>
            <p:cNvGraphicFramePr>
              <a:graphicFrameLocks noChangeAspect="1"/>
            </p:cNvGraphicFramePr>
            <p:nvPr/>
          </p:nvGraphicFramePr>
          <p:xfrm>
            <a:off x="653" y="2633"/>
            <a:ext cx="3855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745" name="Equation" r:id="rId5" imgW="3213100" imgH="1168400" progId="Equation.DSMT4">
                    <p:embed/>
                  </p:oleObj>
                </mc:Choice>
                <mc:Fallback>
                  <p:oleObj name="Equation" r:id="rId5" imgW="3213100" imgH="1168400" progId="Equation.DSMT4">
                    <p:embed/>
                    <p:pic>
                      <p:nvPicPr>
                        <p:cNvPr id="7168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2633"/>
                          <a:ext cx="3855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690" name="Line 17"/>
            <p:cNvSpPr>
              <a:spLocks noChangeShapeType="1"/>
            </p:cNvSpPr>
            <p:nvPr/>
          </p:nvSpPr>
          <p:spPr bwMode="auto">
            <a:xfrm>
              <a:off x="1066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691" name="Line 18"/>
            <p:cNvSpPr>
              <a:spLocks noChangeShapeType="1"/>
            </p:cNvSpPr>
            <p:nvPr/>
          </p:nvSpPr>
          <p:spPr bwMode="auto">
            <a:xfrm>
              <a:off x="703" y="3702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692" name="Line 19"/>
            <p:cNvSpPr>
              <a:spLocks noChangeShapeType="1"/>
            </p:cNvSpPr>
            <p:nvPr/>
          </p:nvSpPr>
          <p:spPr bwMode="auto">
            <a:xfrm>
              <a:off x="4241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18805" name="Oval 21"/>
          <p:cNvSpPr>
            <a:spLocks noChangeArrowheads="1"/>
          </p:cNvSpPr>
          <p:nvPr/>
        </p:nvSpPr>
        <p:spPr bwMode="auto">
          <a:xfrm>
            <a:off x="4308057" y="4531893"/>
            <a:ext cx="358775" cy="503238"/>
          </a:xfrm>
          <a:prstGeom prst="ellipse">
            <a:avLst/>
          </a:prstGeom>
          <a:noFill/>
          <a:ln w="38100" algn="ctr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0" grpId="0" animBg="1"/>
      <p:bldP spid="11880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3.3 </a:t>
            </a:r>
            <a:r>
              <a:rPr lang="zh-CN" altLang="en-US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退化情形</a:t>
            </a:r>
            <a:endParaRPr lang="en-US" altLang="zh-CN" sz="32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" name="Group 23"/>
          <p:cNvGrpSpPr/>
          <p:nvPr/>
        </p:nvGrpSpPr>
        <p:grpSpPr bwMode="auto">
          <a:xfrm>
            <a:off x="1116013" y="1052513"/>
            <a:ext cx="5976937" cy="2316162"/>
            <a:chOff x="703" y="663"/>
            <a:chExt cx="3765" cy="1459"/>
          </a:xfrm>
        </p:grpSpPr>
        <p:graphicFrame>
          <p:nvGraphicFramePr>
            <p:cNvPr id="72716" name="Object 13"/>
            <p:cNvGraphicFramePr>
              <a:graphicFrameLocks noChangeAspect="1"/>
            </p:cNvGraphicFramePr>
            <p:nvPr/>
          </p:nvGraphicFramePr>
          <p:xfrm>
            <a:off x="725" y="663"/>
            <a:ext cx="3718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68" name="Equation" r:id="rId3" imgW="3098800" imgH="1168400" progId="Equation.DSMT4">
                    <p:embed/>
                  </p:oleObj>
                </mc:Choice>
                <mc:Fallback>
                  <p:oleObj name="Equation" r:id="rId3" imgW="3098800" imgH="1168400" progId="Equation.DSMT4">
                    <p:embed/>
                    <p:pic>
                      <p:nvPicPr>
                        <p:cNvPr id="7271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663"/>
                          <a:ext cx="3718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7" name="Line 14"/>
            <p:cNvSpPr>
              <a:spLocks noChangeShapeType="1"/>
            </p:cNvSpPr>
            <p:nvPr/>
          </p:nvSpPr>
          <p:spPr bwMode="auto">
            <a:xfrm>
              <a:off x="1020" y="663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18" name="Line 15"/>
            <p:cNvSpPr>
              <a:spLocks noChangeShapeType="1"/>
            </p:cNvSpPr>
            <p:nvPr/>
          </p:nvSpPr>
          <p:spPr bwMode="auto">
            <a:xfrm>
              <a:off x="703" y="1796"/>
              <a:ext cx="376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19" name="Line 16"/>
            <p:cNvSpPr>
              <a:spLocks noChangeShapeType="1"/>
            </p:cNvSpPr>
            <p:nvPr/>
          </p:nvSpPr>
          <p:spPr bwMode="auto">
            <a:xfrm>
              <a:off x="4195" y="663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4" name="Group 24"/>
          <p:cNvGrpSpPr/>
          <p:nvPr/>
        </p:nvGrpSpPr>
        <p:grpSpPr bwMode="auto">
          <a:xfrm>
            <a:off x="971550" y="3789363"/>
            <a:ext cx="6480175" cy="2316162"/>
            <a:chOff x="612" y="2387"/>
            <a:chExt cx="4082" cy="1459"/>
          </a:xfrm>
        </p:grpSpPr>
        <p:graphicFrame>
          <p:nvGraphicFramePr>
            <p:cNvPr id="72712" name="Object 18"/>
            <p:cNvGraphicFramePr>
              <a:graphicFrameLocks noChangeAspect="1"/>
            </p:cNvGraphicFramePr>
            <p:nvPr/>
          </p:nvGraphicFramePr>
          <p:xfrm>
            <a:off x="612" y="2387"/>
            <a:ext cx="4068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69" name="Equation" r:id="rId5" imgW="3390900" imgH="1168400" progId="Equation.DSMT4">
                    <p:embed/>
                  </p:oleObj>
                </mc:Choice>
                <mc:Fallback>
                  <p:oleObj name="Equation" r:id="rId5" imgW="3390900" imgH="1168400" progId="Equation.DSMT4">
                    <p:embed/>
                    <p:pic>
                      <p:nvPicPr>
                        <p:cNvPr id="7271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387"/>
                          <a:ext cx="4068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3" name="Line 19"/>
            <p:cNvSpPr>
              <a:spLocks noChangeShapeType="1"/>
            </p:cNvSpPr>
            <p:nvPr/>
          </p:nvSpPr>
          <p:spPr bwMode="auto">
            <a:xfrm>
              <a:off x="930" y="2387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14" name="Line 20"/>
            <p:cNvSpPr>
              <a:spLocks noChangeShapeType="1"/>
            </p:cNvSpPr>
            <p:nvPr/>
          </p:nvSpPr>
          <p:spPr bwMode="auto">
            <a:xfrm>
              <a:off x="613" y="3521"/>
              <a:ext cx="40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15" name="Line 21"/>
            <p:cNvSpPr>
              <a:spLocks noChangeShapeType="1"/>
            </p:cNvSpPr>
            <p:nvPr/>
          </p:nvSpPr>
          <p:spPr bwMode="auto">
            <a:xfrm>
              <a:off x="4377" y="2387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19830" name="Oval 22"/>
          <p:cNvSpPr>
            <a:spLocks noChangeArrowheads="1"/>
          </p:cNvSpPr>
          <p:nvPr/>
        </p:nvSpPr>
        <p:spPr bwMode="auto">
          <a:xfrm>
            <a:off x="5148263" y="1052513"/>
            <a:ext cx="360362" cy="431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19833" name="Rectangle 25"/>
          <p:cNvSpPr>
            <a:spLocks noChangeArrowheads="1"/>
          </p:cNvSpPr>
          <p:nvPr/>
        </p:nvSpPr>
        <p:spPr bwMode="auto">
          <a:xfrm>
            <a:off x="6227763" y="4365625"/>
            <a:ext cx="576262" cy="5762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30" grpId="0" animBg="1"/>
      <p:bldP spid="11983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3.3 </a:t>
            </a:r>
            <a:r>
              <a:rPr lang="zh-CN" altLang="en-US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退化情形</a:t>
            </a:r>
            <a:endParaRPr lang="en-US" altLang="zh-CN" sz="32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" name="Group 12"/>
          <p:cNvGrpSpPr/>
          <p:nvPr/>
        </p:nvGrpSpPr>
        <p:grpSpPr bwMode="auto">
          <a:xfrm>
            <a:off x="1187450" y="1196975"/>
            <a:ext cx="6167438" cy="2316163"/>
            <a:chOff x="688" y="2614"/>
            <a:chExt cx="3885" cy="1459"/>
          </a:xfrm>
        </p:grpSpPr>
        <p:graphicFrame>
          <p:nvGraphicFramePr>
            <p:cNvPr id="73740" name="Object 13"/>
            <p:cNvGraphicFramePr>
              <a:graphicFrameLocks noChangeAspect="1"/>
            </p:cNvGraphicFramePr>
            <p:nvPr/>
          </p:nvGraphicFramePr>
          <p:xfrm>
            <a:off x="688" y="2614"/>
            <a:ext cx="3885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792" name="Equation" r:id="rId3" imgW="3238500" imgH="1168400" progId="Equation.DSMT4">
                    <p:embed/>
                  </p:oleObj>
                </mc:Choice>
                <mc:Fallback>
                  <p:oleObj name="Equation" r:id="rId3" imgW="3238500" imgH="1168400" progId="Equation.DSMT4">
                    <p:embed/>
                    <p:pic>
                      <p:nvPicPr>
                        <p:cNvPr id="7374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" y="2614"/>
                          <a:ext cx="3885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1" name="Line 14"/>
            <p:cNvSpPr>
              <a:spLocks noChangeShapeType="1"/>
            </p:cNvSpPr>
            <p:nvPr/>
          </p:nvSpPr>
          <p:spPr bwMode="auto">
            <a:xfrm>
              <a:off x="1066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42" name="Line 15"/>
            <p:cNvSpPr>
              <a:spLocks noChangeShapeType="1"/>
            </p:cNvSpPr>
            <p:nvPr/>
          </p:nvSpPr>
          <p:spPr bwMode="auto">
            <a:xfrm>
              <a:off x="703" y="3702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43" name="Line 16"/>
            <p:cNvSpPr>
              <a:spLocks noChangeShapeType="1"/>
            </p:cNvSpPr>
            <p:nvPr/>
          </p:nvSpPr>
          <p:spPr bwMode="auto">
            <a:xfrm>
              <a:off x="4241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1187450" y="3789363"/>
            <a:ext cx="6167438" cy="2316162"/>
            <a:chOff x="688" y="2614"/>
            <a:chExt cx="3885" cy="1459"/>
          </a:xfrm>
        </p:grpSpPr>
        <p:graphicFrame>
          <p:nvGraphicFramePr>
            <p:cNvPr id="73736" name="Object 18"/>
            <p:cNvGraphicFramePr>
              <a:graphicFrameLocks noChangeAspect="1"/>
            </p:cNvGraphicFramePr>
            <p:nvPr/>
          </p:nvGraphicFramePr>
          <p:xfrm>
            <a:off x="688" y="2614"/>
            <a:ext cx="3885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793" name="Equation" r:id="rId5" imgW="3238500" imgH="1168400" progId="Equation.DSMT4">
                    <p:embed/>
                  </p:oleObj>
                </mc:Choice>
                <mc:Fallback>
                  <p:oleObj name="Equation" r:id="rId5" imgW="3238500" imgH="1168400" progId="Equation.DSMT4">
                    <p:embed/>
                    <p:pic>
                      <p:nvPicPr>
                        <p:cNvPr id="7373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" y="2614"/>
                          <a:ext cx="3885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37" name="Line 19"/>
            <p:cNvSpPr>
              <a:spLocks noChangeShapeType="1"/>
            </p:cNvSpPr>
            <p:nvPr/>
          </p:nvSpPr>
          <p:spPr bwMode="auto">
            <a:xfrm>
              <a:off x="1066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38" name="Line 20"/>
            <p:cNvSpPr>
              <a:spLocks noChangeShapeType="1"/>
            </p:cNvSpPr>
            <p:nvPr/>
          </p:nvSpPr>
          <p:spPr bwMode="auto">
            <a:xfrm>
              <a:off x="703" y="3702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39" name="Line 21"/>
            <p:cNvSpPr>
              <a:spLocks noChangeShapeType="1"/>
            </p:cNvSpPr>
            <p:nvPr/>
          </p:nvSpPr>
          <p:spPr bwMode="auto">
            <a:xfrm>
              <a:off x="4241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20854" name="Rectangle 22"/>
          <p:cNvSpPr>
            <a:spLocks noChangeArrowheads="1"/>
          </p:cNvSpPr>
          <p:nvPr/>
        </p:nvSpPr>
        <p:spPr bwMode="auto">
          <a:xfrm>
            <a:off x="1979613" y="1268413"/>
            <a:ext cx="288925" cy="3603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120855" name="Rectangle 23"/>
          <p:cNvSpPr>
            <a:spLocks noChangeArrowheads="1"/>
          </p:cNvSpPr>
          <p:nvPr/>
        </p:nvSpPr>
        <p:spPr bwMode="auto">
          <a:xfrm>
            <a:off x="2411413" y="4437063"/>
            <a:ext cx="504825" cy="431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4" grpId="0" animBg="1"/>
      <p:bldP spid="12085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3.3 </a:t>
            </a:r>
            <a:r>
              <a:rPr lang="zh-CN" altLang="en-US" sz="3200" b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退化情形</a:t>
            </a:r>
            <a:endParaRPr lang="en-US" altLang="zh-CN" sz="3200" b="1" dirty="0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" name="Group 22"/>
          <p:cNvGrpSpPr/>
          <p:nvPr/>
        </p:nvGrpSpPr>
        <p:grpSpPr bwMode="auto">
          <a:xfrm>
            <a:off x="1116013" y="3429000"/>
            <a:ext cx="6265862" cy="2808288"/>
            <a:chOff x="657" y="754"/>
            <a:chExt cx="3947" cy="1769"/>
          </a:xfrm>
        </p:grpSpPr>
        <p:graphicFrame>
          <p:nvGraphicFramePr>
            <p:cNvPr id="74763" name="Object 23"/>
            <p:cNvGraphicFramePr>
              <a:graphicFrameLocks noChangeAspect="1"/>
            </p:cNvGraphicFramePr>
            <p:nvPr/>
          </p:nvGraphicFramePr>
          <p:xfrm>
            <a:off x="657" y="754"/>
            <a:ext cx="3856" cy="1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6" name="Equation" r:id="rId3" imgW="5397500" imgH="2374900" progId="Equation.DSMT4">
                    <p:embed/>
                  </p:oleObj>
                </mc:Choice>
                <mc:Fallback>
                  <p:oleObj name="Equation" r:id="rId3" imgW="5397500" imgH="2374900" progId="Equation.DSMT4">
                    <p:embed/>
                    <p:pic>
                      <p:nvPicPr>
                        <p:cNvPr id="7476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754"/>
                          <a:ext cx="3856" cy="1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64" name="Rectangle 24"/>
            <p:cNvSpPr>
              <a:spLocks noChangeArrowheads="1"/>
            </p:cNvSpPr>
            <p:nvPr/>
          </p:nvSpPr>
          <p:spPr bwMode="auto">
            <a:xfrm>
              <a:off x="1020" y="1071"/>
              <a:ext cx="3583" cy="1451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74765" name="Line 25"/>
            <p:cNvSpPr>
              <a:spLocks noChangeShapeType="1"/>
            </p:cNvSpPr>
            <p:nvPr/>
          </p:nvSpPr>
          <p:spPr bwMode="auto">
            <a:xfrm>
              <a:off x="1020" y="2115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4766" name="Line 26"/>
            <p:cNvSpPr>
              <a:spLocks noChangeShapeType="1"/>
            </p:cNvSpPr>
            <p:nvPr/>
          </p:nvSpPr>
          <p:spPr bwMode="auto">
            <a:xfrm>
              <a:off x="4241" y="1071"/>
              <a:ext cx="0" cy="1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74757" name="Group 27"/>
          <p:cNvGrpSpPr/>
          <p:nvPr/>
        </p:nvGrpSpPr>
        <p:grpSpPr bwMode="auto">
          <a:xfrm>
            <a:off x="1403350" y="1052513"/>
            <a:ext cx="6167438" cy="2316162"/>
            <a:chOff x="688" y="2614"/>
            <a:chExt cx="3885" cy="1459"/>
          </a:xfrm>
        </p:grpSpPr>
        <p:graphicFrame>
          <p:nvGraphicFramePr>
            <p:cNvPr id="74759" name="Object 28"/>
            <p:cNvGraphicFramePr>
              <a:graphicFrameLocks noChangeAspect="1"/>
            </p:cNvGraphicFramePr>
            <p:nvPr/>
          </p:nvGraphicFramePr>
          <p:xfrm>
            <a:off x="688" y="2614"/>
            <a:ext cx="3885" cy="1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7" name="Equation" r:id="rId5" imgW="3238500" imgH="1168400" progId="Equation.DSMT4">
                    <p:embed/>
                  </p:oleObj>
                </mc:Choice>
                <mc:Fallback>
                  <p:oleObj name="Equation" r:id="rId5" imgW="3238500" imgH="1168400" progId="Equation.DSMT4">
                    <p:embed/>
                    <p:pic>
                      <p:nvPicPr>
                        <p:cNvPr id="7475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" y="2614"/>
                          <a:ext cx="3885" cy="1459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60" name="Line 29"/>
            <p:cNvSpPr>
              <a:spLocks noChangeShapeType="1"/>
            </p:cNvSpPr>
            <p:nvPr/>
          </p:nvSpPr>
          <p:spPr bwMode="auto">
            <a:xfrm>
              <a:off x="1066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4761" name="Line 30"/>
            <p:cNvSpPr>
              <a:spLocks noChangeShapeType="1"/>
            </p:cNvSpPr>
            <p:nvPr/>
          </p:nvSpPr>
          <p:spPr bwMode="auto">
            <a:xfrm>
              <a:off x="703" y="3702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4762" name="Line 31"/>
            <p:cNvSpPr>
              <a:spLocks noChangeShapeType="1"/>
            </p:cNvSpPr>
            <p:nvPr/>
          </p:nvSpPr>
          <p:spPr bwMode="auto">
            <a:xfrm>
              <a:off x="4241" y="2614"/>
              <a:ext cx="0" cy="14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74758" name="Rectangle 32"/>
          <p:cNvSpPr>
            <a:spLocks noChangeArrowheads="1"/>
          </p:cNvSpPr>
          <p:nvPr/>
        </p:nvSpPr>
        <p:spPr bwMode="auto">
          <a:xfrm>
            <a:off x="2627313" y="1700213"/>
            <a:ext cx="504825" cy="431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1381" y="1076325"/>
            <a:ext cx="8229600" cy="453072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前例表明算法会无限循环下去，能否找到一种办法避免出现这种情况？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95288" y="2745207"/>
          <a:ext cx="730091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4" name="Equation" r:id="rId3" imgW="4127500" imgH="228600" progId="Equation.DSMT4">
                  <p:embed/>
                </p:oleObj>
              </mc:Choice>
              <mc:Fallback>
                <p:oleObj name="Equation" r:id="rId3" imgW="4127500" imgH="22860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45207"/>
                        <a:ext cx="730091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8313" y="3396082"/>
            <a:ext cx="816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即在单纯形表中选</a:t>
            </a:r>
            <a:r>
              <a:rPr lang="zh-CN" altLang="en-US" sz="2400" dirty="0">
                <a:solidFill>
                  <a:srgbClr val="0000FF"/>
                </a:solidFill>
              </a:rPr>
              <a:t>最左边</a:t>
            </a:r>
            <a:r>
              <a:rPr lang="zh-CN" altLang="en-US" sz="2400" dirty="0"/>
              <a:t>的正检验数对应的非基变量入基。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95288" y="3900907"/>
          <a:ext cx="64008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5" name="Equation" r:id="rId5" imgW="3340100" imgH="457200" progId="Equation.DSMT4">
                  <p:embed/>
                </p:oleObj>
              </mc:Choice>
              <mc:Fallback>
                <p:oleObj name="Equation" r:id="rId5" imgW="3340100" imgH="4572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00907"/>
                        <a:ext cx="64008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827088" y="4548607"/>
          <a:ext cx="63246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6" name="Equation" r:id="rId7" imgW="3416300" imgH="469900" progId="Equation.DSMT4">
                  <p:embed/>
                </p:oleObj>
              </mc:Choice>
              <mc:Fallback>
                <p:oleObj name="Equation" r:id="rId7" imgW="3416300" imgH="4699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48607"/>
                        <a:ext cx="63246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6"/>
          <p:cNvGrpSpPr/>
          <p:nvPr/>
        </p:nvGrpSpPr>
        <p:grpSpPr bwMode="auto">
          <a:xfrm>
            <a:off x="323850" y="5340770"/>
            <a:ext cx="8453438" cy="842962"/>
            <a:chOff x="207" y="2683"/>
            <a:chExt cx="5325" cy="531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07" y="2696"/>
              <a:ext cx="528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即在比值达到最小的行中，选</a:t>
              </a:r>
              <a:r>
                <a:rPr lang="zh-CN" altLang="en-US" sz="2400" dirty="0">
                  <a:solidFill>
                    <a:srgbClr val="0000FF"/>
                  </a:solidFill>
                </a:rPr>
                <a:t>最上面</a:t>
              </a:r>
              <a:r>
                <a:rPr lang="zh-CN" altLang="en-US" sz="2400" dirty="0"/>
                <a:t>的那行所对应的基变量       出基。</a:t>
              </a:r>
            </a:p>
          </p:txBody>
        </p:sp>
        <p:graphicFrame>
          <p:nvGraphicFramePr>
            <p:cNvPr id="11" name="Object 8"/>
            <p:cNvGraphicFramePr>
              <a:graphicFrameLocks noChangeAspect="1"/>
            </p:cNvGraphicFramePr>
            <p:nvPr/>
          </p:nvGraphicFramePr>
          <p:xfrm>
            <a:off x="5252" y="2683"/>
            <a:ext cx="2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57" name="Equation" r:id="rId9" imgW="190500" imgH="228600" progId="Equation.DSMT4">
                    <p:embed/>
                  </p:oleObj>
                </mc:Choice>
                <mc:Fallback>
                  <p:oleObj name="Equation" r:id="rId9" imgW="190500" imgH="228600" progId="Equation.DSMT4">
                    <p:embed/>
                    <p:pic>
                      <p:nvPicPr>
                        <p:cNvPr id="11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2" y="2683"/>
                          <a:ext cx="2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588962" y="1921883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Bland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规则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退化问题的处理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3276600" y="981075"/>
          <a:ext cx="5040313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64" name="Equation" r:id="rId3" imgW="2463800" imgH="1193800" progId="Equation.DSMT4">
                  <p:embed/>
                </p:oleObj>
              </mc:Choice>
              <mc:Fallback>
                <p:oleObj name="Equation" r:id="rId3" imgW="2463800" imgH="1193800" progId="Equation.DSMT4">
                  <p:embed/>
                  <p:pic>
                    <p:nvPicPr>
                      <p:cNvPr id="870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81075"/>
                        <a:ext cx="5040313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395288" y="2997200"/>
            <a:ext cx="2967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该问题的最优解</a:t>
            </a:r>
          </a:p>
        </p:txBody>
      </p:sp>
      <p:graphicFrame>
        <p:nvGraphicFramePr>
          <p:cNvPr id="126980" name="Object 4"/>
          <p:cNvGraphicFramePr>
            <a:graphicFrameLocks noChangeAspect="1"/>
          </p:cNvGraphicFramePr>
          <p:nvPr/>
        </p:nvGraphicFramePr>
        <p:xfrm>
          <a:off x="684213" y="3644900"/>
          <a:ext cx="68897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65" name="Equation" r:id="rId5" imgW="3187700" imgH="406400" progId="Equation.DSMT4">
                  <p:embed/>
                </p:oleObj>
              </mc:Choice>
              <mc:Fallback>
                <p:oleObj name="Equation" r:id="rId5" imgW="3187700" imgH="406400" progId="Equation.DSMT4">
                  <p:embed/>
                  <p:pic>
                    <p:nvPicPr>
                      <p:cNvPr id="1269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644900"/>
                        <a:ext cx="68897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1331913" y="4581525"/>
            <a:ext cx="6019800" cy="1920875"/>
            <a:chOff x="384" y="2784"/>
            <a:chExt cx="3792" cy="1210"/>
          </a:xfrm>
        </p:grpSpPr>
        <p:sp>
          <p:nvSpPr>
            <p:cNvPr id="87052" name="Rectangle 6"/>
            <p:cNvSpPr>
              <a:spLocks noChangeArrowheads="1"/>
            </p:cNvSpPr>
            <p:nvPr/>
          </p:nvSpPr>
          <p:spPr bwMode="auto">
            <a:xfrm>
              <a:off x="912" y="2784"/>
              <a:ext cx="3264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model: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 [obj] min=-0.75*x4+20*x5-0.5*x6+6*x7;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 [con1] x1+0.25*x4-8*x5-x6+9*x7=0;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 [con2] x2+0.5*x4-12*x5-0.5*x6+3*x7=1;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 [con3] x3+x6=1;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end</a:t>
              </a:r>
            </a:p>
          </p:txBody>
        </p:sp>
        <p:pic>
          <p:nvPicPr>
            <p:cNvPr id="87053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3182"/>
              <a:ext cx="528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7046" name="Rectangle 8"/>
          <p:cNvSpPr>
            <a:spLocks noChangeArrowheads="1"/>
          </p:cNvSpPr>
          <p:nvPr/>
        </p:nvSpPr>
        <p:spPr bwMode="auto">
          <a:xfrm>
            <a:off x="250825" y="188913"/>
            <a:ext cx="79216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b="1">
              <a:solidFill>
                <a:srgbClr val="3333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35843-F62B-4DA7-ACCE-10D8F76B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EE5E8A-52A0-4E9D-9815-89D8A05E3C39}"/>
              </a:ext>
            </a:extLst>
          </p:cNvPr>
          <p:cNvSpPr txBox="1"/>
          <p:nvPr/>
        </p:nvSpPr>
        <p:spPr>
          <a:xfrm>
            <a:off x="802887" y="1604643"/>
            <a:ext cx="7471318" cy="4361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from </a:t>
            </a:r>
            <a:r>
              <a:rPr lang="en-US" altLang="zh-CN" sz="2000" dirty="0" err="1"/>
              <a:t>scipy.optimize</a:t>
            </a:r>
            <a:r>
              <a:rPr lang="en-US" altLang="zh-CN" sz="2000" dirty="0"/>
              <a:t> import </a:t>
            </a:r>
            <a:r>
              <a:rPr lang="en-US" altLang="zh-CN" sz="2000" dirty="0" err="1"/>
              <a:t>linprog</a:t>
            </a:r>
            <a:endParaRPr lang="en-US" altLang="zh-CN" sz="2000" dirty="0"/>
          </a:p>
          <a:p>
            <a:r>
              <a:rPr lang="en-US" altLang="zh-CN" sz="2000" dirty="0"/>
              <a:t>c = [0.0,0.0,0.0,-0.75, 20,-0.5,6]</a:t>
            </a:r>
          </a:p>
          <a:p>
            <a:r>
              <a:rPr lang="en-US" altLang="zh-CN" sz="2000" dirty="0"/>
              <a:t>A = [[1, 0, 0, 0.25, -8, -1, 9],</a:t>
            </a:r>
          </a:p>
          <a:p>
            <a:r>
              <a:rPr lang="en-US" altLang="zh-CN" sz="2000" dirty="0"/>
              <a:t>    [0, 1, 0, 0.5, -12, -0.5, 3],</a:t>
            </a:r>
          </a:p>
          <a:p>
            <a:r>
              <a:rPr lang="en-US" altLang="zh-CN" sz="2000" dirty="0"/>
              <a:t>    [0, 0, 1, 0, 0, 1, 0]]</a:t>
            </a:r>
          </a:p>
          <a:p>
            <a:r>
              <a:rPr lang="en-US" altLang="zh-CN" sz="2000" dirty="0"/>
              <a:t>b = [0,1,1]</a:t>
            </a:r>
          </a:p>
          <a:p>
            <a:r>
              <a:rPr lang="en-US" altLang="zh-CN" sz="2000" dirty="0"/>
              <a:t>bounds = [(0, None) for _ in range(7)]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res = </a:t>
            </a:r>
            <a:r>
              <a:rPr lang="en-US" altLang="zh-CN" sz="2000" dirty="0" err="1"/>
              <a:t>linprog</a:t>
            </a:r>
            <a:r>
              <a:rPr lang="en-US" altLang="zh-CN" sz="2000" dirty="0"/>
              <a:t>(c, </a:t>
            </a:r>
            <a:r>
              <a:rPr lang="en-US" altLang="zh-CN" sz="2000" dirty="0" err="1"/>
              <a:t>A_eq</a:t>
            </a:r>
            <a:r>
              <a:rPr lang="en-US" altLang="zh-CN" sz="2000" dirty="0"/>
              <a:t>=A, </a:t>
            </a:r>
            <a:r>
              <a:rPr lang="en-US" altLang="zh-CN" sz="2000" dirty="0" err="1"/>
              <a:t>b_eq</a:t>
            </a:r>
            <a:r>
              <a:rPr lang="en-US" altLang="zh-CN" sz="2000" dirty="0"/>
              <a:t>=b, bounds=bounds, method='highs')</a:t>
            </a:r>
          </a:p>
          <a:p>
            <a:endParaRPr lang="en-US" altLang="zh-CN" sz="2000" dirty="0"/>
          </a:p>
          <a:p>
            <a:r>
              <a:rPr lang="en-US" altLang="zh-CN" sz="2000" dirty="0"/>
              <a:t>print('Optimal value:', </a:t>
            </a:r>
            <a:r>
              <a:rPr lang="en-US" altLang="zh-CN" sz="2000" dirty="0" err="1"/>
              <a:t>res.fun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print('Optimal solution:', </a:t>
            </a:r>
            <a:r>
              <a:rPr lang="en-US" altLang="zh-CN" sz="2000" dirty="0" err="1"/>
              <a:t>res.x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8405425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754CD-D2DA-46DD-B569-20C9025B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82626">
            <a:extLst>
              <a:ext uri="{FF2B5EF4-FFF2-40B4-BE49-F238E27FC236}">
                <a16:creationId xmlns:a16="http://schemas.microsoft.com/office/drawing/2014/main" id="{5A326FF0-4415-405E-8CFE-865697B9E9A0}"/>
              </a:ext>
            </a:extLst>
          </p:cNvPr>
          <p:cNvSpPr>
            <a:spLocks noGrp="1"/>
          </p:cNvSpPr>
          <p:nvPr/>
        </p:nvSpPr>
        <p:spPr>
          <a:xfrm>
            <a:off x="779195" y="1105082"/>
            <a:ext cx="2851785" cy="7105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Tx/>
              <a:buChar char="•"/>
              <a:defRPr sz="1600" b="0" i="0" u="none" kern="1200" baseline="0">
                <a:solidFill>
                  <a:schemeClr val="tx1"/>
                </a:solidFill>
                <a:latin typeface="+mn-lt"/>
                <a:ea typeface="楷体_GB2312" panose="02010609030101010101" pitchFamily="49" charset="-122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 sz="1400" b="0" i="0" u="none" kern="1200" baseline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»"/>
              <a:defRPr sz="2000" b="0" i="0" u="non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»"/>
              <a:defRPr sz="2000" b="0" i="0" u="non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»"/>
              <a:defRPr sz="2000" b="0" i="0" u="non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»"/>
              <a:defRPr sz="2000" b="0" i="0" u="non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»"/>
              <a:defRPr sz="2000" b="0" i="0" u="non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zh-CN" dirty="0"/>
              <a:t>MATLAB</a:t>
            </a:r>
            <a:r>
              <a:rPr lang="zh-CN" altLang="en-US" dirty="0"/>
              <a:t>标准型</a:t>
            </a:r>
          </a:p>
          <a:p>
            <a:endParaRPr lang="zh-CN" altLang="en-US" dirty="0"/>
          </a:p>
          <a:p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对象 282628">
            <a:extLst>
              <a:ext uri="{FF2B5EF4-FFF2-40B4-BE49-F238E27FC236}">
                <a16:creationId xmlns:a16="http://schemas.microsoft.com/office/drawing/2014/main" id="{9BD149C0-0BC5-459C-8BDA-B41D6B7367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76562" y="1762686"/>
            <a:ext cx="2260179" cy="1783401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66652B4-3B4E-487B-AE1B-E54AFF434580}"/>
              </a:ext>
            </a:extLst>
          </p:cNvPr>
          <p:cNvSpPr/>
          <p:nvPr/>
        </p:nvSpPr>
        <p:spPr>
          <a:xfrm>
            <a:off x="577230" y="3931075"/>
            <a:ext cx="7632700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lvl="5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lvl="6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lvl="7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lvl="8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c=[0</a:t>
            </a:r>
            <a:r>
              <a:rPr lang="zh-CN" altLang="en-US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-3/4; 20; -1/2; 6];				</a:t>
            </a:r>
            <a:endParaRPr lang="zh-CN" altLang="en-US" sz="2000" b="1" dirty="0"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A=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  <a:sym typeface="Euclid Symbol" panose="05050102010706020507" pitchFamily="18" charset="2"/>
              </a:rPr>
              <a:t>[]; 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b=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  <a:sym typeface="Euclid Symbol" panose="05050102010706020507" pitchFamily="18" charset="2"/>
              </a:rPr>
              <a:t>[]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; </a:t>
            </a:r>
            <a:endParaRPr lang="zh-CN" altLang="en-US" sz="2000" b="1" dirty="0"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000" b="1" dirty="0" err="1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Aeq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 [1 0  0 1/4 -8 -1 9; 0 1 0 1/2  -12 -1/2 3; 0 0 1 0 0 0 0];</a:t>
            </a:r>
          </a:p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beq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= [0; 1;1 ];	</a:t>
            </a:r>
            <a:endParaRPr lang="zh-CN" altLang="en-US" sz="2000" b="1" dirty="0"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000" b="1" dirty="0" err="1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lb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=[0; 0; 0; 0; 0; 0;0];</a:t>
            </a:r>
            <a:r>
              <a:rPr lang="en-US" altLang="zh-CN" sz="2000" b="1" dirty="0" err="1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ub</a:t>
            </a:r>
            <a:r>
              <a:rPr lang="en-US" altLang="zh-CN" sz="2000" b="1" dirty="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=[Inf; Inf; Inf; Inf; Inf; Inf; Inf] 	</a:t>
            </a:r>
          </a:p>
          <a:p>
            <a:pPr algn="l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linprog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(c,[],[],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Aeq,beq,lb,ub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12848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3.4  </a:t>
            </a:r>
            <a:r>
              <a:rPr lang="zh-CN" altLang="en-US" sz="4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修正单纯形方法</a:t>
            </a:r>
            <a:endParaRPr lang="en-US" altLang="zh-CN" sz="36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543978" y="1125533"/>
          <a:ext cx="7316787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88" name="Equation" r:id="rId3" imgW="7848600" imgH="2616200" progId="Equation.DSMT4">
                  <p:embed/>
                </p:oleObj>
              </mc:Choice>
              <mc:Fallback>
                <p:oleObj name="Equation" r:id="rId3" imgW="7848600" imgH="2616200" progId="Equation.DSMT4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78" y="1125533"/>
                        <a:ext cx="7316787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866774" y="3741312"/>
          <a:ext cx="7350125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89" name="Equation" r:id="rId5" imgW="7886700" imgH="1943100" progId="Equation.DSMT4">
                  <p:embed/>
                </p:oleObj>
              </mc:Choice>
              <mc:Fallback>
                <p:oleObj name="Equation" r:id="rId5" imgW="7886700" imgH="1943100" progId="Equation.DSMT4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4" y="3741312"/>
                        <a:ext cx="7350125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611188" y="3429000"/>
            <a:ext cx="7632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楷体_GB2312" panose="02010609030101010101" pitchFamily="49" charset="-122"/>
              </a:rPr>
              <a:t>回忆单纯形方法，不妨设初始单纯形表中系数矩阵含有单位阵，即系数矩阵为</a:t>
            </a: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712992" y="970594"/>
          <a:ext cx="7080250" cy="248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9" name="Equation" r:id="rId3" imgW="7594600" imgH="2667000" progId="Equation.DSMT4">
                  <p:embed/>
                </p:oleObj>
              </mc:Choice>
              <mc:Fallback>
                <p:oleObj name="Equation" r:id="rId3" imgW="7594600" imgH="2667000" progId="Equation.DSMT4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92" y="970594"/>
                        <a:ext cx="7080250" cy="248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124075" y="5373688"/>
          <a:ext cx="5507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20" name="Equation" r:id="rId5" imgW="5905500" imgH="444500" progId="Equation.DSMT4">
                  <p:embed/>
                </p:oleObj>
              </mc:Choice>
              <mc:Fallback>
                <p:oleObj name="Equation" r:id="rId5" imgW="5905500" imgH="444500" progId="Equation.DSMT4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373688"/>
                        <a:ext cx="550703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611188" y="4221163"/>
          <a:ext cx="7707312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21" name="Equation" r:id="rId7" imgW="8267700" imgH="1447800" progId="Equation.DSMT4">
                  <p:embed/>
                </p:oleObj>
              </mc:Choice>
              <mc:Fallback>
                <p:oleObj name="Equation" r:id="rId7" imgW="8267700" imgH="1447800" progId="Equation.DSMT4">
                  <p:embed/>
                  <p:pic>
                    <p:nvPicPr>
                      <p:cNvPr id="4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221163"/>
                        <a:ext cx="7707312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509588" y="912812"/>
          <a:ext cx="7720012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36" name="Equation" r:id="rId3" imgW="198729600" imgH="38404800" progId="Equation.DSMT4">
                  <p:embed/>
                </p:oleObj>
              </mc:Choice>
              <mc:Fallback>
                <p:oleObj name="Equation" r:id="rId3" imgW="198729600" imgH="38404800" progId="Equation.DSMT4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912812"/>
                        <a:ext cx="7720012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900113" y="2565400"/>
          <a:ext cx="7861300" cy="337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37" name="Equation" r:id="rId5" imgW="8432800" imgH="3632200" progId="Equation.DSMT4">
                  <p:embed/>
                </p:oleObj>
              </mc:Choice>
              <mc:Fallback>
                <p:oleObj name="Equation" r:id="rId5" imgW="8432800" imgH="3632200" progId="Equation.DSMT4">
                  <p:embed/>
                  <p:pic>
                    <p:nvPicPr>
                      <p:cNvPr id="51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565400"/>
                        <a:ext cx="7861300" cy="337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279692" y="968894"/>
            <a:ext cx="85846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anose="02010609030101010101" pitchFamily="49" charset="-122"/>
              </a:rPr>
              <a:t>这样，有了初始表 </a:t>
            </a:r>
            <a:r>
              <a:rPr lang="en-US" altLang="zh-CN" sz="2400" dirty="0">
                <a:ea typeface="楷体_GB2312" panose="02010609030101010101" pitchFamily="49" charset="-122"/>
              </a:rPr>
              <a:t>(</a:t>
            </a:r>
            <a:r>
              <a:rPr lang="zh-CN" altLang="en-US" sz="2400" dirty="0">
                <a:ea typeface="楷体_GB2312" panose="02010609030101010101" pitchFamily="49" charset="-122"/>
              </a:rPr>
              <a:t>即问题的系数矩阵，费用向量和右端向量子集组成</a:t>
            </a:r>
            <a:r>
              <a:rPr lang="en-US" altLang="zh-CN" sz="2400" dirty="0">
                <a:ea typeface="楷体_GB2312" panose="02010609030101010101" pitchFamily="49" charset="-122"/>
              </a:rPr>
              <a:t>)</a:t>
            </a:r>
            <a:r>
              <a:rPr lang="zh-CN" altLang="en-US" sz="2400" dirty="0">
                <a:ea typeface="楷体_GB2312" panose="02010609030101010101" pitchFamily="49" charset="-122"/>
              </a:rPr>
              <a:t>，当前表*和基</a:t>
            </a:r>
            <a:r>
              <a:rPr lang="en-US" altLang="zh-CN" sz="2400" dirty="0">
                <a:ea typeface="楷体_GB2312" panose="02010609030101010101" pitchFamily="49" charset="-122"/>
              </a:rPr>
              <a:t>B</a:t>
            </a:r>
            <a:r>
              <a:rPr lang="zh-CN" altLang="en-US" sz="2400" dirty="0">
                <a:ea typeface="楷体_GB2312" panose="02010609030101010101" pitchFamily="49" charset="-122"/>
              </a:rPr>
              <a:t>，则修正单纯形方法就可进行下去了</a:t>
            </a: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539750" y="2349500"/>
          <a:ext cx="70326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7" name="Equation" r:id="rId3" imgW="7543800" imgH="939800" progId="Equation.DSMT4">
                  <p:embed/>
                </p:oleObj>
              </mc:Choice>
              <mc:Fallback>
                <p:oleObj name="Equation" r:id="rId3" imgW="7543800" imgH="939800" progId="Equation.DSMT4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349500"/>
                        <a:ext cx="70326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611188" y="4581525"/>
          <a:ext cx="6616700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8" name="Equation" r:id="rId5" imgW="7099300" imgH="1549400" progId="Equation.DSMT4">
                  <p:embed/>
                </p:oleObj>
              </mc:Choice>
              <mc:Fallback>
                <p:oleObj name="Equation" r:id="rId5" imgW="7099300" imgH="1549400" progId="Equation.DSMT4">
                  <p:embed/>
                  <p:pic>
                    <p:nvPicPr>
                      <p:cNvPr id="61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81525"/>
                        <a:ext cx="6616700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 bwMode="auto">
          <a:xfrm>
            <a:off x="4572000" y="3141663"/>
            <a:ext cx="2233613" cy="1225550"/>
            <a:chOff x="793" y="1162"/>
            <a:chExt cx="1407" cy="772"/>
          </a:xfrm>
        </p:grpSpPr>
        <p:graphicFrame>
          <p:nvGraphicFramePr>
            <p:cNvPr id="92170" name="Object 4"/>
            <p:cNvGraphicFramePr>
              <a:graphicFrameLocks noChangeAspect="1"/>
            </p:cNvGraphicFramePr>
            <p:nvPr/>
          </p:nvGraphicFramePr>
          <p:xfrm>
            <a:off x="975" y="1207"/>
            <a:ext cx="952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969" name="Equation" r:id="rId7" imgW="1270000" imgH="927100" progId="Equation.DSMT4">
                    <p:embed/>
                  </p:oleObj>
                </mc:Choice>
                <mc:Fallback>
                  <p:oleObj name="Equation" r:id="rId7" imgW="1270000" imgH="927100" progId="Equation.DSMT4">
                    <p:embed/>
                    <p:pic>
                      <p:nvPicPr>
                        <p:cNvPr id="9217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207"/>
                          <a:ext cx="952" cy="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71" name="Rectangle 8"/>
            <p:cNvSpPr>
              <a:spLocks noChangeArrowheads="1"/>
            </p:cNvSpPr>
            <p:nvPr/>
          </p:nvSpPr>
          <p:spPr bwMode="auto">
            <a:xfrm>
              <a:off x="793" y="1162"/>
              <a:ext cx="1407" cy="7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92172" name="Line 9"/>
            <p:cNvSpPr>
              <a:spLocks noChangeShapeType="1"/>
            </p:cNvSpPr>
            <p:nvPr/>
          </p:nvSpPr>
          <p:spPr bwMode="auto">
            <a:xfrm>
              <a:off x="793" y="1570"/>
              <a:ext cx="14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3" name="Line 10"/>
            <p:cNvSpPr>
              <a:spLocks noChangeShapeType="1"/>
            </p:cNvSpPr>
            <p:nvPr/>
          </p:nvSpPr>
          <p:spPr bwMode="auto">
            <a:xfrm>
              <a:off x="1474" y="1162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69" name="Rectangle 12"/>
          <p:cNvSpPr>
            <a:spLocks noChangeArrowheads="1"/>
          </p:cNvSpPr>
          <p:nvPr/>
        </p:nvSpPr>
        <p:spPr bwMode="auto">
          <a:xfrm>
            <a:off x="395288" y="1844675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楷体_GB2312" panose="02010609030101010101" pitchFamily="49" charset="-122"/>
              </a:rPr>
              <a:t>修正单纯形方法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95288" y="1628775"/>
            <a:ext cx="835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3333CC"/>
                </a:solidFill>
                <a:ea typeface="楷体_GB2312" panose="02010609030101010101" pitchFamily="49" charset="-122"/>
              </a:rPr>
              <a:t>4)</a:t>
            </a:r>
            <a:r>
              <a:rPr lang="en-US" altLang="zh-CN" sz="2400">
                <a:ea typeface="楷体_GB2312" panose="02010609030101010101" pitchFamily="49" charset="-122"/>
              </a:rPr>
              <a:t> </a:t>
            </a:r>
            <a:r>
              <a:rPr lang="zh-CN" altLang="en-US" sz="2400">
                <a:ea typeface="楷体_GB2312" panose="02010609030101010101" pitchFamily="49" charset="-122"/>
              </a:rPr>
              <a:t>把主列置于逆矩阵表的右边，组成下列表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684213" y="3860800"/>
          <a:ext cx="7529512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5" name="Equation" r:id="rId3" imgW="8077200" imgH="2527300" progId="Equation.DSMT4">
                  <p:embed/>
                </p:oleObj>
              </mc:Choice>
              <mc:Fallback>
                <p:oleObj name="Equation" r:id="rId3" imgW="8077200" imgH="2527300" progId="Equation.DSMT4">
                  <p:embed/>
                  <p:pic>
                    <p:nvPicPr>
                      <p:cNvPr id="71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860800"/>
                        <a:ext cx="7529512" cy="235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468313" y="1052513"/>
          <a:ext cx="7827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6" name="Equation" r:id="rId5" imgW="8394700" imgH="444500" progId="Equation.DSMT4">
                  <p:embed/>
                </p:oleObj>
              </mc:Choice>
              <mc:Fallback>
                <p:oleObj name="Equation" r:id="rId5" imgW="8394700" imgH="444500" progId="Equation.DSMT4">
                  <p:embed/>
                  <p:pic>
                    <p:nvPicPr>
                      <p:cNvPr id="71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7827962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/>
          <p:nvPr/>
        </p:nvGrpSpPr>
        <p:grpSpPr bwMode="auto">
          <a:xfrm>
            <a:off x="5940425" y="1989138"/>
            <a:ext cx="1223963" cy="1800225"/>
            <a:chOff x="2971" y="1344"/>
            <a:chExt cx="771" cy="1134"/>
          </a:xfrm>
        </p:grpSpPr>
        <p:graphicFrame>
          <p:nvGraphicFramePr>
            <p:cNvPr id="93200" name="Object 7"/>
            <p:cNvGraphicFramePr>
              <a:graphicFrameLocks noChangeAspect="1"/>
            </p:cNvGraphicFramePr>
            <p:nvPr/>
          </p:nvGraphicFramePr>
          <p:xfrm>
            <a:off x="3016" y="1344"/>
            <a:ext cx="671" cy="1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07" name="Equation" r:id="rId7" imgW="889000" imgH="1384300" progId="Equation.DSMT4">
                    <p:embed/>
                  </p:oleObj>
                </mc:Choice>
                <mc:Fallback>
                  <p:oleObj name="Equation" r:id="rId7" imgW="889000" imgH="1384300" progId="Equation.DSMT4">
                    <p:embed/>
                    <p:pic>
                      <p:nvPicPr>
                        <p:cNvPr id="9320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1344"/>
                          <a:ext cx="671" cy="10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201" name="Group 15"/>
            <p:cNvGrpSpPr/>
            <p:nvPr/>
          </p:nvGrpSpPr>
          <p:grpSpPr bwMode="auto">
            <a:xfrm>
              <a:off x="2971" y="1661"/>
              <a:ext cx="771" cy="817"/>
              <a:chOff x="2971" y="1661"/>
              <a:chExt cx="771" cy="817"/>
            </a:xfrm>
          </p:grpSpPr>
          <p:sp>
            <p:nvSpPr>
              <p:cNvPr id="93202" name="Rectangle 13"/>
              <p:cNvSpPr>
                <a:spLocks noChangeArrowheads="1"/>
              </p:cNvSpPr>
              <p:nvPr/>
            </p:nvSpPr>
            <p:spPr bwMode="auto">
              <a:xfrm>
                <a:off x="2971" y="1661"/>
                <a:ext cx="771" cy="8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ea typeface="楷体_GB2312" panose="02010609030101010101" pitchFamily="49" charset="-122"/>
                </a:endParaRPr>
              </a:p>
            </p:txBody>
          </p:sp>
          <p:sp>
            <p:nvSpPr>
              <p:cNvPr id="93203" name="Line 14"/>
              <p:cNvSpPr>
                <a:spLocks noChangeShapeType="1"/>
              </p:cNvSpPr>
              <p:nvPr/>
            </p:nvSpPr>
            <p:spPr bwMode="auto">
              <a:xfrm>
                <a:off x="2971" y="206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8"/>
          <p:cNvGrpSpPr/>
          <p:nvPr/>
        </p:nvGrpSpPr>
        <p:grpSpPr bwMode="auto">
          <a:xfrm>
            <a:off x="1116013" y="2420938"/>
            <a:ext cx="2952750" cy="1225550"/>
            <a:chOff x="295" y="1706"/>
            <a:chExt cx="1860" cy="772"/>
          </a:xfrm>
        </p:grpSpPr>
        <p:grpSp>
          <p:nvGrpSpPr>
            <p:cNvPr id="93194" name="Group 8"/>
            <p:cNvGrpSpPr/>
            <p:nvPr/>
          </p:nvGrpSpPr>
          <p:grpSpPr bwMode="auto">
            <a:xfrm>
              <a:off x="748" y="1706"/>
              <a:ext cx="1407" cy="772"/>
              <a:chOff x="793" y="1162"/>
              <a:chExt cx="1407" cy="772"/>
            </a:xfrm>
          </p:grpSpPr>
          <p:graphicFrame>
            <p:nvGraphicFramePr>
              <p:cNvPr id="93196" name="Object 9"/>
              <p:cNvGraphicFramePr>
                <a:graphicFrameLocks noChangeAspect="1"/>
              </p:cNvGraphicFramePr>
              <p:nvPr/>
            </p:nvGraphicFramePr>
            <p:xfrm>
              <a:off x="975" y="1207"/>
              <a:ext cx="952" cy="6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2008" name="Equation" r:id="rId9" imgW="1270000" imgH="927100" progId="Equation.DSMT4">
                      <p:embed/>
                    </p:oleObj>
                  </mc:Choice>
                  <mc:Fallback>
                    <p:oleObj name="Equation" r:id="rId9" imgW="1270000" imgH="927100" progId="Equation.DSMT4">
                      <p:embed/>
                      <p:pic>
                        <p:nvPicPr>
                          <p:cNvPr id="93196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5" y="1207"/>
                            <a:ext cx="952" cy="6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3197" name="Rectangle 10"/>
              <p:cNvSpPr>
                <a:spLocks noChangeArrowheads="1"/>
              </p:cNvSpPr>
              <p:nvPr/>
            </p:nvSpPr>
            <p:spPr bwMode="auto">
              <a:xfrm>
                <a:off x="793" y="1162"/>
                <a:ext cx="1407" cy="7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ea typeface="楷体_GB2312" panose="02010609030101010101" pitchFamily="49" charset="-122"/>
                </a:endParaRPr>
              </a:p>
            </p:txBody>
          </p:sp>
          <p:sp>
            <p:nvSpPr>
              <p:cNvPr id="93198" name="Line 11"/>
              <p:cNvSpPr>
                <a:spLocks noChangeShapeType="1"/>
              </p:cNvSpPr>
              <p:nvPr/>
            </p:nvSpPr>
            <p:spPr bwMode="auto">
              <a:xfrm>
                <a:off x="793" y="1570"/>
                <a:ext cx="14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199" name="Line 12"/>
              <p:cNvSpPr>
                <a:spLocks noChangeShapeType="1"/>
              </p:cNvSpPr>
              <p:nvPr/>
            </p:nvSpPr>
            <p:spPr bwMode="auto">
              <a:xfrm>
                <a:off x="1474" y="1162"/>
                <a:ext cx="0" cy="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3195" name="Object 17"/>
            <p:cNvGraphicFramePr>
              <a:graphicFrameLocks noChangeAspect="1"/>
            </p:cNvGraphicFramePr>
            <p:nvPr/>
          </p:nvGraphicFramePr>
          <p:xfrm>
            <a:off x="295" y="2069"/>
            <a:ext cx="26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009" name="Equation" r:id="rId11" imgW="330200" imgH="393700" progId="Equation.DSMT4">
                    <p:embed/>
                  </p:oleObj>
                </mc:Choice>
                <mc:Fallback>
                  <p:oleObj name="Equation" r:id="rId11" imgW="330200" imgH="393700" progId="Equation.DSMT4">
                    <p:embed/>
                    <p:pic>
                      <p:nvPicPr>
                        <p:cNvPr id="9319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069"/>
                          <a:ext cx="26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250910" y="1027782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楷体_GB2312" panose="02010609030101010101" pitchFamily="49" charset="-122"/>
              </a:rPr>
              <a:t>例</a:t>
            </a:r>
            <a:r>
              <a:rPr lang="en-US" altLang="zh-CN" sz="2400">
                <a:ea typeface="楷体_GB2312" panose="02010609030101010101" pitchFamily="49" charset="-122"/>
              </a:rPr>
              <a:t>3.4.1</a:t>
            </a:r>
            <a:r>
              <a:rPr lang="zh-CN" altLang="en-US" sz="2400">
                <a:ea typeface="楷体_GB2312" panose="02010609030101010101" pitchFamily="49" charset="-122"/>
              </a:rPr>
              <a:t>，用修正单纯形法解下列</a:t>
            </a:r>
            <a:r>
              <a:rPr lang="en-US" altLang="zh-CN" sz="2400">
                <a:ea typeface="楷体_GB2312" panose="02010609030101010101" pitchFamily="49" charset="-122"/>
              </a:rPr>
              <a:t>LP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2559844" y="1484982"/>
          <a:ext cx="4024312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8" name="Equation" r:id="rId3" imgW="4318000" imgH="2463800" progId="Equation.DSMT4">
                  <p:embed/>
                </p:oleObj>
              </mc:Choice>
              <mc:Fallback>
                <p:oleObj name="Equation" r:id="rId3" imgW="4318000" imgH="2463800" progId="Equation.DSMT4">
                  <p:embed/>
                  <p:pic>
                    <p:nvPicPr>
                      <p:cNvPr id="8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844" y="1484982"/>
                        <a:ext cx="4024312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971600" y="3429000"/>
          <a:ext cx="5858943" cy="2931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9" name="Equation" r:id="rId5" imgW="5969000" imgH="2984500" progId="Equation.DSMT4">
                  <p:embed/>
                </p:oleObj>
              </mc:Choice>
              <mc:Fallback>
                <p:oleObj name="Equation" r:id="rId5" imgW="5969000" imgH="2984500" progId="Equation.DSMT4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429000"/>
                        <a:ext cx="5858943" cy="2931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366412" y="909470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约束方程的系数矩阵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539297" y="1351581"/>
          <a:ext cx="5289927" cy="178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6" name="Equation" r:id="rId3" imgW="5753100" imgH="1943100" progId="Equation.DSMT4">
                  <p:embed/>
                </p:oleObj>
              </mc:Choice>
              <mc:Fallback>
                <p:oleObj name="Equation" r:id="rId3" imgW="5753100" imgH="1943100" progId="Equation.DSMT4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97" y="1351581"/>
                        <a:ext cx="5289927" cy="1785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406400" y="3144057"/>
          <a:ext cx="78374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7" name="Equation" r:id="rId5" imgW="8407400" imgH="952500" progId="Equation.DSMT4">
                  <p:embed/>
                </p:oleObj>
              </mc:Choice>
              <mc:Fallback>
                <p:oleObj name="Equation" r:id="rId5" imgW="8407400" imgH="952500" progId="Equation.DSMT4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144057"/>
                        <a:ext cx="78374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707524" y="4653046"/>
          <a:ext cx="36195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8" name="Equation" r:id="rId7" imgW="330200" imgH="1384300" progId="Equation.DSMT4">
                  <p:embed/>
                </p:oleObj>
              </mc:Choice>
              <mc:Fallback>
                <p:oleObj name="Equation" r:id="rId7" imgW="330200" imgH="1384300" progId="Equation.DSMT4">
                  <p:embed/>
                  <p:pic>
                    <p:nvPicPr>
                      <p:cNvPr id="9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24" y="4653046"/>
                        <a:ext cx="36195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5" name="Group 39"/>
          <p:cNvGraphicFramePr>
            <a:graphicFrameLocks noGrp="1"/>
          </p:cNvGraphicFramePr>
          <p:nvPr/>
        </p:nvGraphicFramePr>
        <p:xfrm>
          <a:off x="1235661" y="4163495"/>
          <a:ext cx="5867785" cy="2072752"/>
        </p:xfrm>
        <a:graphic>
          <a:graphicData uri="http://schemas.openxmlformats.org/drawingml/2006/table">
            <a:tbl>
              <a:tblPr/>
              <a:tblGrid>
                <a:gridCol w="146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370933" y="354793"/>
          <a:ext cx="3590925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9" name="Equation" r:id="rId9" imgW="142951200" imgH="59131200" progId="Equation.DSMT4">
                  <p:embed/>
                </p:oleObj>
              </mc:Choice>
              <mc:Fallback>
                <p:oleObj name="Equation" r:id="rId9" imgW="142951200" imgH="591312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933" y="354793"/>
                        <a:ext cx="3590925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7" name="Oval 67"/>
          <p:cNvSpPr>
            <a:spLocks noChangeArrowheads="1"/>
          </p:cNvSpPr>
          <p:nvPr/>
        </p:nvSpPr>
        <p:spPr bwMode="auto">
          <a:xfrm>
            <a:off x="6467057" y="5227805"/>
            <a:ext cx="865187" cy="360362"/>
          </a:xfrm>
          <a:prstGeom prst="ellipse">
            <a:avLst/>
          </a:prstGeom>
          <a:solidFill>
            <a:srgbClr val="FF00FF"/>
          </a:solidFill>
          <a:ln w="9525">
            <a:solidFill>
              <a:srgbClr val="3333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96259" name="Rectangle 2"/>
          <p:cNvSpPr>
            <a:spLocks noChangeArrowheads="1"/>
          </p:cNvSpPr>
          <p:nvPr/>
        </p:nvSpPr>
        <p:spPr bwMode="auto">
          <a:xfrm>
            <a:off x="251520" y="497801"/>
            <a:ext cx="36731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anose="02010609030101010101" pitchFamily="49" charset="-122"/>
              </a:rPr>
              <a:t>第</a:t>
            </a:r>
            <a:r>
              <a:rPr lang="en-US" altLang="zh-CN" sz="2400" dirty="0"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ea typeface="楷体_GB2312" panose="02010609030101010101" pitchFamily="49" charset="-122"/>
              </a:rPr>
              <a:t>次迭代：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w=(0,0,0)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388895" y="1033835"/>
          <a:ext cx="5407242" cy="182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0" name="Equation" r:id="rId3" imgW="142036800" imgH="47853600" progId="Equation.DSMT4">
                  <p:embed/>
                </p:oleObj>
              </mc:Choice>
              <mc:Fallback>
                <p:oleObj name="Equation" r:id="rId3" imgW="142036800" imgH="4785360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95" y="1033835"/>
                        <a:ext cx="5407242" cy="1820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398520" y="2868410"/>
          <a:ext cx="76596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1" name="Equation" r:id="rId5" imgW="8216900" imgH="977900" progId="Equation.DSMT4">
                  <p:embed/>
                </p:oleObj>
              </mc:Choice>
              <mc:Fallback>
                <p:oleObj name="Equation" r:id="rId5" imgW="8216900" imgH="977900" progId="Equation.DSMT4">
                  <p:embed/>
                  <p:pic>
                    <p:nvPicPr>
                      <p:cNvPr id="10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20" y="2868410"/>
                        <a:ext cx="76596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755650" y="4797425"/>
          <a:ext cx="36195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2" name="Equation" r:id="rId7" imgW="330200" imgH="1384300" progId="Equation.DSMT4">
                  <p:embed/>
                </p:oleObj>
              </mc:Choice>
              <mc:Fallback>
                <p:oleObj name="Equation" r:id="rId7" imgW="330200" imgH="1384300" progId="Equation.DSMT4">
                  <p:embed/>
                  <p:pic>
                    <p:nvPicPr>
                      <p:cNvPr id="10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36195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6" name="Group 66"/>
          <p:cNvGraphicFramePr>
            <a:graphicFrameLocks noGrp="1"/>
          </p:cNvGraphicFramePr>
          <p:nvPr/>
        </p:nvGraphicFramePr>
        <p:xfrm>
          <a:off x="1341539" y="4163494"/>
          <a:ext cx="4010109" cy="2072752"/>
        </p:xfrm>
        <a:graphic>
          <a:graphicData uri="http://schemas.openxmlformats.org/drawingml/2006/table">
            <a:tbl>
              <a:tblPr/>
              <a:tblGrid>
                <a:gridCol w="1002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8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305" name="Group 65"/>
          <p:cNvGraphicFramePr>
            <a:graphicFrameLocks noGrp="1"/>
          </p:cNvGraphicFramePr>
          <p:nvPr/>
        </p:nvGraphicFramePr>
        <p:xfrm>
          <a:off x="6574055" y="4105742"/>
          <a:ext cx="673768" cy="2072752"/>
        </p:xfrm>
        <a:graphic>
          <a:graphicData uri="http://schemas.openxmlformats.org/drawingml/2006/table">
            <a:tbl>
              <a:tblPr/>
              <a:tblGrid>
                <a:gridCol w="67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4"/>
          <p:cNvGrpSpPr/>
          <p:nvPr/>
        </p:nvGrpSpPr>
        <p:grpSpPr bwMode="auto">
          <a:xfrm>
            <a:off x="6633829" y="3642895"/>
            <a:ext cx="481012" cy="530225"/>
            <a:chOff x="398" y="1222"/>
            <a:chExt cx="303" cy="334"/>
          </a:xfrm>
        </p:grpSpPr>
        <p:sp>
          <p:nvSpPr>
            <p:cNvPr id="96306" name="Rectangle 62"/>
            <p:cNvSpPr>
              <a:spLocks noChangeArrowheads="1"/>
            </p:cNvSpPr>
            <p:nvPr/>
          </p:nvSpPr>
          <p:spPr bwMode="auto">
            <a:xfrm>
              <a:off x="398" y="122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x</a:t>
              </a:r>
              <a:endPara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96307" name="Rectangle 63"/>
            <p:cNvSpPr>
              <a:spLocks noChangeArrowheads="1"/>
            </p:cNvSpPr>
            <p:nvPr/>
          </p:nvSpPr>
          <p:spPr bwMode="auto">
            <a:xfrm>
              <a:off x="521" y="1344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4</a:t>
              </a:r>
            </a:p>
          </p:txBody>
        </p:sp>
      </p:grpSp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5547874" y="143260"/>
          <a:ext cx="3416614" cy="1415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3" name="Equation" r:id="rId9" imgW="142951200" imgH="59131200" progId="Equation.DSMT4">
                  <p:embed/>
                </p:oleObj>
              </mc:Choice>
              <mc:Fallback>
                <p:oleObj name="Equation" r:id="rId9" imgW="142951200" imgH="5913120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7874" y="143260"/>
                        <a:ext cx="3416614" cy="1415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38496" y="3621917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第二次迭代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19602" y="950013"/>
          <a:ext cx="5719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4" name="Equation" r:id="rId3" imgW="6134100" imgH="419100" progId="Equation.DSMT4">
                  <p:embed/>
                </p:oleObj>
              </mc:Choice>
              <mc:Fallback>
                <p:oleObj name="Equation" r:id="rId3" imgW="6134100" imgH="419100" progId="Equation.DSMT4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02" y="950013"/>
                        <a:ext cx="571976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67544" y="4318674"/>
          <a:ext cx="7972425" cy="223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5" name="Equation" r:id="rId5" imgW="9207500" imgH="2578100" progId="Equation.DSMT4">
                  <p:embed/>
                </p:oleObj>
              </mc:Choice>
              <mc:Fallback>
                <p:oleObj name="Equation" r:id="rId5" imgW="9207500" imgH="25781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318674"/>
                        <a:ext cx="7972425" cy="223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 bwMode="auto">
          <a:xfrm>
            <a:off x="1336634" y="1458237"/>
            <a:ext cx="3889884" cy="1949107"/>
            <a:chOff x="1202" y="890"/>
            <a:chExt cx="2903" cy="1542"/>
          </a:xfrm>
        </p:grpSpPr>
        <p:graphicFrame>
          <p:nvGraphicFramePr>
            <p:cNvPr id="97289" name="Object 6"/>
            <p:cNvGraphicFramePr>
              <a:graphicFrameLocks noChangeAspect="1"/>
            </p:cNvGraphicFramePr>
            <p:nvPr/>
          </p:nvGraphicFramePr>
          <p:xfrm>
            <a:off x="1202" y="935"/>
            <a:ext cx="2655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96" name="Equation" r:id="rId7" imgW="2730500" imgH="1892300" progId="Equation.DSMT4">
                    <p:embed/>
                  </p:oleObj>
                </mc:Choice>
                <mc:Fallback>
                  <p:oleObj name="Equation" r:id="rId7" imgW="2730500" imgH="1892300" progId="Equation.DSMT4">
                    <p:embed/>
                    <p:pic>
                      <p:nvPicPr>
                        <p:cNvPr id="9728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935"/>
                          <a:ext cx="2655" cy="1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90" name="Rectangle 8"/>
            <p:cNvSpPr>
              <a:spLocks noChangeArrowheads="1"/>
            </p:cNvSpPr>
            <p:nvPr/>
          </p:nvSpPr>
          <p:spPr bwMode="auto">
            <a:xfrm>
              <a:off x="1610" y="890"/>
              <a:ext cx="249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97291" name="Line 9"/>
            <p:cNvSpPr>
              <a:spLocks noChangeShapeType="1"/>
            </p:cNvSpPr>
            <p:nvPr/>
          </p:nvSpPr>
          <p:spPr bwMode="auto">
            <a:xfrm>
              <a:off x="1610" y="1253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2" name="Line 10"/>
            <p:cNvSpPr>
              <a:spLocks noChangeShapeType="1"/>
            </p:cNvSpPr>
            <p:nvPr/>
          </p:nvSpPr>
          <p:spPr bwMode="auto">
            <a:xfrm>
              <a:off x="3243" y="89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5582415" y="232870"/>
          <a:ext cx="3482161" cy="1442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7" name="Equation" r:id="rId9" imgW="142951200" imgH="59131200" progId="Equation.DSMT4">
                  <p:embed/>
                </p:oleObj>
              </mc:Choice>
              <mc:Fallback>
                <p:oleObj name="Equation" r:id="rId9" imgW="142951200" imgH="591312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415" y="232870"/>
                        <a:ext cx="3482161" cy="1442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5" name="Oval 17"/>
          <p:cNvSpPr>
            <a:spLocks noChangeArrowheads="1"/>
          </p:cNvSpPr>
          <p:nvPr/>
        </p:nvSpPr>
        <p:spPr bwMode="auto">
          <a:xfrm>
            <a:off x="5795963" y="5300663"/>
            <a:ext cx="1296987" cy="576262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sp>
        <p:nvSpPr>
          <p:cNvPr id="98307" name="Rectangle 2"/>
          <p:cNvSpPr>
            <a:spLocks noChangeArrowheads="1"/>
          </p:cNvSpPr>
          <p:nvPr/>
        </p:nvSpPr>
        <p:spPr bwMode="auto">
          <a:xfrm>
            <a:off x="539015" y="938430"/>
            <a:ext cx="5314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楷体_GB2312" panose="02010609030101010101" pitchFamily="49" charset="-122"/>
              </a:rPr>
              <a:t>计算主列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551646" y="1096422"/>
          <a:ext cx="458152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25" name="Equation" r:id="rId3" imgW="4914900" imgH="1435100" progId="Equation.DSMT4">
                  <p:embed/>
                </p:oleObj>
              </mc:Choice>
              <mc:Fallback>
                <p:oleObj name="Equation" r:id="rId3" imgW="4914900" imgH="1435100" progId="Equation.DSMT4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46" y="1096422"/>
                        <a:ext cx="4581525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755650" y="2492375"/>
          <a:ext cx="6369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26" name="Equation" r:id="rId5" imgW="6832600" imgH="419100" progId="Equation.DSMT4">
                  <p:embed/>
                </p:oleObj>
              </mc:Choice>
              <mc:Fallback>
                <p:oleObj name="Equation" r:id="rId5" imgW="6832600" imgH="419100" progId="Equation.DSMT4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92375"/>
                        <a:ext cx="63690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395288" y="3429000"/>
            <a:ext cx="4608512" cy="2376488"/>
            <a:chOff x="1202" y="890"/>
            <a:chExt cx="2903" cy="1542"/>
          </a:xfrm>
        </p:grpSpPr>
        <p:graphicFrame>
          <p:nvGraphicFramePr>
            <p:cNvPr id="98319" name="Object 9"/>
            <p:cNvGraphicFramePr>
              <a:graphicFrameLocks noChangeAspect="1"/>
            </p:cNvGraphicFramePr>
            <p:nvPr/>
          </p:nvGraphicFramePr>
          <p:xfrm>
            <a:off x="1202" y="935"/>
            <a:ext cx="2655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27" name="Equation" r:id="rId7" imgW="2730500" imgH="1892300" progId="Equation.DSMT4">
                    <p:embed/>
                  </p:oleObj>
                </mc:Choice>
                <mc:Fallback>
                  <p:oleObj name="Equation" r:id="rId7" imgW="2730500" imgH="1892300" progId="Equation.DSMT4">
                    <p:embed/>
                    <p:pic>
                      <p:nvPicPr>
                        <p:cNvPr id="9831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935"/>
                          <a:ext cx="2655" cy="1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20" name="Rectangle 10"/>
            <p:cNvSpPr>
              <a:spLocks noChangeArrowheads="1"/>
            </p:cNvSpPr>
            <p:nvPr/>
          </p:nvSpPr>
          <p:spPr bwMode="auto">
            <a:xfrm>
              <a:off x="1610" y="890"/>
              <a:ext cx="249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98321" name="Line 11"/>
            <p:cNvSpPr>
              <a:spLocks noChangeShapeType="1"/>
            </p:cNvSpPr>
            <p:nvPr/>
          </p:nvSpPr>
          <p:spPr bwMode="auto">
            <a:xfrm>
              <a:off x="1610" y="1253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Line 12"/>
            <p:cNvSpPr>
              <a:spLocks noChangeShapeType="1"/>
            </p:cNvSpPr>
            <p:nvPr/>
          </p:nvSpPr>
          <p:spPr bwMode="auto">
            <a:xfrm>
              <a:off x="3243" y="89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8"/>
          <p:cNvGrpSpPr/>
          <p:nvPr/>
        </p:nvGrpSpPr>
        <p:grpSpPr bwMode="auto">
          <a:xfrm>
            <a:off x="6156325" y="2852738"/>
            <a:ext cx="720725" cy="3024187"/>
            <a:chOff x="3878" y="1797"/>
            <a:chExt cx="454" cy="1905"/>
          </a:xfrm>
        </p:grpSpPr>
        <p:graphicFrame>
          <p:nvGraphicFramePr>
            <p:cNvPr id="98315" name="Object 7"/>
            <p:cNvGraphicFramePr>
              <a:graphicFrameLocks noChangeAspect="1"/>
            </p:cNvGraphicFramePr>
            <p:nvPr/>
          </p:nvGraphicFramePr>
          <p:xfrm>
            <a:off x="3923" y="1797"/>
            <a:ext cx="286" cy="1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28" name="Equation" r:id="rId9" imgW="355600" imgH="2373630" progId="Equation.DSMT4">
                    <p:embed/>
                  </p:oleObj>
                </mc:Choice>
                <mc:Fallback>
                  <p:oleObj name="Equation" r:id="rId9" imgW="355600" imgH="2373630" progId="Equation.DSMT4">
                    <p:embed/>
                    <p:pic>
                      <p:nvPicPr>
                        <p:cNvPr id="983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797"/>
                          <a:ext cx="286" cy="19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8316" name="Group 16"/>
            <p:cNvGrpSpPr/>
            <p:nvPr/>
          </p:nvGrpSpPr>
          <p:grpSpPr bwMode="auto">
            <a:xfrm>
              <a:off x="3878" y="2160"/>
              <a:ext cx="454" cy="1542"/>
              <a:chOff x="3878" y="2160"/>
              <a:chExt cx="454" cy="1542"/>
            </a:xfrm>
          </p:grpSpPr>
          <p:sp>
            <p:nvSpPr>
              <p:cNvPr id="98317" name="Rectangle 13"/>
              <p:cNvSpPr>
                <a:spLocks noChangeArrowheads="1"/>
              </p:cNvSpPr>
              <p:nvPr/>
            </p:nvSpPr>
            <p:spPr bwMode="auto">
              <a:xfrm>
                <a:off x="3878" y="2160"/>
                <a:ext cx="454" cy="154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ea typeface="楷体_GB2312" panose="02010609030101010101" pitchFamily="49" charset="-122"/>
                </a:endParaRPr>
              </a:p>
            </p:txBody>
          </p:sp>
          <p:sp>
            <p:nvSpPr>
              <p:cNvPr id="98318" name="Line 15"/>
              <p:cNvSpPr>
                <a:spLocks noChangeShapeType="1"/>
              </p:cNvSpPr>
              <p:nvPr/>
            </p:nvSpPr>
            <p:spPr bwMode="auto">
              <a:xfrm>
                <a:off x="3878" y="2523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5364088" y="250031"/>
          <a:ext cx="3590925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29" name="Equation" r:id="rId11" imgW="142951200" imgH="59131200" progId="Equation.DSMT4">
                  <p:embed/>
                </p:oleObj>
              </mc:Choice>
              <mc:Fallback>
                <p:oleObj name="Equation" r:id="rId11" imgW="142951200" imgH="59131200" progId="Equation.DSMT4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250031"/>
                        <a:ext cx="3590925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3214688" y="4005263"/>
          <a:ext cx="4618037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42" name="Equation" r:id="rId3" imgW="118872000" imgH="47244000" progId="Equation.DSMT4">
                  <p:embed/>
                </p:oleObj>
              </mc:Choice>
              <mc:Fallback>
                <p:oleObj name="Equation" r:id="rId3" imgW="118872000" imgH="47244000" progId="Equation.DSMT4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005263"/>
                        <a:ext cx="4618037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391311" y="1082809"/>
          <a:ext cx="41195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43" name="Equation" r:id="rId5" imgW="4419600" imgH="419100" progId="Equation.DSMT4">
                  <p:embed/>
                </p:oleObj>
              </mc:Choice>
              <mc:Fallback>
                <p:oleObj name="Equation" r:id="rId5" imgW="4419600" imgH="419100" progId="Equation.DSMT4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1" y="1082809"/>
                        <a:ext cx="41195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611188" y="2133600"/>
          <a:ext cx="1882775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44" name="Equation" r:id="rId7" imgW="1943100" imgH="3949700" progId="Equation.DSMT4">
                  <p:embed/>
                </p:oleObj>
              </mc:Choice>
              <mc:Fallback>
                <p:oleObj name="Equation" r:id="rId7" imgW="1943100" imgH="3949700" progId="Equation.DSMT4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133600"/>
                        <a:ext cx="1882775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3964055" y="1432042"/>
            <a:ext cx="4765675" cy="2376487"/>
            <a:chOff x="1103" y="890"/>
            <a:chExt cx="3002" cy="1542"/>
          </a:xfrm>
        </p:grpSpPr>
        <p:graphicFrame>
          <p:nvGraphicFramePr>
            <p:cNvPr id="99337" name="Object 9"/>
            <p:cNvGraphicFramePr>
              <a:graphicFrameLocks noChangeAspect="1"/>
            </p:cNvGraphicFramePr>
            <p:nvPr/>
          </p:nvGraphicFramePr>
          <p:xfrm>
            <a:off x="1103" y="935"/>
            <a:ext cx="2853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45" name="Equation" r:id="rId9" imgW="2933700" imgH="1892300" progId="Equation.DSMT4">
                    <p:embed/>
                  </p:oleObj>
                </mc:Choice>
                <mc:Fallback>
                  <p:oleObj name="Equation" r:id="rId9" imgW="2933700" imgH="1892300" progId="Equation.DSMT4">
                    <p:embed/>
                    <p:pic>
                      <p:nvPicPr>
                        <p:cNvPr id="9933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3" y="935"/>
                          <a:ext cx="2853" cy="1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8" name="Rectangle 10"/>
            <p:cNvSpPr>
              <a:spLocks noChangeArrowheads="1"/>
            </p:cNvSpPr>
            <p:nvPr/>
          </p:nvSpPr>
          <p:spPr bwMode="auto">
            <a:xfrm>
              <a:off x="1610" y="890"/>
              <a:ext cx="249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99339" name="Line 11"/>
            <p:cNvSpPr>
              <a:spLocks noChangeShapeType="1"/>
            </p:cNvSpPr>
            <p:nvPr/>
          </p:nvSpPr>
          <p:spPr bwMode="auto">
            <a:xfrm>
              <a:off x="1610" y="1253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0" name="Line 12"/>
            <p:cNvSpPr>
              <a:spLocks noChangeShapeType="1"/>
            </p:cNvSpPr>
            <p:nvPr/>
          </p:nvSpPr>
          <p:spPr bwMode="auto">
            <a:xfrm>
              <a:off x="3243" y="89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6883618" y="2205038"/>
            <a:ext cx="1296987" cy="576262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楷体_GB2312" panose="02010609030101010101" pitchFamily="49" charset="-122"/>
            </a:endParaRPr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323850" y="4149725"/>
          <a:ext cx="21304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3" name="Equation" r:id="rId3" imgW="2286000" imgH="419100" progId="Equation.DSMT4">
                  <p:embed/>
                </p:oleObj>
              </mc:Choice>
              <mc:Fallback>
                <p:oleObj name="Equation" r:id="rId3" imgW="2286000" imgH="419100" progId="Equation.DSMT4">
                  <p:embed/>
                  <p:pic>
                    <p:nvPicPr>
                      <p:cNvPr id="31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149725"/>
                        <a:ext cx="21304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6"/>
          <p:cNvGraphicFramePr>
            <a:graphicFrameLocks noChangeAspect="1"/>
          </p:cNvGraphicFramePr>
          <p:nvPr/>
        </p:nvGraphicFramePr>
        <p:xfrm>
          <a:off x="399431" y="1023554"/>
          <a:ext cx="6853613" cy="420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74" name="Equation" r:id="rId5" imgW="6832600" imgH="419100" progId="Equation.DSMT4">
                  <p:embed/>
                </p:oleObj>
              </mc:Choice>
              <mc:Fallback>
                <p:oleObj name="Equation" r:id="rId5" imgW="6832600" imgH="419100" progId="Equation.DSMT4">
                  <p:embed/>
                  <p:pic>
                    <p:nvPicPr>
                      <p:cNvPr id="10036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31" y="1023554"/>
                        <a:ext cx="6853613" cy="420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61" name="Group 8"/>
          <p:cNvGrpSpPr/>
          <p:nvPr/>
        </p:nvGrpSpPr>
        <p:grpSpPr bwMode="auto">
          <a:xfrm>
            <a:off x="1327368" y="1557338"/>
            <a:ext cx="4764087" cy="2376487"/>
            <a:chOff x="1104" y="890"/>
            <a:chExt cx="3001" cy="1542"/>
          </a:xfrm>
        </p:grpSpPr>
        <p:graphicFrame>
          <p:nvGraphicFramePr>
            <p:cNvPr id="100372" name="Object 9"/>
            <p:cNvGraphicFramePr>
              <a:graphicFrameLocks noChangeAspect="1"/>
            </p:cNvGraphicFramePr>
            <p:nvPr/>
          </p:nvGraphicFramePr>
          <p:xfrm>
            <a:off x="1104" y="935"/>
            <a:ext cx="2852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75" name="Equation" r:id="rId7" imgW="2933700" imgH="1892300" progId="Equation.DSMT4">
                    <p:embed/>
                  </p:oleObj>
                </mc:Choice>
                <mc:Fallback>
                  <p:oleObj name="Equation" r:id="rId7" imgW="2933700" imgH="1892300" progId="Equation.DSMT4">
                    <p:embed/>
                    <p:pic>
                      <p:nvPicPr>
                        <p:cNvPr id="10037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935"/>
                          <a:ext cx="2852" cy="1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73" name="Rectangle 10"/>
            <p:cNvSpPr>
              <a:spLocks noChangeArrowheads="1"/>
            </p:cNvSpPr>
            <p:nvPr/>
          </p:nvSpPr>
          <p:spPr bwMode="auto">
            <a:xfrm>
              <a:off x="1610" y="890"/>
              <a:ext cx="249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100374" name="Line 11"/>
            <p:cNvSpPr>
              <a:spLocks noChangeShapeType="1"/>
            </p:cNvSpPr>
            <p:nvPr/>
          </p:nvSpPr>
          <p:spPr bwMode="auto">
            <a:xfrm>
              <a:off x="1610" y="1253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5" name="Line 12"/>
            <p:cNvSpPr>
              <a:spLocks noChangeShapeType="1"/>
            </p:cNvSpPr>
            <p:nvPr/>
          </p:nvSpPr>
          <p:spPr bwMode="auto">
            <a:xfrm>
              <a:off x="3243" y="89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0362" name="Group 16"/>
          <p:cNvGrpSpPr/>
          <p:nvPr/>
        </p:nvGrpSpPr>
        <p:grpSpPr bwMode="auto">
          <a:xfrm>
            <a:off x="7243980" y="981075"/>
            <a:ext cx="720725" cy="3024188"/>
            <a:chOff x="3878" y="935"/>
            <a:chExt cx="454" cy="1905"/>
          </a:xfrm>
        </p:grpSpPr>
        <p:graphicFrame>
          <p:nvGraphicFramePr>
            <p:cNvPr id="100368" name="Object 7"/>
            <p:cNvGraphicFramePr>
              <a:graphicFrameLocks noChangeAspect="1"/>
            </p:cNvGraphicFramePr>
            <p:nvPr/>
          </p:nvGraphicFramePr>
          <p:xfrm>
            <a:off x="3923" y="935"/>
            <a:ext cx="286" cy="1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76" name="Equation" r:id="rId9" imgW="355600" imgH="2373630" progId="Equation.DSMT4">
                    <p:embed/>
                  </p:oleObj>
                </mc:Choice>
                <mc:Fallback>
                  <p:oleObj name="Equation" r:id="rId9" imgW="355600" imgH="2373630" progId="Equation.DSMT4">
                    <p:embed/>
                    <p:pic>
                      <p:nvPicPr>
                        <p:cNvPr id="10036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935"/>
                          <a:ext cx="286" cy="19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0369" name="Group 13"/>
            <p:cNvGrpSpPr/>
            <p:nvPr/>
          </p:nvGrpSpPr>
          <p:grpSpPr bwMode="auto">
            <a:xfrm>
              <a:off x="3878" y="1298"/>
              <a:ext cx="454" cy="1542"/>
              <a:chOff x="3878" y="2160"/>
              <a:chExt cx="454" cy="1542"/>
            </a:xfrm>
          </p:grpSpPr>
          <p:sp>
            <p:nvSpPr>
              <p:cNvPr id="100370" name="Rectangle 14"/>
              <p:cNvSpPr>
                <a:spLocks noChangeArrowheads="1"/>
              </p:cNvSpPr>
              <p:nvPr/>
            </p:nvSpPr>
            <p:spPr bwMode="auto">
              <a:xfrm>
                <a:off x="3878" y="2160"/>
                <a:ext cx="454" cy="154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ea typeface="楷体_GB2312" panose="02010609030101010101" pitchFamily="49" charset="-122"/>
                </a:endParaRPr>
              </a:p>
            </p:txBody>
          </p:sp>
          <p:sp>
            <p:nvSpPr>
              <p:cNvPr id="100371" name="Line 15"/>
              <p:cNvSpPr>
                <a:spLocks noChangeShapeType="1"/>
              </p:cNvSpPr>
              <p:nvPr/>
            </p:nvSpPr>
            <p:spPr bwMode="auto">
              <a:xfrm>
                <a:off x="3878" y="2523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17"/>
          <p:cNvGrpSpPr/>
          <p:nvPr/>
        </p:nvGrpSpPr>
        <p:grpSpPr bwMode="auto">
          <a:xfrm>
            <a:off x="1967865" y="4294104"/>
            <a:ext cx="4902200" cy="2376488"/>
            <a:chOff x="1017" y="890"/>
            <a:chExt cx="3088" cy="1542"/>
          </a:xfrm>
        </p:grpSpPr>
        <p:graphicFrame>
          <p:nvGraphicFramePr>
            <p:cNvPr id="100364" name="Object 18"/>
            <p:cNvGraphicFramePr>
              <a:graphicFrameLocks noChangeAspect="1"/>
            </p:cNvGraphicFramePr>
            <p:nvPr/>
          </p:nvGraphicFramePr>
          <p:xfrm>
            <a:off x="1017" y="935"/>
            <a:ext cx="3025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177" name="Equation" r:id="rId11" imgW="3111500" imgH="1892300" progId="Equation.DSMT4">
                    <p:embed/>
                  </p:oleObj>
                </mc:Choice>
                <mc:Fallback>
                  <p:oleObj name="Equation" r:id="rId11" imgW="3111500" imgH="1892300" progId="Equation.DSMT4">
                    <p:embed/>
                    <p:pic>
                      <p:nvPicPr>
                        <p:cNvPr id="100364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7" y="935"/>
                          <a:ext cx="3025" cy="1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65" name="Rectangle 19"/>
            <p:cNvSpPr>
              <a:spLocks noChangeArrowheads="1"/>
            </p:cNvSpPr>
            <p:nvPr/>
          </p:nvSpPr>
          <p:spPr bwMode="auto">
            <a:xfrm>
              <a:off x="1610" y="890"/>
              <a:ext cx="2494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ea typeface="楷体_GB2312" panose="02010609030101010101" pitchFamily="49" charset="-122"/>
              </a:endParaRPr>
            </a:p>
          </p:txBody>
        </p:sp>
        <p:sp>
          <p:nvSpPr>
            <p:cNvPr id="100366" name="Line 20"/>
            <p:cNvSpPr>
              <a:spLocks noChangeShapeType="1"/>
            </p:cNvSpPr>
            <p:nvPr/>
          </p:nvSpPr>
          <p:spPr bwMode="auto">
            <a:xfrm>
              <a:off x="1610" y="1253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Line 21"/>
            <p:cNvSpPr>
              <a:spLocks noChangeShapeType="1"/>
            </p:cNvSpPr>
            <p:nvPr/>
          </p:nvSpPr>
          <p:spPr bwMode="auto">
            <a:xfrm>
              <a:off x="3243" y="89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ChangeArrowheads="1"/>
          </p:cNvSpPr>
          <p:nvPr/>
        </p:nvSpPr>
        <p:spPr bwMode="auto">
          <a:xfrm>
            <a:off x="395288" y="932656"/>
            <a:ext cx="540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anose="02010609030101010101" pitchFamily="49" charset="-122"/>
              </a:rPr>
              <a:t>第</a:t>
            </a:r>
            <a:r>
              <a:rPr lang="en-US" altLang="zh-CN" sz="2400" dirty="0">
                <a:ea typeface="楷体_GB2312" panose="02010609030101010101" pitchFamily="49" charset="-122"/>
              </a:rPr>
              <a:t>4</a:t>
            </a:r>
            <a:r>
              <a:rPr lang="zh-CN" altLang="en-US" sz="2400" dirty="0">
                <a:ea typeface="楷体_GB2312" panose="02010609030101010101" pitchFamily="49" charset="-122"/>
              </a:rPr>
              <a:t>次迭代</a:t>
            </a:r>
          </a:p>
        </p:txBody>
      </p:sp>
      <p:graphicFrame>
        <p:nvGraphicFramePr>
          <p:cNvPr id="32784" name="Object 16"/>
          <p:cNvGraphicFramePr>
            <a:graphicFrameLocks noChangeAspect="1"/>
          </p:cNvGraphicFramePr>
          <p:nvPr/>
        </p:nvGraphicFramePr>
        <p:xfrm>
          <a:off x="1116013" y="1557338"/>
          <a:ext cx="4576762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69" name="Equation" r:id="rId3" imgW="4724400" imgH="2933700" progId="Equation.DSMT4">
                  <p:embed/>
                </p:oleObj>
              </mc:Choice>
              <mc:Fallback>
                <p:oleObj name="Equation" r:id="rId3" imgW="4724400" imgH="2933700" progId="Equation.DSMT4">
                  <p:embed/>
                  <p:pic>
                    <p:nvPicPr>
                      <p:cNvPr id="327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557338"/>
                        <a:ext cx="4576762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4NTIyNDdkYTEzYTZiOThmYTEzNjBjNDhhYTAzOTQifQ=="/>
</p:tagLst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3019</Words>
  <Application>Microsoft Office PowerPoint</Application>
  <PresentationFormat>全屏显示(4:3)</PresentationFormat>
  <Paragraphs>426</Paragraphs>
  <Slides>75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75</vt:i4>
      </vt:variant>
    </vt:vector>
  </HeadingPairs>
  <TitlesOfParts>
    <vt:vector size="103" baseType="lpstr">
      <vt:lpstr>AdobeHeitiStd-Regular</vt:lpstr>
      <vt:lpstr>等线</vt:lpstr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5_HITACHI</vt:lpstr>
      <vt:lpstr>Equation</vt:lpstr>
      <vt:lpstr>MathType 7.0 Equation</vt:lpstr>
      <vt:lpstr>Document</vt:lpstr>
      <vt:lpstr>文档</vt:lpstr>
      <vt:lpstr>PowerPoint 演示文稿</vt:lpstr>
      <vt:lpstr>PowerPoint 演示文稿</vt:lpstr>
      <vt:lpstr>PowerPoint 演示文稿</vt:lpstr>
      <vt:lpstr>改进方向与可行方向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单纯形算法</vt:lpstr>
      <vt:lpstr>PowerPoint 演示文稿</vt:lpstr>
      <vt:lpstr>PowerPoint 演示文稿</vt:lpstr>
      <vt:lpstr>单纯形法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表格形式的单纯形方法</vt:lpstr>
      <vt:lpstr> </vt:lpstr>
      <vt:lpstr>PowerPoint 演示文稿</vt:lpstr>
      <vt:lpstr>单纯形表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两阶段法&amp;大M法</vt:lpstr>
      <vt:lpstr>PowerPoint 演示文稿</vt:lpstr>
      <vt:lpstr>两阶段法</vt:lpstr>
      <vt:lpstr>PowerPoint 演示文稿</vt:lpstr>
      <vt:lpstr>两阶段法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第二阶段</vt:lpstr>
      <vt:lpstr>大M法</vt:lpstr>
      <vt:lpstr>大M法</vt:lpstr>
      <vt:lpstr>PowerPoint 演示文稿</vt:lpstr>
      <vt:lpstr>PowerPoint 演示文稿</vt:lpstr>
      <vt:lpstr>PowerPoint 演示文稿</vt:lpstr>
      <vt:lpstr>PowerPoint 演示文稿</vt:lpstr>
      <vt:lpstr>3.3 退化情形</vt:lpstr>
      <vt:lpstr>3.3 退化情形</vt:lpstr>
      <vt:lpstr>3.3 退化情形</vt:lpstr>
      <vt:lpstr>3.3 退化情形</vt:lpstr>
      <vt:lpstr>3.3 退化情形</vt:lpstr>
      <vt:lpstr>PowerPoint 演示文稿</vt:lpstr>
      <vt:lpstr>PowerPoint 演示文稿</vt:lpstr>
      <vt:lpstr>PowerPoint 演示文稿</vt:lpstr>
      <vt:lpstr>PowerPoint 演示文稿</vt:lpstr>
      <vt:lpstr>3.4  修正单纯形方法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1831</cp:revision>
  <cp:lastPrinted>2023-03-22T04:27:00Z</cp:lastPrinted>
  <dcterms:created xsi:type="dcterms:W3CDTF">2012-04-20T06:02:00Z</dcterms:created>
  <dcterms:modified xsi:type="dcterms:W3CDTF">2026-03-24T07:56:39Z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9CF86C79608144ADBEF3A26E5FD9A904</vt:lpwstr>
  </property>
</Properties>
</file>