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  <p:sldMasterId id="2147483710" r:id="rId4"/>
    <p:sldMasterId id="2147483686" r:id="rId5"/>
    <p:sldMasterId id="2147483698" r:id="rId6"/>
    <p:sldMasterId id="2147483722" r:id="rId7"/>
  </p:sldMasterIdLst>
  <p:notesMasterIdLst>
    <p:notesMasterId r:id="rId67"/>
  </p:notesMasterIdLst>
  <p:handoutMasterIdLst>
    <p:handoutMasterId r:id="rId68"/>
  </p:handoutMasterIdLst>
  <p:sldIdLst>
    <p:sldId id="377" r:id="rId8"/>
    <p:sldId id="430" r:id="rId9"/>
    <p:sldId id="279" r:id="rId10"/>
    <p:sldId id="280" r:id="rId11"/>
    <p:sldId id="257" r:id="rId12"/>
    <p:sldId id="258" r:id="rId13"/>
    <p:sldId id="281" r:id="rId14"/>
    <p:sldId id="259" r:id="rId15"/>
    <p:sldId id="282" r:id="rId16"/>
    <p:sldId id="283" r:id="rId17"/>
    <p:sldId id="284" r:id="rId18"/>
    <p:sldId id="286" r:id="rId19"/>
    <p:sldId id="260" r:id="rId20"/>
    <p:sldId id="287" r:id="rId21"/>
    <p:sldId id="288" r:id="rId22"/>
    <p:sldId id="261" r:id="rId23"/>
    <p:sldId id="322" r:id="rId24"/>
    <p:sldId id="323" r:id="rId25"/>
    <p:sldId id="425" r:id="rId26"/>
    <p:sldId id="324" r:id="rId27"/>
    <p:sldId id="325" r:id="rId28"/>
    <p:sldId id="331" r:id="rId29"/>
    <p:sldId id="336" r:id="rId30"/>
    <p:sldId id="337" r:id="rId31"/>
    <p:sldId id="338" r:id="rId32"/>
    <p:sldId id="328" r:id="rId33"/>
    <p:sldId id="271" r:id="rId34"/>
    <p:sldId id="426" r:id="rId35"/>
    <p:sldId id="427" r:id="rId36"/>
    <p:sldId id="428" r:id="rId37"/>
    <p:sldId id="340" r:id="rId38"/>
    <p:sldId id="341" r:id="rId39"/>
    <p:sldId id="456" r:id="rId40"/>
    <p:sldId id="272" r:id="rId41"/>
    <p:sldId id="343" r:id="rId42"/>
    <p:sldId id="344" r:id="rId43"/>
    <p:sldId id="404" r:id="rId44"/>
    <p:sldId id="408" r:id="rId45"/>
    <p:sldId id="415" r:id="rId46"/>
    <p:sldId id="416" r:id="rId47"/>
    <p:sldId id="417" r:id="rId48"/>
    <p:sldId id="418" r:id="rId49"/>
    <p:sldId id="419" r:id="rId50"/>
    <p:sldId id="420" r:id="rId51"/>
    <p:sldId id="422" r:id="rId52"/>
    <p:sldId id="421" r:id="rId53"/>
    <p:sldId id="423" r:id="rId54"/>
    <p:sldId id="431" r:id="rId55"/>
    <p:sldId id="432" r:id="rId56"/>
    <p:sldId id="433" r:id="rId57"/>
    <p:sldId id="434" r:id="rId58"/>
    <p:sldId id="435" r:id="rId59"/>
    <p:sldId id="436" r:id="rId60"/>
    <p:sldId id="458" r:id="rId61"/>
    <p:sldId id="459" r:id="rId62"/>
    <p:sldId id="464" r:id="rId63"/>
    <p:sldId id="465" r:id="rId64"/>
    <p:sldId id="466" r:id="rId65"/>
    <p:sldId id="469" r:id="rId66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>
          <p15:clr>
            <a:srgbClr val="A4A3A4"/>
          </p15:clr>
        </p15:guide>
        <p15:guide id="2" pos="29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6">
          <p15:clr>
            <a:srgbClr val="A4A3A4"/>
          </p15:clr>
        </p15:guide>
        <p15:guide id="2" pos="22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6600"/>
    <a:srgbClr val="CC6600"/>
    <a:srgbClr val="990000"/>
    <a:srgbClr val="336699"/>
    <a:srgbClr val="CC3300"/>
    <a:srgbClr val="008080"/>
    <a:srgbClr val="009999"/>
    <a:srgbClr val="FFFFFF"/>
    <a:srgbClr val="CBD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27" autoAdjust="0"/>
    <p:restoredTop sz="92552" autoAdjust="0"/>
  </p:normalViewPr>
  <p:slideViewPr>
    <p:cSldViewPr snapToGrid="0">
      <p:cViewPr varScale="1">
        <p:scale>
          <a:sx n="66" d="100"/>
          <a:sy n="66" d="100"/>
        </p:scale>
        <p:origin x="1196" y="64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06" y="-96"/>
      </p:cViewPr>
      <p:guideLst>
        <p:guide orient="horz" pos="3186"/>
        <p:guide pos="22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2026/4/6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2026/4/6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3C52148-82FE-4E10-A9D1-33874995F4E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27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96EE16D-4A86-460A-B375-FA8BEB0ACFBA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6760C94-E82F-49CD-B5CD-BCB30ABE8F3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29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B7C888E-D4A4-47B2-91F9-675151319433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B7C888E-D4A4-47B2-91F9-675151319433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33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846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95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9BF17EE-6530-4089-9606-23DEBE70D964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58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7B4BB-E45C-432A-B39D-33D6FB6E03DD}" type="datetime1">
              <a:rPr lang="zh-CN" altLang="en-US"/>
              <a:pPr>
                <a:defRPr/>
              </a:pPr>
              <a:t>2026/4/6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C356C-1575-4BBD-9404-54379200BA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3187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0"/>
            <a:ext cx="7634288" cy="549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90805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45013" y="90805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45013" y="311785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DD1DBE-A2E4-4334-A5C2-E94031211138}" type="datetime1">
              <a:rPr lang="zh-CN" altLang="en-US"/>
              <a:pPr>
                <a:defRPr/>
              </a:pPr>
              <a:t>2026/4/6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C25F0-E22B-47DA-89B8-6946A23B99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2476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0"/>
            <a:ext cx="7634288" cy="549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90805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45013" y="90805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45013" y="311785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F5393-3702-4A8C-B5C0-0A755A18231F}" type="datetime1">
              <a:rPr lang="zh-CN" altLang="en-US"/>
              <a:pPr>
                <a:defRPr/>
              </a:pPr>
              <a:t>2026/4/6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9B1B1-28CD-4D69-844F-AFD0F57B4C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0302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0"/>
            <a:ext cx="7634288" cy="549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90805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45013" y="90805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32E30-21A1-498D-BD48-DAB3AA725086}" type="datetime1">
              <a:rPr lang="zh-CN" altLang="en-US"/>
              <a:pPr>
                <a:defRPr/>
              </a:pPr>
              <a:t>2026/4/6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4A0970-3845-4765-A096-73F5F65CA4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02403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98436364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0147829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9965225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209829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0358073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20366111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89745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05439786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75652015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3216887"/>
      </p:ext>
    </p:extLst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597677"/>
      </p:ext>
    </p:extLst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7447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877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81037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40255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5193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48682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5264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27683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61078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4524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672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4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8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3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81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34" r:id="rId12"/>
    <p:sldLayoutId id="2147483735" r:id="rId13"/>
    <p:sldLayoutId id="2147483736" r:id="rId14"/>
    <p:sldLayoutId id="2147483737" r:id="rId15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43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73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9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3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3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2.wmf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3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5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81.png"/><Relationship Id="rId4" Type="http://schemas.openxmlformats.org/officeDocument/2006/relationships/image" Target="../media/image5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9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oleObject" Target="../embeddings/oleObject45.bin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image" Target="../media/image60.wmf"/><Relationship Id="rId9" Type="http://schemas.openxmlformats.org/officeDocument/2006/relationships/image" Target="../media/image6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63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65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8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70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71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72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74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7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7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77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78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68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83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85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87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9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91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92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95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8.vml"/><Relationship Id="rId5" Type="http://schemas.openxmlformats.org/officeDocument/2006/relationships/image" Target="../media/image96.wmf"/><Relationship Id="rId4" Type="http://schemas.openxmlformats.org/officeDocument/2006/relationships/oleObject" Target="../embeddings/oleObject82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9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2210312" y="3233433"/>
            <a:ext cx="5104887" cy="2243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数学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科学学院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tabLst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9528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标题 1"/>
          <p:cNvSpPr>
            <a:spLocks noGrp="1"/>
          </p:cNvSpPr>
          <p:nvPr>
            <p:ph type="title"/>
          </p:nvPr>
        </p:nvSpPr>
        <p:spPr>
          <a:xfrm>
            <a:off x="444500" y="198153"/>
            <a:ext cx="8229600" cy="757238"/>
          </a:xfrm>
        </p:spPr>
        <p:txBody>
          <a:bodyPr/>
          <a:lstStyle/>
          <a:p>
            <a:r>
              <a:rPr lang="zh-CN" altLang="en-US" dirty="0"/>
              <a:t>第七章 最优性条件</a:t>
            </a:r>
          </a:p>
        </p:txBody>
      </p:sp>
      <p:sp>
        <p:nvSpPr>
          <p:cNvPr id="6149" name="内容占位符 2"/>
          <p:cNvSpPr>
            <a:spLocks noGrp="1"/>
          </p:cNvSpPr>
          <p:nvPr>
            <p:ph idx="4294967295"/>
          </p:nvPr>
        </p:nvSpPr>
        <p:spPr>
          <a:xfrm>
            <a:off x="702644" y="1234975"/>
            <a:ext cx="8229600" cy="45307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无约束问题的极值条件</a:t>
            </a:r>
            <a:endParaRPr lang="en-US" altLang="zh-CN" dirty="0"/>
          </a:p>
          <a:p>
            <a:r>
              <a:rPr lang="zh-CN" altLang="en-US" dirty="0"/>
              <a:t>约束极值问题的最优性条件</a:t>
            </a:r>
            <a:endParaRPr lang="en-US" altLang="zh-CN" dirty="0"/>
          </a:p>
          <a:p>
            <a:r>
              <a:rPr lang="zh-CN" altLang="en-US" dirty="0"/>
              <a:t>对偶及鞍点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9"/>
          <p:cNvSpPr>
            <a:spLocks noChangeArrowheads="1"/>
          </p:cNvSpPr>
          <p:nvPr/>
        </p:nvSpPr>
        <p:spPr bwMode="auto">
          <a:xfrm>
            <a:off x="1415381" y="2313155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考虑非线性规划问题</a:t>
            </a:r>
          </a:p>
        </p:txBody>
      </p:sp>
      <p:sp>
        <p:nvSpPr>
          <p:cNvPr id="7175" name="Rectangle 10"/>
          <p:cNvSpPr>
            <a:spLocks noChangeArrowheads="1"/>
          </p:cNvSpPr>
          <p:nvPr/>
        </p:nvSpPr>
        <p:spPr bwMode="auto">
          <a:xfrm>
            <a:off x="803775" y="1474161"/>
            <a:ext cx="3206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，无约束极值问题</a:t>
            </a:r>
          </a:p>
        </p:txBody>
      </p:sp>
      <p:graphicFrame>
        <p:nvGraphicFramePr>
          <p:cNvPr id="717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707003"/>
              </p:ext>
            </p:extLst>
          </p:nvPr>
        </p:nvGraphicFramePr>
        <p:xfrm>
          <a:off x="2798094" y="2889417"/>
          <a:ext cx="31702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" name="Equation" r:id="rId3" imgW="1346200" imgH="228600" progId="Equation.DSMT4">
                  <p:embed/>
                </p:oleObj>
              </mc:Choice>
              <mc:Fallback>
                <p:oleObj name="Equation" r:id="rId3" imgW="1346200" imgH="228600" progId="Equation.DSMT4">
                  <p:embed/>
                  <p:pic>
                    <p:nvPicPr>
                      <p:cNvPr id="717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094" y="2889417"/>
                        <a:ext cx="31702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666718"/>
              </p:ext>
            </p:extLst>
          </p:nvPr>
        </p:nvGraphicFramePr>
        <p:xfrm>
          <a:off x="1863056" y="3538705"/>
          <a:ext cx="57292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Equation" r:id="rId5" imgW="2311400" imgH="228600" progId="Equation.DSMT4">
                  <p:embed/>
                </p:oleObj>
              </mc:Choice>
              <mc:Fallback>
                <p:oleObj name="Equation" r:id="rId5" imgW="2311400" imgH="228600" progId="Equation.DSMT4">
                  <p:embed/>
                  <p:pic>
                    <p:nvPicPr>
                      <p:cNvPr id="717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056" y="3538705"/>
                        <a:ext cx="5729288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13"/>
          <p:cNvSpPr>
            <a:spLocks noChangeArrowheads="1"/>
          </p:cNvSpPr>
          <p:nvPr/>
        </p:nvSpPr>
        <p:spPr bwMode="auto">
          <a:xfrm>
            <a:off x="2298031" y="4326105"/>
            <a:ext cx="579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——</a:t>
            </a:r>
            <a:r>
              <a:rPr lang="zh-CN" altLang="en-US" sz="2800"/>
              <a:t>称为</a:t>
            </a:r>
            <a:r>
              <a:rPr lang="zh-CN" altLang="en-US" sz="2800">
                <a:solidFill>
                  <a:srgbClr val="CC0000"/>
                </a:solidFill>
              </a:rPr>
              <a:t>无约束极值问题</a:t>
            </a:r>
            <a:r>
              <a:rPr lang="zh-CN" altLang="en-US" sz="2800"/>
              <a:t>（</a:t>
            </a:r>
            <a:r>
              <a:rPr lang="en-US" altLang="zh-CN" sz="2800"/>
              <a:t>UNLP</a:t>
            </a:r>
            <a:r>
              <a:rPr lang="zh-CN" altLang="en-US" sz="2800"/>
              <a:t>）</a:t>
            </a:r>
            <a:endParaRPr lang="zh-CN" altLang="en-US" sz="2800">
              <a:solidFill>
                <a:srgbClr val="CC0000"/>
              </a:solidFill>
            </a:endParaRPr>
          </a:p>
        </p:txBody>
      </p:sp>
      <p:sp>
        <p:nvSpPr>
          <p:cNvPr id="7179" name="Rectangle 17"/>
          <p:cNvSpPr>
            <a:spLocks noGrp="1" noChangeArrowheads="1"/>
          </p:cNvSpPr>
          <p:nvPr>
            <p:ph type="title"/>
          </p:nvPr>
        </p:nvSpPr>
        <p:spPr>
          <a:xfrm>
            <a:off x="357873" y="255906"/>
            <a:ext cx="8229600" cy="757238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latin typeface="楷体_GB2312" pitchFamily="49" charset="-122"/>
                <a:ea typeface="楷体_GB2312" pitchFamily="49" charset="-122"/>
              </a:rPr>
              <a:t>7.1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无约束问题的极值条件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4516" name="Rectangle 11"/>
              <p:cNvSpPr>
                <a:spLocks noChangeArrowheads="1"/>
              </p:cNvSpPr>
              <p:nvPr/>
            </p:nvSpPr>
            <p:spPr bwMode="auto">
              <a:xfrm>
                <a:off x="467126" y="1144053"/>
                <a:ext cx="8064500" cy="1815882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dirty="0">
                    <a:ea typeface="楷体_GB2312" pitchFamily="49" charset="-122"/>
                  </a:rPr>
                  <a:t>Th7</a:t>
                </a:r>
                <a:r>
                  <a:rPr lang="en-US" altLang="zh-CN" sz="2800" b="1" dirty="0"/>
                  <a:t>.1.1</a:t>
                </a:r>
                <a:r>
                  <a:rPr lang="en-US" altLang="zh-CN" sz="2800" dirty="0"/>
                  <a:t>(</a:t>
                </a:r>
                <a:r>
                  <a:rPr lang="zh-CN" altLang="en-US" sz="2800" dirty="0"/>
                  <a:t>非极小点的充分条件</a:t>
                </a:r>
                <a:r>
                  <a:rPr lang="en-US" altLang="zh-CN" sz="2800" dirty="0"/>
                  <a:t>) </a:t>
                </a:r>
                <a:r>
                  <a:rPr lang="zh-CN" altLang="en-US" sz="2800" dirty="0"/>
                  <a:t>设</a:t>
                </a:r>
                <a:r>
                  <a:rPr lang="en-US" altLang="zh-CN" sz="2800" b="1" i="1" dirty="0">
                    <a:solidFill>
                      <a:srgbClr val="3333CC"/>
                    </a:solidFill>
                  </a:rPr>
                  <a:t>f</a:t>
                </a:r>
                <a:r>
                  <a:rPr lang="en-US" altLang="zh-CN" sz="2800" b="1" dirty="0">
                    <a:solidFill>
                      <a:srgbClr val="3333CC"/>
                    </a:solidFill>
                  </a:rPr>
                  <a:t>(</a:t>
                </a:r>
                <a:r>
                  <a:rPr lang="en-US" altLang="zh-CN" sz="2800" b="1" i="1" dirty="0">
                    <a:solidFill>
                      <a:srgbClr val="3333CC"/>
                    </a:solidFill>
                  </a:rPr>
                  <a:t>x</a:t>
                </a:r>
                <a:r>
                  <a:rPr lang="en-US" altLang="zh-CN" sz="2800" b="1" dirty="0">
                    <a:solidFill>
                      <a:srgbClr val="3333CC"/>
                    </a:solidFill>
                  </a:rPr>
                  <a:t>)</a:t>
                </a:r>
                <a:r>
                  <a:rPr lang="zh-CN" altLang="en-US" sz="2800" dirty="0"/>
                  <a:t>在点</a:t>
                </a:r>
                <a:r>
                  <a:rPr lang="en-US" altLang="zh-CN" sz="2800" b="1" i="1" dirty="0">
                    <a:solidFill>
                      <a:srgbClr val="3333CC"/>
                    </a:solidFill>
                  </a:rPr>
                  <a:t>x</a:t>
                </a:r>
                <a:r>
                  <a:rPr lang="en-US" altLang="zh-CN" sz="2800" b="1" dirty="0">
                    <a:solidFill>
                      <a:srgbClr val="3333CC"/>
                    </a:solidFill>
                  </a:rPr>
                  <a:t>*</a:t>
                </a:r>
                <a:r>
                  <a:rPr lang="zh-CN" altLang="en-US" sz="2800" dirty="0"/>
                  <a:t>处可微</a:t>
                </a:r>
                <a:r>
                  <a:rPr lang="en-US" altLang="zh-CN" sz="2800" dirty="0"/>
                  <a:t>,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dirty="0"/>
                  <a:t>若存在方向</a:t>
                </a:r>
                <a:r>
                  <a:rPr lang="en-US" altLang="zh-CN" sz="2800" b="1" i="1" dirty="0">
                    <a:solidFill>
                      <a:srgbClr val="3333CC"/>
                    </a:solidFill>
                  </a:rPr>
                  <a:t>d</a:t>
                </a:r>
                <a:r>
                  <a:rPr lang="en-US" altLang="zh-CN" sz="2800" b="1" dirty="0">
                    <a:solidFill>
                      <a:srgbClr val="3333CC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b="1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</m:oMath>
                </a14:m>
                <a:r>
                  <a:rPr lang="en-US" altLang="zh-CN" sz="2800" b="1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R</a:t>
                </a:r>
                <a:r>
                  <a:rPr lang="en-US" altLang="zh-CN" b="1" i="1" baseline="300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n</a:t>
                </a:r>
                <a:r>
                  <a:rPr lang="en-US" altLang="zh-CN" sz="2800" dirty="0">
                    <a:sym typeface="Euclid Symbol" panose="05050102010706020507" pitchFamily="18" charset="2"/>
                  </a:rPr>
                  <a:t>,</a:t>
                </a:r>
                <a:r>
                  <a:rPr lang="zh-CN" altLang="en-US" sz="2800" dirty="0">
                    <a:sym typeface="Euclid Symbol" panose="05050102010706020507" pitchFamily="18" charset="2"/>
                  </a:rPr>
                  <a:t>使得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i="1" smtClean="0"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∇</m:t>
                    </m:r>
                  </m:oMath>
                </a14:m>
                <a:r>
                  <a:rPr lang="en-US" altLang="zh-CN" sz="2800" b="1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f</a:t>
                </a:r>
                <a:r>
                  <a:rPr lang="en-US" altLang="zh-CN" sz="2800" b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(</a:t>
                </a:r>
                <a:r>
                  <a:rPr lang="en-US" altLang="zh-CN" sz="2800" b="1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x</a:t>
                </a:r>
                <a:r>
                  <a:rPr lang="en-US" altLang="zh-CN" sz="2800" b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*)</a:t>
                </a:r>
                <a:r>
                  <a:rPr lang="en-US" altLang="zh-CN" sz="2800" b="1" i="1" baseline="30000" dirty="0">
                    <a:ea typeface="楷体_GB2312" pitchFamily="49" charset="-122"/>
                    <a:sym typeface="Symbol" panose="05050102010706020507" pitchFamily="18" charset="2"/>
                  </a:rPr>
                  <a:t> T</a:t>
                </a:r>
                <a:r>
                  <a:rPr lang="en-US" altLang="zh-CN" sz="2800" b="1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d</a:t>
                </a:r>
                <a:r>
                  <a:rPr lang="en-US" altLang="zh-CN" sz="2800" b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&lt;0</a:t>
                </a:r>
                <a:r>
                  <a:rPr lang="en-US" altLang="zh-CN" sz="2800" dirty="0">
                    <a:sym typeface="Euclid Symbol" panose="05050102010706020507" pitchFamily="18" charset="2"/>
                  </a:rPr>
                  <a:t>, </a:t>
                </a:r>
                <a:r>
                  <a:rPr lang="zh-CN" altLang="en-US" sz="2800" dirty="0">
                    <a:sym typeface="Euclid Symbol" panose="05050102010706020507" pitchFamily="18" charset="2"/>
                  </a:rPr>
                  <a:t>则存在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𝜀</m:t>
                    </m:r>
                  </m:oMath>
                </a14:m>
                <a:r>
                  <a:rPr lang="en-US" altLang="zh-CN" sz="2800" b="1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&gt;</a:t>
                </a:r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0</a:t>
                </a:r>
                <a:r>
                  <a:rPr lang="en-US" altLang="zh-CN" sz="2800" dirty="0">
                    <a:sym typeface="Euclid Symbol" panose="05050102010706020507" pitchFamily="18" charset="2"/>
                  </a:rPr>
                  <a:t>,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dirty="0">
                    <a:sym typeface="Euclid Symbol" panose="05050102010706020507" pitchFamily="18" charset="2"/>
                  </a:rPr>
                  <a:t>使得对任意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𝜆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∈(0,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,</a:t>
                </a:r>
                <a:r>
                  <a:rPr lang="zh-CN" altLang="en-US" sz="2800" dirty="0">
                    <a:sym typeface="Euclid Symbol" panose="05050102010706020507" pitchFamily="18" charset="2"/>
                  </a:rPr>
                  <a:t>有</a:t>
                </a:r>
                <a:r>
                  <a:rPr lang="en-US" altLang="zh-CN" sz="2800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f</a:t>
                </a:r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(</a:t>
                </a:r>
                <a:r>
                  <a:rPr lang="en-US" altLang="zh-CN" sz="2800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x*</a:t>
                </a:r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+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𝜆</m:t>
                    </m:r>
                  </m:oMath>
                </a14:m>
                <a:r>
                  <a:rPr lang="en-US" altLang="zh-CN" sz="2800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d</a:t>
                </a:r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)&lt;</a:t>
                </a:r>
                <a:r>
                  <a:rPr lang="en-US" altLang="zh-CN" sz="2800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f</a:t>
                </a:r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(</a:t>
                </a:r>
                <a:r>
                  <a:rPr lang="en-US" altLang="zh-CN" sz="2800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x</a:t>
                </a:r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*).</a:t>
                </a:r>
                <a:r>
                  <a:rPr lang="zh-CN" altLang="en-US" sz="2800" dirty="0">
                    <a:sym typeface="Euclid Symbol" panose="05050102010706020507" pitchFamily="18" charset="2"/>
                  </a:rPr>
                  <a:t>此时</a:t>
                </a:r>
                <a:r>
                  <a:rPr lang="en-US" altLang="zh-CN" sz="2800" dirty="0">
                    <a:sym typeface="Euclid Symbol" panose="05050102010706020507" pitchFamily="18" charset="2"/>
                  </a:rPr>
                  <a:t>,</a:t>
                </a:r>
                <a:r>
                  <a:rPr lang="zh-CN" altLang="en-US" sz="2800" dirty="0">
                    <a:sym typeface="Euclid Symbol" panose="05050102010706020507" pitchFamily="18" charset="2"/>
                  </a:rPr>
                  <a:t>我们称</a:t>
                </a:r>
                <a:r>
                  <a:rPr lang="en-US" altLang="zh-CN" sz="2800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d </a:t>
                </a:r>
                <a:r>
                  <a:rPr lang="zh-CN" altLang="en-US" sz="2800" dirty="0">
                    <a:sym typeface="Euclid Symbol" panose="05050102010706020507" pitchFamily="18" charset="2"/>
                  </a:rPr>
                  <a:t>为</a:t>
                </a:r>
                <a:r>
                  <a:rPr lang="en-US" altLang="zh-CN" sz="2800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f</a:t>
                </a:r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(</a:t>
                </a:r>
                <a:r>
                  <a:rPr lang="en-US" altLang="zh-CN" sz="2800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x</a:t>
                </a:r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)</a:t>
                </a:r>
                <a:r>
                  <a:rPr lang="zh-CN" altLang="en-US" sz="2800" dirty="0">
                    <a:sym typeface="Euclid Symbol" panose="05050102010706020507" pitchFamily="18" charset="2"/>
                  </a:rPr>
                  <a:t>在</a:t>
                </a:r>
                <a:r>
                  <a:rPr lang="en-US" altLang="zh-CN" sz="2800" i="1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x</a:t>
                </a:r>
                <a:r>
                  <a:rPr lang="en-US" altLang="zh-CN" sz="2800" dirty="0">
                    <a:solidFill>
                      <a:srgbClr val="3333CC"/>
                    </a:solidFill>
                    <a:sym typeface="Euclid Symbol" panose="05050102010706020507" pitchFamily="18" charset="2"/>
                  </a:rPr>
                  <a:t>*</a:t>
                </a:r>
                <a:r>
                  <a:rPr lang="zh-CN" altLang="en-US" sz="2800" dirty="0">
                    <a:sym typeface="Euclid Symbol" panose="05050102010706020507" pitchFamily="18" charset="2"/>
                  </a:rPr>
                  <a:t>的一个</a:t>
                </a:r>
                <a:r>
                  <a:rPr lang="zh-CN" altLang="en-US" sz="2800" b="1" dirty="0">
                    <a:solidFill>
                      <a:srgbClr val="FF3300"/>
                    </a:solidFill>
                    <a:ea typeface="楷体_GB2312" pitchFamily="49" charset="-122"/>
                    <a:sym typeface="Euclid Symbol" panose="05050102010706020507" pitchFamily="18" charset="2"/>
                  </a:rPr>
                  <a:t>下降方向</a:t>
                </a:r>
                <a:r>
                  <a:rPr lang="en-US" altLang="zh-CN" sz="2800" b="1" dirty="0">
                    <a:solidFill>
                      <a:srgbClr val="FF3300"/>
                    </a:solidFill>
                    <a:ea typeface="楷体_GB2312" pitchFamily="49" charset="-122"/>
                    <a:sym typeface="Euclid 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64516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126" y="1144053"/>
                <a:ext cx="8064500" cy="1815882"/>
              </a:xfrm>
              <a:prstGeom prst="rect">
                <a:avLst/>
              </a:prstGeom>
              <a:blipFill>
                <a:blip r:embed="rId2"/>
                <a:stretch>
                  <a:fillRect l="-1587" t="-4698" r="-2646" b="-8725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17" name="Rectangle 12"/>
          <p:cNvSpPr>
            <a:spLocks noChangeArrowheads="1"/>
          </p:cNvSpPr>
          <p:nvPr/>
        </p:nvSpPr>
        <p:spPr bwMode="auto">
          <a:xfrm>
            <a:off x="539750" y="3644900"/>
            <a:ext cx="776287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证明</a:t>
            </a:r>
            <a:r>
              <a:rPr lang="en-US" altLang="zh-CN" sz="2800" dirty="0">
                <a:ea typeface="楷体_GB2312" pitchFamily="49" charset="-122"/>
              </a:rPr>
              <a:t>. </a:t>
            </a:r>
            <a:r>
              <a:rPr lang="zh-CN" altLang="en-US" sz="2800" dirty="0"/>
              <a:t>由</a:t>
            </a:r>
            <a:r>
              <a:rPr lang="zh-CN" altLang="en-US" sz="2800" dirty="0">
                <a:ea typeface="楷体_GB2312" pitchFamily="49" charset="-122"/>
              </a:rPr>
              <a:t> </a:t>
            </a:r>
            <a:r>
              <a:rPr lang="en-US" altLang="zh-CN" sz="2800" i="1" dirty="0"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) </a:t>
            </a:r>
            <a:r>
              <a:rPr lang="zh-CN" altLang="en-US" sz="2800" dirty="0"/>
              <a:t>在</a:t>
            </a:r>
            <a:r>
              <a:rPr lang="zh-CN" altLang="en-US" sz="2800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 </a:t>
            </a:r>
            <a:r>
              <a:rPr lang="zh-CN" altLang="en-US" sz="2800" dirty="0">
                <a:latin typeface="宋体" panose="02010600030101010101" pitchFamily="2" charset="-122"/>
              </a:rPr>
              <a:t>可微</a:t>
            </a:r>
            <a:r>
              <a:rPr lang="en-US" altLang="zh-CN" sz="2800" dirty="0">
                <a:latin typeface="宋体" panose="02010600030101010101" pitchFamily="2" charset="-122"/>
              </a:rPr>
              <a:t>, </a:t>
            </a:r>
            <a:r>
              <a:rPr lang="zh-CN" altLang="en-US" sz="2800" dirty="0">
                <a:latin typeface="宋体" panose="02010600030101010101" pitchFamily="2" charset="-122"/>
              </a:rPr>
              <a:t>则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dirty="0">
                <a:ea typeface="楷体_GB2312" pitchFamily="49" charset="-122"/>
              </a:rPr>
              <a:t>             </a:t>
            </a:r>
            <a:r>
              <a:rPr lang="en-US" altLang="zh-CN" sz="2800" i="1" dirty="0"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*+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</a:rPr>
              <a:t>)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*) + 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</a:t>
            </a:r>
            <a:r>
              <a:rPr lang="en-US" altLang="zh-CN" sz="2800" i="1" dirty="0"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*)</a:t>
            </a:r>
            <a:r>
              <a:rPr lang="en-US" altLang="zh-CN" sz="2800" b="1" i="1" baseline="30000" dirty="0">
                <a:ea typeface="楷体_GB2312" pitchFamily="49" charset="-122"/>
                <a:sym typeface="Symbol" panose="05050102010706020507" pitchFamily="18" charset="2"/>
              </a:rPr>
              <a:t> T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</a:rPr>
              <a:t>+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||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||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;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),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其中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i="1" dirty="0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;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) 0(</a:t>
            </a:r>
            <a:r>
              <a:rPr lang="zh-CN" altLang="en-US" sz="2800" dirty="0">
                <a:sym typeface="Symbol" panose="05050102010706020507" pitchFamily="18" charset="2"/>
              </a:rPr>
              <a:t>当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 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0).</a:t>
            </a:r>
            <a:r>
              <a:rPr lang="en-US" altLang="zh-CN" sz="2400" dirty="0">
                <a:ea typeface="楷体_GB2312" pitchFamily="49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A4C409-AEE8-4DE7-9C5C-AE341BA92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，必要条件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nimBg="1"/>
      <p:bldP spid="645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366464" y="880745"/>
            <a:ext cx="8015287" cy="3285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移项且两边同除以</a:t>
            </a:r>
            <a:r>
              <a:rPr lang="zh-CN" altLang="en-US" sz="2800" b="1" i="1" dirty="0"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sym typeface="Symbol" panose="05050102010706020507" pitchFamily="18" charset="2"/>
              </a:rPr>
              <a:t> 0),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得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（</a:t>
            </a:r>
            <a:r>
              <a:rPr lang="en-US" altLang="zh-CN" sz="2800" i="1" dirty="0"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*+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</a:rPr>
              <a:t>)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－</a:t>
            </a:r>
            <a:r>
              <a:rPr lang="en-US" altLang="zh-CN" sz="2800" i="1" dirty="0"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*)</a:t>
            </a:r>
            <a:r>
              <a:rPr lang="zh-CN" altLang="en-US" sz="2800" b="1" dirty="0">
                <a:ea typeface="楷体_GB2312" pitchFamily="49" charset="-122"/>
              </a:rPr>
              <a:t>）</a:t>
            </a:r>
            <a:r>
              <a:rPr lang="en-US" altLang="zh-CN" sz="2800" b="1" dirty="0">
                <a:ea typeface="楷体_GB2312" pitchFamily="49" charset="-122"/>
              </a:rPr>
              <a:t>/ 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＝ 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</a:t>
            </a:r>
            <a:r>
              <a:rPr lang="en-US" altLang="zh-CN" sz="2800" i="1" dirty="0"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*)</a:t>
            </a:r>
            <a:r>
              <a:rPr lang="en-US" altLang="zh-CN" sz="2800" b="1" i="1" baseline="30000" dirty="0">
                <a:ea typeface="楷体_GB2312" pitchFamily="49" charset="-122"/>
                <a:sym typeface="Symbol" panose="05050102010706020507" pitchFamily="18" charset="2"/>
              </a:rPr>
              <a:t> T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</a:rPr>
              <a:t>+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||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||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;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由于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 </a:t>
            </a:r>
            <a:r>
              <a:rPr lang="en-US" altLang="zh-CN" sz="2800" i="1" dirty="0"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*)</a:t>
            </a:r>
            <a:r>
              <a:rPr lang="en-US" altLang="zh-CN" sz="2800" b="1" i="1" baseline="30000" dirty="0">
                <a:ea typeface="楷体_GB2312" pitchFamily="49" charset="-122"/>
                <a:sym typeface="Symbol" panose="05050102010706020507" pitchFamily="18" charset="2"/>
              </a:rPr>
              <a:t> T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</a:rPr>
              <a:t>&lt;0 </a:t>
            </a:r>
            <a:r>
              <a:rPr lang="zh-CN" altLang="en-US" sz="2800" dirty="0">
                <a:latin typeface="宋体" panose="02010600030101010101" pitchFamily="2" charset="-122"/>
              </a:rPr>
              <a:t>且 </a:t>
            </a:r>
            <a:r>
              <a:rPr lang="zh-CN" altLang="en-US" sz="2800" i="1" dirty="0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;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) 0 </a:t>
            </a:r>
            <a:r>
              <a:rPr lang="zh-CN" altLang="en-US" sz="2800" dirty="0">
                <a:sym typeface="Symbol" panose="05050102010706020507" pitchFamily="18" charset="2"/>
              </a:rPr>
              <a:t>当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 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0. 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从而存在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i="1" dirty="0">
                <a:ea typeface="楷体_GB2312" pitchFamily="49" charset="-122"/>
                <a:sym typeface="Symbol" panose="05050102010706020507" pitchFamily="18" charset="2"/>
              </a:rPr>
              <a:t> 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&gt; 0 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使得对 任意</a:t>
            </a:r>
            <a:r>
              <a:rPr lang="zh-CN" altLang="en-US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zh-CN" altLang="en-US" sz="2800" dirty="0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ea typeface="楷体_GB2312" pitchFamily="49" charset="-122"/>
              </a:rPr>
              <a:t>(0</a:t>
            </a:r>
            <a:r>
              <a:rPr lang="en-US" altLang="zh-CN" sz="2800" b="1" i="1" dirty="0">
                <a:ea typeface="楷体_GB2312" pitchFamily="49" charset="-122"/>
              </a:rPr>
              <a:t>, 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800" dirty="0">
                <a:ea typeface="楷体_GB2312" pitchFamily="49" charset="-122"/>
              </a:rPr>
              <a:t>),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</a:t>
            </a:r>
            <a:r>
              <a:rPr lang="en-US" altLang="zh-CN" sz="2800" i="1" dirty="0">
                <a:ea typeface="楷体_GB2312" pitchFamily="49" charset="-122"/>
              </a:rPr>
              <a:t>f</a:t>
            </a:r>
            <a:r>
              <a:rPr lang="en-US" altLang="zh-CN" sz="2800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*)</a:t>
            </a:r>
            <a:r>
              <a:rPr lang="en-US" altLang="zh-CN" sz="2800" b="1" i="1" baseline="30000" dirty="0">
                <a:ea typeface="楷体_GB2312" pitchFamily="49" charset="-122"/>
                <a:sym typeface="Symbol" panose="05050102010706020507" pitchFamily="18" charset="2"/>
              </a:rPr>
              <a:t> T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</a:rPr>
              <a:t>+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||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||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dirty="0">
                <a:ea typeface="楷体_GB2312" pitchFamily="49" charset="-122"/>
              </a:rPr>
              <a:t>*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;</a:t>
            </a:r>
            <a:r>
              <a:rPr lang="en-US" altLang="zh-CN" sz="2800" i="1" dirty="0"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)&lt;0 </a:t>
            </a:r>
            <a:r>
              <a:rPr lang="en-US" altLang="zh-CN" sz="2800" dirty="0">
                <a:ea typeface="楷体_GB2312" pitchFamily="49" charset="-122"/>
              </a:rPr>
              <a:t>.               </a:t>
            </a:r>
            <a:r>
              <a:rPr lang="zh-CN" altLang="en-US" sz="2800" dirty="0"/>
              <a:t>定理立明</a:t>
            </a:r>
            <a:r>
              <a:rPr lang="en-US" altLang="zh-CN" sz="2800" dirty="0"/>
              <a:t>.</a:t>
            </a:r>
          </a:p>
        </p:txBody>
      </p:sp>
      <p:sp>
        <p:nvSpPr>
          <p:cNvPr id="65541" name="Rectangle 8"/>
          <p:cNvSpPr>
            <a:spLocks noChangeArrowheads="1"/>
          </p:cNvSpPr>
          <p:nvPr/>
        </p:nvSpPr>
        <p:spPr bwMode="auto">
          <a:xfrm>
            <a:off x="371976" y="4289960"/>
            <a:ext cx="8064500" cy="22272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定理</a:t>
            </a:r>
            <a:r>
              <a:rPr lang="en-US" altLang="zh-CN" sz="2800" b="1" dirty="0"/>
              <a:t>7.1.2-3</a:t>
            </a:r>
            <a:r>
              <a:rPr lang="en-US" altLang="zh-CN" sz="2800" dirty="0"/>
              <a:t>(</a:t>
            </a:r>
            <a:r>
              <a:rPr lang="zh-CN" altLang="en-US" sz="2800" dirty="0"/>
              <a:t>极小点的必要条件</a:t>
            </a:r>
            <a:r>
              <a:rPr lang="en-US" altLang="zh-CN" sz="2800" dirty="0"/>
              <a:t>)</a:t>
            </a:r>
            <a:r>
              <a:rPr lang="zh-CN" altLang="en-US" sz="2800" dirty="0"/>
              <a:t>设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*</a:t>
            </a:r>
            <a:r>
              <a:rPr lang="zh-CN" altLang="en-US" sz="2800" dirty="0"/>
              <a:t>处是问题</a:t>
            </a:r>
            <a:r>
              <a:rPr lang="en-US" altLang="zh-CN" sz="2800" dirty="0"/>
              <a:t>(UNLP)</a:t>
            </a:r>
            <a:r>
              <a:rPr lang="zh-CN" altLang="en-US" sz="2800" dirty="0"/>
              <a:t>的局部极小点</a:t>
            </a:r>
            <a:r>
              <a:rPr lang="en-US" altLang="zh-CN" sz="2800" dirty="0"/>
              <a:t>.</a:t>
            </a:r>
          </a:p>
          <a:p>
            <a:pPr eaLnBrk="1" hangingPunct="1">
              <a:spcBef>
                <a:spcPct val="0"/>
              </a:spcBef>
              <a:buFontTx/>
              <a:buAutoNum type="arabicParenBoth"/>
            </a:pPr>
            <a:r>
              <a:rPr lang="zh-CN" altLang="en-US" sz="2800" dirty="0"/>
              <a:t>当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dirty="0"/>
              <a:t>) </a:t>
            </a:r>
            <a:r>
              <a:rPr lang="zh-CN" altLang="en-US" sz="2800" dirty="0"/>
              <a:t>在 </a:t>
            </a:r>
            <a:r>
              <a:rPr lang="en-US" altLang="zh-CN" sz="2800" b="1" i="1" dirty="0"/>
              <a:t>x</a:t>
            </a:r>
            <a:r>
              <a:rPr lang="en-US" altLang="zh-CN" sz="2800" dirty="0"/>
              <a:t>*</a:t>
            </a:r>
            <a:r>
              <a:rPr lang="zh-CN" altLang="en-US" sz="2800" dirty="0"/>
              <a:t>可微时</a:t>
            </a:r>
            <a:r>
              <a:rPr lang="en-US" altLang="zh-CN" sz="2800" dirty="0"/>
              <a:t>,</a:t>
            </a:r>
            <a:r>
              <a:rPr lang="zh-CN" altLang="en-US" sz="2800" dirty="0"/>
              <a:t>则梯度 </a:t>
            </a:r>
            <a:r>
              <a:rPr lang="zh-CN" altLang="en-US" sz="2800" dirty="0">
                <a:sym typeface="Symbol" panose="05050102010706020507" pitchFamily="18" charset="2"/>
              </a:rPr>
              <a:t>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dirty="0"/>
              <a:t>*)=0.</a:t>
            </a:r>
          </a:p>
          <a:p>
            <a:pPr eaLnBrk="1" hangingPunct="1">
              <a:spcBef>
                <a:spcPct val="0"/>
              </a:spcBef>
              <a:buFontTx/>
              <a:buAutoNum type="arabicParenBoth"/>
            </a:pPr>
            <a:r>
              <a:rPr lang="en-US" altLang="zh-CN" sz="2800" dirty="0"/>
              <a:t> </a:t>
            </a:r>
            <a:r>
              <a:rPr lang="zh-CN" altLang="en-US" sz="2800" dirty="0"/>
              <a:t>当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dirty="0"/>
              <a:t>) </a:t>
            </a:r>
            <a:r>
              <a:rPr lang="zh-CN" altLang="en-US" sz="2800" dirty="0"/>
              <a:t>在 </a:t>
            </a:r>
            <a:r>
              <a:rPr lang="en-US" altLang="zh-CN" sz="2800" b="1" i="1" dirty="0"/>
              <a:t>x</a:t>
            </a:r>
            <a:r>
              <a:rPr lang="en-US" altLang="zh-CN" sz="2800" dirty="0"/>
              <a:t>*</a:t>
            </a:r>
            <a:r>
              <a:rPr lang="zh-CN" altLang="en-US" sz="2800" dirty="0"/>
              <a:t>二次可微时，</a:t>
            </a:r>
            <a:r>
              <a:rPr lang="en-US" altLang="zh-CN" sz="2800" dirty="0"/>
              <a:t> </a:t>
            </a:r>
            <a:r>
              <a:rPr lang="zh-CN" altLang="en-US" sz="2800" dirty="0"/>
              <a:t>则 </a:t>
            </a:r>
            <a:r>
              <a:rPr lang="zh-CN" altLang="en-US" sz="2800" dirty="0">
                <a:sym typeface="Symbol" panose="05050102010706020507" pitchFamily="18" charset="2"/>
              </a:rPr>
              <a:t>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dirty="0"/>
              <a:t>*)=</a:t>
            </a:r>
            <a:r>
              <a:rPr lang="en-US" altLang="zh-CN" sz="2800" b="1" dirty="0"/>
              <a:t>0</a:t>
            </a:r>
            <a:r>
              <a:rPr lang="en-US" altLang="zh-CN" sz="2800" dirty="0"/>
              <a:t> </a:t>
            </a:r>
            <a:r>
              <a:rPr lang="zh-CN" altLang="en-US" sz="2800" dirty="0"/>
              <a:t>且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Hessian </a:t>
            </a:r>
            <a:r>
              <a:rPr lang="zh-CN" altLang="en-US" sz="2800" dirty="0"/>
              <a:t>矩阵 </a:t>
            </a:r>
            <a:r>
              <a:rPr lang="en-US" altLang="zh-CN" sz="2800" b="1" dirty="0"/>
              <a:t>H</a:t>
            </a:r>
            <a:r>
              <a:rPr lang="en-US" altLang="zh-CN" sz="2800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dirty="0"/>
              <a:t>*) </a:t>
            </a:r>
            <a:r>
              <a:rPr lang="zh-CN" altLang="en-US" sz="2800" dirty="0"/>
              <a:t>是半正定的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CCC2576-03D0-45DD-BEE7-047CDCC4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48" name="Text Box 7"/>
              <p:cNvSpPr txBox="1">
                <a:spLocks noChangeArrowheads="1"/>
              </p:cNvSpPr>
              <p:nvPr/>
            </p:nvSpPr>
            <p:spPr bwMode="auto">
              <a:xfrm>
                <a:off x="380181" y="2319121"/>
                <a:ext cx="8532812" cy="3884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 dirty="0">
                    <a:ea typeface="楷体_GB2312" pitchFamily="49" charset="-122"/>
                  </a:rPr>
                  <a:t>(2)</a:t>
                </a:r>
                <a:r>
                  <a:rPr lang="en-US" altLang="zh-CN" sz="2400" dirty="0">
                    <a:ea typeface="楷体_GB2312" pitchFamily="49" charset="-122"/>
                  </a:rPr>
                  <a:t>. </a:t>
                </a:r>
                <a:r>
                  <a:rPr lang="zh-CN" altLang="en-US" sz="2400" dirty="0"/>
                  <a:t>给定任意向量</a:t>
                </a:r>
                <a:r>
                  <a:rPr lang="zh-CN" altLang="en-US" sz="2400" dirty="0">
                    <a:ea typeface="楷体_GB2312" pitchFamily="49" charset="-122"/>
                  </a:rPr>
                  <a:t> </a:t>
                </a:r>
                <a:r>
                  <a:rPr lang="en-US" altLang="zh-CN" sz="2400" b="1" i="1" dirty="0">
                    <a:ea typeface="楷体_GB2312" pitchFamily="49" charset="-12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</a:rPr>
                  <a:t>. </a:t>
                </a:r>
                <a:r>
                  <a:rPr lang="zh-CN" altLang="en-US" sz="2400" dirty="0"/>
                  <a:t>由</a:t>
                </a:r>
                <a:r>
                  <a:rPr lang="zh-CN" altLang="en-US" sz="2400" dirty="0">
                    <a:ea typeface="楷体_GB2312" pitchFamily="49" charset="-122"/>
                  </a:rPr>
                  <a:t> </a:t>
                </a:r>
                <a:r>
                  <a:rPr lang="en-US" altLang="zh-CN" sz="2400" i="1" dirty="0"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) </a:t>
                </a:r>
                <a:r>
                  <a:rPr lang="zh-CN" altLang="en-US" sz="2400" dirty="0"/>
                  <a:t>在</a:t>
                </a:r>
                <a:r>
                  <a:rPr lang="zh-CN" altLang="en-US" sz="2400" dirty="0">
                    <a:ea typeface="楷体_GB2312" pitchFamily="49" charset="-122"/>
                  </a:rPr>
                  <a:t> 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</a:t>
                </a:r>
                <a:r>
                  <a:rPr lang="zh-CN" altLang="en-US" sz="2400" dirty="0"/>
                  <a:t>的二次可微性，有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 dirty="0"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*+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2400" b="1" i="1" dirty="0">
                    <a:ea typeface="楷体_GB2312" pitchFamily="49" charset="-12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</a:rPr>
                  <a:t>)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=</a:t>
                </a:r>
                <a:r>
                  <a:rPr lang="en-US" altLang="zh-CN" sz="2400" i="1" dirty="0"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*) +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*)</a:t>
                </a:r>
                <a:r>
                  <a:rPr lang="en-US" altLang="zh-CN" sz="2400" b="1" i="1" baseline="30000" dirty="0">
                    <a:ea typeface="楷体_GB2312" pitchFamily="49" charset="-122"/>
                    <a:sym typeface="Symbol" panose="05050102010706020507" pitchFamily="18" charset="2"/>
                  </a:rPr>
                  <a:t> T</a:t>
                </a:r>
                <a:r>
                  <a:rPr lang="en-US" altLang="zh-CN" sz="2400" b="1" i="1" dirty="0">
                    <a:ea typeface="楷体_GB2312" pitchFamily="49" charset="-12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i="1" dirty="0">
                            <a:ea typeface="楷体_GB2312" pitchFamily="49" charset="-122"/>
                            <a:sym typeface="Symbol" panose="05050102010706020507" pitchFamily="18" charset="2"/>
                          </a:rPr>
                          <m:t>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1" i="1" dirty="0">
                    <a:ea typeface="楷体_GB2312" pitchFamily="49" charset="-122"/>
                    <a:sym typeface="Symbol" panose="05050102010706020507" pitchFamily="18" charset="2"/>
                  </a:rPr>
                  <a:t>d</a:t>
                </a:r>
                <a:r>
                  <a:rPr lang="en-US" altLang="zh-CN" sz="2400" b="1" i="1" baseline="30000" dirty="0">
                    <a:ea typeface="楷体_GB2312" pitchFamily="49" charset="-122"/>
                    <a:sym typeface="Symbol" panose="05050102010706020507" pitchFamily="18" charset="2"/>
                  </a:rPr>
                  <a:t>T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H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)</a:t>
                </a:r>
                <a:r>
                  <a:rPr lang="en-US" altLang="zh-CN" sz="2400" b="1" i="1" dirty="0">
                    <a:ea typeface="楷体_GB2312" pitchFamily="49" charset="-122"/>
                    <a:sym typeface="Symbol" panose="05050102010706020507" pitchFamily="18" charset="2"/>
                  </a:rPr>
                  <a:t>d</a:t>
                </a:r>
                <a:r>
                  <a:rPr lang="en-US" altLang="zh-CN" sz="2800" dirty="0">
                    <a:ea typeface="楷体_GB2312" pitchFamily="49" charset="-122"/>
                    <a:sym typeface="Symbol" panose="05050102010706020507" pitchFamily="18" charset="2"/>
                  </a:rPr>
                  <a:t>/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2+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i="1" dirty="0">
                            <a:ea typeface="楷体_GB2312" pitchFamily="49" charset="-122"/>
                            <a:sym typeface="Symbol" panose="05050102010706020507" pitchFamily="18" charset="2"/>
                          </a:rPr>
                          <m:t>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||</a:t>
                </a:r>
                <a:r>
                  <a:rPr lang="en-US" altLang="zh-CN" sz="2400" b="1" i="1" dirty="0">
                    <a:ea typeface="楷体_GB2312" pitchFamily="49" charset="-122"/>
                    <a:sym typeface="Symbol" panose="05050102010706020507" pitchFamily="18" charset="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||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 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;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2400" b="1" i="1" dirty="0">
                    <a:ea typeface="楷体_GB2312" pitchFamily="49" charset="-12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)    (I), 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>
                    <a:ea typeface="楷体_GB2312" pitchFamily="49" charset="-122"/>
                    <a:sym typeface="Symbol" panose="05050102010706020507" pitchFamily="18" charset="2"/>
                  </a:rPr>
                  <a:t>其中 </a:t>
                </a:r>
                <a:r>
                  <a:rPr lang="zh-CN" altLang="en-US" sz="2400" i="1" dirty="0">
                    <a:ea typeface="楷体_GB2312" pitchFamily="49" charset="-122"/>
                    <a:sym typeface="Symbol" panose="05050102010706020507" pitchFamily="18" charset="2"/>
                  </a:rPr>
                  <a:t>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;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2400" b="1" i="1" dirty="0">
                    <a:ea typeface="楷体_GB2312" pitchFamily="49" charset="-12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) 0( 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 0). </a:t>
                </a:r>
                <a:r>
                  <a:rPr lang="zh-CN" altLang="en-US" sz="2400" dirty="0">
                    <a:latin typeface="宋体" panose="02010600030101010101" pitchFamily="2" charset="-122"/>
                    <a:sym typeface="Symbol" panose="05050102010706020507" pitchFamily="18" charset="2"/>
                  </a:rPr>
                  <a:t>由（</a:t>
                </a:r>
                <a:r>
                  <a:rPr lang="en-US" altLang="zh-CN" sz="2400" dirty="0">
                    <a:latin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r>
                  <a:rPr lang="zh-CN" altLang="en-US" sz="2400" dirty="0">
                    <a:latin typeface="宋体" panose="02010600030101010101" pitchFamily="2" charset="-122"/>
                    <a:sym typeface="Symbol" panose="05050102010706020507" pitchFamily="18" charset="2"/>
                  </a:rPr>
                  <a:t>）的证明有</a:t>
                </a:r>
                <a:r>
                  <a:rPr lang="zh-CN" altLang="en-US" sz="2400" dirty="0">
                    <a:ea typeface="楷体_GB2312" pitchFamily="49" charset="-122"/>
                    <a:sym typeface="Symbol" panose="05050102010706020507" pitchFamily="18" charset="2"/>
                  </a:rPr>
                  <a:t> </a:t>
                </a:r>
                <a:r>
                  <a:rPr lang="en-US" altLang="zh-CN" sz="2400" i="1" dirty="0"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*)=</a:t>
                </a:r>
                <a:r>
                  <a:rPr lang="en-US" altLang="zh-CN" sz="2400" b="1" dirty="0">
                    <a:ea typeface="楷体_GB2312" pitchFamily="49" charset="-122"/>
                  </a:rPr>
                  <a:t>0</a:t>
                </a:r>
                <a:r>
                  <a:rPr lang="en-US" altLang="zh-CN" sz="2400" dirty="0">
                    <a:ea typeface="楷体_GB2312" pitchFamily="49" charset="-122"/>
                  </a:rPr>
                  <a:t>. 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</a:rPr>
                  <a:t>移项整理并两端除以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 dirty="0">
                            <a:latin typeface="宋体" panose="02010600030101010101" pitchFamily="2" charset="-122"/>
                            <a:sym typeface="Symbol" panose="05050102010706020507" pitchFamily="18" charset="2"/>
                          </a:rPr>
                          <m:t>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_GB2312" pitchFamily="49" charset="-122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2400" dirty="0">
                    <a:latin typeface="宋体" panose="02010600030101010101" pitchFamily="2" charset="-122"/>
                    <a:sym typeface="Symbol" panose="05050102010706020507" pitchFamily="18" charset="2"/>
                  </a:rPr>
                  <a:t>, </a:t>
                </a:r>
                <a:r>
                  <a:rPr lang="zh-CN" altLang="en-US" sz="2400" dirty="0">
                    <a:latin typeface="宋体" panose="02010600030101010101" pitchFamily="2" charset="-122"/>
                    <a:sym typeface="Symbol" panose="05050102010706020507" pitchFamily="18" charset="2"/>
                  </a:rPr>
                  <a:t>得</a:t>
                </a:r>
                <a:r>
                  <a:rPr lang="zh-CN" altLang="en-US" sz="2400" i="1" dirty="0">
                    <a:ea typeface="楷体_GB2312" pitchFamily="49" charset="-122"/>
                    <a:sym typeface="Symbol" panose="05050102010706020507" pitchFamily="18" charset="2"/>
                  </a:rPr>
                  <a:t> 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>
                    <a:ea typeface="楷体_GB2312" pitchFamily="49" charset="-122"/>
                  </a:rPr>
                  <a:t>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2400" i="1" dirty="0">
                            <a:ea typeface="楷体_GB2312" pitchFamily="49" charset="-122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楷体_GB2312" pitchFamily="49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b="1" i="1" dirty="0">
                            <a:ea typeface="楷体_GB2312" pitchFamily="49" charset="-122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楷体_GB2312" pitchFamily="49" charset="-122"/>
                          </a:rPr>
                          <m:t>∗+</m:t>
                        </m:r>
                        <m:r>
                          <m:rPr>
                            <m:nor/>
                          </m:rPr>
                          <a:rPr lang="en-US" altLang="zh-CN" sz="2400" i="1" dirty="0">
                            <a:ea typeface="楷体_GB2312" pitchFamily="49" charset="-122"/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m:rPr>
                            <m:nor/>
                          </m:rPr>
                          <a:rPr lang="en-US" altLang="zh-CN" sz="2400" b="1" i="1" dirty="0">
                            <a:ea typeface="楷体_GB2312" pitchFamily="49" charset="-122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楷体_GB2312" pitchFamily="49" charset="-122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ea typeface="楷体_GB2312" pitchFamily="49" charset="-122"/>
                          </a:rPr>
                          <m:t>－</m:t>
                        </m:r>
                        <m:r>
                          <m:rPr>
                            <m:nor/>
                          </m:rPr>
                          <a:rPr lang="en-US" altLang="zh-CN" sz="2400" i="1" dirty="0">
                            <a:ea typeface="楷体_GB2312" pitchFamily="49" charset="-122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楷体_GB2312" pitchFamily="49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b="1" i="1" dirty="0">
                            <a:ea typeface="楷体_GB2312" pitchFamily="49" charset="-122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楷体_GB2312" pitchFamily="49" charset="-122"/>
                          </a:rPr>
                          <m:t>∗)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_GB2312" pitchFamily="49" charset="-122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400" i="1" dirty="0">
                                <a:ea typeface="楷体_GB2312" pitchFamily="49" charset="-122"/>
                                <a:sym typeface="Symbol" panose="05050102010706020507" pitchFamily="18" charset="2"/>
                              </a:rPr>
                              <m:t>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_GB2312" pitchFamily="49" charset="-122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=</a:t>
                </a:r>
                <a:r>
                  <a:rPr lang="en-US" altLang="zh-CN" sz="2400" b="1" i="1" dirty="0" err="1">
                    <a:ea typeface="楷体_GB2312" pitchFamily="49" charset="-122"/>
                    <a:sym typeface="Symbol" panose="05050102010706020507" pitchFamily="18" charset="2"/>
                  </a:rPr>
                  <a:t>d</a:t>
                </a:r>
                <a:r>
                  <a:rPr lang="en-US" altLang="zh-CN" sz="2400" b="1" i="1" baseline="30000" dirty="0" err="1">
                    <a:ea typeface="楷体_GB2312" pitchFamily="49" charset="-122"/>
                    <a:sym typeface="Symbol" panose="05050102010706020507" pitchFamily="18" charset="2"/>
                  </a:rPr>
                  <a:t>T</a:t>
                </a:r>
                <a:r>
                  <a:rPr lang="en-US" altLang="zh-CN" sz="2400" i="1" dirty="0" err="1">
                    <a:ea typeface="楷体_GB2312" pitchFamily="49" charset="-122"/>
                    <a:sym typeface="Symbol" panose="05050102010706020507" pitchFamily="18" charset="2"/>
                  </a:rPr>
                  <a:t>H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)</a:t>
                </a:r>
                <a:r>
                  <a:rPr lang="en-US" altLang="zh-CN" sz="2400" b="1" i="1" dirty="0">
                    <a:ea typeface="楷体_GB2312" pitchFamily="49" charset="-122"/>
                    <a:sym typeface="Symbol" panose="05050102010706020507" pitchFamily="18" charset="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/2+||</a:t>
                </a:r>
                <a:r>
                  <a:rPr lang="en-US" altLang="zh-CN" sz="2400" b="1" i="1" dirty="0">
                    <a:ea typeface="楷体_GB2312" pitchFamily="49" charset="-122"/>
                    <a:sym typeface="Symbol" panose="05050102010706020507" pitchFamily="18" charset="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||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 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;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2400" b="1" i="1" dirty="0">
                    <a:ea typeface="楷体_GB2312" pitchFamily="49" charset="-12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)    (II).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>
                    <a:sym typeface="Symbol" panose="05050102010706020507" pitchFamily="18" charset="2"/>
                  </a:rPr>
                  <a:t>因</a:t>
                </a:r>
                <a:r>
                  <a:rPr lang="zh-CN" altLang="en-US" sz="2400" dirty="0">
                    <a:ea typeface="楷体_GB2312" pitchFamily="49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ea typeface="楷体_GB2312" pitchFamily="49" charset="-122"/>
                    <a:sym typeface="Symbol" panose="05050102010706020507" pitchFamily="18" charset="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* </a:t>
                </a:r>
                <a:r>
                  <a:rPr lang="zh-CN" altLang="en-US" sz="2400" dirty="0">
                    <a:latin typeface="宋体" panose="02010600030101010101" pitchFamily="2" charset="-122"/>
                    <a:sym typeface="Symbol" panose="05050102010706020507" pitchFamily="18" charset="2"/>
                  </a:rPr>
                  <a:t>局部极小</a:t>
                </a:r>
                <a:r>
                  <a:rPr lang="en-US" altLang="zh-CN" sz="2400" dirty="0">
                    <a:latin typeface="宋体" panose="02010600030101010101" pitchFamily="2" charset="-122"/>
                    <a:sym typeface="Symbol" panose="05050102010706020507" pitchFamily="18" charset="2"/>
                  </a:rPr>
                  <a:t>, </a:t>
                </a:r>
                <a:r>
                  <a:rPr lang="zh-CN" altLang="en-US" sz="2400" dirty="0">
                    <a:latin typeface="宋体" panose="02010600030101010101" pitchFamily="2" charset="-122"/>
                  </a:rPr>
                  <a:t>对充分小</a:t>
                </a:r>
                <a:r>
                  <a:rPr lang="zh-CN" altLang="en-US" sz="2400" dirty="0">
                    <a:ea typeface="楷体_GB2312" pitchFamily="49" charset="-122"/>
                  </a:rPr>
                  <a:t> </a:t>
                </a:r>
                <a:r>
                  <a:rPr lang="zh-CN" altLang="en-US" sz="2400" i="1" dirty="0"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zh-CN" altLang="en-US" sz="2400" dirty="0">
                    <a:sym typeface="Symbol" panose="05050102010706020507" pitchFamily="18" charset="2"/>
                  </a:rPr>
                  <a:t>有</a:t>
                </a:r>
                <a:r>
                  <a:rPr lang="en-US" altLang="zh-CN" sz="2400" i="1" dirty="0"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*+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2400" b="1" i="1" dirty="0">
                    <a:ea typeface="楷体_GB2312" pitchFamily="49" charset="-122"/>
                  </a:rPr>
                  <a:t>d</a:t>
                </a:r>
                <a:r>
                  <a:rPr lang="en-US" altLang="zh-CN" sz="2400" dirty="0">
                    <a:ea typeface="楷体_GB2312" pitchFamily="49" charset="-122"/>
                  </a:rPr>
                  <a:t>)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</a:t>
                </a:r>
                <a:r>
                  <a:rPr lang="en-US" altLang="zh-CN" sz="2400" i="1" dirty="0"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*) </a:t>
                </a:r>
              </a:p>
            </p:txBody>
          </p:sp>
        </mc:Choice>
        <mc:Fallback xmlns="">
          <p:sp>
            <p:nvSpPr>
              <p:cNvPr id="1024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181" y="2319121"/>
                <a:ext cx="8532812" cy="3884397"/>
              </a:xfrm>
              <a:prstGeom prst="rect">
                <a:avLst/>
              </a:prstGeom>
              <a:blipFill>
                <a:blip r:embed="rId2"/>
                <a:stretch>
                  <a:fillRect l="-1071" t="-1567" r="-71" b="-28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3" name="Rectangle 12"/>
          <p:cNvSpPr>
            <a:spLocks noChangeArrowheads="1"/>
          </p:cNvSpPr>
          <p:nvPr/>
        </p:nvSpPr>
        <p:spPr bwMode="auto">
          <a:xfrm>
            <a:off x="7882917" y="1794343"/>
            <a:ext cx="261610" cy="46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400" dirty="0">
                <a:ea typeface="楷体_GB2312" pitchFamily="49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7" name="Rectangle 17"/>
              <p:cNvSpPr>
                <a:spLocks noChangeArrowheads="1"/>
              </p:cNvSpPr>
              <p:nvPr/>
            </p:nvSpPr>
            <p:spPr bwMode="auto">
              <a:xfrm>
                <a:off x="294974" y="933033"/>
                <a:ext cx="8135938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证明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(1)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.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若</a:t>
                </a:r>
                <a:r>
                  <a:rPr lang="zh-CN" altLang="en-U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*)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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0,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作 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=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－</a:t>
                </a:r>
                <a:r>
                  <a:rPr lang="zh-CN" altLang="en-U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*). 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则有 </a:t>
                </a:r>
                <a:r>
                  <a:rPr lang="zh-CN" altLang="en-U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*)</a:t>
                </a:r>
                <a:r>
                  <a:rPr lang="en-US" altLang="zh-CN" sz="2400" b="1" i="1" baseline="30000" dirty="0">
                    <a:ea typeface="楷体_GB2312" pitchFamily="49" charset="-122"/>
                    <a:sym typeface="Symbol" panose="05050102010706020507" pitchFamily="18" charset="2"/>
                  </a:rPr>
                  <a:t> T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d&lt;0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</a:rPr>
                  <a:t>由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Th7.1.1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,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存在 </a:t>
                </a:r>
                <a:r>
                  <a:rPr lang="zh-CN" altLang="en-US" sz="2400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 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&gt; 0 </a:t>
                </a:r>
                <a:r>
                  <a:rPr lang="zh-CN" altLang="en-U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使得 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*+</a:t>
                </a:r>
                <a:r>
                  <a:rPr lang="en-US" altLang="zh-CN" sz="2400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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&lt;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*)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Euclid Symbol" panose="05050102010706020507" pitchFamily="18" charset="2"/>
                      </a:rPr>
                      <m:t>∀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</a:t>
                </a:r>
                <a:r>
                  <a:rPr lang="zh-CN" altLang="en-U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(0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2400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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),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此与 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为局部极小相矛盾，故 </a:t>
                </a:r>
                <a:r>
                  <a:rPr lang="zh-CN" altLang="en-U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*)=0.</a:t>
                </a:r>
              </a:p>
            </p:txBody>
          </p:sp>
        </mc:Choice>
        <mc:Fallback xmlns="">
          <p:sp>
            <p:nvSpPr>
              <p:cNvPr id="10247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974" y="933033"/>
                <a:ext cx="8135938" cy="1200329"/>
              </a:xfrm>
              <a:prstGeom prst="rect">
                <a:avLst/>
              </a:prstGeom>
              <a:blipFill>
                <a:blip r:embed="rId3"/>
                <a:stretch>
                  <a:fillRect l="-1124" t="-5584" r="-449" b="-111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C567DB7F-2E78-4267-AC2B-BCBD9AA05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0" name="Group 19"/>
          <p:cNvGrpSpPr>
            <a:grpSpLocks/>
          </p:cNvGrpSpPr>
          <p:nvPr/>
        </p:nvGrpSpPr>
        <p:grpSpPr bwMode="auto">
          <a:xfrm>
            <a:off x="2627313" y="1125543"/>
            <a:ext cx="3830638" cy="614363"/>
            <a:chOff x="1824" y="3504"/>
            <a:chExt cx="2413" cy="387"/>
          </a:xfrm>
        </p:grpSpPr>
        <p:sp>
          <p:nvSpPr>
            <p:cNvPr id="11276" name="Rectangle 17"/>
            <p:cNvSpPr>
              <a:spLocks noChangeArrowheads="1"/>
            </p:cNvSpPr>
            <p:nvPr/>
          </p:nvSpPr>
          <p:spPr bwMode="auto">
            <a:xfrm>
              <a:off x="1824" y="3600"/>
              <a:ext cx="24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 err="1">
                  <a:ea typeface="楷体_GB2312" pitchFamily="49" charset="-122"/>
                  <a:sym typeface="Symbol" panose="05050102010706020507" pitchFamily="18" charset="2"/>
                </a:rPr>
                <a:t>d</a:t>
              </a:r>
              <a:r>
                <a:rPr lang="en-US" altLang="zh-CN" sz="2400" b="1" i="1" baseline="30000" dirty="0" err="1">
                  <a:ea typeface="楷体_GB2312" pitchFamily="49" charset="-122"/>
                  <a:sym typeface="Symbol" panose="05050102010706020507" pitchFamily="18" charset="2"/>
                </a:rPr>
                <a:t>T</a:t>
              </a:r>
              <a:r>
                <a:rPr lang="en-US" altLang="zh-CN" sz="2400" i="1" dirty="0" err="1">
                  <a:ea typeface="楷体_GB2312" pitchFamily="49" charset="-122"/>
                  <a:sym typeface="Symbol" panose="05050102010706020507" pitchFamily="18" charset="2"/>
                </a:rPr>
                <a:t>H</a:t>
              </a:r>
              <a:r>
                <a:rPr lang="en-US" altLang="zh-CN" sz="2400" dirty="0">
                  <a:ea typeface="楷体_GB2312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sz="2400" b="1" i="1" dirty="0">
                  <a:ea typeface="楷体_GB2312" pitchFamily="49" charset="-122"/>
                </a:rPr>
                <a:t>x</a:t>
              </a:r>
              <a:r>
                <a:rPr lang="en-US" altLang="zh-CN" sz="2400" dirty="0">
                  <a:ea typeface="楷体_GB2312" pitchFamily="49" charset="-122"/>
                </a:rPr>
                <a:t>*</a:t>
              </a:r>
              <a:r>
                <a:rPr lang="en-US" altLang="zh-CN" sz="2400" dirty="0">
                  <a:ea typeface="楷体_GB2312" pitchFamily="49" charset="-122"/>
                  <a:sym typeface="Symbol" panose="05050102010706020507" pitchFamily="18" charset="2"/>
                </a:rPr>
                <a:t>)</a:t>
              </a:r>
              <a:r>
                <a:rPr lang="en-US" altLang="zh-CN" sz="2400" b="1" i="1" dirty="0">
                  <a:ea typeface="楷体_GB2312" pitchFamily="49" charset="-122"/>
                  <a:sym typeface="Symbol" panose="05050102010706020507" pitchFamily="18" charset="2"/>
                </a:rPr>
                <a:t>d</a:t>
              </a:r>
              <a:r>
                <a:rPr lang="en-US" altLang="zh-CN" sz="2400" dirty="0">
                  <a:ea typeface="楷体_GB2312" pitchFamily="49" charset="-122"/>
                  <a:sym typeface="Symbol" panose="05050102010706020507" pitchFamily="18" charset="2"/>
                </a:rPr>
                <a:t>/2+||</a:t>
              </a:r>
              <a:r>
                <a:rPr lang="en-US" altLang="zh-CN" sz="2400" b="1" i="1" dirty="0">
                  <a:ea typeface="楷体_GB2312" pitchFamily="49" charset="-122"/>
                  <a:sym typeface="Symbol" panose="05050102010706020507" pitchFamily="18" charset="2"/>
                </a:rPr>
                <a:t>d</a:t>
              </a:r>
              <a:r>
                <a:rPr lang="en-US" altLang="zh-CN" sz="2400" dirty="0">
                  <a:ea typeface="楷体_GB2312" pitchFamily="49" charset="-122"/>
                  <a:sym typeface="Symbol" panose="05050102010706020507" pitchFamily="18" charset="2"/>
                </a:rPr>
                <a:t>||</a:t>
              </a:r>
              <a:r>
                <a:rPr lang="en-US" altLang="zh-CN" sz="2400" baseline="30000" dirty="0">
                  <a:ea typeface="楷体_GB2312" pitchFamily="49" charset="-122"/>
                  <a:sym typeface="Symbol" panose="05050102010706020507" pitchFamily="18" charset="2"/>
                </a:rPr>
                <a:t>2</a:t>
              </a:r>
              <a:r>
                <a:rPr lang="en-US" altLang="zh-CN" sz="2400" i="1" dirty="0">
                  <a:ea typeface="楷体_GB2312" pitchFamily="49" charset="-122"/>
                  <a:sym typeface="Symbol" panose="05050102010706020507" pitchFamily="18" charset="2"/>
                </a:rPr>
                <a:t> </a:t>
              </a:r>
              <a:r>
                <a:rPr lang="en-US" altLang="zh-CN" sz="2400" dirty="0">
                  <a:ea typeface="楷体_GB2312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sz="2400" b="1" i="1" dirty="0">
                  <a:ea typeface="楷体_GB2312" pitchFamily="49" charset="-122"/>
                </a:rPr>
                <a:t>x</a:t>
              </a:r>
              <a:r>
                <a:rPr lang="en-US" altLang="zh-CN" sz="2400" dirty="0">
                  <a:ea typeface="楷体_GB2312" pitchFamily="49" charset="-122"/>
                </a:rPr>
                <a:t>*</a:t>
              </a:r>
              <a:r>
                <a:rPr lang="en-US" altLang="zh-CN" sz="2400" dirty="0">
                  <a:ea typeface="楷体_GB2312" pitchFamily="49" charset="-122"/>
                  <a:sym typeface="Symbol" panose="05050102010706020507" pitchFamily="18" charset="2"/>
                </a:rPr>
                <a:t>;</a:t>
              </a:r>
              <a:r>
                <a:rPr lang="en-US" altLang="zh-CN" sz="2400" i="1" dirty="0">
                  <a:ea typeface="楷体_GB2312" pitchFamily="49" charset="-122"/>
                  <a:sym typeface="Symbol" panose="05050102010706020507" pitchFamily="18" charset="2"/>
                </a:rPr>
                <a:t></a:t>
              </a:r>
              <a:r>
                <a:rPr lang="en-US" altLang="zh-CN" sz="2400" b="1" i="1" dirty="0">
                  <a:ea typeface="楷体_GB2312" pitchFamily="49" charset="-122"/>
                </a:rPr>
                <a:t>d</a:t>
              </a:r>
              <a:r>
                <a:rPr lang="en-US" altLang="zh-CN" sz="2400" dirty="0">
                  <a:ea typeface="楷体_GB2312" pitchFamily="49" charset="-122"/>
                  <a:sym typeface="Symbol" panose="05050102010706020507" pitchFamily="18" charset="2"/>
                </a:rPr>
                <a:t>)0</a:t>
              </a:r>
            </a:p>
          </p:txBody>
        </p:sp>
        <p:sp>
          <p:nvSpPr>
            <p:cNvPr id="11277" name="Rectangle 18"/>
            <p:cNvSpPr>
              <a:spLocks noChangeArrowheads="1"/>
            </p:cNvSpPr>
            <p:nvPr/>
          </p:nvSpPr>
          <p:spPr bwMode="auto">
            <a:xfrm>
              <a:off x="2976" y="3504"/>
              <a:ext cx="24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i="1" dirty="0">
                  <a:ea typeface="楷体_GB2312" pitchFamily="49" charset="-122"/>
                  <a:sym typeface="Symbol" panose="05050102010706020507" pitchFamily="18" charset="2"/>
                </a:rPr>
                <a:t>    </a:t>
              </a:r>
            </a:p>
          </p:txBody>
        </p:sp>
      </p:grpSp>
      <p:sp>
        <p:nvSpPr>
          <p:cNvPr id="11271" name="Rectangle 20"/>
          <p:cNvSpPr>
            <a:spLocks noChangeArrowheads="1"/>
          </p:cNvSpPr>
          <p:nvPr/>
        </p:nvSpPr>
        <p:spPr bwMode="auto">
          <a:xfrm>
            <a:off x="250825" y="960438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由</a:t>
            </a:r>
            <a:r>
              <a:rPr lang="en-US" altLang="zh-CN" sz="2400">
                <a:latin typeface="宋体" panose="02010600030101010101" pitchFamily="2" charset="-122"/>
              </a:rPr>
              <a:t>(II), </a:t>
            </a:r>
            <a:r>
              <a:rPr lang="zh-CN" altLang="en-US" sz="2400">
                <a:latin typeface="宋体" panose="02010600030101010101" pitchFamily="2" charset="-122"/>
              </a:rPr>
              <a:t>显见</a:t>
            </a:r>
          </a:p>
        </p:txBody>
      </p:sp>
      <p:sp>
        <p:nvSpPr>
          <p:cNvPr id="11272" name="Rectangle 21"/>
          <p:cNvSpPr>
            <a:spLocks noChangeArrowheads="1"/>
          </p:cNvSpPr>
          <p:nvPr/>
        </p:nvSpPr>
        <p:spPr bwMode="auto">
          <a:xfrm>
            <a:off x="250825" y="1916113"/>
            <a:ext cx="8137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对充分小的 </a:t>
            </a:r>
            <a:r>
              <a:rPr lang="zh-CN" altLang="en-US" sz="2400" i="1" dirty="0"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sym typeface="Symbol" panose="05050102010706020507" pitchFamily="18" charset="2"/>
              </a:rPr>
              <a:t>成立</a:t>
            </a:r>
            <a:r>
              <a:rPr lang="zh-CN" altLang="en-US" sz="2400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,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对 </a:t>
            </a:r>
            <a:r>
              <a:rPr lang="zh-CN" altLang="en-US" sz="2400" i="1" dirty="0">
                <a:sym typeface="Symbol" panose="05050102010706020507" pitchFamily="18" charset="2"/>
              </a:rPr>
              <a:t></a:t>
            </a:r>
            <a:r>
              <a:rPr lang="en-US" altLang="zh-CN" sz="2400" dirty="0"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ym typeface="Symbol" panose="05050102010706020507" pitchFamily="18" charset="2"/>
              </a:rPr>
              <a:t>取极限</a:t>
            </a:r>
            <a:r>
              <a:rPr lang="en-US" altLang="zh-CN" sz="2400" i="1" dirty="0"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sym typeface="Symbol" panose="05050102010706020507" pitchFamily="18" charset="2"/>
              </a:rPr>
              <a:t>则有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d</a:t>
            </a:r>
            <a:r>
              <a:rPr lang="en-US" altLang="zh-CN" sz="2400" b="1" i="1" baseline="30000" dirty="0" err="1"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sz="2400" i="1" dirty="0" err="1">
                <a:sym typeface="Symbol" panose="05050102010706020507" pitchFamily="18" charset="2"/>
              </a:rPr>
              <a:t>H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*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b="1" i="1" dirty="0">
                <a:sym typeface="Symbol" panose="05050102010706020507" pitchFamily="18" charset="2"/>
              </a:rPr>
              <a:t>d </a:t>
            </a:r>
            <a:r>
              <a:rPr lang="en-US" altLang="zh-CN" sz="2400" dirty="0">
                <a:sym typeface="Symbol" panose="05050102010706020507" pitchFamily="18" charset="2"/>
              </a:rPr>
              <a:t>0,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从而</a:t>
            </a:r>
            <a:r>
              <a:rPr lang="en-US" altLang="zh-CN" sz="2400" dirty="0">
                <a:sym typeface="Symbol" panose="05050102010706020507" pitchFamily="18" charset="2"/>
              </a:rPr>
              <a:t>,H(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*) </a:t>
            </a:r>
            <a:r>
              <a:rPr lang="zh-CN" altLang="en-US" sz="2400" dirty="0">
                <a:sym typeface="Symbol" panose="05050102010706020507" pitchFamily="18" charset="2"/>
              </a:rPr>
              <a:t>半正定</a:t>
            </a:r>
          </a:p>
        </p:txBody>
      </p:sp>
      <p:sp>
        <p:nvSpPr>
          <p:cNvPr id="67591" name="Rectangle 23"/>
          <p:cNvSpPr>
            <a:spLocks noChangeArrowheads="1"/>
          </p:cNvSpPr>
          <p:nvPr/>
        </p:nvSpPr>
        <p:spPr bwMode="auto">
          <a:xfrm>
            <a:off x="458688" y="3367104"/>
            <a:ext cx="8064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ea typeface="楷体_GB2312" pitchFamily="49" charset="-122"/>
              </a:rPr>
              <a:t>定义</a:t>
            </a:r>
            <a:r>
              <a:rPr lang="en-US" altLang="zh-CN" sz="2400" b="1" dirty="0"/>
              <a:t>1 </a:t>
            </a:r>
            <a:r>
              <a:rPr lang="zh-CN" altLang="en-US" sz="2400" dirty="0"/>
              <a:t>若</a:t>
            </a:r>
            <a:r>
              <a:rPr lang="en-US" altLang="zh-CN" sz="2400" b="1" i="1" dirty="0"/>
              <a:t>f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)</a:t>
            </a:r>
            <a:r>
              <a:rPr lang="zh-CN" altLang="en-US" sz="2400" dirty="0"/>
              <a:t>在点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*</a:t>
            </a:r>
            <a:r>
              <a:rPr lang="zh-CN" altLang="en-US" sz="2400" dirty="0"/>
              <a:t>处可微</a:t>
            </a:r>
            <a:r>
              <a:rPr lang="en-US" altLang="zh-CN" sz="2400" dirty="0"/>
              <a:t>,</a:t>
            </a:r>
            <a:r>
              <a:rPr lang="zh-CN" altLang="en-US" sz="2400" dirty="0"/>
              <a:t>且</a:t>
            </a:r>
            <a:r>
              <a:rPr lang="zh-CN" altLang="en-US" sz="2400" dirty="0">
                <a:sym typeface="Symbol" panose="05050102010706020507" pitchFamily="18" charset="2"/>
              </a:rPr>
              <a:t> </a:t>
            </a:r>
            <a:r>
              <a:rPr lang="en-US" altLang="zh-CN" sz="2400" b="1" i="1" dirty="0">
                <a:sym typeface="Euclid Symbol" panose="05050102010706020507" pitchFamily="18" charset="2"/>
              </a:rPr>
              <a:t>f</a:t>
            </a:r>
            <a:r>
              <a:rPr lang="en-US" altLang="zh-CN" sz="2400" b="1" dirty="0">
                <a:sym typeface="Euclid Symbol" panose="05050102010706020507" pitchFamily="18" charset="2"/>
              </a:rPr>
              <a:t>(</a:t>
            </a:r>
            <a:r>
              <a:rPr lang="en-US" altLang="zh-CN" sz="2400" b="1" i="1" dirty="0">
                <a:sym typeface="Euclid Symbol" panose="05050102010706020507" pitchFamily="18" charset="2"/>
              </a:rPr>
              <a:t>x</a:t>
            </a:r>
            <a:r>
              <a:rPr lang="en-US" altLang="zh-CN" sz="2400" b="1" dirty="0">
                <a:sym typeface="Euclid Symbol" panose="05050102010706020507" pitchFamily="18" charset="2"/>
              </a:rPr>
              <a:t>*)=0,</a:t>
            </a:r>
            <a:r>
              <a:rPr lang="zh-CN" altLang="en-US" sz="2400" dirty="0"/>
              <a:t>则称</a:t>
            </a:r>
            <a:r>
              <a:rPr lang="en-US" altLang="zh-CN" sz="2400" i="1" dirty="0">
                <a:sym typeface="Euclid Symbol" panose="05050102010706020507" pitchFamily="18" charset="2"/>
              </a:rPr>
              <a:t>x</a:t>
            </a:r>
            <a:r>
              <a:rPr lang="en-US" altLang="zh-CN" sz="2400" dirty="0">
                <a:sym typeface="Euclid Symbol" panose="05050102010706020507" pitchFamily="18" charset="2"/>
              </a:rPr>
              <a:t>*</a:t>
            </a:r>
            <a:r>
              <a:rPr lang="zh-CN" altLang="en-US" sz="2400" dirty="0">
                <a:sym typeface="Euclid Symbol" panose="05050102010706020507" pitchFamily="18" charset="2"/>
              </a:rPr>
              <a:t>为</a:t>
            </a:r>
            <a:r>
              <a:rPr lang="en-US" altLang="zh-CN" sz="2400" i="1" dirty="0">
                <a:sym typeface="Euclid Symbol" panose="05050102010706020507" pitchFamily="18" charset="2"/>
              </a:rPr>
              <a:t>f</a:t>
            </a:r>
            <a:r>
              <a:rPr lang="en-US" altLang="zh-CN" sz="2400" dirty="0">
                <a:sym typeface="Euclid Symbol" panose="05050102010706020507" pitchFamily="18" charset="2"/>
              </a:rPr>
              <a:t>(</a:t>
            </a:r>
            <a:r>
              <a:rPr lang="en-US" altLang="zh-CN" sz="2400" i="1" dirty="0">
                <a:sym typeface="Euclid Symbol" panose="05050102010706020507" pitchFamily="18" charset="2"/>
              </a:rPr>
              <a:t>x</a:t>
            </a:r>
            <a:r>
              <a:rPr lang="en-US" altLang="zh-CN" sz="2400" dirty="0">
                <a:sym typeface="Euclid Symbol" panose="05050102010706020507" pitchFamily="18" charset="2"/>
              </a:rPr>
              <a:t>)</a:t>
            </a:r>
            <a:r>
              <a:rPr lang="zh-CN" altLang="en-US" sz="2400" dirty="0">
                <a:sym typeface="Euclid Symbol" panose="05050102010706020507" pitchFamily="18" charset="2"/>
              </a:rPr>
              <a:t>的一个</a:t>
            </a:r>
            <a:r>
              <a:rPr lang="zh-CN" altLang="en-US" sz="2400" b="1" dirty="0">
                <a:ea typeface="楷体_GB2312" pitchFamily="49" charset="-122"/>
                <a:sym typeface="Euclid Symbol" panose="05050102010706020507" pitchFamily="18" charset="2"/>
              </a:rPr>
              <a:t>驻点</a:t>
            </a:r>
            <a:r>
              <a:rPr lang="zh-CN" altLang="en-US" sz="2400" dirty="0">
                <a:sym typeface="Euclid Symbol" panose="05050102010706020507" pitchFamily="18" charset="2"/>
              </a:rPr>
              <a:t>或</a:t>
            </a:r>
            <a:r>
              <a:rPr lang="zh-CN" altLang="en-US" sz="2400" b="1" dirty="0">
                <a:ea typeface="楷体_GB2312" pitchFamily="49" charset="-122"/>
                <a:sym typeface="Euclid Symbol" panose="05050102010706020507" pitchFamily="18" charset="2"/>
              </a:rPr>
              <a:t>平稳点</a:t>
            </a:r>
            <a:r>
              <a:rPr lang="en-US" altLang="zh-CN" sz="2400" b="1" dirty="0">
                <a:ea typeface="楷体_GB2312" pitchFamily="49" charset="-122"/>
                <a:sym typeface="Euclid Symbol" panose="05050102010706020507" pitchFamily="18" charset="2"/>
              </a:rPr>
              <a:t>.</a:t>
            </a:r>
            <a:r>
              <a:rPr lang="en-US" altLang="zh-CN" sz="2400" b="1" i="1" dirty="0"/>
              <a:t> </a:t>
            </a:r>
            <a:r>
              <a:rPr lang="zh-CN" altLang="en-US" sz="2400" dirty="0">
                <a:sym typeface="Euclid Symbol" panose="05050102010706020507" pitchFamily="18" charset="2"/>
              </a:rPr>
              <a:t>既不是极大点也不是极小点的驻点称为</a:t>
            </a:r>
            <a:r>
              <a:rPr lang="zh-CN" altLang="en-US" sz="2400" b="1" dirty="0">
                <a:ea typeface="楷体_GB2312" pitchFamily="49" charset="-122"/>
                <a:sym typeface="Euclid Symbol" panose="05050102010706020507" pitchFamily="18" charset="2"/>
              </a:rPr>
              <a:t>鞍点</a:t>
            </a:r>
            <a:r>
              <a:rPr lang="en-US" altLang="zh-CN" sz="2400" dirty="0">
                <a:sym typeface="Euclid Symbol" panose="05050102010706020507" pitchFamily="18" charset="2"/>
              </a:rPr>
              <a:t>.</a:t>
            </a:r>
            <a:endParaRPr lang="en-US" altLang="zh-CN" sz="2400" b="1" dirty="0">
              <a:ea typeface="楷体_GB2312" pitchFamily="49" charset="-122"/>
              <a:sym typeface="Euclid Symbol" panose="05050102010706020507" pitchFamily="18" charset="2"/>
            </a:endParaRPr>
          </a:p>
        </p:txBody>
      </p:sp>
      <p:sp>
        <p:nvSpPr>
          <p:cNvPr id="67592" name="Text Box 24"/>
          <p:cNvSpPr txBox="1">
            <a:spLocks noChangeArrowheads="1"/>
          </p:cNvSpPr>
          <p:nvPr/>
        </p:nvSpPr>
        <p:spPr bwMode="auto">
          <a:xfrm>
            <a:off x="468313" y="4508500"/>
            <a:ext cx="8101012" cy="129698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ea typeface="楷体_GB2312" pitchFamily="49" charset="-122"/>
              </a:rPr>
              <a:t>Th7.1.4 </a:t>
            </a:r>
            <a:r>
              <a:rPr lang="en-US" altLang="zh-CN" sz="2400">
                <a:ea typeface="楷体_GB2312" pitchFamily="49" charset="-122"/>
              </a:rPr>
              <a:t>(</a:t>
            </a:r>
            <a:r>
              <a:rPr lang="zh-CN" altLang="en-US" sz="2400" b="1"/>
              <a:t>二阶充分条件</a:t>
            </a:r>
            <a:r>
              <a:rPr lang="en-US" altLang="zh-CN" sz="2400">
                <a:ea typeface="楷体_GB2312" pitchFamily="49" charset="-122"/>
              </a:rPr>
              <a:t>). </a:t>
            </a:r>
            <a:r>
              <a:rPr lang="zh-CN" altLang="en-US" sz="2400"/>
              <a:t>假设</a:t>
            </a:r>
            <a:r>
              <a:rPr lang="zh-CN" altLang="en-US" sz="2400">
                <a:ea typeface="楷体_GB2312" pitchFamily="49" charset="-122"/>
              </a:rPr>
              <a:t> </a:t>
            </a:r>
            <a:r>
              <a:rPr lang="en-US" altLang="zh-CN" sz="2400" i="1">
                <a:ea typeface="楷体_GB2312" pitchFamily="49" charset="-122"/>
              </a:rPr>
              <a:t>f</a:t>
            </a:r>
            <a:r>
              <a:rPr lang="en-US" altLang="zh-CN" sz="2400">
                <a:ea typeface="楷体_GB2312" pitchFamily="49" charset="-122"/>
              </a:rPr>
              <a:t>(</a:t>
            </a:r>
            <a:r>
              <a:rPr lang="en-US" altLang="zh-CN" sz="2400" b="1" i="1">
                <a:ea typeface="楷体_GB2312" pitchFamily="49" charset="-122"/>
              </a:rPr>
              <a:t>x</a:t>
            </a:r>
            <a:r>
              <a:rPr lang="en-US" altLang="zh-CN" sz="2400">
                <a:ea typeface="楷体_GB2312" pitchFamily="49" charset="-122"/>
              </a:rPr>
              <a:t>) </a:t>
            </a:r>
            <a:r>
              <a:rPr lang="zh-CN" altLang="en-US" sz="2400"/>
              <a:t>在</a:t>
            </a:r>
            <a:r>
              <a:rPr lang="zh-CN" altLang="en-US" sz="2400">
                <a:ea typeface="楷体_GB2312" pitchFamily="49" charset="-122"/>
              </a:rPr>
              <a:t> </a:t>
            </a:r>
            <a:r>
              <a:rPr lang="en-US" altLang="zh-CN" sz="2400" b="1" i="1">
                <a:ea typeface="楷体_GB2312" pitchFamily="49" charset="-122"/>
              </a:rPr>
              <a:t>x</a:t>
            </a:r>
            <a:r>
              <a:rPr lang="en-US" altLang="zh-CN" sz="2400">
                <a:ea typeface="楷体_GB2312" pitchFamily="49" charset="-122"/>
              </a:rPr>
              <a:t>*</a:t>
            </a:r>
            <a:r>
              <a:rPr lang="zh-CN" altLang="en-US" sz="2400">
                <a:latin typeface="宋体" panose="02010600030101010101" pitchFamily="2" charset="-122"/>
              </a:rPr>
              <a:t>点二次可微</a:t>
            </a:r>
            <a:r>
              <a:rPr lang="en-US" altLang="zh-CN" sz="2400">
                <a:latin typeface="宋体" panose="02010600030101010101" pitchFamily="2" charset="-122"/>
              </a:rPr>
              <a:t>,</a:t>
            </a:r>
            <a:r>
              <a:rPr lang="zh-CN" altLang="en-US" sz="2400">
                <a:latin typeface="宋体" panose="02010600030101010101" pitchFamily="2" charset="-122"/>
              </a:rPr>
              <a:t>若</a:t>
            </a:r>
            <a:r>
              <a:rPr lang="zh-CN" altLang="en-US" sz="2400">
                <a:ea typeface="楷体_GB2312" pitchFamily="49" charset="-122"/>
              </a:rPr>
              <a:t> </a:t>
            </a:r>
            <a:r>
              <a:rPr lang="zh-CN" altLang="en-US" sz="2400">
                <a:ea typeface="楷体_GB2312" pitchFamily="49" charset="-122"/>
                <a:sym typeface="Symbol" panose="05050102010706020507" pitchFamily="18" charset="2"/>
              </a:rPr>
              <a:t></a:t>
            </a:r>
            <a:r>
              <a:rPr lang="en-US" altLang="zh-CN" sz="2400" i="1">
                <a:ea typeface="楷体_GB2312" pitchFamily="49" charset="-122"/>
              </a:rPr>
              <a:t>f</a:t>
            </a:r>
            <a:r>
              <a:rPr lang="en-US" altLang="zh-CN" sz="2400">
                <a:ea typeface="楷体_GB2312" pitchFamily="49" charset="-122"/>
              </a:rPr>
              <a:t>(</a:t>
            </a:r>
            <a:r>
              <a:rPr lang="en-US" altLang="zh-CN" sz="2400" b="1" i="1">
                <a:ea typeface="楷体_GB2312" pitchFamily="49" charset="-122"/>
              </a:rPr>
              <a:t>x</a:t>
            </a:r>
            <a:r>
              <a:rPr lang="en-US" altLang="zh-CN" sz="2400">
                <a:ea typeface="楷体_GB2312" pitchFamily="49" charset="-122"/>
              </a:rPr>
              <a:t>*)=</a:t>
            </a:r>
            <a:r>
              <a:rPr lang="en-US" altLang="zh-CN" sz="2400" b="1">
                <a:ea typeface="楷体_GB2312" pitchFamily="49" charset="-122"/>
              </a:rPr>
              <a:t>0</a:t>
            </a:r>
            <a:r>
              <a:rPr lang="en-US" altLang="zh-CN" sz="2400">
                <a:ea typeface="楷体_GB2312" pitchFamily="49" charset="-122"/>
              </a:rPr>
              <a:t> </a:t>
            </a:r>
            <a:r>
              <a:rPr lang="zh-CN" altLang="en-US" sz="2400"/>
              <a:t>且</a:t>
            </a:r>
            <a:r>
              <a:rPr lang="zh-CN" altLang="en-US" sz="2400">
                <a:ea typeface="楷体_GB2312" pitchFamily="49" charset="-122"/>
              </a:rPr>
              <a:t> </a:t>
            </a:r>
            <a:r>
              <a:rPr lang="en-US" altLang="zh-CN" sz="2400" b="1">
                <a:ea typeface="楷体_GB2312" pitchFamily="49" charset="-122"/>
              </a:rPr>
              <a:t>Hessian </a:t>
            </a:r>
            <a:r>
              <a:rPr lang="zh-CN" altLang="en-US" sz="2400"/>
              <a:t>矩阵</a:t>
            </a:r>
            <a:r>
              <a:rPr lang="zh-CN" altLang="en-US" sz="2400">
                <a:ea typeface="楷体_GB2312" pitchFamily="49" charset="-122"/>
              </a:rPr>
              <a:t> </a:t>
            </a:r>
            <a:r>
              <a:rPr lang="en-US" altLang="zh-CN" sz="2400" b="1" i="1">
                <a:ea typeface="楷体_GB2312" pitchFamily="49" charset="-122"/>
              </a:rPr>
              <a:t>H</a:t>
            </a:r>
            <a:r>
              <a:rPr lang="en-US" altLang="zh-CN" sz="2400">
                <a:ea typeface="楷体_GB2312" pitchFamily="49" charset="-122"/>
              </a:rPr>
              <a:t>(</a:t>
            </a:r>
            <a:r>
              <a:rPr lang="en-US" altLang="zh-CN" sz="2400" b="1" i="1">
                <a:ea typeface="楷体_GB2312" pitchFamily="49" charset="-122"/>
              </a:rPr>
              <a:t>x</a:t>
            </a:r>
            <a:r>
              <a:rPr lang="en-US" altLang="zh-CN" sz="2400">
                <a:ea typeface="楷体_GB2312" pitchFamily="49" charset="-122"/>
              </a:rPr>
              <a:t>*) </a:t>
            </a:r>
            <a:r>
              <a:rPr lang="zh-CN" altLang="en-US" sz="2400">
                <a:latin typeface="宋体" panose="02010600030101010101" pitchFamily="2" charset="-122"/>
              </a:rPr>
              <a:t>是正定的</a:t>
            </a:r>
            <a:r>
              <a:rPr lang="en-US" altLang="zh-CN" sz="2400">
                <a:latin typeface="宋体" panose="02010600030101010101" pitchFamily="2" charset="-122"/>
              </a:rPr>
              <a:t>,</a:t>
            </a:r>
            <a:r>
              <a:rPr lang="zh-CN" altLang="en-US" sz="2400">
                <a:latin typeface="宋体" panose="02010600030101010101" pitchFamily="2" charset="-122"/>
              </a:rPr>
              <a:t>则</a:t>
            </a:r>
            <a:r>
              <a:rPr lang="zh-CN" altLang="en-US" sz="2400">
                <a:ea typeface="楷体_GB2312" pitchFamily="49" charset="-122"/>
              </a:rPr>
              <a:t> </a:t>
            </a:r>
            <a:r>
              <a:rPr lang="en-US" altLang="zh-CN" sz="2400" b="1" i="1">
                <a:ea typeface="楷体_GB2312" pitchFamily="49" charset="-122"/>
              </a:rPr>
              <a:t>x</a:t>
            </a:r>
            <a:r>
              <a:rPr lang="en-US" altLang="zh-CN" sz="2400">
                <a:ea typeface="楷体_GB2312" pitchFamily="49" charset="-122"/>
              </a:rPr>
              <a:t>* </a:t>
            </a:r>
            <a:r>
              <a:rPr lang="zh-CN" altLang="en-US" sz="2400"/>
              <a:t>是</a:t>
            </a:r>
            <a:r>
              <a:rPr lang="en-US" altLang="zh-CN" sz="2400"/>
              <a:t>(UNLP)</a:t>
            </a:r>
            <a:r>
              <a:rPr lang="zh-CN" altLang="en-US" sz="2400"/>
              <a:t>的一个</a:t>
            </a:r>
            <a:r>
              <a:rPr lang="en-US" altLang="zh-CN" sz="2400"/>
              <a:t>(</a:t>
            </a:r>
            <a:r>
              <a:rPr lang="zh-CN" altLang="en-US" sz="2400"/>
              <a:t>严格</a:t>
            </a:r>
            <a:r>
              <a:rPr lang="en-US" altLang="zh-CN" sz="2400"/>
              <a:t>)</a:t>
            </a:r>
            <a:r>
              <a:rPr lang="zh-CN" altLang="en-US" sz="2400"/>
              <a:t>局部极小点</a:t>
            </a:r>
          </a:p>
        </p:txBody>
      </p:sp>
      <p:sp>
        <p:nvSpPr>
          <p:cNvPr id="67593" name="Rectangle 25"/>
          <p:cNvSpPr>
            <a:spLocks noChangeArrowheads="1"/>
          </p:cNvSpPr>
          <p:nvPr/>
        </p:nvSpPr>
        <p:spPr bwMode="auto">
          <a:xfrm>
            <a:off x="468313" y="2708275"/>
            <a:ext cx="2862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，二阶充分条件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0C89B2C-7FBF-4110-BA5F-86D125CD0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50027"/>
            <a:ext cx="8229600" cy="757238"/>
          </a:xfrm>
        </p:spPr>
        <p:txBody>
          <a:bodyPr/>
          <a:lstStyle/>
          <a:p>
            <a:r>
              <a:rPr lang="en-US" altLang="zh-CN" sz="4000" b="1" dirty="0"/>
              <a:t>3</a:t>
            </a:r>
            <a:r>
              <a:rPr lang="zh-CN" altLang="en-US" sz="4000" b="1" dirty="0"/>
              <a:t>，二阶充分条件</a:t>
            </a:r>
            <a:br>
              <a:rPr lang="zh-CN" altLang="en-US" sz="4000" b="1" dirty="0"/>
            </a:b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1" grpId="0"/>
      <p:bldP spid="67592" grpId="0" animBg="1"/>
      <p:bldP spid="675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95" name="Text Box 7"/>
              <p:cNvSpPr txBox="1">
                <a:spLocks noChangeArrowheads="1"/>
              </p:cNvSpPr>
              <p:nvPr/>
            </p:nvSpPr>
            <p:spPr bwMode="auto">
              <a:xfrm>
                <a:off x="468229" y="1196974"/>
                <a:ext cx="8499639" cy="44497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.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因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f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在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二次可微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故对任意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有 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*)+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*)</a:t>
                </a:r>
                <a:r>
                  <a:rPr lang="en-US" altLang="zh-CN" sz="2400" b="1" i="1" baseline="30000" dirty="0">
                    <a:ea typeface="楷体_GB2312" pitchFamily="49" charset="-122"/>
                    <a:sym typeface="Symbol" panose="05050102010706020507" pitchFamily="18" charset="2"/>
                  </a:rPr>
                  <a:t> T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*)+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b="1" i="1" dirty="0">
                            <a:ea typeface="+mn-ea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+mn-ea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sz="2400" b="1" i="1" dirty="0">
                            <a:ea typeface="+mn-ea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+mn-ea"/>
                            <a:cs typeface="Times New Roman" panose="02020603050405020304" pitchFamily="18" charset="0"/>
                          </a:rPr>
                          <m:t>∗)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H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*)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2400" dirty="0">
                            <a:ea typeface="+mn-ea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+||</m:t>
                        </m:r>
                        <m:r>
                          <m:rPr>
                            <m:nor/>
                          </m:rPr>
                          <a:rPr lang="en-US" altLang="zh-CN" sz="2400" b="1" i="1" dirty="0">
                            <a:ea typeface="+mn-ea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+mn-ea"/>
                            <a:cs typeface="Times New Roman" panose="02020603050405020304" pitchFamily="18" charset="0"/>
                          </a:rPr>
                          <m:t>− </m:t>
                        </m:r>
                        <m:r>
                          <m:rPr>
                            <m:nor/>
                          </m:rPr>
                          <a:rPr lang="en-US" altLang="zh-CN" sz="2400" b="1" i="1" dirty="0">
                            <a:ea typeface="+mn-ea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+mn-ea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m:rPr>
                            <m:nor/>
                          </m:rPr>
                          <a:rPr lang="en-US" altLang="zh-CN" sz="2400" dirty="0">
                            <a:ea typeface="+mn-ea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||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;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-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,    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这里 </a:t>
                </a:r>
                <a:r>
                  <a:rPr lang="zh-CN" altLang="en-US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;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-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) 0,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当 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   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假设命题不真，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不是局部极小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则存在序列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1200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 }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收敛到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并使得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1600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&lt;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*)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对每一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成立。定义序列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1600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-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*)/|| 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1600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-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*||=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6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则上述方程蕴含 </a:t>
                </a:r>
                <a:r>
                  <a:rPr lang="en-US" altLang="zh-CN" sz="2400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aseline="30000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H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6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/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2+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; 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12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-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0 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sym typeface="Symbol" panose="05050102010706020507" pitchFamily="18" charset="2"/>
                      </a:rPr>
                      <m:t>∀</m:t>
                    </m:r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k</a:t>
                </a:r>
                <a:r>
                  <a:rPr lang="zh-CN" altLang="en-US" sz="2400" b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）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但 对每一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k,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||d</a:t>
                </a:r>
                <a:r>
                  <a:rPr lang="en-US" altLang="zh-CN" sz="1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k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||=1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，从而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{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600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kj</a:t>
                </a:r>
                <a:r>
                  <a:rPr lang="en-US" altLang="zh-CN" sz="16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}</a:t>
                </a:r>
                <a:r>
                  <a:rPr lang="en-US" altLang="zh-CN" sz="16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当 </a:t>
                </a:r>
                <a:r>
                  <a:rPr lang="en-US" altLang="zh-CN" sz="2400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kj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,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这里 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||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||=1. 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由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*)=</a:t>
                </a:r>
                <a:r>
                  <a:rPr lang="en-US" altLang="zh-CN" sz="2400" b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我们有 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1" i="1" baseline="30000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400" b="1" i="1" dirty="0" err="1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H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0,</a:t>
                </a:r>
                <a:r>
                  <a:rPr lang="en-US" altLang="zh-CN" sz="2400" b="1" i="1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此与其正定性矛盾</a:t>
                </a: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1229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229" y="1196974"/>
                <a:ext cx="8499639" cy="4449744"/>
              </a:xfrm>
              <a:prstGeom prst="rect">
                <a:avLst/>
              </a:prstGeom>
              <a:blipFill>
                <a:blip r:embed="rId2"/>
                <a:stretch>
                  <a:fillRect l="-1148" t="-1370" b="-10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7ED7C576-966F-495F-86B8-77F7AD04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90926" y="2403022"/>
            <a:ext cx="8439150" cy="2828897"/>
            <a:chOff x="222" y="1353"/>
            <a:chExt cx="5316" cy="17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21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22" y="1353"/>
                  <a:ext cx="5316" cy="17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1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zh-CN" altLang="en-US" sz="2400" b="1" dirty="0">
                      <a:ea typeface="+mn-ea"/>
                      <a:cs typeface="Times New Roman" panose="02020603050405020304" pitchFamily="18" charset="0"/>
                    </a:rPr>
                    <a:t>证明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. 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</a:rPr>
                    <a:t>（必要性）若 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 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</a:rPr>
                    <a:t>全局最优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, 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</a:rPr>
                    <a:t>由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Th7.1.2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</a:rPr>
                    <a:t>， 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</a:t>
                  </a:r>
                  <a:r>
                    <a:rPr lang="en-US" altLang="zh-CN" sz="2400" i="1" dirty="0">
                      <a:ea typeface="+mn-ea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*)=0.</a:t>
                  </a:r>
                </a:p>
                <a:p>
                  <a:pPr eaLnBrk="1" hangingPunct="1">
                    <a:lnSpc>
                      <a:spcPct val="11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</a:rPr>
                    <a:t>（充分性）设 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</a:t>
                  </a:r>
                  <a:r>
                    <a:rPr lang="en-US" altLang="zh-CN" sz="2400" i="1" dirty="0">
                      <a:ea typeface="+mn-ea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*)=0, 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</a:rPr>
                    <a:t>则 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</a:t>
                  </a:r>
                  <a:r>
                    <a:rPr lang="en-US" altLang="zh-CN" sz="2400" i="1" dirty="0">
                      <a:ea typeface="+mn-ea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*)</a:t>
                  </a:r>
                  <a:r>
                    <a:rPr lang="en-US" altLang="zh-CN" sz="2400" b="1" i="1" baseline="30000" dirty="0">
                      <a:ea typeface="楷体_GB2312" pitchFamily="49" charset="-122"/>
                      <a:sym typeface="Symbol" panose="05050102010706020507" pitchFamily="18" charset="2"/>
                    </a:rPr>
                    <a:t> T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-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*)=0 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</a:rPr>
                    <a:t>， 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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𝑛</m:t>
                          </m:r>
                        </m:sup>
                      </m:sSup>
                    </m:oMath>
                  </a14:m>
                  <a:endParaRPr lang="en-US" altLang="zh-CN" sz="2400" dirty="0">
                    <a:ea typeface="+mn-ea"/>
                    <a:cs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11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</a:rPr>
                    <a:t>由 </a:t>
                  </a:r>
                  <a:r>
                    <a:rPr lang="en-US" altLang="zh-CN" sz="2400" i="1" dirty="0">
                      <a:ea typeface="+mn-ea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)</a:t>
                  </a: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</a:rPr>
                    <a:t>可微凸，有</a:t>
                  </a:r>
                </a:p>
                <a:p>
                  <a:pPr eaLnBrk="1" hangingPunct="1">
                    <a:lnSpc>
                      <a:spcPct val="11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zh-CN" altLang="en-US" sz="2400" i="1" dirty="0">
                      <a:ea typeface="+mn-ea"/>
                      <a:cs typeface="Times New Roman" panose="02020603050405020304" pitchFamily="18" charset="0"/>
                    </a:rPr>
                    <a:t>    </a:t>
                  </a:r>
                  <a:r>
                    <a:rPr lang="en-US" altLang="zh-CN" sz="2400" i="1" dirty="0">
                      <a:ea typeface="+mn-ea"/>
                      <a:cs typeface="Times New Roman" panose="02020603050405020304" pitchFamily="18" charset="0"/>
                    </a:rPr>
                    <a:t>f 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)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</a:t>
                  </a:r>
                  <a:r>
                    <a:rPr lang="en-US" altLang="zh-CN" sz="2400" i="1" dirty="0">
                      <a:ea typeface="+mn-ea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*)+ 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</a:t>
                  </a:r>
                  <a:r>
                    <a:rPr lang="en-US" altLang="zh-CN" sz="2400" i="1" dirty="0">
                      <a:ea typeface="+mn-ea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*)</a:t>
                  </a:r>
                  <a:r>
                    <a:rPr lang="en-US" altLang="zh-CN" sz="2400" b="1" i="1" baseline="30000" dirty="0">
                      <a:ea typeface="楷体_GB2312" pitchFamily="49" charset="-122"/>
                      <a:sym typeface="Symbol" panose="05050102010706020507" pitchFamily="18" charset="2"/>
                    </a:rPr>
                    <a:t> T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-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*)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= </a:t>
                  </a:r>
                  <a:r>
                    <a:rPr lang="en-US" altLang="zh-CN" sz="2400" i="1" dirty="0">
                      <a:ea typeface="+mn-ea"/>
                      <a:cs typeface="Times New Roman" panose="02020603050405020304" pitchFamily="18" charset="0"/>
                    </a:rPr>
                    <a:t>f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2400" b="1" i="1" dirty="0">
                      <a:ea typeface="+mn-ea"/>
                      <a:cs typeface="Times New Roman" panose="02020603050405020304" pitchFamily="18" charset="0"/>
                    </a:rPr>
                    <a:t>x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</a:rPr>
                    <a:t>*)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</a:p>
                <a:p>
                  <a:pPr eaLnBrk="1" hangingPunct="1">
                    <a:lnSpc>
                      <a:spcPct val="11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zh-CN" altLang="en-US" sz="2400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定理得证</a:t>
                  </a:r>
                  <a:r>
                    <a:rPr lang="en-US" altLang="zh-CN" sz="2400" dirty="0">
                      <a:ea typeface="+mn-ea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3321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2" y="1353"/>
                  <a:ext cx="5316" cy="1751"/>
                </a:xfrm>
                <a:prstGeom prst="rect">
                  <a:avLst/>
                </a:prstGeom>
                <a:blipFill>
                  <a:blip r:embed="rId2"/>
                  <a:stretch>
                    <a:fillRect l="-1083" t="-2155" b="-431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22" name="Text Box 7"/>
            <p:cNvSpPr txBox="1">
              <a:spLocks noChangeArrowheads="1"/>
            </p:cNvSpPr>
            <p:nvPr/>
          </p:nvSpPr>
          <p:spPr bwMode="auto">
            <a:xfrm>
              <a:off x="4385" y="2017"/>
              <a:ext cx="2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endParaRPr lang="zh-CN" altLang="zh-CN" sz="1600" i="1">
                <a:ea typeface="楷体_GB2312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638" name="Text Box 10"/>
              <p:cNvSpPr txBox="1">
                <a:spLocks noChangeArrowheads="1"/>
              </p:cNvSpPr>
              <p:nvPr/>
            </p:nvSpPr>
            <p:spPr bwMode="auto">
              <a:xfrm>
                <a:off x="323850" y="1229476"/>
                <a:ext cx="8496300" cy="100155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 dirty="0">
                    <a:solidFill>
                      <a:schemeClr val="tx1"/>
                    </a:solidFill>
                    <a:ea typeface="楷体_GB2312" pitchFamily="49" charset="-122"/>
                  </a:rPr>
                  <a:t>定理</a:t>
                </a:r>
                <a:r>
                  <a:rPr lang="en-US" altLang="zh-CN" sz="2800" b="1" dirty="0">
                    <a:solidFill>
                      <a:schemeClr val="tx1"/>
                    </a:solidFill>
                    <a:ea typeface="楷体_GB2312" pitchFamily="49" charset="-122"/>
                  </a:rPr>
                  <a:t>7.1.5 </a:t>
                </a:r>
                <a:r>
                  <a:rPr lang="en-US" altLang="zh-CN" sz="28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zh-CN" altLang="en-US" sz="2800" b="1" dirty="0">
                    <a:solidFill>
                      <a:schemeClr val="tx1"/>
                    </a:solidFill>
                  </a:rPr>
                  <a:t>充要条件</a:t>
                </a:r>
                <a:r>
                  <a:rPr lang="en-US" altLang="zh-CN" sz="2800" dirty="0">
                    <a:solidFill>
                      <a:schemeClr val="tx1"/>
                    </a:solidFill>
                    <a:ea typeface="楷体_GB2312" pitchFamily="49" charset="-122"/>
                  </a:rPr>
                  <a:t>).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假设</a:t>
                </a:r>
                <a:r>
                  <a:rPr lang="zh-CN" altLang="en-US" sz="2800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  <a:r>
                  <a:rPr lang="en-US" altLang="zh-CN" sz="28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8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8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800" dirty="0">
                    <a:solidFill>
                      <a:schemeClr val="tx1"/>
                    </a:solidFill>
                    <a:ea typeface="楷体_GB2312" pitchFamily="49" charset="-122"/>
                  </a:rPr>
                  <a:t>):</a:t>
                </a:r>
                <a:r>
                  <a:rPr lang="en-US" altLang="zh-CN" sz="28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Symbol" panose="05050102010706020507" pitchFamily="18" charset="2"/>
                      </a:rPr>
                      <m:t>→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Euclid Symbol" panose="05050102010706020507" pitchFamily="18" charset="2"/>
                      </a:rPr>
                      <m:t>𝑅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是</a:t>
                </a:r>
                <a:r>
                  <a:rPr lang="zh-CN" altLang="en-US" sz="2800" dirty="0">
                    <a:solidFill>
                      <a:schemeClr val="tx1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可微的凸函数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,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则</a:t>
                </a:r>
                <a:r>
                  <a:rPr lang="en-US" altLang="zh-CN" sz="28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800" dirty="0">
                    <a:solidFill>
                      <a:schemeClr val="tx1"/>
                    </a:solidFill>
                    <a:ea typeface="楷体_GB2312" pitchFamily="49" charset="-122"/>
                  </a:rPr>
                  <a:t>*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是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(UNLP)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的全局最小点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当且仅当</a:t>
                </a:r>
                <a:r>
                  <a:rPr lang="zh-CN" altLang="en-US" sz="28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</a:t>
                </a:r>
                <a:r>
                  <a:rPr lang="en-US" altLang="zh-CN" sz="28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8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800" b="1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800" dirty="0">
                    <a:solidFill>
                      <a:schemeClr val="tx1"/>
                    </a:solidFill>
                    <a:ea typeface="楷体_GB2312" pitchFamily="49" charset="-122"/>
                  </a:rPr>
                  <a:t>*)=</a:t>
                </a:r>
                <a:r>
                  <a:rPr lang="en-US" altLang="zh-CN" sz="2800" b="1" dirty="0">
                    <a:solidFill>
                      <a:schemeClr val="tx1"/>
                    </a:solidFill>
                    <a:ea typeface="楷体_GB2312" pitchFamily="49" charset="-122"/>
                  </a:rPr>
                  <a:t>0.</a:t>
                </a:r>
                <a:endParaRPr lang="en-US" altLang="zh-CN" sz="2800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963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" y="1229476"/>
                <a:ext cx="8496300" cy="1001556"/>
              </a:xfrm>
              <a:prstGeom prst="rect">
                <a:avLst/>
              </a:prstGeom>
              <a:blipFill>
                <a:blip r:embed="rId3"/>
                <a:stretch>
                  <a:fillRect l="-1435" t="-7927" b="-17073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3">
            <a:extLst>
              <a:ext uri="{FF2B5EF4-FFF2-40B4-BE49-F238E27FC236}">
                <a16:creationId xmlns:a16="http://schemas.microsoft.com/office/drawing/2014/main" id="{693CC991-363E-4F5F-B879-1445E9BA0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69278"/>
            <a:ext cx="8229600" cy="757238"/>
          </a:xfrm>
        </p:spPr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，充要条件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42" name="Object 8"/>
          <p:cNvGraphicFramePr>
            <a:graphicFrameLocks noChangeAspect="1"/>
          </p:cNvGraphicFramePr>
          <p:nvPr/>
        </p:nvGraphicFramePr>
        <p:xfrm>
          <a:off x="395288" y="981075"/>
          <a:ext cx="7469187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" name="Equation" r:id="rId3" imgW="2997200" imgH="482600" progId="Equation.DSMT4">
                  <p:embed/>
                </p:oleObj>
              </mc:Choice>
              <mc:Fallback>
                <p:oleObj name="Equation" r:id="rId3" imgW="2997200" imgH="482600" progId="Equation.DSMT4">
                  <p:embed/>
                  <p:pic>
                    <p:nvPicPr>
                      <p:cNvPr id="1434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81075"/>
                        <a:ext cx="7469187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714878"/>
              </p:ext>
            </p:extLst>
          </p:nvPr>
        </p:nvGraphicFramePr>
        <p:xfrm>
          <a:off x="535606" y="2343852"/>
          <a:ext cx="8305800" cy="401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" name="Equation" r:id="rId5" imgW="3886200" imgH="1879600" progId="Equation.DSMT4">
                  <p:embed/>
                </p:oleObj>
              </mc:Choice>
              <mc:Fallback>
                <p:oleObj name="Equation" r:id="rId5" imgW="3886200" imgH="1879600" progId="Equation.DSMT4">
                  <p:embed/>
                  <p:pic>
                    <p:nvPicPr>
                      <p:cNvPr id="205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06" y="2343852"/>
                        <a:ext cx="8305800" cy="401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2D9C5B1-86FD-4BAA-B3AD-DFA7FB67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1E7C5-2A97-445A-9E2E-919D67C6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5366" name="Object 4"/>
          <p:cNvGraphicFramePr>
            <a:graphicFrameLocks noChangeAspect="1"/>
          </p:cNvGraphicFramePr>
          <p:nvPr/>
        </p:nvGraphicFramePr>
        <p:xfrm>
          <a:off x="395288" y="981075"/>
          <a:ext cx="7272337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Equation" r:id="rId3" imgW="2997200" imgH="635000" progId="Equation.DSMT4">
                  <p:embed/>
                </p:oleObj>
              </mc:Choice>
              <mc:Fallback>
                <p:oleObj name="Equation" r:id="rId3" imgW="2997200" imgH="635000" progId="Equation.DSMT4">
                  <p:embed/>
                  <p:pic>
                    <p:nvPicPr>
                      <p:cNvPr id="1536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81075"/>
                        <a:ext cx="7272337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466109"/>
              </p:ext>
            </p:extLst>
          </p:nvPr>
        </p:nvGraphicFramePr>
        <p:xfrm>
          <a:off x="677863" y="2565400"/>
          <a:ext cx="6459537" cy="298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Equation" r:id="rId5" imgW="3022560" imgH="1396800" progId="Equation.DSMT4">
                  <p:embed/>
                </p:oleObj>
              </mc:Choice>
              <mc:Fallback>
                <p:oleObj name="Equation" r:id="rId5" imgW="3022560" imgH="1396800" progId="Equation.DSMT4">
                  <p:embed/>
                  <p:pic>
                    <p:nvPicPr>
                      <p:cNvPr id="307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3" y="2565400"/>
                        <a:ext cx="6459537" cy="298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395288" y="1125538"/>
          <a:ext cx="8229600" cy="428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Equation" r:id="rId3" imgW="4140200" imgH="2159000" progId="Equation.DSMT4">
                  <p:embed/>
                </p:oleObj>
              </mc:Choice>
              <mc:Fallback>
                <p:oleObj name="Equation" r:id="rId3" imgW="4140200" imgH="2159000" progId="Equation.DSMT4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25538"/>
                        <a:ext cx="8229600" cy="428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7914C91-8C17-4E67-82B5-11E35451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611188" y="1065341"/>
            <a:ext cx="388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ea typeface="楷体_GB2312" pitchFamily="49" charset="-122"/>
              </a:rPr>
              <a:t>1</a:t>
            </a:r>
            <a:r>
              <a:rPr lang="zh-CN" altLang="en-US" sz="2800" b="1" dirty="0">
                <a:ea typeface="楷体_GB2312" pitchFamily="49" charset="-122"/>
              </a:rPr>
              <a:t>，约束极值问题</a:t>
            </a:r>
          </a:p>
        </p:txBody>
      </p:sp>
      <p:graphicFrame>
        <p:nvGraphicFramePr>
          <p:cNvPr id="51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542473"/>
              </p:ext>
            </p:extLst>
          </p:nvPr>
        </p:nvGraphicFramePr>
        <p:xfrm>
          <a:off x="817982" y="1658194"/>
          <a:ext cx="7162800" cy="391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8" name="Equation" r:id="rId3" imgW="3581280" imgH="1955520" progId="Equation.DSMT4">
                  <p:embed/>
                </p:oleObj>
              </mc:Choice>
              <mc:Fallback>
                <p:oleObj name="Equation" r:id="rId3" imgW="3581280" imgH="1955520" progId="Equation.DSMT4">
                  <p:embed/>
                  <p:pic>
                    <p:nvPicPr>
                      <p:cNvPr id="51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982" y="1658194"/>
                        <a:ext cx="7162800" cy="391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DFE494AA-F552-48E2-9C7D-9BD37572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楷体_GB2312" pitchFamily="49" charset="-122"/>
              </a:rPr>
              <a:t>7.2</a:t>
            </a:r>
            <a:r>
              <a:rPr lang="zh-CN" altLang="en-US" dirty="0">
                <a:ea typeface="楷体_GB2312" pitchFamily="49" charset="-122"/>
              </a:rPr>
              <a:t>约束极值问题的最优性条件 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8"/>
              <p:cNvSpPr>
                <a:spLocks noChangeArrowheads="1"/>
              </p:cNvSpPr>
              <p:nvPr/>
            </p:nvSpPr>
            <p:spPr bwMode="auto">
              <a:xfrm>
                <a:off x="578251" y="1070851"/>
                <a:ext cx="8229600" cy="12969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定义 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7. 2.1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.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设 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)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定义在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R</a:t>
                </a:r>
                <a:r>
                  <a:rPr lang="en-US" altLang="zh-CN" i="1" baseline="300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上的实值函数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. 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 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CN" sz="2400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R</a:t>
                </a:r>
                <a:r>
                  <a:rPr lang="en-US" altLang="zh-CN" i="1" baseline="30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n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d</a:t>
                </a:r>
                <a:r>
                  <a:rPr lang="en-US" altLang="zh-CN" sz="2400" b="1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0,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若存在 </a:t>
                </a:r>
                <a:r>
                  <a:rPr lang="zh-CN" altLang="en-US" sz="2400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 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&gt; 0 </a:t>
                </a:r>
                <a:r>
                  <a:rPr lang="zh-CN" altLang="en-U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使得 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*+</a:t>
                </a:r>
                <a:r>
                  <a:rPr lang="en-US" altLang="zh-CN" sz="2400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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&lt;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*)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（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</a:t>
                </a:r>
                <a:r>
                  <a:rPr lang="zh-CN" altLang="en-U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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(0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2400" i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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）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,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则 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称为 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) 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在</a:t>
                </a:r>
                <a:r>
                  <a:rPr lang="zh-CN" altLang="en-US" sz="2400" i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b="1" i="1" dirty="0">
                    <a:solidFill>
                      <a:schemeClr val="tx1"/>
                    </a:solidFill>
                  </a:rPr>
                  <a:t>x*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的下降方向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2400" i="1" dirty="0">
                    <a:solidFill>
                      <a:schemeClr val="tx1"/>
                    </a:solidFill>
                  </a:rPr>
                  <a:t>decedent direction)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251" y="1070851"/>
                <a:ext cx="8229600" cy="1296987"/>
              </a:xfrm>
              <a:prstGeom prst="rect">
                <a:avLst/>
              </a:prstGeom>
              <a:blipFill>
                <a:blip r:embed="rId3"/>
                <a:stretch>
                  <a:fillRect l="-1185" t="-8962" r="-815" b="-943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66145" y="2355717"/>
            <a:ext cx="8229600" cy="1477963"/>
            <a:chOff x="113" y="2286"/>
            <a:chExt cx="5184" cy="931"/>
          </a:xfrm>
        </p:grpSpPr>
        <p:sp>
          <p:nvSpPr>
            <p:cNvPr id="18442" name="Rectangle 9"/>
            <p:cNvSpPr>
              <a:spLocks noChangeArrowheads="1"/>
            </p:cNvSpPr>
            <p:nvPr/>
          </p:nvSpPr>
          <p:spPr bwMode="auto">
            <a:xfrm>
              <a:off x="113" y="2286"/>
              <a:ext cx="5184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 dirty="0"/>
                <a:t>设 </a:t>
              </a:r>
              <a:r>
                <a:rPr lang="en-US" altLang="zh-CN" sz="2400" i="1" dirty="0"/>
                <a:t>f</a:t>
              </a:r>
              <a:r>
                <a:rPr lang="en-US" altLang="zh-CN" sz="2400" dirty="0"/>
                <a:t>(</a:t>
              </a:r>
              <a:r>
                <a:rPr lang="en-US" altLang="zh-CN" sz="2400" b="1" i="1" dirty="0"/>
                <a:t>x</a:t>
              </a:r>
              <a:r>
                <a:rPr lang="en-US" altLang="zh-CN" sz="2400" dirty="0"/>
                <a:t>) </a:t>
              </a:r>
              <a:r>
                <a:rPr lang="zh-CN" altLang="en-US" sz="2400" dirty="0"/>
                <a:t>在 </a:t>
              </a:r>
              <a:r>
                <a:rPr lang="en-US" altLang="zh-CN" sz="2400" b="1" i="1" dirty="0"/>
                <a:t>x</a:t>
              </a:r>
              <a:r>
                <a:rPr lang="en-US" altLang="zh-CN" sz="2400" dirty="0"/>
                <a:t>*</a:t>
              </a:r>
              <a:r>
                <a:rPr lang="zh-CN" altLang="en-US" sz="2400" dirty="0"/>
                <a:t>可微</a:t>
              </a:r>
              <a:r>
                <a:rPr lang="en-US" altLang="zh-CN" sz="2400" dirty="0"/>
                <a:t>. </a:t>
              </a:r>
              <a:r>
                <a:rPr lang="zh-CN" altLang="en-US" sz="2400" dirty="0"/>
                <a:t>若存在向量 </a:t>
              </a:r>
              <a:r>
                <a:rPr lang="en-US" altLang="zh-CN" sz="2400" b="1" i="1" dirty="0"/>
                <a:t>d</a:t>
              </a:r>
              <a:r>
                <a:rPr lang="en-US" altLang="zh-CN" sz="2400" dirty="0"/>
                <a:t> </a:t>
              </a:r>
              <a:r>
                <a:rPr lang="zh-CN" altLang="en-US" sz="2400" dirty="0"/>
                <a:t>满足 </a:t>
              </a:r>
              <a:r>
                <a:rPr lang="zh-CN" altLang="en-US" sz="2400" dirty="0">
                  <a:sym typeface="Symbol" panose="05050102010706020507" pitchFamily="18" charset="2"/>
                </a:rPr>
                <a:t></a:t>
              </a:r>
              <a:r>
                <a:rPr lang="en-US" altLang="zh-CN" sz="2400" i="1" dirty="0"/>
                <a:t>f</a:t>
              </a:r>
              <a:r>
                <a:rPr lang="en-US" altLang="zh-CN" sz="2400" dirty="0"/>
                <a:t>(</a:t>
              </a:r>
              <a:r>
                <a:rPr lang="en-US" altLang="zh-CN" sz="2400" b="1" i="1" dirty="0"/>
                <a:t>x</a:t>
              </a:r>
              <a:r>
                <a:rPr lang="en-US" altLang="zh-CN" sz="2400" dirty="0"/>
                <a:t>*)</a:t>
              </a:r>
              <a:r>
                <a:rPr lang="en-US" altLang="zh-CN" sz="2400" b="1" i="1" baseline="30000" dirty="0">
                  <a:ea typeface="楷体_GB2312" pitchFamily="49" charset="-122"/>
                  <a:sym typeface="Symbol" panose="05050102010706020507" pitchFamily="18" charset="2"/>
                </a:rPr>
                <a:t> T</a:t>
              </a:r>
              <a:r>
                <a:rPr lang="en-US" altLang="zh-CN" sz="2400" b="1" i="1" dirty="0"/>
                <a:t>d</a:t>
              </a:r>
              <a:r>
                <a:rPr lang="en-US" altLang="zh-CN" sz="2400" dirty="0"/>
                <a:t>&lt;0, </a:t>
              </a:r>
              <a:r>
                <a:rPr lang="zh-CN" altLang="en-US" sz="2400" dirty="0"/>
                <a:t>则 由定理</a:t>
              </a:r>
              <a:r>
                <a:rPr lang="en-US" altLang="zh-CN" sz="2400" dirty="0"/>
                <a:t>7.1.1, </a:t>
              </a:r>
              <a:r>
                <a:rPr lang="en-US" altLang="zh-CN" sz="2400" b="1" i="1" dirty="0"/>
                <a:t>d</a:t>
              </a:r>
              <a:r>
                <a:rPr lang="en-US" altLang="zh-CN" sz="2400" dirty="0"/>
                <a:t> </a:t>
              </a:r>
              <a:r>
                <a:rPr lang="zh-CN" altLang="en-US" sz="2400" dirty="0"/>
                <a:t>是 </a:t>
              </a:r>
              <a:r>
                <a:rPr lang="en-US" altLang="zh-CN" sz="2400" i="1" dirty="0"/>
                <a:t>f</a:t>
              </a:r>
              <a:r>
                <a:rPr lang="en-US" altLang="zh-CN" sz="2400" dirty="0"/>
                <a:t>(</a:t>
              </a:r>
              <a:r>
                <a:rPr lang="en-US" altLang="zh-CN" sz="2400" b="1" i="1" dirty="0"/>
                <a:t>x</a:t>
              </a:r>
              <a:r>
                <a:rPr lang="en-US" altLang="zh-CN" sz="2400" dirty="0"/>
                <a:t>) </a:t>
              </a:r>
              <a:r>
                <a:rPr lang="zh-CN" altLang="en-US" sz="2400" dirty="0"/>
                <a:t>在</a:t>
              </a:r>
              <a:r>
                <a:rPr lang="zh-CN" altLang="en-US" sz="2400" i="1" dirty="0"/>
                <a:t> </a:t>
              </a:r>
              <a:r>
                <a:rPr lang="en-US" altLang="zh-CN" sz="2400" b="1" i="1" dirty="0"/>
                <a:t>x*</a:t>
              </a:r>
              <a:r>
                <a:rPr lang="zh-CN" altLang="en-US" sz="2400" dirty="0"/>
                <a:t>的下降方向。记所有这样的向量集合为</a:t>
              </a:r>
            </a:p>
          </p:txBody>
        </p:sp>
        <p:graphicFrame>
          <p:nvGraphicFramePr>
            <p:cNvPr id="18443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0965476"/>
                </p:ext>
              </p:extLst>
            </p:nvPr>
          </p:nvGraphicFramePr>
          <p:xfrm>
            <a:off x="1611" y="2847"/>
            <a:ext cx="1723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6" name="Equation" r:id="rId4" imgW="1422360" imgH="279360" progId="Equation.DSMT4">
                    <p:embed/>
                  </p:oleObj>
                </mc:Choice>
                <mc:Fallback>
                  <p:oleObj name="Equation" r:id="rId4" imgW="1422360" imgH="279360" progId="Equation.DSMT4">
                    <p:embed/>
                    <p:pic>
                      <p:nvPicPr>
                        <p:cNvPr id="1844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1" y="2847"/>
                          <a:ext cx="1723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F5191061-7549-497F-854F-8CE6DA86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楷体_GB2312" pitchFamily="49" charset="-122"/>
              </a:rPr>
              <a:t>2</a:t>
            </a:r>
            <a:r>
              <a:rPr lang="zh-CN" altLang="en-US" dirty="0">
                <a:ea typeface="楷体_GB2312" pitchFamily="49" charset="-122"/>
              </a:rPr>
              <a:t>，可行方向和下降方向</a:t>
            </a:r>
            <a:endParaRPr lang="zh-CN" altLang="en-US" dirty="0"/>
          </a:p>
        </p:txBody>
      </p:sp>
      <p:graphicFrame>
        <p:nvGraphicFramePr>
          <p:cNvPr id="36880" name="Object 16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86760581"/>
              </p:ext>
            </p:extLst>
          </p:nvPr>
        </p:nvGraphicFramePr>
        <p:xfrm>
          <a:off x="600409" y="4130290"/>
          <a:ext cx="7966075" cy="194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7" name="Equation" r:id="rId6" imgW="4063680" imgH="990360" progId="Equation.DSMT4">
                  <p:embed/>
                </p:oleObj>
              </mc:Choice>
              <mc:Fallback>
                <p:oleObj name="Equation" r:id="rId6" imgW="4063680" imgH="990360" progId="Equation.DSMT4">
                  <p:embed/>
                  <p:pic>
                    <p:nvPicPr>
                      <p:cNvPr id="368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09" y="4130290"/>
                        <a:ext cx="7966075" cy="194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02DD-DB4C-4EA9-B1F9-20B79BAFF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452955" y="927467"/>
            <a:ext cx="8281988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dirty="0"/>
              <a:t>由</a:t>
            </a:r>
            <a:r>
              <a:rPr lang="zh-CN" altLang="en-US" sz="2400" b="1" dirty="0"/>
              <a:t>可行方向定义知， </a:t>
            </a:r>
            <a:r>
              <a:rPr lang="zh-CN" altLang="en-US" sz="2400" dirty="0"/>
              <a:t> 从点 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*, </a:t>
            </a:r>
            <a:r>
              <a:rPr lang="zh-CN" altLang="en-US" sz="2400" dirty="0"/>
              <a:t>沿可行方向 </a:t>
            </a:r>
            <a:r>
              <a:rPr lang="en-US" altLang="zh-CN" sz="2400" b="1" i="1" dirty="0" err="1"/>
              <a:t>d</a:t>
            </a:r>
            <a:r>
              <a:rPr lang="en-US" altLang="zh-CN" sz="2400" dirty="0" err="1"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/>
              <a:t>D</a:t>
            </a:r>
            <a:r>
              <a:rPr lang="en-US" altLang="zh-CN" sz="2400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*) </a:t>
            </a:r>
            <a:r>
              <a:rPr lang="zh-CN" altLang="en-US" sz="2400" dirty="0"/>
              <a:t>作一个很小的移动还是可行点</a:t>
            </a:r>
            <a:r>
              <a:rPr lang="en-US" altLang="zh-CN" sz="2400" dirty="0"/>
              <a:t>. </a:t>
            </a:r>
            <a:r>
              <a:rPr lang="zh-CN" altLang="en-US" sz="2400" dirty="0"/>
              <a:t>进一步，由 </a:t>
            </a:r>
            <a:r>
              <a:rPr lang="zh-CN" altLang="en-US" sz="2400" b="1" dirty="0"/>
              <a:t>定理</a:t>
            </a:r>
            <a:r>
              <a:rPr lang="en-US" altLang="zh-CN" sz="2400" b="1" dirty="0"/>
              <a:t> 7.1.1</a:t>
            </a:r>
            <a:r>
              <a:rPr lang="en-US" altLang="zh-CN" sz="2400" dirty="0"/>
              <a:t>, </a:t>
            </a:r>
            <a:r>
              <a:rPr lang="zh-CN" altLang="en-US" sz="2400" dirty="0"/>
              <a:t>若 </a:t>
            </a:r>
            <a:r>
              <a:rPr lang="zh-CN" altLang="en-US" sz="2400" dirty="0">
                <a:sym typeface="Symbol" panose="05050102010706020507" pitchFamily="18" charset="2"/>
              </a:rPr>
              <a:t>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*)</a:t>
            </a:r>
            <a:r>
              <a:rPr lang="en-US" altLang="zh-CN" sz="2400" b="1" i="1" baseline="30000" dirty="0">
                <a:ea typeface="楷体_GB2312" pitchFamily="49" charset="-122"/>
                <a:sym typeface="Symbol" panose="05050102010706020507" pitchFamily="18" charset="2"/>
              </a:rPr>
              <a:t> T</a:t>
            </a:r>
            <a:r>
              <a:rPr lang="en-US" altLang="zh-CN" sz="2400" b="1" i="1" dirty="0"/>
              <a:t>d</a:t>
            </a:r>
            <a:r>
              <a:rPr lang="en-US" altLang="zh-CN" sz="2400" dirty="0"/>
              <a:t>&lt;0 </a:t>
            </a:r>
            <a:r>
              <a:rPr lang="zh-CN" altLang="en-US" sz="2400" dirty="0"/>
              <a:t>，则</a:t>
            </a:r>
            <a:r>
              <a:rPr lang="en-US" altLang="zh-CN" sz="2400" b="1" i="1" dirty="0"/>
              <a:t>d</a:t>
            </a:r>
            <a:r>
              <a:rPr lang="en-US" altLang="zh-CN" sz="2400" dirty="0"/>
              <a:t> </a:t>
            </a:r>
            <a:r>
              <a:rPr lang="zh-CN" altLang="en-US" sz="2400" dirty="0"/>
              <a:t>是</a:t>
            </a:r>
            <a:r>
              <a:rPr lang="en-US" altLang="zh-CN" sz="2400" i="1" dirty="0"/>
              <a:t>f</a:t>
            </a:r>
            <a:r>
              <a:rPr lang="zh-CN" altLang="en-US" sz="2400" dirty="0"/>
              <a:t>在 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*</a:t>
            </a:r>
            <a:r>
              <a:rPr lang="zh-CN" altLang="en-US" sz="2400" dirty="0"/>
              <a:t>的下降方向。下面定理将说明 若 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* </a:t>
            </a:r>
            <a:r>
              <a:rPr lang="zh-CN" altLang="en-US" sz="2400" dirty="0"/>
              <a:t>是局部最优且 </a:t>
            </a:r>
            <a:r>
              <a:rPr lang="zh-CN" altLang="en-US" sz="2400" dirty="0">
                <a:sym typeface="Symbol" panose="05050102010706020507" pitchFamily="18" charset="2"/>
              </a:rPr>
              <a:t>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*)</a:t>
            </a:r>
            <a:r>
              <a:rPr lang="en-US" altLang="zh-CN" sz="2400" b="1" i="1" baseline="30000" dirty="0">
                <a:ea typeface="楷体_GB2312" pitchFamily="49" charset="-122"/>
                <a:sym typeface="Symbol" panose="05050102010706020507" pitchFamily="18" charset="2"/>
              </a:rPr>
              <a:t> T</a:t>
            </a:r>
            <a:r>
              <a:rPr lang="en-US" altLang="zh-CN" sz="2400" b="1" i="1" dirty="0"/>
              <a:t>d</a:t>
            </a:r>
            <a:r>
              <a:rPr lang="en-US" altLang="zh-CN" sz="2400" dirty="0"/>
              <a:t>&lt;0, </a:t>
            </a:r>
            <a:r>
              <a:rPr lang="zh-CN" altLang="en-US" sz="2400" dirty="0"/>
              <a:t>则 </a:t>
            </a:r>
            <a:r>
              <a:rPr lang="en-US" altLang="zh-CN" sz="2400" b="1" i="1" dirty="0" err="1"/>
              <a:t>d</a:t>
            </a:r>
            <a:r>
              <a:rPr lang="en-US" altLang="zh-CN" sz="2400" dirty="0" err="1">
                <a:sym typeface="Symbol" panose="05050102010706020507" pitchFamily="18" charset="2"/>
              </a:rPr>
              <a:t></a:t>
            </a:r>
            <a:r>
              <a:rPr lang="en-US" altLang="zh-CN" sz="2400" b="1" i="1" dirty="0" err="1"/>
              <a:t>D</a:t>
            </a:r>
            <a:r>
              <a:rPr lang="en-US" altLang="zh-CN" sz="2400" dirty="0"/>
              <a:t>(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*)</a:t>
            </a:r>
            <a:r>
              <a:rPr lang="zh-CN" altLang="en-US" sz="2400" dirty="0"/>
              <a:t>，即不是可行方向。</a:t>
            </a:r>
          </a:p>
        </p:txBody>
      </p:sp>
      <p:sp>
        <p:nvSpPr>
          <p:cNvPr id="70661" name="Text Box 8"/>
          <p:cNvSpPr txBox="1">
            <a:spLocks noChangeArrowheads="1"/>
          </p:cNvSpPr>
          <p:nvPr/>
        </p:nvSpPr>
        <p:spPr bwMode="auto">
          <a:xfrm>
            <a:off x="323850" y="3068638"/>
            <a:ext cx="8496300" cy="246445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ea typeface="+mn-ea"/>
                <a:cs typeface="Times New Roman" panose="02020603050405020304" pitchFamily="18" charset="0"/>
              </a:rPr>
              <a:t> 7.2.1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. (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必要条件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考虑极小化问题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：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              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min 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subject to </a:t>
            </a:r>
            <a:r>
              <a:rPr lang="en-US" altLang="zh-CN" sz="2400" b="1" i="1" dirty="0" err="1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其中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i="1" baseline="300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中非空集合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设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在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可微。若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*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是局部极小点，则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*)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,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其中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800" b="1" baseline="-25000" dirty="0"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*)={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d 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|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*)</a:t>
            </a:r>
            <a:r>
              <a:rPr lang="en-US" altLang="zh-CN" sz="2400" b="1" i="1" baseline="30000" dirty="0">
                <a:ea typeface="楷体_GB2312" pitchFamily="49" charset="-122"/>
                <a:sym typeface="Symbol" panose="05050102010706020507" pitchFamily="18" charset="2"/>
              </a:rPr>
              <a:t> T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</a:rPr>
              <a:t>&lt;0 }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，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在 </a:t>
            </a:r>
            <a:r>
              <a:rPr lang="en-US" altLang="zh-CN" sz="2400" b="1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ea typeface="+mn-ea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ea typeface="+mn-ea"/>
                <a:cs typeface="Times New Roman" panose="02020603050405020304" pitchFamily="18" charset="0"/>
              </a:rPr>
              <a:t>的可行方向锥。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 autoUpdateAnimBg="0"/>
      <p:bldP spid="7066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174" name="Text Box 6"/>
              <p:cNvSpPr txBox="1">
                <a:spLocks noChangeArrowheads="1"/>
              </p:cNvSpPr>
              <p:nvPr/>
            </p:nvSpPr>
            <p:spPr bwMode="auto">
              <a:xfrm>
                <a:off x="468313" y="1341438"/>
                <a:ext cx="8497887" cy="2833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证明：反证法，设存在向量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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800" baseline="-25000" dirty="0">
                    <a:solidFill>
                      <a:schemeClr val="tx1"/>
                    </a:solidFill>
                    <a:ea typeface="楷体_GB2312" pitchFamily="49" charset="-122"/>
                  </a:rPr>
                  <a:t>0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*)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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.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由定理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7.1.1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知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（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1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）：存在 </a:t>
                </a:r>
                <a:r>
                  <a:rPr lang="zh-CN" altLang="en-US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</a:t>
                </a:r>
                <a:r>
                  <a:rPr lang="en-US" altLang="zh-CN" sz="2800" i="1" baseline="-25000" dirty="0">
                    <a:solidFill>
                      <a:schemeClr val="tx1"/>
                    </a:solidFill>
                    <a:ea typeface="楷体_GB2312" pitchFamily="49" charset="-122"/>
                  </a:rPr>
                  <a:t>1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&gt;0,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  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*+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d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&lt;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*)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∀</m:t>
                    </m:r>
                  </m:oMath>
                </a14:m>
                <a:r>
                  <a:rPr lang="zh-CN" altLang="en-US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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(0,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</a:t>
                </a:r>
                <a:r>
                  <a:rPr lang="en-US" altLang="zh-CN" sz="2800" i="1" baseline="-250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1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，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 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又由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D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的定义，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（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2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）：存在 </a:t>
                </a:r>
                <a:r>
                  <a:rPr lang="zh-CN" altLang="en-US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</a:t>
                </a:r>
                <a:r>
                  <a:rPr lang="en-US" altLang="zh-CN" sz="2800" i="1" baseline="-25000" dirty="0">
                    <a:solidFill>
                      <a:schemeClr val="tx1"/>
                    </a:solidFill>
                    <a:ea typeface="楷体_GB2312" pitchFamily="49" charset="-122"/>
                  </a:rPr>
                  <a:t>2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&gt;0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</a:rPr>
                  <a:t>，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*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+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</a:t>
                </a:r>
                <a:r>
                  <a:rPr lang="en-US" altLang="zh-CN" sz="2400" i="1" dirty="0" err="1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d</a:t>
                </a:r>
                <a:r>
                  <a:rPr lang="en-US" altLang="zh-CN" sz="2400" dirty="0" err="1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</a:t>
                </a:r>
                <a:r>
                  <a:rPr lang="en-US" altLang="zh-CN" sz="2400" i="1" dirty="0" err="1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S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∀</m:t>
                    </m:r>
                  </m:oMath>
                </a14:m>
                <a:r>
                  <a:rPr lang="zh-CN" altLang="en-US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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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(0, </a:t>
                </a:r>
                <a:r>
                  <a:rPr lang="en-US" altLang="zh-CN" sz="2400" i="1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</a:t>
                </a:r>
                <a:r>
                  <a:rPr lang="en-US" altLang="zh-CN" sz="2800" baseline="-250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2</a:t>
                </a:r>
                <a:r>
                  <a:rPr lang="en-US" altLang="zh-CN" sz="2400" dirty="0">
                    <a:solidFill>
                      <a:schemeClr val="tx1"/>
                    </a:solidFill>
                    <a:ea typeface="楷体_GB2312" pitchFamily="49" charset="-122"/>
                  </a:rPr>
                  <a:t>)</a:t>
                </a: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此与局部极小矛盾。</a:t>
                </a:r>
              </a:p>
            </p:txBody>
          </p:sp>
        </mc:Choice>
        <mc:Fallback xmlns="">
          <p:sp>
            <p:nvSpPr>
              <p:cNvPr id="71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3" y="1341438"/>
                <a:ext cx="8497887" cy="2833789"/>
              </a:xfrm>
              <a:prstGeom prst="rect">
                <a:avLst/>
              </a:prstGeom>
              <a:blipFill>
                <a:blip r:embed="rId2"/>
                <a:stretch>
                  <a:fillRect l="-1148" t="-2151" b="-32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675DE077-C081-47A1-B9A4-6D3B4B59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107A15A-F989-4049-94D1-05E172B8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楷体_GB2312" pitchFamily="49" charset="-122"/>
                <a:sym typeface="Wingdings" panose="05000000000000000000" pitchFamily="2" charset="2"/>
              </a:rPr>
              <a:t>3 </a:t>
            </a:r>
            <a:r>
              <a:rPr lang="zh-CN" altLang="en-US" dirty="0">
                <a:ea typeface="楷体_GB2312" pitchFamily="49" charset="-122"/>
                <a:sym typeface="Wingdings" panose="05000000000000000000" pitchFamily="2" charset="2"/>
              </a:rPr>
              <a:t>一阶最优性条件</a:t>
            </a:r>
            <a:endParaRPr lang="zh-CN" altLang="en-US" dirty="0"/>
          </a:p>
        </p:txBody>
      </p:sp>
      <p:graphicFrame>
        <p:nvGraphicFramePr>
          <p:cNvPr id="39941" name="Object 0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165580667"/>
              </p:ext>
            </p:extLst>
          </p:nvPr>
        </p:nvGraphicFramePr>
        <p:xfrm>
          <a:off x="875899" y="3636377"/>
          <a:ext cx="3673475" cy="175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4" name="Equation" r:id="rId3" imgW="1968500" imgH="939800" progId="Equation.DSMT4">
                  <p:embed/>
                </p:oleObj>
              </mc:Choice>
              <mc:Fallback>
                <p:oleObj name="Equation" r:id="rId3" imgW="1968500" imgH="939800" progId="Equation.DSMT4">
                  <p:embed/>
                  <p:pic>
                    <p:nvPicPr>
                      <p:cNvPr id="39941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899" y="3636377"/>
                        <a:ext cx="3673475" cy="175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228341153"/>
              </p:ext>
            </p:extLst>
          </p:nvPr>
        </p:nvGraphicFramePr>
        <p:xfrm>
          <a:off x="4895850" y="3425825"/>
          <a:ext cx="3495675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5" name="Equation" r:id="rId5" imgW="1752480" imgH="927000" progId="Equation.DSMT4">
                  <p:embed/>
                </p:oleObj>
              </mc:Choice>
              <mc:Fallback>
                <p:oleObj name="Equation" r:id="rId5" imgW="1752480" imgH="927000" progId="Equation.DSMT4">
                  <p:embed/>
                  <p:pic>
                    <p:nvPicPr>
                      <p:cNvPr id="399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3425825"/>
                        <a:ext cx="3495675" cy="184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849868"/>
              </p:ext>
            </p:extLst>
          </p:nvPr>
        </p:nvGraphicFramePr>
        <p:xfrm>
          <a:off x="606425" y="1224343"/>
          <a:ext cx="69596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6" name="Equation" r:id="rId7" imgW="3479800" imgH="965200" progId="Equation.DSMT4">
                  <p:embed/>
                </p:oleObj>
              </mc:Choice>
              <mc:Fallback>
                <p:oleObj name="Equation" r:id="rId7" imgW="3479800" imgH="965200" progId="Equation.DSMT4">
                  <p:embed/>
                  <p:pic>
                    <p:nvPicPr>
                      <p:cNvPr id="3994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" y="1224343"/>
                        <a:ext cx="69596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Rectangle 10"/>
          <p:cNvSpPr>
            <a:spLocks noChangeArrowheads="1"/>
          </p:cNvSpPr>
          <p:nvPr/>
        </p:nvSpPr>
        <p:spPr bwMode="auto">
          <a:xfrm>
            <a:off x="361950" y="33115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ym typeface="Wingdings" panose="05000000000000000000" pitchFamily="2" charset="2"/>
              </a:rPr>
              <a:t>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6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5780"/>
              </p:ext>
            </p:extLst>
          </p:nvPr>
        </p:nvGraphicFramePr>
        <p:xfrm>
          <a:off x="521485" y="2831633"/>
          <a:ext cx="811688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8" name="Equation" r:id="rId3" imgW="3848100" imgH="482600" progId="Equation.DSMT4">
                  <p:embed/>
                </p:oleObj>
              </mc:Choice>
              <mc:Fallback>
                <p:oleObj name="Equation" r:id="rId3" imgW="3848100" imgH="482600" progId="Equation.DSMT4">
                  <p:embed/>
                  <p:pic>
                    <p:nvPicPr>
                      <p:cNvPr id="40966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85" y="2831633"/>
                        <a:ext cx="8116887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8F9E92F-C04B-46FF-9E78-EEAE7E65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0967" name="Object 102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65271912"/>
              </p:ext>
            </p:extLst>
          </p:nvPr>
        </p:nvGraphicFramePr>
        <p:xfrm>
          <a:off x="474229" y="1050925"/>
          <a:ext cx="8356600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09" name="Equation" r:id="rId5" imgW="4051080" imgH="736560" progId="Equation.DSMT4">
                  <p:embed/>
                </p:oleObj>
              </mc:Choice>
              <mc:Fallback>
                <p:oleObj name="Equation" r:id="rId5" imgW="4051080" imgH="736560" progId="Equation.DSMT4">
                  <p:embed/>
                  <p:pic>
                    <p:nvPicPr>
                      <p:cNvPr id="40967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229" y="1050925"/>
                        <a:ext cx="8356600" cy="151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84539"/>
              </p:ext>
            </p:extLst>
          </p:nvPr>
        </p:nvGraphicFramePr>
        <p:xfrm>
          <a:off x="497991" y="4026820"/>
          <a:ext cx="7847112" cy="2116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0" name="Equation" r:id="rId7" imgW="3860640" imgH="1041120" progId="Equation.DSMT4">
                  <p:embed/>
                </p:oleObj>
              </mc:Choice>
              <mc:Fallback>
                <p:oleObj name="Equation" r:id="rId7" imgW="3860640" imgH="1041120" progId="Equation.DSMT4">
                  <p:embed/>
                  <p:pic>
                    <p:nvPicPr>
                      <p:cNvPr id="40968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91" y="4026820"/>
                        <a:ext cx="7847112" cy="2116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654732"/>
              </p:ext>
            </p:extLst>
          </p:nvPr>
        </p:nvGraphicFramePr>
        <p:xfrm>
          <a:off x="676776" y="2467761"/>
          <a:ext cx="7010400" cy="357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4" name="Equation" r:id="rId3" imgW="3238200" imgH="1650960" progId="Equation.DSMT4">
                  <p:embed/>
                </p:oleObj>
              </mc:Choice>
              <mc:Fallback>
                <p:oleObj name="Equation" r:id="rId3" imgW="3238200" imgH="1650960" progId="Equation.DSMT4">
                  <p:embed/>
                  <p:pic>
                    <p:nvPicPr>
                      <p:cNvPr id="4199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776" y="2467761"/>
                        <a:ext cx="7010400" cy="357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17D936-78CD-437E-A4A9-BC5191D2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1991" name="Object 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16745859"/>
              </p:ext>
            </p:extLst>
          </p:nvPr>
        </p:nvGraphicFramePr>
        <p:xfrm>
          <a:off x="673100" y="1128713"/>
          <a:ext cx="5465763" cy="12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5" name="Equation" r:id="rId5" imgW="2298600" imgH="533160" progId="Equation.DSMT4">
                  <p:embed/>
                </p:oleObj>
              </mc:Choice>
              <mc:Fallback>
                <p:oleObj name="Equation" r:id="rId5" imgW="2298600" imgH="533160" progId="Equation.DSMT4">
                  <p:embed/>
                  <p:pic>
                    <p:nvPicPr>
                      <p:cNvPr id="4199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1128713"/>
                        <a:ext cx="5465763" cy="126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4" name="Rectangle 5"/>
          <p:cNvSpPr>
            <a:spLocks noChangeArrowheads="1"/>
          </p:cNvSpPr>
          <p:nvPr/>
        </p:nvSpPr>
        <p:spPr bwMode="auto">
          <a:xfrm>
            <a:off x="727008" y="2907130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+mn-ea"/>
                <a:ea typeface="+mn-ea"/>
                <a:sym typeface="Wingdings" panose="05000000000000000000" pitchFamily="2" charset="2"/>
              </a:rPr>
              <a:t>证明略</a:t>
            </a:r>
            <a:endParaRPr lang="en-US" altLang="zh-CN" sz="2800">
              <a:latin typeface="+mn-ea"/>
              <a:ea typeface="+mn-ea"/>
              <a:sym typeface="Wingdings" panose="05000000000000000000" pitchFamily="2" charset="2"/>
            </a:endParaRPr>
          </a:p>
        </p:txBody>
      </p:sp>
      <p:graphicFrame>
        <p:nvGraphicFramePr>
          <p:cNvPr id="43015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605340"/>
              </p:ext>
            </p:extLst>
          </p:nvPr>
        </p:nvGraphicFramePr>
        <p:xfrm>
          <a:off x="615950" y="1158875"/>
          <a:ext cx="7802563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2" name="Equation" r:id="rId3" imgW="3390840" imgH="711000" progId="Equation.DSMT4">
                  <p:embed/>
                </p:oleObj>
              </mc:Choice>
              <mc:Fallback>
                <p:oleObj name="Equation" r:id="rId3" imgW="3390840" imgH="711000" progId="Equation.DSMT4">
                  <p:embed/>
                  <p:pic>
                    <p:nvPicPr>
                      <p:cNvPr id="43015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1158875"/>
                        <a:ext cx="7802563" cy="163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D90BE2D-FE0B-4103-A1C9-9FD2D1D1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065973"/>
              </p:ext>
            </p:extLst>
          </p:nvPr>
        </p:nvGraphicFramePr>
        <p:xfrm>
          <a:off x="720123" y="3724476"/>
          <a:ext cx="5702300" cy="208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2" name="Equation" r:id="rId3" imgW="2819160" imgH="1028520" progId="Equation.DSMT4">
                  <p:embed/>
                </p:oleObj>
              </mc:Choice>
              <mc:Fallback>
                <p:oleObj name="Equation" r:id="rId3" imgW="2819160" imgH="1028520" progId="Equation.DSMT4">
                  <p:embed/>
                  <p:pic>
                    <p:nvPicPr>
                      <p:cNvPr id="440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123" y="3724476"/>
                        <a:ext cx="5702300" cy="208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4A33FA6-E6EB-45E1-8F53-60823A4D2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Object 1">
            <a:extLst>
              <a:ext uri="{FF2B5EF4-FFF2-40B4-BE49-F238E27FC236}">
                <a16:creationId xmlns:a16="http://schemas.microsoft.com/office/drawing/2014/main" id="{8C3856A8-CA60-4BDC-BA1D-2C2455BBA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652445"/>
              </p:ext>
            </p:extLst>
          </p:nvPr>
        </p:nvGraphicFramePr>
        <p:xfrm>
          <a:off x="638877" y="1033814"/>
          <a:ext cx="7858125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3" name="Equation" r:id="rId5" imgW="3124080" imgH="1206360" progId="Equation.DSMT4">
                  <p:embed/>
                </p:oleObj>
              </mc:Choice>
              <mc:Fallback>
                <p:oleObj name="Equation" r:id="rId5" imgW="3124080" imgH="1206360" progId="Equation.DSMT4">
                  <p:embed/>
                  <p:pic>
                    <p:nvPicPr>
                      <p:cNvPr id="4301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77" y="1033814"/>
                        <a:ext cx="7858125" cy="271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7A8EBF-DF90-478C-B01B-297D9D5A4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10" y="5900587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+mn-ea"/>
                <a:ea typeface="+mn-ea"/>
                <a:sym typeface="Wingdings" panose="05000000000000000000" pitchFamily="2" charset="2"/>
              </a:rPr>
              <a:t>证明略</a:t>
            </a:r>
            <a:endParaRPr lang="en-US" altLang="zh-CN" sz="2800">
              <a:latin typeface="+mn-ea"/>
              <a:ea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081879"/>
              </p:ext>
            </p:extLst>
          </p:nvPr>
        </p:nvGraphicFramePr>
        <p:xfrm>
          <a:off x="428625" y="1071563"/>
          <a:ext cx="8072438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8" name="Equation" r:id="rId3" imgW="8102520" imgH="3593880" progId="Equation.DSMT4">
                  <p:embed/>
                </p:oleObj>
              </mc:Choice>
              <mc:Fallback>
                <p:oleObj name="Equation" r:id="rId3" imgW="8102520" imgH="3593880" progId="Equation.DSMT4">
                  <p:embed/>
                  <p:pic>
                    <p:nvPicPr>
                      <p:cNvPr id="4711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071563"/>
                        <a:ext cx="8072438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B14A22EB-61AD-4912-B126-AD3E50DD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71F0EA-0BDC-4D9B-A4B2-55DB1560D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33" y="4803307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+mn-ea"/>
                <a:ea typeface="+mn-ea"/>
                <a:sym typeface="Wingdings" panose="05000000000000000000" pitchFamily="2" charset="2"/>
              </a:rPr>
              <a:t>证明略</a:t>
            </a:r>
            <a:endParaRPr lang="en-US" altLang="zh-CN" sz="2800">
              <a:latin typeface="+mn-ea"/>
              <a:ea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6" name="组合 10"/>
          <p:cNvGrpSpPr>
            <a:grpSpLocks/>
          </p:cNvGrpSpPr>
          <p:nvPr/>
        </p:nvGrpSpPr>
        <p:grpSpPr bwMode="auto">
          <a:xfrm>
            <a:off x="395288" y="1125538"/>
            <a:ext cx="3438525" cy="4127500"/>
            <a:chOff x="4500562" y="857232"/>
            <a:chExt cx="3437633" cy="4127872"/>
          </a:xfrm>
        </p:grpSpPr>
        <p:sp>
          <p:nvSpPr>
            <p:cNvPr id="51208" name="Rectangle 6"/>
            <p:cNvSpPr>
              <a:spLocks noChangeArrowheads="1"/>
            </p:cNvSpPr>
            <p:nvPr/>
          </p:nvSpPr>
          <p:spPr bwMode="auto">
            <a:xfrm>
              <a:off x="4500562" y="857232"/>
              <a:ext cx="1697461" cy="646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600" dirty="0">
                  <a:ea typeface="楷体_GB2312" pitchFamily="49" charset="-122"/>
                  <a:sym typeface="Wingdings" panose="05000000000000000000" pitchFamily="2" charset="2"/>
                </a:rPr>
                <a:t>例</a:t>
              </a:r>
              <a:r>
                <a:rPr lang="en-US" altLang="zh-CN" sz="3600" dirty="0">
                  <a:ea typeface="楷体_GB2312" pitchFamily="49" charset="-122"/>
                  <a:sym typeface="Wingdings" panose="05000000000000000000" pitchFamily="2" charset="2"/>
                </a:rPr>
                <a:t>7.2.1:</a:t>
              </a:r>
              <a:endParaRPr lang="zh-CN" altLang="en-US" sz="3600" dirty="0">
                <a:ea typeface="楷体_GB2312" pitchFamily="49" charset="-122"/>
                <a:sym typeface="Wingdings" panose="05000000000000000000" pitchFamily="2" charset="2"/>
              </a:endParaRPr>
            </a:p>
          </p:txBody>
        </p:sp>
        <p:graphicFrame>
          <p:nvGraphicFramePr>
            <p:cNvPr id="51209" name="Object 7"/>
            <p:cNvGraphicFramePr>
              <a:graphicFrameLocks noChangeAspect="1"/>
            </p:cNvGraphicFramePr>
            <p:nvPr/>
          </p:nvGraphicFramePr>
          <p:xfrm>
            <a:off x="4788595" y="1505304"/>
            <a:ext cx="3149600" cy="347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0" name="Equation" r:id="rId3" imgW="3149600" imgH="3479800" progId="Equation.DSMT4">
                    <p:embed/>
                  </p:oleObj>
                </mc:Choice>
                <mc:Fallback>
                  <p:oleObj name="Equation" r:id="rId3" imgW="3149600" imgH="3479800" progId="Equation.DSMT4">
                    <p:embed/>
                    <p:pic>
                      <p:nvPicPr>
                        <p:cNvPr id="5120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595" y="1505304"/>
                          <a:ext cx="3149600" cy="3479800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07" name="Object 8"/>
          <p:cNvGraphicFramePr>
            <a:graphicFrameLocks noChangeAspect="1"/>
          </p:cNvGraphicFramePr>
          <p:nvPr/>
        </p:nvGraphicFramePr>
        <p:xfrm>
          <a:off x="4787900" y="1268413"/>
          <a:ext cx="4071938" cy="484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1" name="Equation" r:id="rId5" imgW="4064000" imgH="4940300" progId="Equation.DSMT4">
                  <p:embed/>
                </p:oleObj>
              </mc:Choice>
              <mc:Fallback>
                <p:oleObj name="Equation" r:id="rId5" imgW="4064000" imgH="4940300" progId="Equation.DSMT4">
                  <p:embed/>
                  <p:pic>
                    <p:nvPicPr>
                      <p:cNvPr id="5120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268413"/>
                        <a:ext cx="4071938" cy="48434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2D769F6-7423-41EF-9A0C-DB4EAE77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457200" y="914400"/>
            <a:ext cx="1377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例</a:t>
            </a:r>
            <a:r>
              <a:rPr lang="en-US" altLang="zh-CN" sz="2800" dirty="0">
                <a:sym typeface="Wingdings" panose="05000000000000000000" pitchFamily="2" charset="2"/>
              </a:rPr>
              <a:t>7.2.2</a:t>
            </a:r>
            <a:endParaRPr lang="zh-CN" altLang="en-US" sz="2800" dirty="0">
              <a:sym typeface="Wingdings" panose="05000000000000000000" pitchFamily="2" charset="2"/>
            </a:endParaRPr>
          </a:p>
        </p:txBody>
      </p:sp>
      <p:graphicFrame>
        <p:nvGraphicFramePr>
          <p:cNvPr id="52231" name="Object 10"/>
          <p:cNvGraphicFramePr>
            <a:graphicFrameLocks noChangeAspect="1"/>
          </p:cNvGraphicFramePr>
          <p:nvPr/>
        </p:nvGraphicFramePr>
        <p:xfrm>
          <a:off x="1071563" y="1571625"/>
          <a:ext cx="23876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" name="Equation" r:id="rId3" imgW="2387600" imgH="1485900" progId="Equation.DSMT4">
                  <p:embed/>
                </p:oleObj>
              </mc:Choice>
              <mc:Fallback>
                <p:oleObj name="Equation" r:id="rId3" imgW="2387600" imgH="1485900" progId="Equation.DSMT4">
                  <p:embed/>
                  <p:pic>
                    <p:nvPicPr>
                      <p:cNvPr id="5223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571625"/>
                        <a:ext cx="23876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2232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1357313"/>
            <a:ext cx="4759325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2CACE4D-5F97-4CD1-B968-E658F0F0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4" name="Object 5"/>
          <p:cNvGraphicFramePr>
            <a:graphicFrameLocks noChangeAspect="1"/>
          </p:cNvGraphicFramePr>
          <p:nvPr/>
        </p:nvGraphicFramePr>
        <p:xfrm>
          <a:off x="857250" y="1636713"/>
          <a:ext cx="5584825" cy="411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8" name="Equation" r:id="rId3" imgW="5549760" imgH="4089240" progId="Equation.DSMT4">
                  <p:embed/>
                </p:oleObj>
              </mc:Choice>
              <mc:Fallback>
                <p:oleObj name="Equation" r:id="rId3" imgW="5549760" imgH="4089240" progId="Equation.DSMT4">
                  <p:embed/>
                  <p:pic>
                    <p:nvPicPr>
                      <p:cNvPr id="5325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636713"/>
                        <a:ext cx="5584825" cy="411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6"/>
          <p:cNvGraphicFramePr>
            <a:graphicFrameLocks noChangeAspect="1"/>
          </p:cNvGraphicFramePr>
          <p:nvPr/>
        </p:nvGraphicFramePr>
        <p:xfrm>
          <a:off x="6072188" y="1214438"/>
          <a:ext cx="23876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9" name="Equation" r:id="rId5" imgW="2387600" imgH="1485900" progId="Equation.DSMT4">
                  <p:embed/>
                </p:oleObj>
              </mc:Choice>
              <mc:Fallback>
                <p:oleObj name="Equation" r:id="rId5" imgW="2387600" imgH="1485900" progId="Equation.DSMT4">
                  <p:embed/>
                  <p:pic>
                    <p:nvPicPr>
                      <p:cNvPr id="5325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1214438"/>
                        <a:ext cx="2387600" cy="14859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A55137C-F9A7-497E-B5EB-7B3964F1C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006645"/>
              </p:ext>
            </p:extLst>
          </p:nvPr>
        </p:nvGraphicFramePr>
        <p:xfrm>
          <a:off x="488950" y="2428875"/>
          <a:ext cx="8258175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7" name="Equation" r:id="rId3" imgW="4267080" imgH="1625400" progId="Equation.DSMT4">
                  <p:embed/>
                </p:oleObj>
              </mc:Choice>
              <mc:Fallback>
                <p:oleObj name="Equation" r:id="rId3" imgW="4267080" imgH="1625400" progId="Equation.DSMT4">
                  <p:embed/>
                  <p:pic>
                    <p:nvPicPr>
                      <p:cNvPr id="5427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428875"/>
                        <a:ext cx="8258175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Rectangle 10"/>
          <p:cNvSpPr>
            <a:spLocks noChangeArrowheads="1"/>
          </p:cNvSpPr>
          <p:nvPr/>
        </p:nvSpPr>
        <p:spPr bwMode="auto">
          <a:xfrm>
            <a:off x="442914" y="1000125"/>
            <a:ext cx="809469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ym typeface="Wingdings" panose="05000000000000000000" pitchFamily="2" charset="2"/>
              </a:rPr>
              <a:t>前面</a:t>
            </a:r>
            <a:r>
              <a:rPr lang="en-US" altLang="zh-CN" sz="2400" dirty="0">
                <a:sym typeface="Wingdings" panose="05000000000000000000" pitchFamily="2" charset="2"/>
              </a:rPr>
              <a:t>FJ</a:t>
            </a:r>
            <a:r>
              <a:rPr lang="zh-CN" altLang="en-US" sz="2400" dirty="0">
                <a:sym typeface="Wingdings" panose="05000000000000000000" pitchFamily="2" charset="2"/>
              </a:rPr>
              <a:t>条件中</a:t>
            </a:r>
            <a:r>
              <a:rPr lang="en-US" altLang="zh-CN" sz="2400" dirty="0">
                <a:sym typeface="Wingdings" panose="05000000000000000000" pitchFamily="2" charset="2"/>
              </a:rPr>
              <a:t>w</a:t>
            </a:r>
            <a:r>
              <a:rPr lang="en-US" altLang="zh-CN" sz="2400" baseline="-25000" dirty="0">
                <a:sym typeface="Wingdings" panose="05000000000000000000" pitchFamily="2" charset="2"/>
              </a:rPr>
              <a:t>0</a:t>
            </a:r>
            <a:r>
              <a:rPr lang="zh-CN" altLang="en-US" sz="2400" dirty="0">
                <a:sym typeface="Wingdings" panose="05000000000000000000" pitchFamily="2" charset="2"/>
              </a:rPr>
              <a:t>不一定为正</a:t>
            </a:r>
            <a:r>
              <a:rPr lang="en-US" altLang="zh-CN" sz="2400" dirty="0">
                <a:sym typeface="Wingdings" panose="05000000000000000000" pitchFamily="2" charset="2"/>
              </a:rPr>
              <a:t>, </a:t>
            </a:r>
            <a:r>
              <a:rPr lang="zh-CN" altLang="en-US" sz="2400" dirty="0">
                <a:sym typeface="Wingdings" panose="05000000000000000000" pitchFamily="2" charset="2"/>
              </a:rPr>
              <a:t>如果为</a:t>
            </a:r>
            <a:r>
              <a:rPr lang="en-US" altLang="zh-CN" sz="2400" dirty="0">
                <a:sym typeface="Wingdings" panose="05000000000000000000" pitchFamily="2" charset="2"/>
              </a:rPr>
              <a:t>0</a:t>
            </a:r>
            <a:r>
              <a:rPr lang="zh-CN" altLang="en-US" sz="2400" dirty="0">
                <a:sym typeface="Wingdings" panose="05000000000000000000" pitchFamily="2" charset="2"/>
              </a:rPr>
              <a:t>，则不含目标函数信息，因此对判别最优解没有作用，为此，我们通过增加约束规格来保证</a:t>
            </a:r>
            <a:r>
              <a:rPr lang="en-US" altLang="zh-CN" sz="2400" dirty="0">
                <a:sym typeface="Wingdings" panose="05000000000000000000" pitchFamily="2" charset="2"/>
              </a:rPr>
              <a:t>w</a:t>
            </a:r>
            <a:r>
              <a:rPr lang="en-US" altLang="zh-CN" sz="2400" baseline="-25000" dirty="0">
                <a:sym typeface="Wingdings" panose="05000000000000000000" pitchFamily="2" charset="2"/>
              </a:rPr>
              <a:t>0</a:t>
            </a:r>
            <a:r>
              <a:rPr lang="zh-CN" altLang="en-US" sz="2400" dirty="0">
                <a:sym typeface="Wingdings" panose="05000000000000000000" pitchFamily="2" charset="2"/>
              </a:rPr>
              <a:t>为正</a:t>
            </a:r>
            <a:r>
              <a:rPr lang="en-US" altLang="zh-CN" sz="2400" dirty="0">
                <a:sym typeface="Wingdings" panose="05000000000000000000" pitchFamily="2" charset="2"/>
              </a:rPr>
              <a:t>,</a:t>
            </a:r>
            <a:r>
              <a:rPr lang="zh-CN" altLang="en-US" sz="2400" dirty="0">
                <a:sym typeface="Wingdings" panose="05000000000000000000" pitchFamily="2" charset="2"/>
              </a:rPr>
              <a:t>得到著名的</a:t>
            </a:r>
            <a:r>
              <a:rPr lang="en-US" altLang="zh-CN" sz="2400" dirty="0">
                <a:sym typeface="Wingdings" panose="05000000000000000000" pitchFamily="2" charset="2"/>
              </a:rPr>
              <a:t>KKT</a:t>
            </a:r>
            <a:r>
              <a:rPr lang="zh-CN" altLang="en-US" sz="2400" dirty="0">
                <a:sym typeface="Wingdings" panose="05000000000000000000" pitchFamily="2" charset="2"/>
              </a:rPr>
              <a:t>最优性必要条件。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8A41BC1-4EE2-4950-A9C5-E4B16540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8F8CF3-30C1-4CAF-A711-2289320FB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75" y="5602253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+mn-ea"/>
                <a:ea typeface="+mn-ea"/>
                <a:sym typeface="Wingdings" panose="05000000000000000000" pitchFamily="2" charset="2"/>
              </a:rPr>
              <a:t>证明略</a:t>
            </a:r>
            <a:endParaRPr lang="en-US" altLang="zh-CN" sz="2800">
              <a:latin typeface="+mn-ea"/>
              <a:ea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310" name="Text Box 9"/>
              <p:cNvSpPr txBox="1">
                <a:spLocks noChangeArrowheads="1"/>
              </p:cNvSpPr>
              <p:nvPr/>
            </p:nvSpPr>
            <p:spPr bwMode="auto">
              <a:xfrm>
                <a:off x="458319" y="1040882"/>
                <a:ext cx="8496300" cy="1541462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 dirty="0">
                    <a:ea typeface="楷体_GB2312" pitchFamily="49" charset="-122"/>
                  </a:rPr>
                  <a:t>进一步假设</a:t>
                </a:r>
                <a:r>
                  <a:rPr lang="en-US" altLang="zh-CN" sz="2400" dirty="0">
                    <a:ea typeface="楷体_GB2312" pitchFamily="49" charset="-122"/>
                  </a:rPr>
                  <a:t>,</a:t>
                </a:r>
                <a:r>
                  <a:rPr lang="en-US" altLang="zh-CN" sz="2400" i="1" dirty="0" err="1">
                    <a:ea typeface="楷体_GB2312" pitchFamily="49" charset="-122"/>
                  </a:rPr>
                  <a:t>g</a:t>
                </a:r>
                <a:r>
                  <a:rPr lang="en-US" altLang="zh-CN" sz="1600" i="1" dirty="0" err="1">
                    <a:ea typeface="楷体_GB2312" pitchFamily="49" charset="-122"/>
                  </a:rPr>
                  <a:t>i</a:t>
                </a:r>
                <a:r>
                  <a:rPr lang="en-US" altLang="zh-CN" sz="2400" i="1" dirty="0">
                    <a:ea typeface="楷体_GB2312" pitchFamily="49" charset="-122"/>
                  </a:rPr>
                  <a:t> 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i="1" dirty="0">
                    <a:ea typeface="楷体_GB2312" pitchFamily="49" charset="-122"/>
                  </a:rPr>
                  <a:t> </a:t>
                </a:r>
                <a:r>
                  <a:rPr lang="en-US" altLang="zh-CN" sz="2400" i="1" dirty="0" err="1">
                    <a:ea typeface="楷体_GB2312" pitchFamily="49" charset="-122"/>
                  </a:rPr>
                  <a:t>i</a:t>
                </a:r>
                <a:r>
                  <a:rPr lang="en-US" altLang="zh-CN" sz="2400" dirty="0" err="1">
                    <a:ea typeface="楷体_GB2312" pitchFamily="49" charset="-122"/>
                    <a:sym typeface="Symbol" panose="05050102010706020507" pitchFamily="18" charset="2"/>
                  </a:rPr>
                  <a:t></a:t>
                </a:r>
                <a:r>
                  <a:rPr lang="en-US" altLang="zh-CN" sz="2400" b="1" i="1" dirty="0" err="1">
                    <a:ea typeface="楷体_GB2312" pitchFamily="49" charset="-122"/>
                  </a:rPr>
                  <a:t>I</a:t>
                </a:r>
                <a:r>
                  <a:rPr lang="en-US" altLang="zh-CN" sz="2400" i="1" dirty="0">
                    <a:ea typeface="楷体_GB2312" pitchFamily="49" charset="-122"/>
                  </a:rPr>
                  <a:t> )</a:t>
                </a:r>
                <a:r>
                  <a:rPr lang="zh-CN" altLang="en-US" sz="2400" dirty="0">
                    <a:ea typeface="楷体_GB2312" pitchFamily="49" charset="-122"/>
                  </a:rPr>
                  <a:t>在</a:t>
                </a:r>
                <a:r>
                  <a:rPr lang="en-US" altLang="zh-CN" sz="2400" i="1" dirty="0">
                    <a:ea typeface="楷体_GB2312" pitchFamily="49" charset="-122"/>
                  </a:rPr>
                  <a:t> 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*, </a:t>
                </a:r>
                <a:r>
                  <a:rPr lang="zh-CN" altLang="en-US" sz="2400" dirty="0">
                    <a:ea typeface="楷体_GB2312" pitchFamily="49" charset="-122"/>
                  </a:rPr>
                  <a:t>连续可微</a:t>
                </a:r>
                <a:r>
                  <a:rPr lang="en-US" altLang="zh-CN" sz="2400" dirty="0">
                    <a:ea typeface="楷体_GB2312" pitchFamily="49" charset="-122"/>
                  </a:rPr>
                  <a:t>,</a:t>
                </a:r>
                <a:r>
                  <a:rPr lang="zh-CN" altLang="en-US" sz="2400" dirty="0">
                    <a:ea typeface="楷体_GB2312" pitchFamily="49" charset="-122"/>
                  </a:rPr>
                  <a:t>则</a:t>
                </a:r>
                <a:endParaRPr lang="en-US" altLang="zh-CN" sz="2400" i="1" dirty="0">
                  <a:ea typeface="楷体_GB2312" pitchFamily="49" charset="-122"/>
                </a:endParaRPr>
              </a:p>
              <a:p>
                <a:pPr eaLnBrk="1" hangingPunct="1">
                  <a:lnSpc>
                    <a:spcPct val="11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     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>
                    <a:ea typeface="楷体_GB2312" pitchFamily="49" charset="-122"/>
                  </a:rPr>
                  <a:t>f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*)-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altLang="zh-CN" sz="2400" i="1" dirty="0" err="1">
                    <a:ea typeface="楷体_GB2312" pitchFamily="49" charset="-122"/>
                  </a:rPr>
                  <a:t>u</a:t>
                </a:r>
                <a:r>
                  <a:rPr lang="en-US" altLang="zh-CN" sz="1600" i="1" baseline="-25000" dirty="0" err="1">
                    <a:ea typeface="楷体_GB2312" pitchFamily="49" charset="-122"/>
                  </a:rPr>
                  <a:t>i</a:t>
                </a:r>
                <a:r>
                  <a:rPr lang="en-US" altLang="zh-CN" sz="2400" dirty="0" err="1">
                    <a:ea typeface="楷体_GB2312" pitchFamily="49" charset="-122"/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 err="1">
                    <a:ea typeface="楷体_GB2312" pitchFamily="49" charset="-122"/>
                  </a:rPr>
                  <a:t>g</a:t>
                </a:r>
                <a:r>
                  <a:rPr lang="en-US" altLang="zh-CN" sz="1600" i="1" baseline="-25000" dirty="0" err="1">
                    <a:ea typeface="楷体_GB2312" pitchFamily="49" charset="-122"/>
                  </a:rPr>
                  <a:t>i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*)- 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</a:t>
                </a:r>
                <a:r>
                  <a:rPr lang="en-US" altLang="zh-CN" sz="2400" i="1" dirty="0" err="1">
                    <a:ea typeface="楷体_GB2312" pitchFamily="49" charset="-122"/>
                  </a:rPr>
                  <a:t>v</a:t>
                </a:r>
                <a:r>
                  <a:rPr lang="en-US" altLang="zh-CN" sz="1600" i="1" baseline="-25000" dirty="0" err="1">
                    <a:ea typeface="楷体_GB2312" pitchFamily="49" charset="-122"/>
                  </a:rPr>
                  <a:t>j</a:t>
                </a:r>
                <a:r>
                  <a:rPr lang="en-US" altLang="zh-CN" sz="2400" dirty="0" err="1">
                    <a:ea typeface="楷体_GB2312" pitchFamily="49" charset="-122"/>
                    <a:sym typeface="Symbol" panose="05050102010706020507" pitchFamily="18" charset="2"/>
                  </a:rPr>
                  <a:t></a:t>
                </a:r>
                <a:r>
                  <a:rPr lang="en-US" altLang="zh-CN" sz="2400" i="1" dirty="0" err="1">
                    <a:ea typeface="楷体_GB2312" pitchFamily="49" charset="-122"/>
                  </a:rPr>
                  <a:t>h</a:t>
                </a:r>
                <a:r>
                  <a:rPr lang="en-US" altLang="zh-CN" sz="1600" i="1" baseline="-25000" dirty="0" err="1">
                    <a:ea typeface="楷体_GB2312" pitchFamily="49" charset="-122"/>
                  </a:rPr>
                  <a:t>j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*) =</a:t>
                </a:r>
                <a:r>
                  <a:rPr lang="en-US" altLang="zh-CN" sz="2400" b="1" dirty="0">
                    <a:ea typeface="楷体_GB2312" pitchFamily="49" charset="-122"/>
                  </a:rPr>
                  <a:t>0</a:t>
                </a:r>
                <a:r>
                  <a:rPr lang="en-US" altLang="zh-CN" sz="2400" dirty="0">
                    <a:ea typeface="楷体_GB2312" pitchFamily="49" charset="-122"/>
                  </a:rPr>
                  <a:t>, </a:t>
                </a:r>
              </a:p>
              <a:p>
                <a:pPr eaLnBrk="1" hangingPunct="1">
                  <a:lnSpc>
                    <a:spcPct val="110000"/>
                  </a:lnSpc>
                  <a:buFontTx/>
                  <a:buNone/>
                </a:pPr>
                <a:r>
                  <a:rPr lang="en-US" altLang="zh-CN" sz="2400" dirty="0">
                    <a:ea typeface="楷体_GB2312" pitchFamily="49" charset="-122"/>
                  </a:rPr>
                  <a:t>     </a:t>
                </a:r>
                <a:r>
                  <a:rPr lang="en-US" altLang="zh-CN" sz="2400" i="1" dirty="0" err="1">
                    <a:ea typeface="楷体_GB2312" pitchFamily="49" charset="-122"/>
                  </a:rPr>
                  <a:t>u</a:t>
                </a:r>
                <a:r>
                  <a:rPr lang="en-US" altLang="zh-CN" sz="1600" i="1" baseline="-25000" dirty="0" err="1">
                    <a:ea typeface="楷体_GB2312" pitchFamily="49" charset="-122"/>
                  </a:rPr>
                  <a:t>i</a:t>
                </a:r>
                <a:r>
                  <a:rPr lang="en-US" altLang="zh-CN" sz="2400" i="1" dirty="0" err="1">
                    <a:ea typeface="楷体_GB2312" pitchFamily="49" charset="-122"/>
                  </a:rPr>
                  <a:t>g</a:t>
                </a:r>
                <a:r>
                  <a:rPr lang="en-US" altLang="zh-CN" sz="1600" i="1" baseline="-25000" dirty="0" err="1">
                    <a:ea typeface="楷体_GB2312" pitchFamily="49" charset="-122"/>
                  </a:rPr>
                  <a:t>i</a:t>
                </a:r>
                <a:r>
                  <a:rPr lang="en-US" altLang="zh-CN" sz="2400" dirty="0">
                    <a:ea typeface="楷体_GB2312" pitchFamily="49" charset="-122"/>
                  </a:rPr>
                  <a:t>(</a:t>
                </a:r>
                <a:r>
                  <a:rPr lang="en-US" altLang="zh-CN" sz="2400" b="1" i="1" dirty="0">
                    <a:ea typeface="楷体_GB2312" pitchFamily="49" charset="-122"/>
                  </a:rPr>
                  <a:t>x</a:t>
                </a:r>
                <a:r>
                  <a:rPr lang="en-US" altLang="zh-CN" sz="2400" dirty="0">
                    <a:ea typeface="楷体_GB2312" pitchFamily="49" charset="-122"/>
                  </a:rPr>
                  <a:t>*)=0, </a:t>
                </a:r>
                <a:r>
                  <a:rPr lang="en-US" altLang="zh-CN" sz="2400" i="1" dirty="0">
                    <a:ea typeface="楷体_GB2312" pitchFamily="49" charset="-122"/>
                  </a:rPr>
                  <a:t>u</a:t>
                </a:r>
                <a:r>
                  <a:rPr lang="en-US" altLang="zh-CN" sz="2400" i="1" baseline="-25000" dirty="0">
                    <a:ea typeface="楷体_GB2312" pitchFamily="49" charset="-122"/>
                  </a:rPr>
                  <a:t>i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0(</a:t>
                </a:r>
                <a:r>
                  <a:rPr lang="en-US" altLang="zh-CN" sz="2400" i="1" dirty="0" err="1">
                    <a:ea typeface="楷体_GB2312" pitchFamily="49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=1,…, </a:t>
                </a:r>
                <a:r>
                  <a:rPr lang="en-US" altLang="zh-CN" sz="2400" i="1" dirty="0">
                    <a:ea typeface="楷体_GB2312" pitchFamily="49" charset="-122"/>
                    <a:sym typeface="Symbol" panose="05050102010706020507" pitchFamily="18" charset="2"/>
                  </a:rPr>
                  <a:t>m</a:t>
                </a:r>
                <a:r>
                  <a:rPr lang="en-US" altLang="zh-CN" sz="2400" dirty="0">
                    <a:ea typeface="楷体_GB2312" pitchFamily="49" charset="-122"/>
                    <a:sym typeface="Symbol" panose="05050102010706020507" pitchFamily="18" charset="2"/>
                  </a:rPr>
                  <a:t>.)</a:t>
                </a:r>
              </a:p>
            </p:txBody>
          </p:sp>
        </mc:Choice>
        <mc:Fallback xmlns="">
          <p:sp>
            <p:nvSpPr>
              <p:cNvPr id="55310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319" y="1040882"/>
                <a:ext cx="8496300" cy="1541462"/>
              </a:xfrm>
              <a:prstGeom prst="rect">
                <a:avLst/>
              </a:prstGeom>
              <a:blipFill>
                <a:blip r:embed="rId4"/>
                <a:stretch>
                  <a:fillRect l="-1076" t="-3953" b="-8300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549099" y="2993558"/>
            <a:ext cx="794038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None/>
            </a:pPr>
            <a:r>
              <a:rPr lang="zh-CN" altLang="en-US" sz="2800" dirty="0"/>
              <a:t>若采用矩阵和向量记号</a:t>
            </a:r>
            <a:r>
              <a:rPr lang="en-US" altLang="zh-CN" sz="2800" dirty="0"/>
              <a:t>,</a:t>
            </a:r>
            <a:r>
              <a:rPr lang="zh-CN" altLang="en-US" sz="2800" dirty="0"/>
              <a:t>则</a:t>
            </a:r>
            <a:r>
              <a:rPr lang="en-US" altLang="zh-CN" sz="2800" dirty="0"/>
              <a:t>KKT</a:t>
            </a:r>
            <a:r>
              <a:rPr lang="zh-CN" altLang="en-US" sz="2800" dirty="0"/>
              <a:t>条件可有如下的简洁表示。</a:t>
            </a: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785813" y="3982754"/>
            <a:ext cx="7002462" cy="1689100"/>
            <a:chOff x="476" y="1088"/>
            <a:chExt cx="4411" cy="1064"/>
          </a:xfrm>
        </p:grpSpPr>
        <p:graphicFrame>
          <p:nvGraphicFramePr>
            <p:cNvPr id="55305" name="Object 12"/>
            <p:cNvGraphicFramePr>
              <a:graphicFrameLocks noChangeAspect="1"/>
            </p:cNvGraphicFramePr>
            <p:nvPr/>
          </p:nvGraphicFramePr>
          <p:xfrm>
            <a:off x="476" y="1808"/>
            <a:ext cx="394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8" name="Equation" r:id="rId5" imgW="2768600" imgH="241300" progId="Equation.DSMT4">
                    <p:embed/>
                  </p:oleObj>
                </mc:Choice>
                <mc:Fallback>
                  <p:oleObj name="Equation" r:id="rId5" imgW="2768600" imgH="241300" progId="Equation.DSMT4">
                    <p:embed/>
                    <p:pic>
                      <p:nvPicPr>
                        <p:cNvPr id="5530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808"/>
                          <a:ext cx="394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6" name="Rectangle 11"/>
            <p:cNvSpPr>
              <a:spLocks noChangeArrowheads="1"/>
            </p:cNvSpPr>
            <p:nvPr/>
          </p:nvSpPr>
          <p:spPr bwMode="auto">
            <a:xfrm>
              <a:off x="476" y="1088"/>
              <a:ext cx="21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定义</a:t>
              </a:r>
              <a:r>
                <a:rPr lang="en-US" altLang="zh-CN" sz="2800" b="1"/>
                <a:t>Lagrange</a:t>
              </a:r>
              <a:r>
                <a:rPr lang="zh-CN" altLang="en-US" sz="2800" b="1"/>
                <a:t>函数为</a:t>
              </a:r>
            </a:p>
          </p:txBody>
        </p:sp>
        <p:grpSp>
          <p:nvGrpSpPr>
            <p:cNvPr id="55307" name="Group 16"/>
            <p:cNvGrpSpPr>
              <a:grpSpLocks/>
            </p:cNvGrpSpPr>
            <p:nvPr/>
          </p:nvGrpSpPr>
          <p:grpSpPr bwMode="auto">
            <a:xfrm>
              <a:off x="703" y="1389"/>
              <a:ext cx="4184" cy="341"/>
              <a:chOff x="703" y="1389"/>
              <a:chExt cx="4184" cy="341"/>
            </a:xfrm>
          </p:grpSpPr>
          <p:sp>
            <p:nvSpPr>
              <p:cNvPr id="55308" name="Rectangle 6"/>
              <p:cNvSpPr>
                <a:spLocks noChangeArrowheads="1"/>
              </p:cNvSpPr>
              <p:nvPr/>
            </p:nvSpPr>
            <p:spPr bwMode="auto">
              <a:xfrm>
                <a:off x="3606" y="1418"/>
                <a:ext cx="128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dirty="0"/>
                  <a:t>(7.2.3)</a:t>
                </a:r>
              </a:p>
            </p:txBody>
          </p:sp>
          <p:graphicFrame>
            <p:nvGraphicFramePr>
              <p:cNvPr id="55309" name="Object 13"/>
              <p:cNvGraphicFramePr>
                <a:graphicFrameLocks noChangeAspect="1"/>
              </p:cNvGraphicFramePr>
              <p:nvPr/>
            </p:nvGraphicFramePr>
            <p:xfrm>
              <a:off x="703" y="1389"/>
              <a:ext cx="2767" cy="3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79" name="Equation" r:id="rId7" imgW="1854200" imgH="228600" progId="Equation.DSMT4">
                      <p:embed/>
                    </p:oleObj>
                  </mc:Choice>
                  <mc:Fallback>
                    <p:oleObj name="Equation" r:id="rId7" imgW="1854200" imgH="228600" progId="Equation.DSMT4">
                      <p:embed/>
                      <p:pic>
                        <p:nvPicPr>
                          <p:cNvPr id="55309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" y="1389"/>
                            <a:ext cx="2767" cy="3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" name="标题 4">
            <a:extLst>
              <a:ext uri="{FF2B5EF4-FFF2-40B4-BE49-F238E27FC236}">
                <a16:creationId xmlns:a16="http://schemas.microsoft.com/office/drawing/2014/main" id="{C1623BFE-CB43-4739-B842-C055A1A8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031560"/>
              </p:ext>
            </p:extLst>
          </p:nvPr>
        </p:nvGraphicFramePr>
        <p:xfrm>
          <a:off x="600761" y="1127810"/>
          <a:ext cx="7112000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0" name="Equation" r:id="rId4" imgW="3035300" imgH="1016000" progId="Equation.DSMT4">
                  <p:embed/>
                </p:oleObj>
              </mc:Choice>
              <mc:Fallback>
                <p:oleObj name="Equation" r:id="rId4" imgW="3035300" imgH="1016000" progId="Equation.DSMT4">
                  <p:embed/>
                  <p:pic>
                    <p:nvPicPr>
                      <p:cNvPr id="573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61" y="1127810"/>
                        <a:ext cx="7112000" cy="238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064287"/>
              </p:ext>
            </p:extLst>
          </p:nvPr>
        </p:nvGraphicFramePr>
        <p:xfrm>
          <a:off x="1274763" y="4395788"/>
          <a:ext cx="6088062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1" name="Equation" r:id="rId6" imgW="2730240" imgH="672840" progId="Equation.DSMT4">
                  <p:embed/>
                </p:oleObj>
              </mc:Choice>
              <mc:Fallback>
                <p:oleObj name="Equation" r:id="rId6" imgW="2730240" imgH="672840" progId="Equation.DSMT4">
                  <p:embed/>
                  <p:pic>
                    <p:nvPicPr>
                      <p:cNvPr id="573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4395788"/>
                        <a:ext cx="6088062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Rectangle 4"/>
          <p:cNvSpPr>
            <a:spLocks noChangeArrowheads="1"/>
          </p:cNvSpPr>
          <p:nvPr/>
        </p:nvSpPr>
        <p:spPr bwMode="auto">
          <a:xfrm>
            <a:off x="611188" y="3703638"/>
            <a:ext cx="302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</a:t>
            </a:r>
            <a:r>
              <a:rPr lang="en-US" altLang="zh-CN" sz="2800"/>
              <a:t>KKT</a:t>
            </a:r>
            <a:r>
              <a:rPr lang="zh-CN" altLang="en-US" sz="2800"/>
              <a:t>条件可表为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424BE7-E3D5-491E-8AB7-0106D078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297379"/>
              </p:ext>
            </p:extLst>
          </p:nvPr>
        </p:nvGraphicFramePr>
        <p:xfrm>
          <a:off x="561975" y="1427163"/>
          <a:ext cx="8064500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9" name="Equation" r:id="rId4" imgW="3797280" imgH="723600" progId="Equation.DSMT4">
                  <p:embed/>
                </p:oleObj>
              </mc:Choice>
              <mc:Fallback>
                <p:oleObj name="Equation" r:id="rId4" imgW="3797280" imgH="7236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1427163"/>
                        <a:ext cx="8064500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0F9820E-971C-4A5A-A761-2D7A5F52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061197"/>
              </p:ext>
            </p:extLst>
          </p:nvPr>
        </p:nvGraphicFramePr>
        <p:xfrm>
          <a:off x="580331" y="1424035"/>
          <a:ext cx="8002588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1" name="Equation" r:id="rId4" imgW="4419360" imgH="939600" progId="Equation.DSMT4">
                  <p:embed/>
                </p:oleObj>
              </mc:Choice>
              <mc:Fallback>
                <p:oleObj name="Equation" r:id="rId4" imgW="4419360" imgH="939600" progId="Equation.DSMT4">
                  <p:embed/>
                  <p:pic>
                    <p:nvPicPr>
                      <p:cNvPr id="348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31" y="1424035"/>
                        <a:ext cx="8002588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E27CB83-9D7B-44DA-8D66-7401D4C6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1732056-A401-495E-B20D-B90306B56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79" y="3494322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+mn-ea"/>
                <a:ea typeface="+mn-ea"/>
                <a:sym typeface="Wingdings" panose="05000000000000000000" pitchFamily="2" charset="2"/>
              </a:rPr>
              <a:t>证明略</a:t>
            </a:r>
            <a:endParaRPr lang="en-US" altLang="zh-CN" sz="2800" dirty="0">
              <a:latin typeface="+mn-ea"/>
              <a:ea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196236"/>
              </p:ext>
            </p:extLst>
          </p:nvPr>
        </p:nvGraphicFramePr>
        <p:xfrm>
          <a:off x="606425" y="1063625"/>
          <a:ext cx="77978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9" name="Equation" r:id="rId3" imgW="7797600" imgH="1587240" progId="Equation.DSMT4">
                  <p:embed/>
                </p:oleObj>
              </mc:Choice>
              <mc:Fallback>
                <p:oleObj name="Equation" r:id="rId3" imgW="7797600" imgH="1587240" progId="Equation.DSMT4">
                  <p:embed/>
                  <p:pic>
                    <p:nvPicPr>
                      <p:cNvPr id="3686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" y="1063625"/>
                        <a:ext cx="77978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483756"/>
              </p:ext>
            </p:extLst>
          </p:nvPr>
        </p:nvGraphicFramePr>
        <p:xfrm>
          <a:off x="745958" y="2992437"/>
          <a:ext cx="62230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0" name="Equation" r:id="rId5" imgW="6223000" imgH="1536700" progId="Equation.DSMT4">
                  <p:embed/>
                </p:oleObj>
              </mc:Choice>
              <mc:Fallback>
                <p:oleObj name="Equation" r:id="rId5" imgW="6223000" imgH="1536700" progId="Equation.DSMT4">
                  <p:embed/>
                  <p:pic>
                    <p:nvPicPr>
                      <p:cNvPr id="3686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958" y="2992437"/>
                        <a:ext cx="62230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714482"/>
              </p:ext>
            </p:extLst>
          </p:nvPr>
        </p:nvGraphicFramePr>
        <p:xfrm>
          <a:off x="763587" y="4871160"/>
          <a:ext cx="519271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1" name="Equation" r:id="rId7" imgW="4800600" imgH="419040" progId="Equation.DSMT4">
                  <p:embed/>
                </p:oleObj>
              </mc:Choice>
              <mc:Fallback>
                <p:oleObj name="Equation" r:id="rId7" imgW="4800600" imgH="419040" progId="Equation.DSMT4">
                  <p:embed/>
                  <p:pic>
                    <p:nvPicPr>
                      <p:cNvPr id="3686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" y="4871160"/>
                        <a:ext cx="519271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6835A81-8A5F-4DC9-BE08-6F14212D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421104" y="350001"/>
            <a:ext cx="50599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dirty="0">
                <a:ea typeface="楷体_GB2312" pitchFamily="49" charset="-122"/>
                <a:sym typeface="Wingdings" panose="05000000000000000000" pitchFamily="2" charset="2"/>
              </a:rPr>
              <a:t>例</a:t>
            </a:r>
          </a:p>
        </p:txBody>
      </p:sp>
      <p:pic>
        <p:nvPicPr>
          <p:cNvPr id="6554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3" y="609600"/>
            <a:ext cx="35052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5544" name="Object 0"/>
          <p:cNvGraphicFramePr>
            <a:graphicFrameLocks noChangeAspect="1"/>
          </p:cNvGraphicFramePr>
          <p:nvPr/>
        </p:nvGraphicFramePr>
        <p:xfrm>
          <a:off x="2571750" y="3071813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5" name="Equation" r:id="rId4" imgW="228600" imgH="279400" progId="Equation.DSMT4">
                  <p:embed/>
                </p:oleObj>
              </mc:Choice>
              <mc:Fallback>
                <p:oleObj name="Equation" r:id="rId4" imgW="228600" imgH="279400" progId="Equation.DSMT4">
                  <p:embed/>
                  <p:pic>
                    <p:nvPicPr>
                      <p:cNvPr id="6554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3071813"/>
                        <a:ext cx="228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5545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507" y="2451101"/>
            <a:ext cx="3490211" cy="304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C4D9A9C-CD92-432B-89F6-9C4804EA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402AB41F-8B0A-4B68-B084-C046D1D0F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14" y="1498852"/>
            <a:ext cx="3380172" cy="376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524474"/>
              </p:ext>
            </p:extLst>
          </p:nvPr>
        </p:nvGraphicFramePr>
        <p:xfrm>
          <a:off x="473075" y="1306513"/>
          <a:ext cx="8085138" cy="145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0" name="Equation" r:id="rId4" imgW="4101840" imgH="736560" progId="Equation.DSMT4">
                  <p:embed/>
                </p:oleObj>
              </mc:Choice>
              <mc:Fallback>
                <p:oleObj name="Equation" r:id="rId4" imgW="4101840" imgH="736560" progId="Equation.DSMT4">
                  <p:embed/>
                  <p:pic>
                    <p:nvPicPr>
                      <p:cNvPr id="9728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1306513"/>
                        <a:ext cx="8085138" cy="145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2C6209B-2681-434E-BE19-56940E8CB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84209BD-E4C7-45CC-BC4E-40B1440C1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760" y="3215189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+mn-ea"/>
                <a:ea typeface="+mn-ea"/>
                <a:sym typeface="Wingdings" panose="05000000000000000000" pitchFamily="2" charset="2"/>
              </a:rPr>
              <a:t>证明略</a:t>
            </a:r>
            <a:endParaRPr lang="en-US" altLang="zh-CN" sz="2800">
              <a:latin typeface="+mn-ea"/>
              <a:ea typeface="+mn-ea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36463148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4" name="Group 6"/>
          <p:cNvGrpSpPr>
            <a:grpSpLocks/>
          </p:cNvGrpSpPr>
          <p:nvPr/>
        </p:nvGrpSpPr>
        <p:grpSpPr bwMode="auto">
          <a:xfrm>
            <a:off x="411162" y="1193800"/>
            <a:ext cx="5568951" cy="1635125"/>
            <a:chOff x="259" y="797"/>
            <a:chExt cx="3508" cy="1030"/>
          </a:xfrm>
        </p:grpSpPr>
        <p:graphicFrame>
          <p:nvGraphicFramePr>
            <p:cNvPr id="6349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4326130"/>
                </p:ext>
              </p:extLst>
            </p:nvPr>
          </p:nvGraphicFramePr>
          <p:xfrm>
            <a:off x="259" y="797"/>
            <a:ext cx="2567" cy="1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74" name="Equation" r:id="rId3" imgW="1803400" imgH="723900" progId="Equation.DSMT4">
                    <p:embed/>
                  </p:oleObj>
                </mc:Choice>
                <mc:Fallback>
                  <p:oleObj name="Equation" r:id="rId3" imgW="1803400" imgH="723900" progId="Equation.DSMT4">
                    <p:embed/>
                    <p:pic>
                      <p:nvPicPr>
                        <p:cNvPr id="6349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" y="797"/>
                          <a:ext cx="2567" cy="10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498" name="Rectangle 5"/>
            <p:cNvSpPr>
              <a:spLocks noChangeArrowheads="1"/>
            </p:cNvSpPr>
            <p:nvPr/>
          </p:nvSpPr>
          <p:spPr bwMode="auto">
            <a:xfrm>
              <a:off x="3651" y="1082"/>
              <a:ext cx="1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aphicFrame>
        <p:nvGraphicFramePr>
          <p:cNvPr id="6349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782615"/>
              </p:ext>
            </p:extLst>
          </p:nvPr>
        </p:nvGraphicFramePr>
        <p:xfrm>
          <a:off x="690563" y="2982913"/>
          <a:ext cx="7664450" cy="321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5" name="Equation" r:id="rId5" imgW="3390840" imgH="1422360" progId="Equation.DSMT4">
                  <p:embed/>
                </p:oleObj>
              </mc:Choice>
              <mc:Fallback>
                <p:oleObj name="Equation" r:id="rId5" imgW="3390840" imgH="1422360" progId="Equation.DSMT4">
                  <p:embed/>
                  <p:pic>
                    <p:nvPicPr>
                      <p:cNvPr id="6349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63" y="2982913"/>
                        <a:ext cx="7664450" cy="321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D5A9E9A8-1909-44AC-BA13-78A940CD1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楷体_GB2312" pitchFamily="49" charset="-122"/>
                <a:sym typeface="Wingdings" panose="05000000000000000000" pitchFamily="2" charset="2"/>
              </a:rPr>
              <a:t>4.</a:t>
            </a:r>
            <a:r>
              <a:rPr lang="zh-CN" altLang="en-US" dirty="0">
                <a:ea typeface="楷体_GB2312" pitchFamily="49" charset="-122"/>
                <a:sym typeface="Wingdings" panose="05000000000000000000" pitchFamily="2" charset="2"/>
              </a:rPr>
              <a:t>二阶条件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285750" y="1071563"/>
            <a:ext cx="4067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Wingdings" panose="05000000000000000000" pitchFamily="2" charset="2"/>
              </a:rPr>
              <a:t>现在我们考虑问题</a:t>
            </a:r>
            <a:r>
              <a:rPr lang="en-US" altLang="zh-CN" sz="2800">
                <a:sym typeface="Wingdings" panose="05000000000000000000" pitchFamily="2" charset="2"/>
              </a:rPr>
              <a:t>(7.2.1).</a:t>
            </a:r>
          </a:p>
        </p:txBody>
      </p:sp>
      <p:graphicFrame>
        <p:nvGraphicFramePr>
          <p:cNvPr id="38914" name="Object 0"/>
          <p:cNvGraphicFramePr>
            <a:graphicFrameLocks noChangeAspect="1"/>
          </p:cNvGraphicFramePr>
          <p:nvPr/>
        </p:nvGraphicFramePr>
        <p:xfrm>
          <a:off x="500063" y="1857375"/>
          <a:ext cx="7910512" cy="364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9" name="Equation" r:id="rId3" imgW="6756400" imgH="3111500" progId="Equation.DSMT4">
                  <p:embed/>
                </p:oleObj>
              </mc:Choice>
              <mc:Fallback>
                <p:oleObj name="Equation" r:id="rId3" imgW="6756400" imgH="3111500" progId="Equation.DSMT4">
                  <p:embed/>
                  <p:pic>
                    <p:nvPicPr>
                      <p:cNvPr id="3891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857375"/>
                        <a:ext cx="7910512" cy="364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05C55B0-5A49-43EB-B76E-8536CBB9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4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873685"/>
              </p:ext>
            </p:extLst>
          </p:nvPr>
        </p:nvGraphicFramePr>
        <p:xfrm>
          <a:off x="420688" y="990600"/>
          <a:ext cx="5745162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6" name="Equation" r:id="rId3" imgW="6172200" imgH="2603160" progId="Equation.DSMT4">
                  <p:embed/>
                </p:oleObj>
              </mc:Choice>
              <mc:Fallback>
                <p:oleObj name="Equation" r:id="rId3" imgW="6172200" imgH="2603160" progId="Equation.DSMT4">
                  <p:embed/>
                  <p:pic>
                    <p:nvPicPr>
                      <p:cNvPr id="6861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8" y="990600"/>
                        <a:ext cx="5745162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0B5CBD07-0E18-4BE7-9456-C4940C6B09CC}"/>
              </a:ext>
            </a:extLst>
          </p:cNvPr>
          <p:cNvSpPr/>
          <p:nvPr/>
        </p:nvSpPr>
        <p:spPr>
          <a:xfrm>
            <a:off x="603323" y="3715809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sym typeface="Wingdings" panose="05000000000000000000" pitchFamily="2" charset="2"/>
              </a:rPr>
              <a:t>证明略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7D88E7C-2085-4C48-9AB9-58B9D878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">
                <a:extLst>
                  <a:ext uri="{FF2B5EF4-FFF2-40B4-BE49-F238E27FC236}">
                    <a16:creationId xmlns:a16="http://schemas.microsoft.com/office/drawing/2014/main" id="{154EEEF9-59CC-4A5E-AEAE-2A61AC916271}"/>
                  </a:ext>
                </a:extLst>
              </p:cNvPr>
              <p:cNvSpPr txBox="1"/>
              <p:nvPr/>
            </p:nvSpPr>
            <p:spPr bwMode="auto">
              <a:xfrm>
                <a:off x="453440" y="4510640"/>
                <a:ext cx="8267700" cy="1435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切锥</m:t>
                      </m:r>
                      <m:acc>
                        <m:accPr>
                          <m:chr m:val="̄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必包含于</m:t>
                      </m:r>
                      <m:acc>
                        <m:accPr>
                          <m:chr m:val="̄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，但是反之不真。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下面，在</m:t>
                      </m:r>
                      <m:acc>
                        <m:accPr>
                          <m:chr m:val="̄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acc>
                        <m:accPr>
                          <m:chr m:val="̄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也成立的假设下，给出关于问题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(7.2.1)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局部最优解的二阶必要条件。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Object 1">
                <a:extLst>
                  <a:ext uri="{FF2B5EF4-FFF2-40B4-BE49-F238E27FC236}">
                    <a16:creationId xmlns:a16="http://schemas.microsoft.com/office/drawing/2014/main" id="{154EEEF9-59CC-4A5E-AEAE-2A61AC916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440" y="4510640"/>
                <a:ext cx="8267700" cy="1435100"/>
              </a:xfrm>
              <a:prstGeom prst="rect">
                <a:avLst/>
              </a:prstGeom>
              <a:blipFill>
                <a:blip r:embed="rId5"/>
                <a:stretch>
                  <a:fillRect l="-5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6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036639"/>
              </p:ext>
            </p:extLst>
          </p:nvPr>
        </p:nvGraphicFramePr>
        <p:xfrm>
          <a:off x="466224" y="1140177"/>
          <a:ext cx="8115300" cy="410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5" name="Equation" r:id="rId3" imgW="8115120" imgH="4101840" progId="Equation.DSMT4">
                  <p:embed/>
                </p:oleObj>
              </mc:Choice>
              <mc:Fallback>
                <p:oleObj name="Equation" r:id="rId3" imgW="8115120" imgH="4101840" progId="Equation.DSMT4">
                  <p:embed/>
                  <p:pic>
                    <p:nvPicPr>
                      <p:cNvPr id="71686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24" y="1140177"/>
                        <a:ext cx="8115300" cy="410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6412F0A-C411-4712-8C19-BFF6E0A2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F2EA9A-7581-47D3-BD72-1E63EEA02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02" y="5611880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+mn-ea"/>
                <a:ea typeface="+mn-ea"/>
                <a:sym typeface="Wingdings" panose="05000000000000000000" pitchFamily="2" charset="2"/>
              </a:rPr>
              <a:t>证明略</a:t>
            </a:r>
            <a:endParaRPr lang="en-US" altLang="zh-CN" sz="2800" dirty="0">
              <a:latin typeface="+mn-ea"/>
              <a:ea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82" name="Object 1029"/>
          <p:cNvGraphicFramePr>
            <a:graphicFrameLocks noChangeAspect="1"/>
          </p:cNvGraphicFramePr>
          <p:nvPr/>
        </p:nvGraphicFramePr>
        <p:xfrm>
          <a:off x="4476750" y="3263900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66" name="Equation" r:id="rId3" imgW="190417" imgH="330057" progId="Equation.DSMT4">
                  <p:embed/>
                </p:oleObj>
              </mc:Choice>
              <mc:Fallback>
                <p:oleObj name="Equation" r:id="rId3" imgW="190417" imgH="330057" progId="Equation.DSMT4">
                  <p:embed/>
                  <p:pic>
                    <p:nvPicPr>
                      <p:cNvPr id="75782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3263900"/>
                        <a:ext cx="190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Rectangle 1030"/>
          <p:cNvSpPr>
            <a:spLocks noChangeArrowheads="1"/>
          </p:cNvSpPr>
          <p:nvPr/>
        </p:nvSpPr>
        <p:spPr bwMode="auto">
          <a:xfrm>
            <a:off x="323850" y="1019660"/>
            <a:ext cx="8064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为给出局部最优解的二阶充分条件，我们定义集合</a:t>
            </a:r>
          </a:p>
        </p:txBody>
      </p:sp>
      <p:graphicFrame>
        <p:nvGraphicFramePr>
          <p:cNvPr id="75784" name="Object 1031"/>
          <p:cNvGraphicFramePr>
            <a:graphicFrameLocks noChangeAspect="1"/>
          </p:cNvGraphicFramePr>
          <p:nvPr/>
        </p:nvGraphicFramePr>
        <p:xfrm>
          <a:off x="4476750" y="3263900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67" name="Equation" r:id="rId5" imgW="190417" imgH="330057" progId="Equation.DSMT4">
                  <p:embed/>
                </p:oleObj>
              </mc:Choice>
              <mc:Fallback>
                <p:oleObj name="Equation" r:id="rId5" imgW="190417" imgH="330057" progId="Equation.DSMT4">
                  <p:embed/>
                  <p:pic>
                    <p:nvPicPr>
                      <p:cNvPr id="75784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3263900"/>
                        <a:ext cx="190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5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681771"/>
              </p:ext>
            </p:extLst>
          </p:nvPr>
        </p:nvGraphicFramePr>
        <p:xfrm>
          <a:off x="1609725" y="1512888"/>
          <a:ext cx="4557713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68" name="Equation" r:id="rId6" imgW="4800600" imgH="1993680" progId="Equation.DSMT4">
                  <p:embed/>
                </p:oleObj>
              </mc:Choice>
              <mc:Fallback>
                <p:oleObj name="Equation" r:id="rId6" imgW="4800600" imgH="1993680" progId="Equation.DSMT4">
                  <p:embed/>
                  <p:pic>
                    <p:nvPicPr>
                      <p:cNvPr id="75785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1512888"/>
                        <a:ext cx="4557713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6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786103"/>
              </p:ext>
            </p:extLst>
          </p:nvPr>
        </p:nvGraphicFramePr>
        <p:xfrm>
          <a:off x="552450" y="3525838"/>
          <a:ext cx="7942263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69" name="Equation" r:id="rId8" imgW="8318160" imgH="2552400" progId="Equation.DSMT4">
                  <p:embed/>
                </p:oleObj>
              </mc:Choice>
              <mc:Fallback>
                <p:oleObj name="Equation" r:id="rId8" imgW="8318160" imgH="2552400" progId="Equation.DSMT4">
                  <p:embed/>
                  <p:pic>
                    <p:nvPicPr>
                      <p:cNvPr id="75786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3525838"/>
                        <a:ext cx="7942263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D6259E7-A3FC-4B44-B3A7-5E34678A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1732056-A401-495E-B20D-B90306B56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73" y="6035391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+mn-ea"/>
                <a:ea typeface="+mn-ea"/>
                <a:sym typeface="Wingdings" panose="05000000000000000000" pitchFamily="2" charset="2"/>
              </a:rPr>
              <a:t>证明略</a:t>
            </a:r>
            <a:endParaRPr lang="en-US" altLang="zh-CN" sz="2800" dirty="0">
              <a:latin typeface="+mn-ea"/>
              <a:ea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0" name="Rectangle 4"/>
          <p:cNvSpPr>
            <a:spLocks noChangeArrowheads="1"/>
          </p:cNvSpPr>
          <p:nvPr/>
        </p:nvSpPr>
        <p:spPr bwMode="auto">
          <a:xfrm>
            <a:off x="385746" y="1136634"/>
            <a:ext cx="5251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例</a:t>
            </a:r>
            <a:r>
              <a:rPr lang="en-US" altLang="zh-CN" sz="2800" dirty="0">
                <a:sym typeface="Wingdings" panose="05000000000000000000" pitchFamily="2" charset="2"/>
              </a:rPr>
              <a:t>7.2.3 </a:t>
            </a:r>
            <a:r>
              <a:rPr lang="zh-CN" altLang="en-US" sz="2800" dirty="0">
                <a:sym typeface="Wingdings" panose="05000000000000000000" pitchFamily="2" charset="2"/>
              </a:rPr>
              <a:t>考虑下列非线性规划问题</a:t>
            </a:r>
          </a:p>
        </p:txBody>
      </p:sp>
      <p:graphicFrame>
        <p:nvGraphicFramePr>
          <p:cNvPr id="829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202888"/>
              </p:ext>
            </p:extLst>
          </p:nvPr>
        </p:nvGraphicFramePr>
        <p:xfrm>
          <a:off x="2191452" y="1825424"/>
          <a:ext cx="30226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4" name="Equation" r:id="rId3" imgW="3022600" imgH="1600200" progId="Equation.DSMT4">
                  <p:embed/>
                </p:oleObj>
              </mc:Choice>
              <mc:Fallback>
                <p:oleObj name="Equation" r:id="rId3" imgW="3022600" imgH="1600200" progId="Equation.DSMT4">
                  <p:embed/>
                  <p:pic>
                    <p:nvPicPr>
                      <p:cNvPr id="829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1452" y="1825424"/>
                        <a:ext cx="30226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2" name="Rectangle 6"/>
          <p:cNvSpPr>
            <a:spLocks noChangeArrowheads="1"/>
          </p:cNvSpPr>
          <p:nvPr/>
        </p:nvSpPr>
        <p:spPr bwMode="auto">
          <a:xfrm>
            <a:off x="468313" y="3573463"/>
            <a:ext cx="445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ym typeface="Wingdings" panose="05000000000000000000" pitchFamily="2" charset="2"/>
              </a:rPr>
              <a:t>检验以下各点是否为局部最优解</a:t>
            </a:r>
          </a:p>
        </p:txBody>
      </p:sp>
      <p:graphicFrame>
        <p:nvGraphicFramePr>
          <p:cNvPr id="82953" name="Object 7"/>
          <p:cNvGraphicFramePr>
            <a:graphicFrameLocks noChangeAspect="1"/>
          </p:cNvGraphicFramePr>
          <p:nvPr/>
        </p:nvGraphicFramePr>
        <p:xfrm>
          <a:off x="684213" y="4292600"/>
          <a:ext cx="7912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5" name="Equation" r:id="rId5" imgW="7912100" imgH="1092200" progId="Equation.DSMT4">
                  <p:embed/>
                </p:oleObj>
              </mc:Choice>
              <mc:Fallback>
                <p:oleObj name="Equation" r:id="rId5" imgW="7912100" imgH="1092200" progId="Equation.DSMT4">
                  <p:embed/>
                  <p:pic>
                    <p:nvPicPr>
                      <p:cNvPr id="8295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292600"/>
                        <a:ext cx="79121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BAD4EF85-4B57-4BBA-AA28-2896567CD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4" name="Rectangle 4"/>
          <p:cNvSpPr>
            <a:spLocks noChangeArrowheads="1"/>
          </p:cNvSpPr>
          <p:nvPr/>
        </p:nvSpPr>
        <p:spPr bwMode="auto">
          <a:xfrm>
            <a:off x="343185" y="1027782"/>
            <a:ext cx="79930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记目标函数和约束函数分别为</a:t>
            </a:r>
            <a:r>
              <a:rPr lang="en-US" altLang="zh-CN" sz="2800" i="1" dirty="0">
                <a:sym typeface="Wingdings" panose="05000000000000000000" pitchFamily="2" charset="2"/>
              </a:rPr>
              <a:t>f(x</a:t>
            </a:r>
            <a:r>
              <a:rPr lang="en-US" altLang="zh-CN" sz="2800" dirty="0">
                <a:sym typeface="Wingdings" panose="05000000000000000000" pitchFamily="2" charset="2"/>
              </a:rPr>
              <a:t>),</a:t>
            </a:r>
            <a:r>
              <a:rPr lang="en-US" altLang="zh-CN" sz="2800" i="1" dirty="0">
                <a:sym typeface="Wingdings" panose="05000000000000000000" pitchFamily="2" charset="2"/>
              </a:rPr>
              <a:t>g</a:t>
            </a:r>
            <a:r>
              <a:rPr lang="en-US" altLang="zh-CN" sz="2800" dirty="0">
                <a:sym typeface="Wingdings" panose="05000000000000000000" pitchFamily="2" charset="2"/>
              </a:rPr>
              <a:t>(</a:t>
            </a:r>
            <a:r>
              <a:rPr lang="en-US" altLang="zh-CN" sz="2800" i="1" dirty="0">
                <a:sym typeface="Wingdings" panose="05000000000000000000" pitchFamily="2" charset="2"/>
              </a:rPr>
              <a:t>x</a:t>
            </a:r>
            <a:r>
              <a:rPr lang="en-US" altLang="zh-CN" sz="2800" dirty="0">
                <a:sym typeface="Wingdings" panose="05000000000000000000" pitchFamily="2" charset="2"/>
              </a:rPr>
              <a:t>),</a:t>
            </a:r>
            <a:r>
              <a:rPr lang="en-US" altLang="zh-CN" sz="2800" i="1" dirty="0">
                <a:sym typeface="Wingdings" panose="05000000000000000000" pitchFamily="2" charset="2"/>
              </a:rPr>
              <a:t>h</a:t>
            </a:r>
            <a:r>
              <a:rPr lang="en-US" altLang="zh-CN" sz="2800" dirty="0">
                <a:sym typeface="Wingdings" panose="05000000000000000000" pitchFamily="2" charset="2"/>
              </a:rPr>
              <a:t>(</a:t>
            </a:r>
            <a:r>
              <a:rPr lang="en-US" altLang="zh-CN" sz="2800" i="1" dirty="0">
                <a:sym typeface="Wingdings" panose="05000000000000000000" pitchFamily="2" charset="2"/>
              </a:rPr>
              <a:t>x</a:t>
            </a:r>
            <a:r>
              <a:rPr lang="en-US" altLang="zh-CN" sz="2800" dirty="0">
                <a:sym typeface="Wingdings" panose="05000000000000000000" pitchFamily="2" charset="2"/>
              </a:rPr>
              <a:t>),</a:t>
            </a:r>
            <a:r>
              <a:rPr lang="zh-CN" altLang="en-US" sz="2800" dirty="0">
                <a:sym typeface="Wingdings" panose="05000000000000000000" pitchFamily="2" charset="2"/>
              </a:rPr>
              <a:t>他们在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点</a:t>
            </a:r>
            <a:r>
              <a:rPr lang="en-US" altLang="zh-CN" sz="2800" dirty="0"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sym typeface="Wingdings" panose="05000000000000000000" pitchFamily="2" charset="2"/>
              </a:rPr>
              <a:t>处的梯度分别是</a:t>
            </a:r>
          </a:p>
        </p:txBody>
      </p:sp>
      <p:graphicFrame>
        <p:nvGraphicFramePr>
          <p:cNvPr id="8397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09107"/>
              </p:ext>
            </p:extLst>
          </p:nvPr>
        </p:nvGraphicFramePr>
        <p:xfrm>
          <a:off x="722714" y="2070285"/>
          <a:ext cx="7683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3" name="Equation" r:id="rId3" imgW="7683500" imgH="1016000" progId="Equation.DSMT4">
                  <p:embed/>
                </p:oleObj>
              </mc:Choice>
              <mc:Fallback>
                <p:oleObj name="Equation" r:id="rId3" imgW="7683500" imgH="1016000" progId="Equation.DSMT4">
                  <p:embed/>
                  <p:pic>
                    <p:nvPicPr>
                      <p:cNvPr id="8397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14" y="2070285"/>
                        <a:ext cx="7683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6" name="Rectangle 6"/>
          <p:cNvSpPr>
            <a:spLocks noChangeArrowheads="1"/>
          </p:cNvSpPr>
          <p:nvPr/>
        </p:nvSpPr>
        <p:spPr bwMode="auto">
          <a:xfrm>
            <a:off x="433872" y="3184308"/>
            <a:ext cx="4465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ym typeface="Wingdings" panose="05000000000000000000" pitchFamily="2" charset="2"/>
              </a:rPr>
              <a:t>Lagrange</a:t>
            </a:r>
            <a:r>
              <a:rPr lang="zh-CN" altLang="en-US" sz="2800">
                <a:sym typeface="Wingdings" panose="05000000000000000000" pitchFamily="2" charset="2"/>
              </a:rPr>
              <a:t>函数是</a:t>
            </a:r>
          </a:p>
        </p:txBody>
      </p:sp>
      <p:graphicFrame>
        <p:nvGraphicFramePr>
          <p:cNvPr id="8397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589854"/>
              </p:ext>
            </p:extLst>
          </p:nvPr>
        </p:nvGraphicFramePr>
        <p:xfrm>
          <a:off x="582313" y="3864944"/>
          <a:ext cx="81359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4" name="Equation" r:id="rId5" imgW="7835900" imgH="469900" progId="Equation.DSMT4">
                  <p:embed/>
                </p:oleObj>
              </mc:Choice>
              <mc:Fallback>
                <p:oleObj name="Equation" r:id="rId5" imgW="7835900" imgH="469900" progId="Equation.DSMT4">
                  <p:embed/>
                  <p:pic>
                    <p:nvPicPr>
                      <p:cNvPr id="8397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313" y="3864944"/>
                        <a:ext cx="813593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8" name="Rectangle 8"/>
          <p:cNvSpPr>
            <a:spLocks noChangeArrowheads="1"/>
          </p:cNvSpPr>
          <p:nvPr/>
        </p:nvSpPr>
        <p:spPr bwMode="auto">
          <a:xfrm>
            <a:off x="510874" y="4566419"/>
            <a:ext cx="7775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Lagrange</a:t>
            </a:r>
            <a:r>
              <a:rPr lang="zh-CN" altLang="en-US" sz="2800" dirty="0">
                <a:sym typeface="Wingdings" panose="05000000000000000000" pitchFamily="2" charset="2"/>
              </a:rPr>
              <a:t>函数关于</a:t>
            </a:r>
            <a:r>
              <a:rPr lang="en-US" altLang="zh-CN" sz="2800" dirty="0"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sym typeface="Wingdings" panose="05000000000000000000" pitchFamily="2" charset="2"/>
              </a:rPr>
              <a:t>的</a:t>
            </a:r>
            <a:r>
              <a:rPr lang="en-US" altLang="zh-CN" sz="2800" dirty="0">
                <a:sym typeface="Wingdings" panose="05000000000000000000" pitchFamily="2" charset="2"/>
              </a:rPr>
              <a:t>Hessian</a:t>
            </a:r>
            <a:r>
              <a:rPr lang="zh-CN" altLang="en-US" sz="2800" dirty="0">
                <a:sym typeface="Wingdings" panose="05000000000000000000" pitchFamily="2" charset="2"/>
              </a:rPr>
              <a:t>矩阵是</a:t>
            </a:r>
          </a:p>
        </p:txBody>
      </p:sp>
      <p:graphicFrame>
        <p:nvGraphicFramePr>
          <p:cNvPr id="8397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932940"/>
              </p:ext>
            </p:extLst>
          </p:nvPr>
        </p:nvGraphicFramePr>
        <p:xfrm>
          <a:off x="2339975" y="5271871"/>
          <a:ext cx="3479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5" name="Equation" r:id="rId7" imgW="3479800" imgH="1016000" progId="Equation.DSMT4">
                  <p:embed/>
                </p:oleObj>
              </mc:Choice>
              <mc:Fallback>
                <p:oleObj name="Equation" r:id="rId7" imgW="3479800" imgH="1016000" progId="Equation.DSMT4">
                  <p:embed/>
                  <p:pic>
                    <p:nvPicPr>
                      <p:cNvPr id="8397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271871"/>
                        <a:ext cx="3479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CD38140-F2A3-41DF-AC0A-7CEA0C8D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8" name="Object 5"/>
          <p:cNvGraphicFramePr>
            <a:graphicFrameLocks noChangeAspect="1"/>
          </p:cNvGraphicFramePr>
          <p:nvPr/>
        </p:nvGraphicFramePr>
        <p:xfrm>
          <a:off x="4114800" y="3260725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2" name="Equation" r:id="rId3" imgW="457677" imgH="793306" progId="Equation.DSMT4">
                  <p:embed/>
                </p:oleObj>
              </mc:Choice>
              <mc:Fallback>
                <p:oleObj name="Equation" r:id="rId3" imgW="457677" imgH="793306" progId="Equation.DSMT4">
                  <p:embed/>
                  <p:pic>
                    <p:nvPicPr>
                      <p:cNvPr id="849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60725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860012"/>
              </p:ext>
            </p:extLst>
          </p:nvPr>
        </p:nvGraphicFramePr>
        <p:xfrm>
          <a:off x="659397" y="1104951"/>
          <a:ext cx="7213600" cy="375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3" name="Equation" r:id="rId5" imgW="7213600" imgH="3759200" progId="Equation.DSMT4">
                  <p:embed/>
                </p:oleObj>
              </mc:Choice>
              <mc:Fallback>
                <p:oleObj name="Equation" r:id="rId5" imgW="7213600" imgH="3759200" progId="Equation.DSMT4">
                  <p:embed/>
                  <p:pic>
                    <p:nvPicPr>
                      <p:cNvPr id="849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397" y="1104951"/>
                        <a:ext cx="7213600" cy="375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4AD1F8A-C9FB-4A7A-90E4-03E99D73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22" name="Object 6"/>
          <p:cNvGraphicFramePr>
            <a:graphicFrameLocks noChangeAspect="1"/>
          </p:cNvGraphicFramePr>
          <p:nvPr/>
        </p:nvGraphicFramePr>
        <p:xfrm>
          <a:off x="468313" y="1052513"/>
          <a:ext cx="7759700" cy="535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1" name="Equation" r:id="rId3" imgW="7759700" imgH="5359400" progId="Equation.DSMT4">
                  <p:embed/>
                </p:oleObj>
              </mc:Choice>
              <mc:Fallback>
                <p:oleObj name="Equation" r:id="rId3" imgW="7759700" imgH="5359400" progId="Equation.DSMT4">
                  <p:embed/>
                  <p:pic>
                    <p:nvPicPr>
                      <p:cNvPr id="860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052513"/>
                        <a:ext cx="7759700" cy="535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0DADF5C-A449-4B47-A9C7-ABF3A379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050622"/>
              </p:ext>
            </p:extLst>
          </p:nvPr>
        </p:nvGraphicFramePr>
        <p:xfrm>
          <a:off x="604838" y="1046163"/>
          <a:ext cx="7670800" cy="322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5" name="Equation" r:id="rId3" imgW="7670520" imgH="3225600" progId="Equation.DSMT4">
                  <p:embed/>
                </p:oleObj>
              </mc:Choice>
              <mc:Fallback>
                <p:oleObj name="Equation" r:id="rId3" imgW="7670520" imgH="3225600" progId="Equation.DSMT4">
                  <p:embed/>
                  <p:pic>
                    <p:nvPicPr>
                      <p:cNvPr id="8704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1046163"/>
                        <a:ext cx="7670800" cy="322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7" name="Rectangle 6"/>
          <p:cNvSpPr>
            <a:spLocks noChangeArrowheads="1"/>
          </p:cNvSpPr>
          <p:nvPr/>
        </p:nvSpPr>
        <p:spPr bwMode="auto">
          <a:xfrm>
            <a:off x="684213" y="443706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Wingdings" panose="05000000000000000000" pitchFamily="2" charset="2"/>
              </a:rPr>
              <a:t>后两点请自行验证之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6E8D332-CDF1-40FD-8B0F-3344E2AD4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070" name="Object 5"/>
          <p:cNvGraphicFramePr>
            <a:graphicFrameLocks noChangeAspect="1"/>
          </p:cNvGraphicFramePr>
          <p:nvPr/>
        </p:nvGraphicFramePr>
        <p:xfrm>
          <a:off x="395288" y="1844675"/>
          <a:ext cx="83693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6" name="Equation" r:id="rId3" imgW="8369300" imgH="1612900" progId="Equation.DSMT4">
                  <p:embed/>
                </p:oleObj>
              </mc:Choice>
              <mc:Fallback>
                <p:oleObj name="Equation" r:id="rId3" imgW="8369300" imgH="1612900" progId="Equation.DSMT4">
                  <p:embed/>
                  <p:pic>
                    <p:nvPicPr>
                      <p:cNvPr id="8807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844675"/>
                        <a:ext cx="83693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Rectangle 6"/>
          <p:cNvSpPr>
            <a:spLocks noChangeArrowheads="1"/>
          </p:cNvSpPr>
          <p:nvPr/>
        </p:nvSpPr>
        <p:spPr bwMode="auto">
          <a:xfrm>
            <a:off x="539750" y="1125538"/>
            <a:ext cx="5251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例</a:t>
            </a:r>
            <a:r>
              <a:rPr lang="en-US" altLang="zh-CN" sz="2800" dirty="0">
                <a:sym typeface="Wingdings" panose="05000000000000000000" pitchFamily="2" charset="2"/>
              </a:rPr>
              <a:t>7.2.4 </a:t>
            </a:r>
            <a:r>
              <a:rPr lang="zh-CN" altLang="en-US" sz="2800" dirty="0">
                <a:sym typeface="Wingdings" panose="05000000000000000000" pitchFamily="2" charset="2"/>
              </a:rPr>
              <a:t>考虑下列非线性规划问题</a:t>
            </a:r>
          </a:p>
        </p:txBody>
      </p:sp>
      <p:sp>
        <p:nvSpPr>
          <p:cNvPr id="88072" name="Rectangle 7"/>
          <p:cNvSpPr>
            <a:spLocks noChangeArrowheads="1"/>
          </p:cNvSpPr>
          <p:nvPr/>
        </p:nvSpPr>
        <p:spPr bwMode="auto">
          <a:xfrm>
            <a:off x="323850" y="3644900"/>
            <a:ext cx="79930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Wingdings" panose="05000000000000000000" pitchFamily="2" charset="2"/>
              </a:rPr>
              <a:t>记目标函数和约束函数分别为</a:t>
            </a:r>
            <a:r>
              <a:rPr lang="en-US" altLang="zh-CN" sz="2800" i="1">
                <a:sym typeface="Wingdings" panose="05000000000000000000" pitchFamily="2" charset="2"/>
              </a:rPr>
              <a:t>f(x</a:t>
            </a:r>
            <a:r>
              <a:rPr lang="en-US" altLang="zh-CN" sz="2800">
                <a:sym typeface="Wingdings" panose="05000000000000000000" pitchFamily="2" charset="2"/>
              </a:rPr>
              <a:t>),</a:t>
            </a:r>
            <a:r>
              <a:rPr lang="en-US" altLang="zh-CN" sz="2800" i="1">
                <a:sym typeface="Wingdings" panose="05000000000000000000" pitchFamily="2" charset="2"/>
              </a:rPr>
              <a:t> h</a:t>
            </a:r>
            <a:r>
              <a:rPr lang="en-US" altLang="zh-CN" sz="2800">
                <a:sym typeface="Wingdings" panose="05000000000000000000" pitchFamily="2" charset="2"/>
              </a:rPr>
              <a:t>(</a:t>
            </a:r>
            <a:r>
              <a:rPr lang="en-US" altLang="zh-CN" sz="2800" i="1">
                <a:sym typeface="Wingdings" panose="05000000000000000000" pitchFamily="2" charset="2"/>
              </a:rPr>
              <a:t>x</a:t>
            </a:r>
            <a:r>
              <a:rPr lang="en-US" altLang="zh-CN" sz="2800">
                <a:sym typeface="Wingdings" panose="05000000000000000000" pitchFamily="2" charset="2"/>
              </a:rPr>
              <a:t>),</a:t>
            </a:r>
            <a:r>
              <a:rPr lang="zh-CN" altLang="en-US" sz="2800">
                <a:sym typeface="Wingdings" panose="05000000000000000000" pitchFamily="2" charset="2"/>
              </a:rPr>
              <a:t>他们在点</a:t>
            </a:r>
            <a:r>
              <a:rPr lang="en-US" altLang="zh-CN" sz="2800">
                <a:sym typeface="Wingdings" panose="05000000000000000000" pitchFamily="2" charset="2"/>
              </a:rPr>
              <a:t>x</a:t>
            </a:r>
            <a:r>
              <a:rPr lang="zh-CN" altLang="en-US" sz="2800">
                <a:sym typeface="Wingdings" panose="05000000000000000000" pitchFamily="2" charset="2"/>
              </a:rPr>
              <a:t>处的梯度分别是</a:t>
            </a:r>
          </a:p>
        </p:txBody>
      </p:sp>
      <p:graphicFrame>
        <p:nvGraphicFramePr>
          <p:cNvPr id="88073" name="Object 9"/>
          <p:cNvGraphicFramePr>
            <a:graphicFrameLocks noChangeAspect="1"/>
          </p:cNvGraphicFramePr>
          <p:nvPr/>
        </p:nvGraphicFramePr>
        <p:xfrm>
          <a:off x="1692275" y="4797425"/>
          <a:ext cx="4000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7" name="Equation" r:id="rId5" imgW="4000500" imgH="1016000" progId="Equation.DSMT4">
                  <p:embed/>
                </p:oleObj>
              </mc:Choice>
              <mc:Fallback>
                <p:oleObj name="Equation" r:id="rId5" imgW="4000500" imgH="1016000" progId="Equation.DSMT4">
                  <p:embed/>
                  <p:pic>
                    <p:nvPicPr>
                      <p:cNvPr id="880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797425"/>
                        <a:ext cx="4000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BF4BC9A-A4E0-433C-95D2-45BBEF59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4" name="Rectangle 4"/>
          <p:cNvSpPr>
            <a:spLocks noChangeArrowheads="1"/>
          </p:cNvSpPr>
          <p:nvPr/>
        </p:nvSpPr>
        <p:spPr bwMode="auto">
          <a:xfrm>
            <a:off x="381000" y="32289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Wingdings" panose="05000000000000000000" pitchFamily="2" charset="2"/>
              </a:rPr>
              <a:t>例</a:t>
            </a:r>
          </a:p>
        </p:txBody>
      </p:sp>
      <p:graphicFrame>
        <p:nvGraphicFramePr>
          <p:cNvPr id="89095" name="Object 5"/>
          <p:cNvGraphicFramePr>
            <a:graphicFrameLocks noChangeAspect="1"/>
          </p:cNvGraphicFramePr>
          <p:nvPr/>
        </p:nvGraphicFramePr>
        <p:xfrm>
          <a:off x="1042988" y="1268413"/>
          <a:ext cx="61468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83" name="Equation" r:id="rId3" imgW="6146800" imgH="4953000" progId="Equation.DSMT4">
                  <p:embed/>
                </p:oleObj>
              </mc:Choice>
              <mc:Fallback>
                <p:oleObj name="Equation" r:id="rId3" imgW="6146800" imgH="4953000" progId="Equation.DSMT4">
                  <p:embed/>
                  <p:pic>
                    <p:nvPicPr>
                      <p:cNvPr id="890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268413"/>
                        <a:ext cx="61468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9919F4B-9E21-4A28-A2C1-4A727E70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900921"/>
              </p:ext>
            </p:extLst>
          </p:nvPr>
        </p:nvGraphicFramePr>
        <p:xfrm>
          <a:off x="768350" y="1255713"/>
          <a:ext cx="66675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7" name="Equation" r:id="rId3" imgW="6667200" imgH="3886200" progId="Equation.DSMT4">
                  <p:embed/>
                </p:oleObj>
              </mc:Choice>
              <mc:Fallback>
                <p:oleObj name="Equation" r:id="rId3" imgW="6667200" imgH="3886200" progId="Equation.DSMT4">
                  <p:embed/>
                  <p:pic>
                    <p:nvPicPr>
                      <p:cNvPr id="901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1255713"/>
                        <a:ext cx="6667500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0EFA4F7-FE88-43BF-BD47-915E82E5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2D0DA-5A52-4B4F-A72C-462DDDDE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91141" name="Object 3"/>
          <p:cNvGraphicFramePr>
            <a:graphicFrameLocks noGrp="1" noChangeAspect="1"/>
          </p:cNvGraphicFramePr>
          <p:nvPr>
            <p:ph type="body" idx="4294967295"/>
            <p:extLst>
              <p:ext uri="{D42A27DB-BD31-4B8C-83A1-F6EECF244321}">
                <p14:modId xmlns:p14="http://schemas.microsoft.com/office/powerpoint/2010/main" val="2214491871"/>
              </p:ext>
            </p:extLst>
          </p:nvPr>
        </p:nvGraphicFramePr>
        <p:xfrm>
          <a:off x="739307" y="1175853"/>
          <a:ext cx="7750175" cy="479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1" name="Equation" r:id="rId3" imgW="9080280" imgH="5613120" progId="Equation.DSMT4">
                  <p:embed/>
                </p:oleObj>
              </mc:Choice>
              <mc:Fallback>
                <p:oleObj name="Equation" r:id="rId3" imgW="9080280" imgH="5613120" progId="Equation.DSMT4">
                  <p:embed/>
                  <p:pic>
                    <p:nvPicPr>
                      <p:cNvPr id="9114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307" y="1175853"/>
                        <a:ext cx="7750175" cy="479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Rectangle 2"/>
          <p:cNvSpPr>
            <a:spLocks noGrp="1" noChangeArrowheads="1"/>
          </p:cNvSpPr>
          <p:nvPr>
            <p:ph type="title"/>
          </p:nvPr>
        </p:nvSpPr>
        <p:spPr>
          <a:xfrm>
            <a:off x="473376" y="236655"/>
            <a:ext cx="8229600" cy="757238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7.3 </a:t>
            </a: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对偶理论</a:t>
            </a:r>
            <a:endParaRPr lang="en-US" altLang="zh-CN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340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752647048"/>
              </p:ext>
            </p:extLst>
          </p:nvPr>
        </p:nvGraphicFramePr>
        <p:xfrm>
          <a:off x="721126" y="1453415"/>
          <a:ext cx="7099300" cy="370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55" name="Equation" r:id="rId3" imgW="3187440" imgH="1663560" progId="Equation.DSMT4">
                  <p:embed/>
                </p:oleObj>
              </mc:Choice>
              <mc:Fallback>
                <p:oleObj name="Equation" r:id="rId3" imgW="3187440" imgH="1663560" progId="Equation.DSMT4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26" y="1453415"/>
                        <a:ext cx="7099300" cy="370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286753" y="933449"/>
            <a:ext cx="24288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7.3.1 </a:t>
            </a:r>
            <a:r>
              <a:rPr lang="zh-CN" altLang="en-US" sz="2800"/>
              <a:t>对偶形式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4EF9F-573C-4FEC-826C-75A997E25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5364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739881521"/>
              </p:ext>
            </p:extLst>
          </p:nvPr>
        </p:nvGraphicFramePr>
        <p:xfrm>
          <a:off x="414338" y="1590675"/>
          <a:ext cx="7815262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9" name="Equation" r:id="rId3" imgW="3784320" imgH="1904760" progId="Equation.DSMT4">
                  <p:embed/>
                </p:oleObj>
              </mc:Choice>
              <mc:Fallback>
                <p:oleObj name="Equation" r:id="rId3" imgW="3784320" imgH="1904760" progId="Equation.DSMT4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8" y="1590675"/>
                        <a:ext cx="7815262" cy="393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0" name="Rectangle 8"/>
          <p:cNvSpPr>
            <a:spLocks noChangeArrowheads="1"/>
          </p:cNvSpPr>
          <p:nvPr/>
        </p:nvSpPr>
        <p:spPr bwMode="auto">
          <a:xfrm>
            <a:off x="250825" y="909637"/>
            <a:ext cx="6337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其对偶形式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对偶问题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定义如下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62736-DCD7-4878-B48B-62DCEE5E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6401" name="Object 1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651503647"/>
              </p:ext>
            </p:extLst>
          </p:nvPr>
        </p:nvGraphicFramePr>
        <p:xfrm>
          <a:off x="558265" y="3713698"/>
          <a:ext cx="7921625" cy="266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98" name="Equation" r:id="rId3" imgW="3695700" imgH="1244600" progId="Equation.DSMT4">
                  <p:embed/>
                </p:oleObj>
              </mc:Choice>
              <mc:Fallback>
                <p:oleObj name="Equation" r:id="rId3" imgW="3695700" imgH="1244600" progId="Equation.DSMT4">
                  <p:embed/>
                  <p:pic>
                    <p:nvPicPr>
                      <p:cNvPr id="1640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265" y="3713698"/>
                        <a:ext cx="7921625" cy="266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2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82599288"/>
              </p:ext>
            </p:extLst>
          </p:nvPr>
        </p:nvGraphicFramePr>
        <p:xfrm>
          <a:off x="4695558" y="1834064"/>
          <a:ext cx="3813175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99" name="Equation" r:id="rId5" imgW="1790700" imgH="685800" progId="Equation.DSMT4">
                  <p:embed/>
                </p:oleObj>
              </mc:Choice>
              <mc:Fallback>
                <p:oleObj name="Equation" r:id="rId5" imgW="1790700" imgH="685800" progId="Equation.DSMT4">
                  <p:embed/>
                  <p:pic>
                    <p:nvPicPr>
                      <p:cNvPr id="307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558" y="1834064"/>
                        <a:ext cx="3813175" cy="14605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467544"/>
              </p:ext>
            </p:extLst>
          </p:nvPr>
        </p:nvGraphicFramePr>
        <p:xfrm>
          <a:off x="252814" y="949443"/>
          <a:ext cx="31480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0" name="Equation" r:id="rId7" imgW="1345616" imgH="215806" progId="Equation.DSMT4">
                  <p:embed/>
                </p:oleObj>
              </mc:Choice>
              <mc:Fallback>
                <p:oleObj name="Equation" r:id="rId7" imgW="1345616" imgH="215806" progId="Equation.DSMT4">
                  <p:embed/>
                  <p:pic>
                    <p:nvPicPr>
                      <p:cNvPr id="9421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14" y="949443"/>
                        <a:ext cx="31480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935393"/>
              </p:ext>
            </p:extLst>
          </p:nvPr>
        </p:nvGraphicFramePr>
        <p:xfrm>
          <a:off x="515252" y="1511318"/>
          <a:ext cx="3105150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01" name="Equation" r:id="rId9" imgW="1587500" imgH="914400" progId="Equation.DSMT4">
                  <p:embed/>
                </p:oleObj>
              </mc:Choice>
              <mc:Fallback>
                <p:oleObj name="Equation" r:id="rId9" imgW="1587500" imgH="914400" progId="Equation.DSMT4">
                  <p:embed/>
                  <p:pic>
                    <p:nvPicPr>
                      <p:cNvPr id="9421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252" y="1511318"/>
                        <a:ext cx="3105150" cy="17875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857625" y="1071563"/>
            <a:ext cx="500062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2800" kern="0" dirty="0">
                <a:ea typeface="+mn-ea"/>
              </a:rPr>
              <a:t>于是</a:t>
            </a:r>
            <a:r>
              <a:rPr lang="en-US" altLang="zh-CN" sz="2800" kern="0" dirty="0">
                <a:ea typeface="+mn-ea"/>
              </a:rPr>
              <a:t>(LP)</a:t>
            </a:r>
            <a:r>
              <a:rPr lang="zh-CN" altLang="en-US" sz="2800" kern="0" dirty="0">
                <a:ea typeface="+mn-ea"/>
              </a:rPr>
              <a:t>问题</a:t>
            </a:r>
            <a:r>
              <a:rPr lang="en-US" altLang="zh-CN" sz="2800" kern="0" dirty="0">
                <a:ea typeface="+mn-ea"/>
              </a:rPr>
              <a:t>(*)</a:t>
            </a:r>
            <a:r>
              <a:rPr lang="zh-CN" altLang="en-US" sz="2800" kern="0" dirty="0">
                <a:ea typeface="+mn-ea"/>
              </a:rPr>
              <a:t>的对偶形如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040689"/>
              </p:ext>
            </p:extLst>
          </p:nvPr>
        </p:nvGraphicFramePr>
        <p:xfrm>
          <a:off x="4357688" y="3997944"/>
          <a:ext cx="4392612" cy="175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92" name="Equation" r:id="rId3" imgW="2070100" imgH="825500" progId="Equation.DSMT4">
                  <p:embed/>
                </p:oleObj>
              </mc:Choice>
              <mc:Fallback>
                <p:oleObj name="Equation" r:id="rId3" imgW="2070100" imgH="825500" progId="Equation.DSMT4">
                  <p:embed/>
                  <p:pic>
                    <p:nvPicPr>
                      <p:cNvPr id="409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3997944"/>
                        <a:ext cx="4392612" cy="175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FC219AC-5AE1-499B-B4F9-9C9946801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95238" name="Object 19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226943277"/>
              </p:ext>
            </p:extLst>
          </p:nvPr>
        </p:nvGraphicFramePr>
        <p:xfrm>
          <a:off x="712269" y="998939"/>
          <a:ext cx="7215188" cy="422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93" name="Equation" r:id="rId5" imgW="3213000" imgH="1879560" progId="Equation.DSMT4">
                  <p:embed/>
                </p:oleObj>
              </mc:Choice>
              <mc:Fallback>
                <p:oleObj name="Equation" r:id="rId5" imgW="3213000" imgH="1879560" progId="Equation.DSMT4">
                  <p:embed/>
                  <p:pic>
                    <p:nvPicPr>
                      <p:cNvPr id="9523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269" y="998939"/>
                        <a:ext cx="7215188" cy="422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89F001-ED2D-47EC-99F6-CD44191A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7.3.2 </a:t>
            </a:r>
            <a:r>
              <a:rPr lang="zh-CN" altLang="en-US" dirty="0">
                <a:solidFill>
                  <a:srgbClr val="FF0000"/>
                </a:solidFill>
              </a:rPr>
              <a:t>对偶定理</a:t>
            </a:r>
            <a:endParaRPr lang="zh-CN" altLang="en-US" dirty="0"/>
          </a:p>
        </p:txBody>
      </p:sp>
      <p:graphicFrame>
        <p:nvGraphicFramePr>
          <p:cNvPr id="19462" name="Object 6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953236284"/>
              </p:ext>
            </p:extLst>
          </p:nvPr>
        </p:nvGraphicFramePr>
        <p:xfrm>
          <a:off x="2319688" y="2320541"/>
          <a:ext cx="43211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8" name="Equation" r:id="rId3" imgW="1688367" imgH="291973" progId="Equation.DSMT4">
                  <p:embed/>
                </p:oleObj>
              </mc:Choice>
              <mc:Fallback>
                <p:oleObj name="Equation" r:id="rId3" imgW="1688367" imgH="291973" progId="Equation.DSMT4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688" y="2320541"/>
                        <a:ext cx="432117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118709594"/>
              </p:ext>
            </p:extLst>
          </p:nvPr>
        </p:nvGraphicFramePr>
        <p:xfrm>
          <a:off x="750771" y="3682765"/>
          <a:ext cx="7489825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9" name="Equation" r:id="rId5" imgW="3289300" imgH="685800" progId="Equation.DSMT4">
                  <p:embed/>
                </p:oleObj>
              </mc:Choice>
              <mc:Fallback>
                <p:oleObj name="Equation" r:id="rId5" imgW="3289300" imgH="685800" progId="Equation.DSMT4">
                  <p:embed/>
                  <p:pic>
                    <p:nvPicPr>
                      <p:cNvPr id="194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71" y="3682765"/>
                        <a:ext cx="7489825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468313" y="1268413"/>
            <a:ext cx="81359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对于上面的两例我们有原问题与对偶问题的最优值相等</a:t>
            </a:r>
            <a:r>
              <a:rPr lang="en-US" altLang="zh-CN" sz="2800">
                <a:latin typeface="宋体" panose="02010600030101010101" pitchFamily="2" charset="-122"/>
              </a:rPr>
              <a:t>.</a:t>
            </a:r>
            <a:r>
              <a:rPr lang="zh-CN" altLang="en-US" sz="2800">
                <a:latin typeface="宋体" panose="02010600030101010101" pitchFamily="2" charset="-122"/>
              </a:rPr>
              <a:t>对一般形式的非线性规划问题</a:t>
            </a:r>
            <a:r>
              <a:rPr lang="en-US" altLang="zh-CN" sz="2800">
                <a:latin typeface="宋体" panose="02010600030101010101" pitchFamily="2" charset="-122"/>
              </a:rPr>
              <a:t>,</a:t>
            </a:r>
            <a:r>
              <a:rPr lang="zh-CN" altLang="en-US" sz="2800">
                <a:latin typeface="宋体" panose="02010600030101010101" pitchFamily="2" charset="-122"/>
              </a:rPr>
              <a:t>是否也对</a:t>
            </a:r>
            <a:r>
              <a:rPr lang="en-US" altLang="zh-CN" sz="2800">
                <a:latin typeface="宋体" panose="02010600030101010101" pitchFamily="2" charset="-122"/>
              </a:rPr>
              <a:t>?</a:t>
            </a:r>
            <a:r>
              <a:rPr lang="zh-CN" altLang="en-US" sz="2800">
                <a:latin typeface="宋体" panose="02010600030101010101" pitchFamily="2" charset="-122"/>
              </a:rPr>
              <a:t>即</a:t>
            </a:r>
            <a:endParaRPr lang="zh-CN" altLang="en-US" sz="2800" b="1">
              <a:solidFill>
                <a:schemeClr val="hlink"/>
              </a:solidFill>
            </a:endParaRPr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468313" y="3014794"/>
            <a:ext cx="3032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9933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9933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弱对偶定理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/>
      <p:bldP spid="1946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66EB8-8264-416E-880F-3227BC28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97285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08461146"/>
              </p:ext>
            </p:extLst>
          </p:nvPr>
        </p:nvGraphicFramePr>
        <p:xfrm>
          <a:off x="276292" y="1086953"/>
          <a:ext cx="8569325" cy="419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40" name="Equation" r:id="rId3" imgW="3784600" imgH="1854200" progId="Equation.DSMT4">
                  <p:embed/>
                </p:oleObj>
              </mc:Choice>
              <mc:Fallback>
                <p:oleObj name="Equation" r:id="rId3" imgW="3784600" imgH="1854200" progId="Equation.DSMT4">
                  <p:embed/>
                  <p:pic>
                    <p:nvPicPr>
                      <p:cNvPr id="972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92" y="1086953"/>
                        <a:ext cx="8569325" cy="419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38283722"/>
              </p:ext>
            </p:extLst>
          </p:nvPr>
        </p:nvGraphicFramePr>
        <p:xfrm>
          <a:off x="500514" y="5470826"/>
          <a:ext cx="705643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41" name="Equation" r:id="rId5" imgW="2959100" imgH="228600" progId="Equation.DSMT4">
                  <p:embed/>
                </p:oleObj>
              </mc:Choice>
              <mc:Fallback>
                <p:oleObj name="Equation" r:id="rId5" imgW="2959100" imgH="228600" progId="Equation.DSMT4">
                  <p:embed/>
                  <p:pic>
                    <p:nvPicPr>
                      <p:cNvPr id="2049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14" y="5470826"/>
                        <a:ext cx="705643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F5CF7-969A-4F0E-BA86-EBB32881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21516" name="Object 1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871076034"/>
              </p:ext>
            </p:extLst>
          </p:nvPr>
        </p:nvGraphicFramePr>
        <p:xfrm>
          <a:off x="577516" y="1696019"/>
          <a:ext cx="66516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2" name="Equation" r:id="rId3" imgW="3174840" imgH="672840" progId="Equation.DSMT4">
                  <p:embed/>
                </p:oleObj>
              </mc:Choice>
              <mc:Fallback>
                <p:oleObj name="Equation" r:id="rId3" imgW="3174840" imgH="672840" progId="Equation.DSMT4">
                  <p:embed/>
                  <p:pic>
                    <p:nvPicPr>
                      <p:cNvPr id="215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16" y="1696019"/>
                        <a:ext cx="6651625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C4180FB2-286E-4ED6-ABC4-D45719053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043122"/>
              </p:ext>
            </p:extLst>
          </p:nvPr>
        </p:nvGraphicFramePr>
        <p:xfrm>
          <a:off x="423259" y="3363519"/>
          <a:ext cx="8539162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3" name="Equation" r:id="rId5" imgW="4394160" imgH="939600" progId="Equation.DSMT4">
                  <p:embed/>
                </p:oleObj>
              </mc:Choice>
              <mc:Fallback>
                <p:oleObj name="Equation" r:id="rId5" imgW="4394160" imgH="93960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C4180FB2-286E-4ED6-ABC4-D457190533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59" y="3363519"/>
                        <a:ext cx="8539162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EE045BC-04CE-45F4-A657-61B778204DD8}"/>
              </a:ext>
            </a:extLst>
          </p:cNvPr>
          <p:cNvSpPr/>
          <p:nvPr/>
        </p:nvSpPr>
        <p:spPr>
          <a:xfrm>
            <a:off x="490637" y="944571"/>
            <a:ext cx="53142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凸规划与</a:t>
            </a:r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Slater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约束规格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6748005-B12E-4690-866B-A29D9520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02405" name="Object 8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404180365"/>
              </p:ext>
            </p:extLst>
          </p:nvPr>
        </p:nvGraphicFramePr>
        <p:xfrm>
          <a:off x="642537" y="1798538"/>
          <a:ext cx="7888287" cy="361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91" name="Equation" r:id="rId3" imgW="4216320" imgH="1930320" progId="Equation.DSMT4">
                  <p:embed/>
                </p:oleObj>
              </mc:Choice>
              <mc:Fallback>
                <p:oleObj name="Equation" r:id="rId3" imgW="4216320" imgH="1930320" progId="Equation.DSMT4">
                  <p:embed/>
                  <p:pic>
                    <p:nvPicPr>
                      <p:cNvPr id="10240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37" y="1798538"/>
                        <a:ext cx="7888287" cy="361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A6530DB-E2B1-4CDF-8684-69569D7C58C4}"/>
              </a:ext>
            </a:extLst>
          </p:cNvPr>
          <p:cNvSpPr/>
          <p:nvPr/>
        </p:nvSpPr>
        <p:spPr>
          <a:xfrm>
            <a:off x="568423" y="1077282"/>
            <a:ext cx="25186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强对偶定理</a:t>
            </a: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23C20-B836-47E7-83D3-36EFC981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650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3137" y="1017788"/>
            <a:ext cx="7127875" cy="504825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例</a:t>
            </a:r>
            <a:r>
              <a:rPr lang="en-US" altLang="zh-CN" sz="2800" dirty="0"/>
              <a:t>7.3.3 </a:t>
            </a:r>
            <a:r>
              <a:rPr lang="zh-CN" altLang="en-US" sz="2800" dirty="0"/>
              <a:t>考虑如下约束优化问题</a:t>
            </a:r>
          </a:p>
        </p:txBody>
      </p:sp>
      <p:graphicFrame>
        <p:nvGraphicFramePr>
          <p:cNvPr id="1065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053759"/>
              </p:ext>
            </p:extLst>
          </p:nvPr>
        </p:nvGraphicFramePr>
        <p:xfrm>
          <a:off x="2099176" y="1418440"/>
          <a:ext cx="45212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9" name="Equation" r:id="rId3" imgW="4521200" imgH="1181100" progId="Equation.DSMT4">
                  <p:embed/>
                </p:oleObj>
              </mc:Choice>
              <mc:Fallback>
                <p:oleObj name="Equation" r:id="rId3" imgW="4521200" imgH="1181100" progId="Equation.DSMT4">
                  <p:embed/>
                  <p:pic>
                    <p:nvPicPr>
                      <p:cNvPr id="10650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9176" y="1418440"/>
                        <a:ext cx="45212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523875" y="2613025"/>
            <a:ext cx="8369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显然该问题无最优解</a:t>
            </a:r>
            <a:r>
              <a:rPr lang="en-US" altLang="zh-CN" sz="2800" dirty="0"/>
              <a:t>,</a:t>
            </a:r>
            <a:r>
              <a:rPr lang="zh-CN" altLang="en-US" sz="2800" dirty="0"/>
              <a:t>但目标函数的下确界</a:t>
            </a:r>
            <a:r>
              <a:rPr lang="en-US" altLang="zh-CN" sz="2800" i="1" dirty="0" err="1"/>
              <a:t>f</a:t>
            </a:r>
            <a:r>
              <a:rPr lang="en-US" altLang="zh-CN" sz="2400" dirty="0" err="1"/>
              <a:t>min</a:t>
            </a:r>
            <a:r>
              <a:rPr lang="en-US" altLang="zh-CN" sz="2800" dirty="0"/>
              <a:t>=0.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该问题的</a:t>
            </a:r>
            <a:r>
              <a:rPr lang="en-US" altLang="zh-CN" sz="2800" dirty="0"/>
              <a:t>Lagrange</a:t>
            </a:r>
            <a:r>
              <a:rPr lang="zh-CN" altLang="en-US" sz="2800" dirty="0"/>
              <a:t>对偶函数</a:t>
            </a:r>
          </a:p>
        </p:txBody>
      </p:sp>
      <p:graphicFrame>
        <p:nvGraphicFramePr>
          <p:cNvPr id="69638" name="Object 6"/>
          <p:cNvGraphicFramePr>
            <a:graphicFrameLocks noChangeAspect="1"/>
          </p:cNvGraphicFramePr>
          <p:nvPr/>
        </p:nvGraphicFramePr>
        <p:xfrm>
          <a:off x="1102609" y="3475029"/>
          <a:ext cx="6192838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0" name="Equation" r:id="rId5" imgW="5765800" imgH="1333500" progId="Equation.DSMT4">
                  <p:embed/>
                </p:oleObj>
              </mc:Choice>
              <mc:Fallback>
                <p:oleObj name="Equation" r:id="rId5" imgW="5765800" imgH="1333500" progId="Equation.DSMT4">
                  <p:embed/>
                  <p:pic>
                    <p:nvPicPr>
                      <p:cNvPr id="696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2609" y="3475029"/>
                        <a:ext cx="6192838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7"/>
          <p:cNvGraphicFramePr>
            <a:graphicFrameLocks noChangeAspect="1"/>
          </p:cNvGraphicFramePr>
          <p:nvPr/>
        </p:nvGraphicFramePr>
        <p:xfrm>
          <a:off x="711200" y="4981574"/>
          <a:ext cx="72009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1" name="Equation" r:id="rId7" imgW="5727700" imgH="850900" progId="Equation.DSMT4">
                  <p:embed/>
                </p:oleObj>
              </mc:Choice>
              <mc:Fallback>
                <p:oleObj name="Equation" r:id="rId7" imgW="5727700" imgH="850900" progId="Equation.DSMT4">
                  <p:embed/>
                  <p:pic>
                    <p:nvPicPr>
                      <p:cNvPr id="696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981574"/>
                        <a:ext cx="720090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572ECD2-E6A5-4062-8FB9-958DCE49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7.3.3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鞍点定理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24580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19452874"/>
              </p:ext>
            </p:extLst>
          </p:nvPr>
        </p:nvGraphicFramePr>
        <p:xfrm>
          <a:off x="400050" y="1228725"/>
          <a:ext cx="8148638" cy="284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35" name="Equation" r:id="rId3" imgW="3492360" imgH="1218960" progId="Equation.DSMT4">
                  <p:embed/>
                </p:oleObj>
              </mc:Choice>
              <mc:Fallback>
                <p:oleObj name="Equation" r:id="rId3" imgW="3492360" imgH="1218960" progId="Equation.DSMT4">
                  <p:embed/>
                  <p:pic>
                    <p:nvPicPr>
                      <p:cNvPr id="24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1228725"/>
                        <a:ext cx="8148638" cy="284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846D549-1493-4DB2-99A1-12112C89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鞍点与最优解</a:t>
            </a:r>
          </a:p>
        </p:txBody>
      </p:sp>
      <p:graphicFrame>
        <p:nvGraphicFramePr>
          <p:cNvPr id="25639" name="Object 39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94115127"/>
              </p:ext>
            </p:extLst>
          </p:nvPr>
        </p:nvGraphicFramePr>
        <p:xfrm>
          <a:off x="409575" y="1092200"/>
          <a:ext cx="8532813" cy="322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9" name="Equation" r:id="rId4" imgW="4431960" imgH="1676160" progId="Equation.DSMT4">
                  <p:embed/>
                </p:oleObj>
              </mc:Choice>
              <mc:Fallback>
                <p:oleObj name="Equation" r:id="rId4" imgW="4431960" imgH="1676160" progId="Equation.DSMT4">
                  <p:embed/>
                  <p:pic>
                    <p:nvPicPr>
                      <p:cNvPr id="2563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" y="1092200"/>
                        <a:ext cx="8532813" cy="322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DBF7152-BFC1-443C-8BB1-1681F32D2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993366"/>
                </a:solidFill>
              </a:rPr>
              <a:t>2. </a:t>
            </a:r>
            <a:r>
              <a:rPr lang="zh-CN" altLang="en-US" dirty="0">
                <a:solidFill>
                  <a:srgbClr val="993366"/>
                </a:solidFill>
              </a:rPr>
              <a:t>鞍点与</a:t>
            </a:r>
            <a:r>
              <a:rPr lang="en-US" altLang="zh-CN" dirty="0">
                <a:solidFill>
                  <a:srgbClr val="993366"/>
                </a:solidFill>
              </a:rPr>
              <a:t>KKT</a:t>
            </a:r>
            <a:r>
              <a:rPr lang="zh-CN" altLang="en-US" dirty="0">
                <a:solidFill>
                  <a:srgbClr val="993366"/>
                </a:solidFill>
              </a:rPr>
              <a:t>点</a:t>
            </a:r>
            <a:endParaRPr lang="zh-CN" altLang="en-US" dirty="0"/>
          </a:p>
        </p:txBody>
      </p:sp>
      <p:graphicFrame>
        <p:nvGraphicFramePr>
          <p:cNvPr id="112645" name="Object 6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770536757"/>
              </p:ext>
            </p:extLst>
          </p:nvPr>
        </p:nvGraphicFramePr>
        <p:xfrm>
          <a:off x="466725" y="1066800"/>
          <a:ext cx="8394700" cy="332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31" name="Equation" r:id="rId3" imgW="4267080" imgH="1688760" progId="Equation.DSMT4">
                  <p:embed/>
                </p:oleObj>
              </mc:Choice>
              <mc:Fallback>
                <p:oleObj name="Equation" r:id="rId3" imgW="4267080" imgH="1688760" progId="Equation.DSMT4">
                  <p:embed/>
                  <p:pic>
                    <p:nvPicPr>
                      <p:cNvPr id="11264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1066800"/>
                        <a:ext cx="8394700" cy="332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</TotalTime>
  <Words>1923</Words>
  <Application>Microsoft Office PowerPoint</Application>
  <PresentationFormat>全屏显示(4:3)</PresentationFormat>
  <Paragraphs>132</Paragraphs>
  <Slides>59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82" baseType="lpstr">
      <vt:lpstr>黑体</vt:lpstr>
      <vt:lpstr>华文楷体</vt:lpstr>
      <vt:lpstr>楷体</vt:lpstr>
      <vt:lpstr>楷体_GB2312</vt:lpstr>
      <vt:lpstr>隶书</vt:lpstr>
      <vt:lpstr>宋体</vt:lpstr>
      <vt:lpstr>Arial</vt:lpstr>
      <vt:lpstr>Arial Black</vt:lpstr>
      <vt:lpstr>Calibri</vt:lpstr>
      <vt:lpstr>Calibri Light</vt:lpstr>
      <vt:lpstr>Cambria Math</vt:lpstr>
      <vt:lpstr>Garamond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Equation</vt:lpstr>
      <vt:lpstr>PowerPoint 演示文稿</vt:lpstr>
      <vt:lpstr>第七章 最优性条件</vt:lpstr>
      <vt:lpstr>7.1无约束问题的极值条件</vt:lpstr>
      <vt:lpstr>2，必要条件 </vt:lpstr>
      <vt:lpstr>PowerPoint 演示文稿</vt:lpstr>
      <vt:lpstr>PowerPoint 演示文稿</vt:lpstr>
      <vt:lpstr>3，二阶充分条件 </vt:lpstr>
      <vt:lpstr>PowerPoint 演示文稿</vt:lpstr>
      <vt:lpstr>4，充要条件</vt:lpstr>
      <vt:lpstr>PowerPoint 演示文稿</vt:lpstr>
      <vt:lpstr>PowerPoint 演示文稿</vt:lpstr>
      <vt:lpstr>PowerPoint 演示文稿</vt:lpstr>
      <vt:lpstr>7.2约束极值问题的最优性条件 </vt:lpstr>
      <vt:lpstr>2，可行方向和下降方向</vt:lpstr>
      <vt:lpstr>PowerPoint 演示文稿</vt:lpstr>
      <vt:lpstr>PowerPoint 演示文稿</vt:lpstr>
      <vt:lpstr>3 一阶最优性条件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4.二阶条件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7.3 对偶理论</vt:lpstr>
      <vt:lpstr>PowerPoint 演示文稿</vt:lpstr>
      <vt:lpstr>PowerPoint 演示文稿</vt:lpstr>
      <vt:lpstr>PowerPoint 演示文稿</vt:lpstr>
      <vt:lpstr>7.3.2 对偶定理</vt:lpstr>
      <vt:lpstr>PowerPoint 演示文稿</vt:lpstr>
      <vt:lpstr>PowerPoint 演示文稿</vt:lpstr>
      <vt:lpstr>PowerPoint 演示文稿</vt:lpstr>
      <vt:lpstr>PowerPoint 演示文稿</vt:lpstr>
      <vt:lpstr>7.3.3 鞍点定理</vt:lpstr>
      <vt:lpstr>1 鞍点与最优解</vt:lpstr>
      <vt:lpstr>2. 鞍点与KKT点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1737</cp:revision>
  <dcterms:created xsi:type="dcterms:W3CDTF">2012-04-20T06:02:00Z</dcterms:created>
  <dcterms:modified xsi:type="dcterms:W3CDTF">2026-04-06T13:32:24Z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9CF86C79608144ADBEF3A26E5FD9A904</vt:lpwstr>
  </property>
</Properties>
</file>