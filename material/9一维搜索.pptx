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3" r:id="rId3"/>
    <p:sldMasterId id="2147483686" r:id="rId4"/>
    <p:sldMasterId id="2147483698" r:id="rId5"/>
    <p:sldMasterId id="2147483710" r:id="rId6"/>
    <p:sldMasterId id="2147483722" r:id="rId7"/>
  </p:sldMasterIdLst>
  <p:notesMasterIdLst>
    <p:notesMasterId r:id="rId76"/>
  </p:notesMasterIdLst>
  <p:handoutMasterIdLst>
    <p:handoutMasterId r:id="rId77"/>
  </p:handoutMasterIdLst>
  <p:sldIdLst>
    <p:sldId id="377" r:id="rId8"/>
    <p:sldId id="335" r:id="rId9"/>
    <p:sldId id="256" r:id="rId10"/>
    <p:sldId id="257" r:id="rId11"/>
    <p:sldId id="258" r:id="rId12"/>
    <p:sldId id="260" r:id="rId13"/>
    <p:sldId id="261" r:id="rId14"/>
    <p:sldId id="315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326" r:id="rId25"/>
    <p:sldId id="327" r:id="rId26"/>
    <p:sldId id="329" r:id="rId27"/>
    <p:sldId id="330" r:id="rId28"/>
    <p:sldId id="331" r:id="rId29"/>
    <p:sldId id="379" r:id="rId30"/>
    <p:sldId id="332" r:id="rId31"/>
    <p:sldId id="333" r:id="rId32"/>
    <p:sldId id="285" r:id="rId33"/>
    <p:sldId id="286" r:id="rId34"/>
    <p:sldId id="287" r:id="rId35"/>
    <p:sldId id="288" r:id="rId36"/>
    <p:sldId id="298" r:id="rId37"/>
    <p:sldId id="299" r:id="rId38"/>
    <p:sldId id="300" r:id="rId39"/>
    <p:sldId id="301" r:id="rId40"/>
    <p:sldId id="302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290" r:id="rId53"/>
    <p:sldId id="291" r:id="rId54"/>
    <p:sldId id="292" r:id="rId55"/>
    <p:sldId id="293" r:id="rId56"/>
    <p:sldId id="294" r:id="rId57"/>
    <p:sldId id="344" r:id="rId58"/>
    <p:sldId id="345" r:id="rId59"/>
    <p:sldId id="381" r:id="rId60"/>
    <p:sldId id="346" r:id="rId61"/>
    <p:sldId id="380" r:id="rId62"/>
    <p:sldId id="347" r:id="rId63"/>
    <p:sldId id="348" r:id="rId64"/>
    <p:sldId id="349" r:id="rId65"/>
    <p:sldId id="378" r:id="rId66"/>
    <p:sldId id="352" r:id="rId67"/>
    <p:sldId id="336" r:id="rId68"/>
    <p:sldId id="337" r:id="rId69"/>
    <p:sldId id="338" r:id="rId70"/>
    <p:sldId id="339" r:id="rId71"/>
    <p:sldId id="340" r:id="rId72"/>
    <p:sldId id="341" r:id="rId73"/>
    <p:sldId id="342" r:id="rId74"/>
    <p:sldId id="343" r:id="rId75"/>
  </p:sldIdLst>
  <p:sldSz cx="9144000" cy="6858000" type="screen4x3"/>
  <p:notesSz cx="7099300" cy="10234613"/>
  <p:custDataLst>
    <p:tags r:id="rId7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5" userDrawn="1">
          <p15:clr>
            <a:srgbClr val="A4A3A4"/>
          </p15:clr>
        </p15:guide>
        <p15:guide id="2" pos="29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86">
          <p15:clr>
            <a:srgbClr val="A4A3A4"/>
          </p15:clr>
        </p15:guide>
        <p15:guide id="2" pos="226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33"/>
    <a:srgbClr val="FF6600"/>
    <a:srgbClr val="CC6600"/>
    <a:srgbClr val="990000"/>
    <a:srgbClr val="336699"/>
    <a:srgbClr val="CC3300"/>
    <a:srgbClr val="008080"/>
    <a:srgbClr val="0099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27" autoAdjust="0"/>
    <p:restoredTop sz="92552" autoAdjust="0"/>
  </p:normalViewPr>
  <p:slideViewPr>
    <p:cSldViewPr snapToGrid="0" showGuides="1">
      <p:cViewPr varScale="1">
        <p:scale>
          <a:sx n="66" d="100"/>
          <a:sy n="66" d="100"/>
        </p:scale>
        <p:origin x="1196" y="56"/>
      </p:cViewPr>
      <p:guideLst>
        <p:guide orient="horz" pos="2135"/>
        <p:guide pos="291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3006" y="-96"/>
      </p:cViewPr>
      <p:guideLst>
        <p:guide orient="horz" pos="3186"/>
        <p:guide pos="226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4.xml"/><Relationship Id="rId82" Type="http://schemas.openxmlformats.org/officeDocument/2006/relationships/tableStyles" Target="tableStyles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tags" Target="tags/tag1.xml"/><Relationship Id="rId8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4" Type="http://schemas.openxmlformats.org/officeDocument/2006/relationships/image" Target="../media/image64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w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w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w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1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2.e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3.e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4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5.w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6A960A1-D56F-4C4A-97CF-4735240BD62C}" type="datetimeFigureOut">
              <a:rPr lang="zh-CN" altLang="en-US"/>
              <a:t>2026/4/21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4F66F81-A0D2-4A7E-BBC3-CD5E44C9F6A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5EE2498-8568-4830-BB85-C81475419C18}" type="datetimeFigureOut">
              <a:rPr lang="zh-CN" altLang="en-US"/>
              <a:t>2026/4/21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zh-CN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00F46F3-D1E1-4E94-ABE0-1F205FAA8D8A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AB238A7-33AB-4C8C-80F0-F743B99D632A}" type="slidenum">
              <a:rPr lang="zh-CN" altLang="en-US" smtClean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33</a:t>
            </a:fld>
            <a:endParaRPr lang="en-US" altLang="zh-CN">
              <a:solidFill>
                <a:schemeClr val="accent2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11" Type="http://schemas.microsoft.com/office/2007/relationships/hdphoto" Target="../media/hdphoto1.wdp"/><Relationship Id="rId5" Type="http://schemas.openxmlformats.org/officeDocument/2006/relationships/image" Target="../media/image6.jpeg"/><Relationship Id="rId10" Type="http://schemas.openxmlformats.org/officeDocument/2006/relationships/image" Target="../media/image12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1300" y="304800"/>
            <a:ext cx="19431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3048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:\Users\luye\Desktop\未标题-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6067645"/>
            <a:ext cx="3428992" cy="790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679D0E-C0E7-447C-B7CC-416A3789EE48}" type="datetime1">
              <a:rPr lang="zh-CN" altLang="en-US"/>
              <a:t>2026/4/21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TP SHUAI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3ADBD7-3BAF-44A7-B2E0-679E31104BC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85134-EB9D-4805-ABEB-F863D88A05E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AFBB6-D49A-43F4-87D9-D7681947FD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7C021B-CAAC-47EF-8662-3E778FCEF6C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50BEE-AE29-4505-92DA-41C676A713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600548-8CF3-4B09-ACBA-0F38896D916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0478A-3558-426B-BC99-7BF29E2A8A0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2B9A6-6288-44F7-B172-15E1AB0493F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892A0-0C0A-4500-900B-D87ECC80B77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2F2B1-744B-4D4E-8150-2AF0605125A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6AACB4-BC2C-4235-93CB-4858018529E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3B03A7-9B61-4EE4-AC29-3E0A59EB3FB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33CD01DB-5A89-46E1-9C62-8DE24968FCBD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EA0A3D38-FDC0-4B4B-A494-56099C1B91F0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BDD1DE16-6030-4296-AA83-243A5EBDEF6D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CDADCE3F-3FF9-425C-B635-BDEE2469475C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9D263FCC-0E9E-4DE0-9191-3A9805C5D772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10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3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A882C6C2-D35D-4B29-9880-EB532D47EA8C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9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F1B72FF5-3C7F-4A3E-A69E-E6308AC08448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54" y="764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51306" y="952229"/>
            <a:ext cx="9072059" cy="5266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2"/>
          <p:cNvSpPr>
            <a:spLocks noChangeArrowheads="1"/>
          </p:cNvSpPr>
          <p:nvPr userDrawn="1"/>
        </p:nvSpPr>
        <p:spPr bwMode="auto">
          <a:xfrm>
            <a:off x="16281" y="2867954"/>
            <a:ext cx="9102730" cy="158795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ffectLst>
            <a:glow rad="12700">
              <a:srgbClr val="002060">
                <a:alpha val="40000"/>
              </a:srgb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" name="Picture 31"/>
          <p:cNvPicPr>
            <a:picLocks noChangeAspect="1" noChangeArrowheads="1"/>
          </p:cNvPicPr>
          <p:nvPr userDrawn="1"/>
        </p:nvPicPr>
        <p:blipFill>
          <a:blip r:embed="rId10">
            <a:clrChange>
              <a:clrFrom>
                <a:srgbClr val="EBFFFF"/>
              </a:clrFrom>
              <a:clrTo>
                <a:srgbClr val="EB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987" y="299936"/>
            <a:ext cx="4552551" cy="812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526871" y="1830688"/>
            <a:ext cx="8268785" cy="979376"/>
          </a:xfrm>
        </p:spPr>
        <p:txBody>
          <a:bodyPr>
            <a:normAutofit/>
          </a:bodyPr>
          <a:lstStyle>
            <a:lvl1pPr algn="ctr">
              <a:defRPr sz="5400" baseline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358C92BF-141B-405B-B9C3-41F21423E6DD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09B0ED30-E3F2-4215-ADC5-126CA2DD31D4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0B5D371D-92C2-44A4-BE04-ECAB734F093F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image" Target="../media/image3.png"/><Relationship Id="rId18" Type="http://schemas.openxmlformats.org/officeDocument/2006/relationships/image" Target="../media/image8.jpeg"/><Relationship Id="rId3" Type="http://schemas.openxmlformats.org/officeDocument/2006/relationships/slideLayout" Target="../slideLayouts/slideLayout71.xml"/><Relationship Id="rId21" Type="http://schemas.openxmlformats.org/officeDocument/2006/relationships/image" Target="../media/image11.png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17" Type="http://schemas.openxmlformats.org/officeDocument/2006/relationships/image" Target="../media/image7.jpeg"/><Relationship Id="rId2" Type="http://schemas.openxmlformats.org/officeDocument/2006/relationships/slideLayout" Target="../slideLayouts/slideLayout70.xml"/><Relationship Id="rId16" Type="http://schemas.openxmlformats.org/officeDocument/2006/relationships/image" Target="../media/image6.jpeg"/><Relationship Id="rId20" Type="http://schemas.openxmlformats.org/officeDocument/2006/relationships/image" Target="../media/image10.jpeg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78.xml"/><Relationship Id="rId19" Type="http://schemas.openxmlformats.org/officeDocument/2006/relationships/image" Target="../media/image9.jpeg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55257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Freeform 3"/>
          <p:cNvSpPr/>
          <p:nvPr/>
        </p:nvSpPr>
        <p:spPr bwMode="auto">
          <a:xfrm>
            <a:off x="1588" y="914400"/>
            <a:ext cx="1219200" cy="4838700"/>
          </a:xfrm>
          <a:custGeom>
            <a:avLst/>
            <a:gdLst>
              <a:gd name="T0" fmla="*/ 2147483647 w 768"/>
              <a:gd name="T1" fmla="*/ 2147483647 h 2856"/>
              <a:gd name="T2" fmla="*/ 2147483647 w 768"/>
              <a:gd name="T3" fmla="*/ 2147483647 h 2856"/>
              <a:gd name="T4" fmla="*/ 0 w 768"/>
              <a:gd name="T5" fmla="*/ 2147483647 h 2856"/>
              <a:gd name="T6" fmla="*/ 0 w 768"/>
              <a:gd name="T7" fmla="*/ 2147483647 h 2856"/>
              <a:gd name="T8" fmla="*/ 2147483647 w 768"/>
              <a:gd name="T9" fmla="*/ 0 h 2856"/>
              <a:gd name="T10" fmla="*/ 2147483647 w 768"/>
              <a:gd name="T11" fmla="*/ 2147483647 h 28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68" h="2856">
                <a:moveTo>
                  <a:pt x="619" y="1461"/>
                </a:moveTo>
                <a:cubicBezTo>
                  <a:pt x="635" y="2144"/>
                  <a:pt x="683" y="2331"/>
                  <a:pt x="760" y="2856"/>
                </a:cubicBezTo>
                <a:lnTo>
                  <a:pt x="0" y="2856"/>
                </a:lnTo>
                <a:lnTo>
                  <a:pt x="0" y="1"/>
                </a:lnTo>
                <a:lnTo>
                  <a:pt x="768" y="0"/>
                </a:lnTo>
                <a:cubicBezTo>
                  <a:pt x="736" y="196"/>
                  <a:pt x="635" y="672"/>
                  <a:pt x="619" y="1461"/>
                </a:cubicBezTo>
                <a:close/>
              </a:path>
            </a:pathLst>
          </a:custGeom>
          <a:gradFill rotWithShape="0">
            <a:gsLst>
              <a:gs pos="0">
                <a:srgbClr val="7C7EAC"/>
              </a:gs>
              <a:gs pos="100000">
                <a:schemeClr val="bg1"/>
              </a:gs>
            </a:gsLst>
            <a:lin ang="5400000" scaled="1"/>
          </a:gradFill>
          <a:ln w="9525" cap="flat" cmpd="sng">
            <a:noFill/>
            <a:prstDash val="solid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04800"/>
            <a:ext cx="77724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219200"/>
            <a:ext cx="77724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v"/>
        <a:defRPr sz="2000" b="1">
          <a:solidFill>
            <a:srgbClr val="3366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b="1">
          <a:solidFill>
            <a:srgbClr val="3366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 b="1">
          <a:solidFill>
            <a:srgbClr val="3366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 b="1">
          <a:solidFill>
            <a:srgbClr val="3366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32057243-54D8-446D-9769-A38AE30FAB60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674849" y="215308"/>
            <a:ext cx="1216904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>
              <a:defRPr/>
            </a:pPr>
            <a:r>
              <a:rPr kumimoji="1" lang="en-US" altLang="zh-CN" sz="3200" b="1" i="1" dirty="0">
                <a:ln w="10541" cmpd="sng">
                  <a:noFill/>
                  <a:prstDash val="solid"/>
                </a:ln>
                <a:gradFill flip="none" rotWithShape="1">
                  <a:gsLst>
                    <a:gs pos="0">
                      <a:srgbClr val="A603AB"/>
                    </a:gs>
                    <a:gs pos="21001">
                      <a:srgbClr val="0819FB"/>
                    </a:gs>
                    <a:gs pos="35001">
                      <a:srgbClr val="1A8D48"/>
                    </a:gs>
                    <a:gs pos="52000">
                      <a:srgbClr val="FFFF00"/>
                    </a:gs>
                    <a:gs pos="73000">
                      <a:srgbClr val="EE3F17"/>
                    </a:gs>
                    <a:gs pos="88000">
                      <a:srgbClr val="E81766"/>
                    </a:gs>
                    <a:gs pos="100000">
                      <a:srgbClr val="A603AB"/>
                    </a:gs>
                  </a:gsLst>
                  <a:lin ang="0" scaled="1"/>
                  <a:tileRect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pitchFamily="34" charset="0"/>
                <a:ea typeface="黑体" panose="02010609060101010101" pitchFamily="2" charset="-122"/>
              </a:rPr>
              <a:t>SBN</a:t>
            </a:r>
            <a:endParaRPr kumimoji="1" lang="zh-CN" altLang="en-US" sz="3200" b="1" i="1" dirty="0">
              <a:ln w="10541" cmpd="sng">
                <a:noFill/>
                <a:prstDash val="solid"/>
              </a:ln>
              <a:gradFill flip="none" rotWithShape="1">
                <a:gsLst>
                  <a:gs pos="0">
                    <a:srgbClr val="A603AB"/>
                  </a:gs>
                  <a:gs pos="21001">
                    <a:srgbClr val="0819FB"/>
                  </a:gs>
                  <a:gs pos="35001">
                    <a:srgbClr val="1A8D48"/>
                  </a:gs>
                  <a:gs pos="52000">
                    <a:srgbClr val="FFFF00"/>
                  </a:gs>
                  <a:gs pos="73000">
                    <a:srgbClr val="EE3F17"/>
                  </a:gs>
                  <a:gs pos="88000">
                    <a:srgbClr val="E81766"/>
                  </a:gs>
                  <a:gs pos="100000">
                    <a:srgbClr val="A603AB"/>
                  </a:gs>
                </a:gsLst>
                <a:lin ang="0" scaled="1"/>
                <a:tileRect/>
              </a:gra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Arial Black" panose="020B0A04020102020204" pitchFamily="34" charset="0"/>
              <a:ea typeface="黑体" panose="02010609060101010101" pitchFamily="2" charset="-122"/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44500" y="73025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3124200" y="64770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 kumimoji="1" sz="1600" b="1">
                <a:solidFill>
                  <a:schemeClr val="folHlink"/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fld id="{56ED39A5-D7E9-45ED-9C73-9E366D6A377B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1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1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1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1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1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20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7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3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4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7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9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0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31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34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36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39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42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43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44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45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47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48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50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53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54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56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57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0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59.wmf"/><Relationship Id="rId4" Type="http://schemas.openxmlformats.org/officeDocument/2006/relationships/oleObject" Target="../embeddings/oleObject43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image" Target="../media/image63.png"/><Relationship Id="rId7" Type="http://schemas.openxmlformats.org/officeDocument/2006/relationships/image" Target="../media/image62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64.wmf"/><Relationship Id="rId5" Type="http://schemas.openxmlformats.org/officeDocument/2006/relationships/image" Target="../media/image61.wmf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63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65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68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70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72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74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4.vml"/><Relationship Id="rId4" Type="http://schemas.openxmlformats.org/officeDocument/2006/relationships/image" Target="../media/image75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76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6.vml"/><Relationship Id="rId4" Type="http://schemas.openxmlformats.org/officeDocument/2006/relationships/image" Target="../media/image77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7.vml"/><Relationship Id="rId4" Type="http://schemas.openxmlformats.org/officeDocument/2006/relationships/image" Target="../media/image78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80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79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9.vml"/><Relationship Id="rId4" Type="http://schemas.openxmlformats.org/officeDocument/2006/relationships/image" Target="../media/image81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0.vml"/><Relationship Id="rId4" Type="http://schemas.openxmlformats.org/officeDocument/2006/relationships/image" Target="../media/image82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83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86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85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3.vml"/><Relationship Id="rId4" Type="http://schemas.openxmlformats.org/officeDocument/2006/relationships/image" Target="../media/image87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image" Target="../media/image88.emf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50.png"/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4.vml"/><Relationship Id="rId4" Type="http://schemas.openxmlformats.org/officeDocument/2006/relationships/image" Target="../media/image101.e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5.vml"/><Relationship Id="rId4" Type="http://schemas.openxmlformats.org/officeDocument/2006/relationships/image" Target="../media/image102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6.vml"/><Relationship Id="rId4" Type="http://schemas.openxmlformats.org/officeDocument/2006/relationships/image" Target="../media/image103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7.vml"/><Relationship Id="rId4" Type="http://schemas.openxmlformats.org/officeDocument/2006/relationships/image" Target="../media/image104.emf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8.vml"/><Relationship Id="rId4" Type="http://schemas.openxmlformats.org/officeDocument/2006/relationships/image" Target="../media/image105.w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9.vml"/><Relationship Id="rId4" Type="http://schemas.openxmlformats.org/officeDocument/2006/relationships/image" Target="../media/image10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7"/>
          <p:cNvSpPr>
            <a:spLocks noChangeArrowheads="1"/>
          </p:cNvSpPr>
          <p:nvPr/>
        </p:nvSpPr>
        <p:spPr bwMode="auto">
          <a:xfrm>
            <a:off x="1854177" y="3262310"/>
            <a:ext cx="5470647" cy="1993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帅天平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800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数学科学学院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800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tpshuai@bupt.edu.cn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03416" y="1667211"/>
            <a:ext cx="65319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0" fontAlgn="ctr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BBE0E3"/>
              </a:buClr>
              <a:buSzPct val="60000"/>
              <a:buFontTx/>
              <a:buNone/>
              <a:defRPr/>
            </a:pPr>
            <a:r>
              <a:rPr lang="zh-CN" altLang="en-US" sz="6000" dirty="0">
                <a:solidFill>
                  <a:prstClr val="blac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最优化理论与算法</a:t>
            </a:r>
            <a:endParaRPr kumimoji="0" lang="en-US" altLang="zh-CN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第九章 一维搜索</a:t>
            </a:r>
          </a:p>
        </p:txBody>
      </p:sp>
      <p:sp>
        <p:nvSpPr>
          <p:cNvPr id="4101" name="内容占位符 2"/>
          <p:cNvSpPr>
            <a:spLocks noGrp="1"/>
          </p:cNvSpPr>
          <p:nvPr>
            <p:ph idx="4294967295"/>
          </p:nvPr>
        </p:nvSpPr>
        <p:spPr>
          <a:xfrm>
            <a:off x="510139" y="1225049"/>
            <a:ext cx="8229600" cy="453072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一维搜索的基本概念</a:t>
            </a:r>
            <a:endParaRPr lang="en-US" altLang="zh-CN" dirty="0"/>
          </a:p>
          <a:p>
            <a:pPr eaLnBrk="1" hangingPunct="1"/>
            <a:r>
              <a:rPr lang="zh-CN" altLang="en-US" dirty="0"/>
              <a:t>试探法</a:t>
            </a:r>
            <a:endParaRPr lang="en-US" altLang="zh-CN" dirty="0"/>
          </a:p>
          <a:p>
            <a:pPr eaLnBrk="1" hangingPunct="1"/>
            <a:r>
              <a:rPr lang="zh-CN" altLang="en-US" dirty="0"/>
              <a:t>函数逼近法</a:t>
            </a:r>
            <a:endParaRPr lang="en-US" altLang="zh-CN" dirty="0"/>
          </a:p>
          <a:p>
            <a:pPr eaLnBrk="1" hangingPunct="1"/>
            <a:r>
              <a:rPr lang="zh-CN" altLang="en-US" dirty="0"/>
              <a:t>非精确线搜索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sp>
        <p:nvSpPr>
          <p:cNvPr id="5127" name="Rectangle 13"/>
          <p:cNvSpPr>
            <a:spLocks noChangeArrowheads="1"/>
          </p:cNvSpPr>
          <p:nvPr/>
        </p:nvSpPr>
        <p:spPr bwMode="auto">
          <a:xfrm>
            <a:off x="323533" y="943610"/>
            <a:ext cx="8353425" cy="3046988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最优化方法的基本结构：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给定初始点</a:t>
            </a:r>
            <a:r>
              <a:rPr lang="en-US" altLang="zh-CN" sz="2400" b="1" i="1" dirty="0"/>
              <a:t>x</a:t>
            </a:r>
            <a:r>
              <a:rPr lang="en-US" altLang="zh-CN" sz="2400" b="1" baseline="-25000" dirty="0"/>
              <a:t>0</a:t>
            </a:r>
            <a:r>
              <a:rPr lang="en-US" altLang="zh-CN" sz="2400" baseline="-25000" dirty="0"/>
              <a:t> </a:t>
            </a:r>
          </a:p>
          <a:p>
            <a:pPr eaLnBrk="1" hangingPunct="1">
              <a:spcBef>
                <a:spcPct val="0"/>
              </a:spcBef>
              <a:buFontTx/>
              <a:buAutoNum type="alphaLcParenBoth"/>
            </a:pPr>
            <a:r>
              <a:rPr lang="zh-CN" altLang="en-US" sz="2400" dirty="0"/>
              <a:t>确定搜索方向</a:t>
            </a:r>
            <a:r>
              <a:rPr lang="en-US" altLang="zh-CN" sz="2400" b="1" i="1" dirty="0"/>
              <a:t>d</a:t>
            </a:r>
            <a:r>
              <a:rPr lang="en-US" altLang="zh-CN" sz="2400" b="1" i="1" baseline="-25000" dirty="0"/>
              <a:t>k</a:t>
            </a:r>
            <a:r>
              <a:rPr lang="zh-CN" altLang="en-US" sz="2400" dirty="0"/>
              <a:t>，即按照一定规则，构造</a:t>
            </a:r>
            <a:r>
              <a:rPr lang="en-US" altLang="zh-CN" sz="2400" i="1" dirty="0"/>
              <a:t>f</a:t>
            </a:r>
            <a:r>
              <a:rPr lang="zh-CN" altLang="en-US" sz="2400" dirty="0"/>
              <a:t>在</a:t>
            </a:r>
            <a:r>
              <a:rPr lang="en-US" altLang="zh-CN" sz="2400" b="1" i="1" dirty="0" err="1"/>
              <a:t>x</a:t>
            </a:r>
            <a:r>
              <a:rPr lang="en-US" altLang="zh-CN" sz="2400" baseline="-25000" dirty="0" err="1"/>
              <a:t>k</a:t>
            </a:r>
            <a:r>
              <a:rPr lang="zh-CN" altLang="en-US" sz="2400" dirty="0"/>
              <a:t>点处的下降方向</a:t>
            </a:r>
            <a:r>
              <a:rPr lang="en-US" altLang="zh-CN" sz="2400" b="1" i="1" dirty="0"/>
              <a:t>d</a:t>
            </a:r>
            <a:r>
              <a:rPr lang="en-US" altLang="zh-CN" sz="2400" b="1" i="1" baseline="-25000" dirty="0"/>
              <a:t>k</a:t>
            </a:r>
            <a:r>
              <a:rPr lang="zh-CN" altLang="en-US" sz="2400" dirty="0"/>
              <a:t>作为搜索方向</a:t>
            </a:r>
            <a:r>
              <a:rPr lang="en-US" altLang="zh-CN" sz="2400" dirty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dirty="0"/>
              <a:t>(b)</a:t>
            </a:r>
            <a:r>
              <a:rPr kumimoji="0" lang="zh-CN" altLang="en-US" sz="2400" dirty="0"/>
              <a:t>确定步长因子</a:t>
            </a:r>
            <a:r>
              <a:rPr kumimoji="0" lang="zh-CN" altLang="en-US" sz="2400" b="1" dirty="0">
                <a:sym typeface="Euclid Symbol" panose="05050102010706020507" pitchFamily="18" charset="2"/>
              </a:rPr>
              <a:t></a:t>
            </a:r>
            <a:r>
              <a:rPr kumimoji="0" lang="en-US" altLang="zh-CN" sz="2400" b="1" baseline="-25000" dirty="0">
                <a:sym typeface="Euclid Symbol" panose="05050102010706020507" pitchFamily="18" charset="2"/>
              </a:rPr>
              <a:t>k</a:t>
            </a:r>
            <a:r>
              <a:rPr kumimoji="0" lang="zh-CN" altLang="en-US" sz="2400" dirty="0"/>
              <a:t>，使目标函数值有某种意义下的下降</a:t>
            </a:r>
            <a:r>
              <a:rPr kumimoji="0" lang="en-US" altLang="zh-CN" sz="2400" dirty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dirty="0"/>
              <a:t>(c)</a:t>
            </a:r>
            <a:r>
              <a:rPr kumimoji="0" lang="zh-CN" altLang="en-US" sz="2400" dirty="0"/>
              <a:t>令                 </a:t>
            </a:r>
            <a:r>
              <a:rPr kumimoji="0" lang="en-US" altLang="zh-CN" sz="2400" b="1" i="1" dirty="0"/>
              <a:t>x</a:t>
            </a:r>
            <a:r>
              <a:rPr kumimoji="0" lang="en-US" altLang="zh-CN" sz="2400" b="1" baseline="-25000" dirty="0"/>
              <a:t>k+1</a:t>
            </a:r>
            <a:r>
              <a:rPr kumimoji="0" lang="en-US" altLang="zh-CN" sz="2400" b="1" dirty="0"/>
              <a:t> = </a:t>
            </a:r>
            <a:r>
              <a:rPr kumimoji="0" lang="en-US" altLang="zh-CN" sz="2400" b="1" i="1" dirty="0" err="1"/>
              <a:t>x</a:t>
            </a:r>
            <a:r>
              <a:rPr kumimoji="0" lang="en-US" altLang="zh-CN" sz="2400" b="1" baseline="-25000" dirty="0" err="1"/>
              <a:t>k</a:t>
            </a:r>
            <a:r>
              <a:rPr kumimoji="0" lang="en-US" altLang="zh-CN" sz="2400" b="1" dirty="0"/>
              <a:t> +</a:t>
            </a:r>
            <a:r>
              <a:rPr kumimoji="0" lang="en-US" altLang="zh-CN" sz="2400" b="1" dirty="0">
                <a:sym typeface="Euclid Symbol" panose="05050102010706020507" pitchFamily="18" charset="2"/>
              </a:rPr>
              <a:t></a:t>
            </a:r>
            <a:r>
              <a:rPr kumimoji="0" lang="en-US" altLang="zh-CN" sz="2400" b="1" baseline="-25000" dirty="0" err="1">
                <a:sym typeface="Euclid Symbol" panose="05050102010706020507" pitchFamily="18" charset="2"/>
              </a:rPr>
              <a:t>k</a:t>
            </a:r>
            <a:r>
              <a:rPr kumimoji="0" lang="en-US" altLang="zh-CN" sz="2400" b="1" i="1" dirty="0" err="1"/>
              <a:t>d</a:t>
            </a:r>
            <a:r>
              <a:rPr kumimoji="0" lang="en-US" altLang="zh-CN" sz="2400" b="1" baseline="-25000" dirty="0" err="1"/>
              <a:t>k</a:t>
            </a:r>
            <a:endParaRPr kumimoji="0" lang="en-US" altLang="zh-CN" sz="24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dirty="0"/>
              <a:t> </a:t>
            </a:r>
            <a:r>
              <a:rPr kumimoji="0" lang="zh-CN" altLang="en-US" sz="2400" dirty="0"/>
              <a:t>若</a:t>
            </a:r>
            <a:r>
              <a:rPr kumimoji="0" lang="en-US" altLang="zh-CN" sz="2400" b="1" i="1" dirty="0"/>
              <a:t>x</a:t>
            </a:r>
            <a:r>
              <a:rPr kumimoji="0" lang="en-US" altLang="zh-CN" sz="2400" b="1" baseline="-25000" dirty="0"/>
              <a:t>k+1</a:t>
            </a:r>
            <a:r>
              <a:rPr kumimoji="0" lang="zh-CN" altLang="en-US" sz="2400" dirty="0"/>
              <a:t>满足某种终止条件 则停止迭代，得到近似最优解</a:t>
            </a:r>
            <a:r>
              <a:rPr kumimoji="0" lang="en-US" altLang="zh-CN" sz="2400" b="1" i="1" dirty="0"/>
              <a:t>x</a:t>
            </a:r>
            <a:r>
              <a:rPr kumimoji="0" lang="en-US" altLang="zh-CN" sz="2400" b="1" baseline="-25000" dirty="0"/>
              <a:t>k+1</a:t>
            </a:r>
            <a:r>
              <a:rPr kumimoji="0" lang="zh-CN" altLang="en-US" sz="2400" dirty="0"/>
              <a:t>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dirty="0"/>
              <a:t>   否则，重复上述步骤。</a:t>
            </a:r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9.1 </a:t>
            </a:r>
            <a:r>
              <a:rPr lang="zh-CN" altLang="en-US" dirty="0"/>
              <a:t>一维搜索概念</a:t>
            </a:r>
          </a:p>
        </p:txBody>
      </p:sp>
      <p:graphicFrame>
        <p:nvGraphicFramePr>
          <p:cNvPr id="5129" name="Object 17"/>
          <p:cNvGraphicFramePr>
            <a:graphicFrameLocks noGrp="1" noChangeAspect="1"/>
          </p:cNvGraphicFramePr>
          <p:nvPr>
            <p:ph idx="4294967295"/>
          </p:nvPr>
        </p:nvGraphicFramePr>
        <p:xfrm>
          <a:off x="323883" y="4103555"/>
          <a:ext cx="8228013" cy="200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Equation" r:id="rId3" imgW="205435200" imgH="49987200" progId="Equation.DSMT4">
                  <p:embed/>
                </p:oleObj>
              </mc:Choice>
              <mc:Fallback>
                <p:oleObj name="Equation" r:id="rId3" imgW="205435200" imgH="499872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83" y="4103555"/>
                        <a:ext cx="8228013" cy="20018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graphicFrame>
        <p:nvGraphicFramePr>
          <p:cNvPr id="6151" name="Object 9"/>
          <p:cNvGraphicFramePr>
            <a:graphicFrameLocks noChangeAspect="1"/>
          </p:cNvGraphicFramePr>
          <p:nvPr/>
        </p:nvGraphicFramePr>
        <p:xfrm>
          <a:off x="434975" y="1000126"/>
          <a:ext cx="8066088" cy="322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6" name="Equation" r:id="rId3" imgW="8077200" imgH="3225800" progId="Equation.DSMT4">
                  <p:embed/>
                </p:oleObj>
              </mc:Choice>
              <mc:Fallback>
                <p:oleObj name="Equation" r:id="rId3" imgW="8077200" imgH="322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975" y="1000126"/>
                        <a:ext cx="8066088" cy="32210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11"/>
          <p:cNvGraphicFramePr>
            <a:graphicFrameLocks noChangeAspect="1"/>
          </p:cNvGraphicFramePr>
          <p:nvPr/>
        </p:nvGraphicFramePr>
        <p:xfrm>
          <a:off x="323850" y="4362565"/>
          <a:ext cx="7993063" cy="170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7" name="Equation" r:id="rId5" imgW="7607300" imgH="1625600" progId="Equation.DSMT4">
                  <p:embed/>
                </p:oleObj>
              </mc:Choice>
              <mc:Fallback>
                <p:oleObj name="Equation" r:id="rId5" imgW="7607300" imgH="1625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362565"/>
                        <a:ext cx="7993063" cy="170815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4" name="Group 13"/>
          <p:cNvGrpSpPr/>
          <p:nvPr/>
        </p:nvGrpSpPr>
        <p:grpSpPr bwMode="auto">
          <a:xfrm>
            <a:off x="539750" y="908050"/>
            <a:ext cx="5081588" cy="1427163"/>
            <a:chOff x="432" y="1968"/>
            <a:chExt cx="3201" cy="899"/>
          </a:xfrm>
        </p:grpSpPr>
        <p:sp>
          <p:nvSpPr>
            <p:cNvPr id="7178" name="Rectangle 9"/>
            <p:cNvSpPr>
              <a:spLocks noChangeArrowheads="1"/>
            </p:cNvSpPr>
            <p:nvPr/>
          </p:nvSpPr>
          <p:spPr bwMode="auto">
            <a:xfrm>
              <a:off x="1392" y="2496"/>
              <a:ext cx="2241" cy="371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ea typeface="楷体_GB2312" panose="02010609030101010101" pitchFamily="49" charset="-122"/>
                </a:rPr>
                <a:t>函数逼近法</a:t>
              </a:r>
              <a:r>
                <a:rPr lang="en-US" altLang="zh-CN">
                  <a:ea typeface="楷体_GB2312" panose="02010609030101010101" pitchFamily="49" charset="-122"/>
                </a:rPr>
                <a:t>/</a:t>
              </a:r>
              <a:r>
                <a:rPr lang="zh-CN" altLang="en-US">
                  <a:ea typeface="楷体_GB2312" panose="02010609030101010101" pitchFamily="49" charset="-122"/>
                </a:rPr>
                <a:t>插值法</a:t>
              </a:r>
            </a:p>
          </p:txBody>
        </p:sp>
        <p:sp>
          <p:nvSpPr>
            <p:cNvPr id="7179" name="Rectangle 10"/>
            <p:cNvSpPr>
              <a:spLocks noChangeArrowheads="1"/>
            </p:cNvSpPr>
            <p:nvPr/>
          </p:nvSpPr>
          <p:spPr bwMode="auto">
            <a:xfrm>
              <a:off x="1392" y="1968"/>
              <a:ext cx="890" cy="371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ea typeface="楷体_GB2312" panose="02010609030101010101" pitchFamily="49" charset="-122"/>
                </a:rPr>
                <a:t>试探法</a:t>
              </a:r>
            </a:p>
          </p:txBody>
        </p:sp>
        <p:sp>
          <p:nvSpPr>
            <p:cNvPr id="7180" name="Rectangle 11"/>
            <p:cNvSpPr>
              <a:spLocks noChangeArrowheads="1"/>
            </p:cNvSpPr>
            <p:nvPr/>
          </p:nvSpPr>
          <p:spPr bwMode="auto">
            <a:xfrm>
              <a:off x="432" y="2112"/>
              <a:ext cx="624" cy="60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rgbClr val="FF0000"/>
                  </a:solidFill>
                  <a:ea typeface="楷体_GB2312" panose="02010609030101010101" pitchFamily="49" charset="-122"/>
                </a:rPr>
                <a:t>一维搜索</a:t>
              </a:r>
            </a:p>
          </p:txBody>
        </p:sp>
        <p:sp>
          <p:nvSpPr>
            <p:cNvPr id="7181" name="Rectangle 12"/>
            <p:cNvSpPr>
              <a:spLocks noChangeArrowheads="1"/>
            </p:cNvSpPr>
            <p:nvPr/>
          </p:nvSpPr>
          <p:spPr bwMode="auto">
            <a:xfrm>
              <a:off x="1008" y="2112"/>
              <a:ext cx="300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4800">
                  <a:ea typeface="楷体_GB2312" panose="02010609030101010101" pitchFamily="49" charset="-122"/>
                </a:rPr>
                <a:t>{</a:t>
              </a:r>
            </a:p>
          </p:txBody>
        </p:sp>
      </p:grp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175" name="Rectangle 15"/>
          <p:cNvSpPr>
            <a:spLocks noGrp="1" noChangeArrowheads="1"/>
          </p:cNvSpPr>
          <p:nvPr>
            <p:ph type="body" idx="4294967295"/>
          </p:nvPr>
        </p:nvSpPr>
        <p:spPr>
          <a:xfrm>
            <a:off x="433137" y="2540000"/>
            <a:ext cx="4724400" cy="685800"/>
          </a:xfrm>
          <a:prstGeom prst="rect">
            <a:avLst/>
          </a:prstGeom>
          <a:solidFill>
            <a:srgbClr val="CCFFFF"/>
          </a:solidFill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b="1">
                <a:ea typeface="楷体_GB2312" panose="02010609030101010101" pitchFamily="49" charset="-122"/>
              </a:rPr>
              <a:t>一维搜索算法的闭性</a:t>
            </a:r>
          </a:p>
        </p:txBody>
      </p:sp>
      <p:sp>
        <p:nvSpPr>
          <p:cNvPr id="7176" name="Rectangle 16"/>
          <p:cNvSpPr>
            <a:spLocks noChangeArrowheads="1"/>
          </p:cNvSpPr>
          <p:nvPr/>
        </p:nvSpPr>
        <p:spPr bwMode="auto">
          <a:xfrm>
            <a:off x="539750" y="3357563"/>
            <a:ext cx="7918450" cy="95408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假设一维搜索是以</a:t>
            </a:r>
            <a:r>
              <a:rPr lang="en-US" altLang="zh-CN" sz="2800" i="1" dirty="0"/>
              <a:t>x</a:t>
            </a:r>
            <a:r>
              <a:rPr lang="zh-CN" altLang="en-US" sz="2800" dirty="0"/>
              <a:t>为起点</a:t>
            </a:r>
            <a:r>
              <a:rPr lang="en-US" altLang="zh-CN" sz="2800" dirty="0"/>
              <a:t>,</a:t>
            </a:r>
            <a:r>
              <a:rPr lang="zh-CN" altLang="en-US" sz="2800" dirty="0"/>
              <a:t>沿方向</a:t>
            </a:r>
            <a:r>
              <a:rPr lang="en-US" altLang="zh-CN" sz="2800" i="1" dirty="0"/>
              <a:t>d</a:t>
            </a:r>
            <a:r>
              <a:rPr lang="zh-CN" altLang="en-US" sz="2800" dirty="0"/>
              <a:t>进行的</a:t>
            </a:r>
            <a:r>
              <a:rPr lang="en-US" altLang="zh-CN" sz="2800" dirty="0"/>
              <a:t>,</a:t>
            </a:r>
            <a:r>
              <a:rPr lang="zh-CN" altLang="en-US" sz="2800" dirty="0"/>
              <a:t>并定义为</a:t>
            </a:r>
            <a:r>
              <a:rPr lang="zh-CN" altLang="en-US" sz="2800" b="1" dirty="0"/>
              <a:t>算法映射</a:t>
            </a:r>
            <a:r>
              <a:rPr lang="en-US" altLang="zh-CN" sz="2800" b="1" i="1" dirty="0"/>
              <a:t>M</a:t>
            </a:r>
          </a:p>
        </p:txBody>
      </p:sp>
      <p:graphicFrame>
        <p:nvGraphicFramePr>
          <p:cNvPr id="7177" name="Object 17"/>
          <p:cNvGraphicFramePr>
            <a:graphicFrameLocks noChangeAspect="1"/>
          </p:cNvGraphicFramePr>
          <p:nvPr/>
        </p:nvGraphicFramePr>
        <p:xfrm>
          <a:off x="539750" y="4470400"/>
          <a:ext cx="754380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Equation" r:id="rId3" imgW="181051200" imgH="41452800" progId="Equation.DSMT4">
                  <p:embed/>
                </p:oleObj>
              </mc:Choice>
              <mc:Fallback>
                <p:oleObj name="Equation" r:id="rId3" imgW="181051200" imgH="414528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470400"/>
                        <a:ext cx="7543800" cy="17272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graphicFrame>
        <p:nvGraphicFramePr>
          <p:cNvPr id="8199" name="Object 11"/>
          <p:cNvGraphicFramePr>
            <a:graphicFrameLocks noChangeAspect="1"/>
          </p:cNvGraphicFramePr>
          <p:nvPr/>
        </p:nvGraphicFramePr>
        <p:xfrm>
          <a:off x="539750" y="4437063"/>
          <a:ext cx="71120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4" name="Equation" r:id="rId3" imgW="7112000" imgH="1752600" progId="Equation.DSMT4">
                  <p:embed/>
                </p:oleObj>
              </mc:Choice>
              <mc:Fallback>
                <p:oleObj name="Equation" r:id="rId3" imgW="7112000" imgH="1752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437063"/>
                        <a:ext cx="71120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12"/>
          <p:cNvGraphicFramePr>
            <a:graphicFrameLocks noChangeAspect="1"/>
          </p:cNvGraphicFramePr>
          <p:nvPr/>
        </p:nvGraphicFramePr>
        <p:xfrm>
          <a:off x="250825" y="2133600"/>
          <a:ext cx="75946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5" name="Equation" r:id="rId5" imgW="7594600" imgH="2209800" progId="Equation.DSMT4">
                  <p:embed/>
                </p:oleObj>
              </mc:Choice>
              <mc:Fallback>
                <p:oleObj name="Equation" r:id="rId5" imgW="7594600" imgH="2209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133600"/>
                        <a:ext cx="759460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Rectangle 14"/>
          <p:cNvSpPr>
            <a:spLocks noChangeArrowheads="1"/>
          </p:cNvSpPr>
          <p:nvPr/>
        </p:nvSpPr>
        <p:spPr bwMode="auto">
          <a:xfrm>
            <a:off x="385579" y="998839"/>
            <a:ext cx="8657506" cy="95310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定理</a:t>
            </a:r>
            <a:r>
              <a:rPr lang="en-US" altLang="zh-CN" sz="2800" b="1" dirty="0"/>
              <a:t>9.1.1</a:t>
            </a:r>
            <a:r>
              <a:rPr lang="en-US" altLang="zh-CN" sz="2800" b="1" i="1" dirty="0"/>
              <a:t>  </a:t>
            </a:r>
            <a:r>
              <a:rPr lang="zh-CN" altLang="en-US" sz="2800" dirty="0"/>
              <a:t>设</a:t>
            </a:r>
            <a:r>
              <a:rPr lang="en-US" altLang="zh-CN" sz="2800" i="1" dirty="0"/>
              <a:t>f</a:t>
            </a:r>
            <a:r>
              <a:rPr lang="zh-CN" altLang="en-US" sz="2800" dirty="0"/>
              <a:t>是定义在</a:t>
            </a:r>
            <a:r>
              <a:rPr lang="en-US" altLang="zh-CN" sz="2800" i="1" dirty="0"/>
              <a:t>R</a:t>
            </a:r>
            <a:r>
              <a:rPr lang="en-US" altLang="zh-CN" sz="2800" i="1" baseline="30000" dirty="0"/>
              <a:t>n</a:t>
            </a:r>
            <a:r>
              <a:rPr lang="zh-CN" altLang="en-US" sz="2800" dirty="0"/>
              <a:t>的连续函数</a:t>
            </a:r>
            <a:r>
              <a:rPr lang="en-US" altLang="zh-CN" sz="2800" dirty="0"/>
              <a:t>,</a:t>
            </a:r>
            <a:r>
              <a:rPr lang="en-US" altLang="zh-CN" sz="2800" i="1" dirty="0"/>
              <a:t>d</a:t>
            </a:r>
            <a:r>
              <a:rPr lang="en-US" altLang="zh-CN" sz="2800" dirty="0">
                <a:sym typeface="Euclid Symbol" panose="05050102010706020507" pitchFamily="18" charset="2"/>
              </a:rPr>
              <a:t></a:t>
            </a:r>
            <a:r>
              <a:rPr lang="en-US" altLang="zh-CN" sz="2800" dirty="0"/>
              <a:t>0,</a:t>
            </a:r>
            <a:r>
              <a:rPr lang="zh-CN" altLang="en-US" sz="2800" dirty="0"/>
              <a:t>则</a:t>
            </a:r>
            <a:r>
              <a:rPr lang="en-US" altLang="zh-CN" sz="2800" dirty="0"/>
              <a:t>(9.1.4)</a:t>
            </a:r>
            <a:r>
              <a:rPr lang="zh-CN" altLang="en-US" sz="2800" dirty="0"/>
              <a:t>定义的算法映射</a:t>
            </a:r>
            <a:r>
              <a:rPr lang="en-US" altLang="zh-CN" sz="2800" dirty="0"/>
              <a:t>M</a:t>
            </a:r>
            <a:r>
              <a:rPr lang="zh-CN" altLang="en-US" sz="2800" dirty="0"/>
              <a:t>在</a:t>
            </a:r>
            <a:r>
              <a:rPr lang="en-US" altLang="zh-CN" sz="2800" dirty="0"/>
              <a:t>(</a:t>
            </a:r>
            <a:r>
              <a:rPr lang="en-US" altLang="zh-CN" sz="2800" i="1" dirty="0" err="1"/>
              <a:t>x,d</a:t>
            </a:r>
            <a:r>
              <a:rPr lang="en-US" altLang="zh-CN" sz="2800" dirty="0"/>
              <a:t>)</a:t>
            </a:r>
            <a:r>
              <a:rPr lang="zh-CN" altLang="en-US" sz="2800" dirty="0"/>
              <a:t>处是闭的</a:t>
            </a:r>
            <a:endParaRPr lang="zh-CN" altLang="en-US" sz="2800" b="1" i="1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23" name="Object 8"/>
              <p:cNvSpPr txBox="1"/>
              <p:nvPr/>
            </p:nvSpPr>
            <p:spPr bwMode="auto">
              <a:xfrm>
                <a:off x="862013" y="965201"/>
                <a:ext cx="7877726" cy="480995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令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→∞</m:t>
                      </m:r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acc>
                        <m:accPr>
                          <m:chr m:val="̄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den>
                      </m:f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(9.1.7)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(9.1.5)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中令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→∞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并注意到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(9.1.7),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有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̄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m:rPr>
                          <m:nor/>
                        </m:rPr>
                        <a:rPr lang="en-US" altLang="zh-CN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9.1.8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根据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的定义</m:t>
                      </m:r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对每个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及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有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nor/>
                        </m:rPr>
                        <a:rPr lang="en-US" altLang="zh-CN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(9.1.9)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由于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连续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令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→∞</m:t>
                      </m:r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则由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(9.1.9)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得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̄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limLow>
                        <m:limLow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≥0</m:t>
                          </m:r>
                        </m:lim>
                      </m:limLow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即知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23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2013" y="965201"/>
                <a:ext cx="7877726" cy="4809958"/>
              </a:xfrm>
              <a:prstGeom prst="rect">
                <a:avLst/>
              </a:prstGeom>
              <a:blipFill rotWithShape="1">
                <a:blip r:embed="rId2"/>
                <a:stretch>
                  <a:fillRect l="-4" r="3" b="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graphicFrame>
        <p:nvGraphicFramePr>
          <p:cNvPr id="10247" name="Object 7"/>
          <p:cNvGraphicFramePr>
            <a:graphicFrameLocks noChangeAspect="1"/>
          </p:cNvGraphicFramePr>
          <p:nvPr/>
        </p:nvGraphicFramePr>
        <p:xfrm>
          <a:off x="722349" y="1135673"/>
          <a:ext cx="59309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5" name="Equation" r:id="rId3" imgW="150266400" imgH="92659200" progId="Equation.DSMT4">
                  <p:embed/>
                </p:oleObj>
              </mc:Choice>
              <mc:Fallback>
                <p:oleObj name="Equation" r:id="rId3" imgW="150266400" imgH="92659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49" y="1135673"/>
                        <a:ext cx="5930900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816" y="1474122"/>
            <a:ext cx="2222500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9.2.1,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黄金分割法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(0.618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法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4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pic>
        <p:nvPicPr>
          <p:cNvPr id="12294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3357563"/>
            <a:ext cx="4248150" cy="264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213100"/>
            <a:ext cx="4321175" cy="287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296" name="Object 7"/>
          <p:cNvGraphicFramePr>
            <a:graphicFrameLocks noChangeAspect="1"/>
          </p:cNvGraphicFramePr>
          <p:nvPr/>
        </p:nvGraphicFramePr>
        <p:xfrm>
          <a:off x="420687" y="1037030"/>
          <a:ext cx="8255000" cy="218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" name="Equation" r:id="rId5" imgW="198120000" imgH="52425600" progId="Equation.DSMT4">
                  <p:embed/>
                </p:oleObj>
              </mc:Choice>
              <mc:Fallback>
                <p:oleObj name="Equation" r:id="rId5" imgW="198120000" imgH="52425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687" y="1037030"/>
                        <a:ext cx="8255000" cy="218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sp>
        <p:nvSpPr>
          <p:cNvPr id="13318" name="Rectangle 5"/>
          <p:cNvSpPr>
            <a:spLocks noChangeArrowheads="1"/>
          </p:cNvSpPr>
          <p:nvPr/>
        </p:nvSpPr>
        <p:spPr bwMode="auto">
          <a:xfrm>
            <a:off x="179388" y="981075"/>
            <a:ext cx="769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证明</a:t>
            </a:r>
            <a:r>
              <a:rPr lang="en-US" altLang="zh-CN" sz="2800"/>
              <a:t>:</a:t>
            </a:r>
            <a:r>
              <a:rPr lang="zh-CN" altLang="en-US" sz="2800"/>
              <a:t>仅证</a:t>
            </a:r>
            <a:r>
              <a:rPr lang="en-US" altLang="zh-CN" sz="2800"/>
              <a:t>(1),</a:t>
            </a:r>
            <a:r>
              <a:rPr lang="zh-CN" altLang="en-US" sz="2800"/>
              <a:t>反证</a:t>
            </a:r>
            <a:r>
              <a:rPr lang="en-US" altLang="zh-CN" sz="2800"/>
              <a:t>,</a:t>
            </a:r>
            <a:r>
              <a:rPr lang="zh-CN" altLang="en-US" sz="2800"/>
              <a:t>如若不然</a:t>
            </a:r>
            <a:r>
              <a:rPr lang="en-US" altLang="zh-CN" sz="2800"/>
              <a:t>,</a:t>
            </a:r>
            <a:r>
              <a:rPr lang="zh-CN" altLang="en-US" sz="2800"/>
              <a:t>存在点</a:t>
            </a:r>
            <a:r>
              <a:rPr lang="en-US" altLang="zh-CN" sz="2800" i="1"/>
              <a:t>x*</a:t>
            </a:r>
            <a:r>
              <a:rPr lang="en-US" altLang="zh-CN" sz="2800">
                <a:sym typeface="Symbol" panose="05050102010706020507" pitchFamily="18" charset="2"/>
              </a:rPr>
              <a:t>[</a:t>
            </a:r>
            <a:r>
              <a:rPr lang="en-US" altLang="zh-CN" sz="2800" i="1">
                <a:sym typeface="Symbol" panose="05050102010706020507" pitchFamily="18" charset="2"/>
              </a:rPr>
              <a:t>a, x</a:t>
            </a:r>
            <a:r>
              <a:rPr lang="en-US" altLang="zh-CN" sz="2800" baseline="30000">
                <a:sym typeface="Symbol" panose="05050102010706020507" pitchFamily="18" charset="2"/>
              </a:rPr>
              <a:t>(1)</a:t>
            </a:r>
            <a:r>
              <a:rPr lang="en-US" altLang="zh-CN" sz="2800">
                <a:sym typeface="Symbol" panose="05050102010706020507" pitchFamily="18" charset="2"/>
              </a:rPr>
              <a:t>],</a:t>
            </a:r>
            <a:r>
              <a:rPr lang="zh-CN" altLang="en-US" sz="2800">
                <a:sym typeface="Symbol" panose="05050102010706020507" pitchFamily="18" charset="2"/>
              </a:rPr>
              <a:t>使</a:t>
            </a:r>
          </a:p>
        </p:txBody>
      </p:sp>
      <p:graphicFrame>
        <p:nvGraphicFramePr>
          <p:cNvPr id="13319" name="Object 6"/>
          <p:cNvGraphicFramePr>
            <a:graphicFrameLocks noChangeAspect="1"/>
          </p:cNvGraphicFramePr>
          <p:nvPr/>
        </p:nvGraphicFramePr>
        <p:xfrm>
          <a:off x="611188" y="1484313"/>
          <a:ext cx="7086600" cy="283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4" name="Equation" r:id="rId3" imgW="6959600" imgH="2781300" progId="Equation.DSMT4">
                  <p:embed/>
                </p:oleObj>
              </mc:Choice>
              <mc:Fallback>
                <p:oleObj name="Equation" r:id="rId3" imgW="6959600" imgH="2781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484313"/>
                        <a:ext cx="7086600" cy="283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7"/>
          <p:cNvGraphicFramePr>
            <a:graphicFrameLocks noChangeAspect="1"/>
          </p:cNvGraphicFramePr>
          <p:nvPr/>
        </p:nvGraphicFramePr>
        <p:xfrm>
          <a:off x="323850" y="4508500"/>
          <a:ext cx="8280400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" name="Equation" r:id="rId5" imgW="8280400" imgH="1587500" progId="Equation.DSMT4">
                  <p:embed/>
                </p:oleObj>
              </mc:Choice>
              <mc:Fallback>
                <p:oleObj name="Equation" r:id="rId5" imgW="8280400" imgH="15875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508500"/>
                        <a:ext cx="8280400" cy="158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376" y="178903"/>
            <a:ext cx="8229600" cy="757238"/>
          </a:xfrm>
        </p:spPr>
        <p:txBody>
          <a:bodyPr/>
          <a:lstStyle/>
          <a:p>
            <a:r>
              <a:rPr lang="zh-CN" altLang="en-US" dirty="0"/>
              <a:t>黄金分割法</a:t>
            </a:r>
            <a:r>
              <a:rPr lang="en-US" altLang="zh-CN" dirty="0"/>
              <a:t>(0.618</a:t>
            </a:r>
            <a:r>
              <a:rPr lang="zh-CN" altLang="en-US" dirty="0"/>
              <a:t>法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434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36884" y="1045862"/>
            <a:ext cx="8229600" cy="1922462"/>
          </a:xfrm>
          <a:prstGeom prst="rect">
            <a:avLst/>
          </a:prstGeom>
          <a:solidFill>
            <a:srgbClr val="CCFFFF"/>
          </a:solidFill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基本思想</a:t>
            </a:r>
            <a:r>
              <a:rPr lang="en-US" altLang="zh-CN" sz="2800" dirty="0"/>
              <a:t>:</a:t>
            </a:r>
            <a:r>
              <a:rPr lang="zh-CN" altLang="en-US" sz="2800" dirty="0"/>
              <a:t>通过取试探点使包含极小点的区间</a:t>
            </a:r>
            <a:r>
              <a:rPr lang="en-US" altLang="zh-CN" sz="2800" dirty="0"/>
              <a:t>(</a:t>
            </a:r>
            <a:r>
              <a:rPr lang="zh-CN" altLang="en-US" sz="2800" dirty="0"/>
              <a:t>不确定区间</a:t>
            </a:r>
            <a:r>
              <a:rPr lang="en-US" altLang="zh-CN" sz="2800" dirty="0"/>
              <a:t>)</a:t>
            </a:r>
            <a:r>
              <a:rPr lang="zh-CN" altLang="en-US" sz="2800" dirty="0"/>
              <a:t>不断缩小</a:t>
            </a:r>
            <a:r>
              <a:rPr lang="en-US" altLang="zh-CN" sz="2800" dirty="0"/>
              <a:t>,</a:t>
            </a:r>
            <a:r>
              <a:rPr lang="zh-CN" altLang="en-US" sz="2800" dirty="0"/>
              <a:t>当区间长度小到一定程度时</a:t>
            </a:r>
            <a:r>
              <a:rPr lang="en-US" altLang="zh-CN" sz="2800" dirty="0"/>
              <a:t>,</a:t>
            </a:r>
            <a:r>
              <a:rPr lang="zh-CN" altLang="en-US" sz="2800" dirty="0"/>
              <a:t>区间上各点的函数值均接近极小值</a:t>
            </a:r>
            <a:r>
              <a:rPr lang="en-US" altLang="zh-CN" sz="2800" dirty="0"/>
              <a:t>,</a:t>
            </a:r>
            <a:r>
              <a:rPr lang="zh-CN" altLang="en-US" sz="2800" dirty="0"/>
              <a:t>此时该区间内任一点都可以作为极小点的近似值</a:t>
            </a:r>
            <a:r>
              <a:rPr lang="en-US" altLang="zh-CN" sz="2800" dirty="0"/>
              <a:t>.</a:t>
            </a:r>
          </a:p>
        </p:txBody>
      </p:sp>
      <p:sp>
        <p:nvSpPr>
          <p:cNvPr id="14342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graphicFrame>
        <p:nvGraphicFramePr>
          <p:cNvPr id="14343" name="Object 6"/>
          <p:cNvGraphicFramePr>
            <a:graphicFrameLocks noChangeAspect="1"/>
          </p:cNvGraphicFramePr>
          <p:nvPr/>
        </p:nvGraphicFramePr>
        <p:xfrm>
          <a:off x="427831" y="3257035"/>
          <a:ext cx="8288337" cy="256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" name="Equation" r:id="rId3" imgW="8763000" imgH="2717800" progId="Equation.DSMT4">
                  <p:embed/>
                </p:oleObj>
              </mc:Choice>
              <mc:Fallback>
                <p:oleObj name="Equation" r:id="rId3" imgW="8763000" imgH="2717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831" y="3257035"/>
                        <a:ext cx="8288337" cy="25685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365" name="Rectangle 11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77516" y="3822900"/>
            <a:ext cx="4105275" cy="863600"/>
          </a:xfrm>
          <a:prstGeom prst="rect">
            <a:avLst/>
          </a:prstGeo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>
                <a:solidFill>
                  <a:srgbClr val="001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sz="2800" b="0" dirty="0">
                <a:solidFill>
                  <a:srgbClr val="001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( 2.3)</a:t>
            </a:r>
            <a:r>
              <a:rPr lang="zh-CN" altLang="en-US" sz="2800" b="0" dirty="0">
                <a:solidFill>
                  <a:srgbClr val="001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b="0" dirty="0">
                <a:solidFill>
                  <a:srgbClr val="001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(2.4)</a:t>
            </a:r>
            <a:r>
              <a:rPr lang="zh-CN" altLang="en-US" sz="2800" b="0" dirty="0">
                <a:solidFill>
                  <a:srgbClr val="001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得到</a:t>
            </a:r>
          </a:p>
        </p:txBody>
      </p:sp>
      <p:graphicFrame>
        <p:nvGraphicFramePr>
          <p:cNvPr id="15367" name="Object 1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96766" y="4682240"/>
          <a:ext cx="5729288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2" name="Equation" r:id="rId3" imgW="5270500" imgH="965200" progId="Equation.DSMT4">
                  <p:embed/>
                </p:oleObj>
              </mc:Choice>
              <mc:Fallback>
                <p:oleObj name="Equation" r:id="rId3" imgW="5270500" imgH="965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766" y="4682240"/>
                        <a:ext cx="5729288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4"/>
          <p:cNvGraphicFramePr>
            <a:graphicFrameLocks noChangeAspect="1"/>
          </p:cNvGraphicFramePr>
          <p:nvPr/>
        </p:nvGraphicFramePr>
        <p:xfrm>
          <a:off x="762000" y="908050"/>
          <a:ext cx="6899275" cy="277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3" name="Equation" r:id="rId5" imgW="6731000" imgH="2705100" progId="Equation.DSMT4">
                  <p:embed/>
                </p:oleObj>
              </mc:Choice>
              <mc:Fallback>
                <p:oleObj name="Equation" r:id="rId5" imgW="6731000" imgH="2705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908050"/>
                        <a:ext cx="6899275" cy="277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sp>
        <p:nvSpPr>
          <p:cNvPr id="16390" name="Rectangle 10"/>
          <p:cNvSpPr>
            <a:spLocks noChangeArrowheads="1"/>
          </p:cNvSpPr>
          <p:nvPr/>
        </p:nvSpPr>
        <p:spPr bwMode="auto">
          <a:xfrm>
            <a:off x="684213" y="981075"/>
            <a:ext cx="6378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/>
              <a:t>今考虑</a:t>
            </a:r>
            <a:r>
              <a:rPr lang="en-US" altLang="zh-CN" sz="2800"/>
              <a:t>( 2.1)</a:t>
            </a:r>
            <a:r>
              <a:rPr lang="zh-CN" altLang="en-US" sz="2800"/>
              <a:t>的情形</a:t>
            </a:r>
            <a:r>
              <a:rPr lang="en-US" altLang="zh-CN" sz="2800"/>
              <a:t>,</a:t>
            </a:r>
            <a:r>
              <a:rPr lang="zh-CN" altLang="en-US" sz="2800"/>
              <a:t>此时新的搜索区间为</a:t>
            </a:r>
          </a:p>
        </p:txBody>
      </p:sp>
      <p:graphicFrame>
        <p:nvGraphicFramePr>
          <p:cNvPr id="16392" name="Object 12"/>
          <p:cNvGraphicFramePr>
            <a:graphicFrameLocks noChangeAspect="1"/>
          </p:cNvGraphicFramePr>
          <p:nvPr/>
        </p:nvGraphicFramePr>
        <p:xfrm>
          <a:off x="684213" y="1710556"/>
          <a:ext cx="7569200" cy="322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9" name="Equation" r:id="rId3" imgW="7569200" imgH="3225800" progId="Equation.DSMT4">
                  <p:embed/>
                </p:oleObj>
              </mc:Choice>
              <mc:Fallback>
                <p:oleObj name="Equation" r:id="rId3" imgW="7569200" imgH="3225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710556"/>
                        <a:ext cx="7569200" cy="322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4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graphicFrame>
        <p:nvGraphicFramePr>
          <p:cNvPr id="17414" name="Object 5"/>
          <p:cNvGraphicFramePr>
            <a:graphicFrameLocks noChangeAspect="1"/>
          </p:cNvGraphicFramePr>
          <p:nvPr/>
        </p:nvGraphicFramePr>
        <p:xfrm>
          <a:off x="666750" y="1157124"/>
          <a:ext cx="7810500" cy="513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3" name="Equation" r:id="rId3" imgW="187452000" imgH="123139200" progId="Equation.DSMT4">
                  <p:embed/>
                </p:oleObj>
              </mc:Choice>
              <mc:Fallback>
                <p:oleObj name="Equation" r:id="rId3" imgW="187452000" imgH="123139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1157124"/>
                        <a:ext cx="7810500" cy="513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88758" y="957146"/>
            <a:ext cx="7416800" cy="6477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0" dirty="0">
                <a:solidFill>
                  <a:srgbClr val="001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这样</a:t>
            </a:r>
            <a:r>
              <a:rPr lang="en-US" altLang="zh-CN" sz="2800" b="0" dirty="0">
                <a:solidFill>
                  <a:srgbClr val="001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0" dirty="0">
                <a:solidFill>
                  <a:srgbClr val="001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计算公式</a:t>
            </a:r>
            <a:r>
              <a:rPr lang="en-US" altLang="zh-CN" sz="2800" b="0" dirty="0">
                <a:solidFill>
                  <a:srgbClr val="001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(2.5)</a:t>
            </a:r>
            <a:r>
              <a:rPr lang="zh-CN" altLang="en-US" sz="2800" b="0" dirty="0">
                <a:solidFill>
                  <a:srgbClr val="001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b="0" dirty="0">
                <a:solidFill>
                  <a:srgbClr val="001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(2.6)</a:t>
            </a:r>
            <a:r>
              <a:rPr lang="zh-CN" altLang="en-US" sz="2800" b="0" dirty="0">
                <a:solidFill>
                  <a:srgbClr val="001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可写为</a:t>
            </a:r>
          </a:p>
        </p:txBody>
      </p:sp>
      <p:graphicFrame>
        <p:nvGraphicFramePr>
          <p:cNvPr id="18440" name="Object 18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193533" y="1609525"/>
          <a:ext cx="6091238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4" name="Equation" r:id="rId3" imgW="6070600" imgH="965200" progId="Equation.DSMT4">
                  <p:embed/>
                </p:oleObj>
              </mc:Choice>
              <mc:Fallback>
                <p:oleObj name="Equation" r:id="rId3" imgW="6070600" imgH="9652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533" y="1609525"/>
                        <a:ext cx="6091238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graphicFrame>
        <p:nvGraphicFramePr>
          <p:cNvPr id="18439" name="Object 14"/>
          <p:cNvGraphicFramePr>
            <a:graphicFrameLocks noChangeAspect="1"/>
          </p:cNvGraphicFramePr>
          <p:nvPr/>
        </p:nvGraphicFramePr>
        <p:xfrm>
          <a:off x="395288" y="2781300"/>
          <a:ext cx="81661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5" name="Equation" r:id="rId5" imgW="8166100" imgH="3124200" progId="Equation.DSMT4">
                  <p:embed/>
                </p:oleObj>
              </mc:Choice>
              <mc:Fallback>
                <p:oleObj name="Equation" r:id="rId5" imgW="8166100" imgH="31242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781300"/>
                        <a:ext cx="81661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23512" y="875114"/>
            <a:ext cx="8534400" cy="10668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其几何意义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黄金分割率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对应的点在单位长区间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[0,1]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中的位置相当于其对称点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1-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在区间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[0,r]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中的位置</a:t>
            </a:r>
            <a:endParaRPr lang="zh-CN" alt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2" name="Rectangle 5"/>
          <p:cNvSpPr>
            <a:spLocks noChangeArrowheads="1"/>
          </p:cNvSpPr>
          <p:nvPr/>
        </p:nvSpPr>
        <p:spPr bwMode="auto">
          <a:xfrm>
            <a:off x="0" y="3933825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pic>
        <p:nvPicPr>
          <p:cNvPr id="19463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020" y="1738921"/>
            <a:ext cx="5040312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464" name="Group 39"/>
          <p:cNvGrpSpPr/>
          <p:nvPr/>
        </p:nvGrpSpPr>
        <p:grpSpPr bwMode="auto">
          <a:xfrm>
            <a:off x="611188" y="4246563"/>
            <a:ext cx="8137525" cy="1993900"/>
            <a:chOff x="385" y="2675"/>
            <a:chExt cx="5126" cy="1256"/>
          </a:xfrm>
        </p:grpSpPr>
        <p:sp>
          <p:nvSpPr>
            <p:cNvPr id="19466" name="Line 9"/>
            <p:cNvSpPr>
              <a:spLocks noChangeShapeType="1"/>
            </p:cNvSpPr>
            <p:nvPr/>
          </p:nvSpPr>
          <p:spPr bwMode="auto">
            <a:xfrm>
              <a:off x="2018" y="3187"/>
              <a:ext cx="33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67" name="Line 10"/>
            <p:cNvSpPr>
              <a:spLocks noChangeShapeType="1"/>
            </p:cNvSpPr>
            <p:nvPr/>
          </p:nvSpPr>
          <p:spPr bwMode="auto">
            <a:xfrm>
              <a:off x="567" y="3641"/>
              <a:ext cx="2858" cy="0"/>
            </a:xfrm>
            <a:prstGeom prst="line">
              <a:avLst/>
            </a:prstGeom>
            <a:noFill/>
            <a:ln w="19050">
              <a:solidFill>
                <a:srgbClr val="0012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68" name="Rectangle 15"/>
            <p:cNvSpPr>
              <a:spLocks noChangeArrowheads="1"/>
            </p:cNvSpPr>
            <p:nvPr/>
          </p:nvSpPr>
          <p:spPr bwMode="auto">
            <a:xfrm>
              <a:off x="1831" y="3097"/>
              <a:ext cx="377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i="1">
                  <a:solidFill>
                    <a:srgbClr val="001200"/>
                  </a:solidFill>
                  <a:ea typeface="楷体_GB2312" panose="02010609030101010101" pitchFamily="49" charset="-122"/>
                </a:rPr>
                <a:t>a</a:t>
              </a:r>
              <a:r>
                <a:rPr lang="en-US" altLang="zh-CN" sz="1600" i="1">
                  <a:solidFill>
                    <a:srgbClr val="001200"/>
                  </a:solidFill>
                  <a:ea typeface="楷体_GB2312" panose="02010609030101010101" pitchFamily="49" charset="-122"/>
                </a:rPr>
                <a:t>k</a:t>
              </a:r>
              <a:r>
                <a:rPr lang="en-US" altLang="zh-CN" sz="1600">
                  <a:solidFill>
                    <a:srgbClr val="001200"/>
                  </a:solidFill>
                  <a:ea typeface="楷体_GB2312" panose="02010609030101010101" pitchFamily="49" charset="-122"/>
                </a:rPr>
                <a:t>+l</a:t>
              </a:r>
            </a:p>
          </p:txBody>
        </p:sp>
        <p:sp>
          <p:nvSpPr>
            <p:cNvPr id="19469" name="Rectangle 16"/>
            <p:cNvSpPr>
              <a:spLocks noChangeArrowheads="1"/>
            </p:cNvSpPr>
            <p:nvPr/>
          </p:nvSpPr>
          <p:spPr bwMode="auto">
            <a:xfrm>
              <a:off x="5134" y="3142"/>
              <a:ext cx="377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i="1">
                  <a:solidFill>
                    <a:srgbClr val="001200"/>
                  </a:solidFill>
                  <a:ea typeface="楷体_GB2312" panose="02010609030101010101" pitchFamily="49" charset="-122"/>
                </a:rPr>
                <a:t>b</a:t>
              </a:r>
              <a:r>
                <a:rPr lang="en-US" altLang="zh-CN" sz="1600" i="1">
                  <a:solidFill>
                    <a:srgbClr val="001200"/>
                  </a:solidFill>
                  <a:ea typeface="楷体_GB2312" panose="02010609030101010101" pitchFamily="49" charset="-122"/>
                </a:rPr>
                <a:t>k</a:t>
              </a:r>
              <a:r>
                <a:rPr lang="en-US" altLang="zh-CN" sz="1600">
                  <a:solidFill>
                    <a:srgbClr val="001200"/>
                  </a:solidFill>
                  <a:ea typeface="楷体_GB2312" panose="02010609030101010101" pitchFamily="49" charset="-122"/>
                </a:rPr>
                <a:t>+l</a:t>
              </a:r>
            </a:p>
          </p:txBody>
        </p:sp>
        <p:sp>
          <p:nvSpPr>
            <p:cNvPr id="19470" name="Rectangle 17"/>
            <p:cNvSpPr>
              <a:spLocks noChangeArrowheads="1"/>
            </p:cNvSpPr>
            <p:nvPr/>
          </p:nvSpPr>
          <p:spPr bwMode="auto">
            <a:xfrm>
              <a:off x="3243" y="3142"/>
              <a:ext cx="386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i="1">
                  <a:solidFill>
                    <a:srgbClr val="001200"/>
                  </a:solidFill>
                  <a:ea typeface="楷体_GB2312" panose="02010609030101010101" pitchFamily="49" charset="-122"/>
                  <a:sym typeface="Symbol" panose="05050102010706020507" pitchFamily="18" charset="2"/>
                </a:rPr>
                <a:t></a:t>
              </a:r>
              <a:r>
                <a:rPr lang="en-US" altLang="zh-CN" sz="1600" i="1">
                  <a:solidFill>
                    <a:srgbClr val="001200"/>
                  </a:solidFill>
                  <a:ea typeface="楷体_GB2312" panose="02010609030101010101" pitchFamily="49" charset="-122"/>
                </a:rPr>
                <a:t>k</a:t>
              </a:r>
              <a:r>
                <a:rPr lang="en-US" altLang="zh-CN" sz="1600">
                  <a:solidFill>
                    <a:srgbClr val="001200"/>
                  </a:solidFill>
                  <a:ea typeface="楷体_GB2312" panose="02010609030101010101" pitchFamily="49" charset="-122"/>
                </a:rPr>
                <a:t>+l</a:t>
              </a:r>
            </a:p>
          </p:txBody>
        </p:sp>
        <p:sp>
          <p:nvSpPr>
            <p:cNvPr id="19471" name="Rectangle 18"/>
            <p:cNvSpPr>
              <a:spLocks noChangeArrowheads="1"/>
            </p:cNvSpPr>
            <p:nvPr/>
          </p:nvSpPr>
          <p:spPr bwMode="auto">
            <a:xfrm>
              <a:off x="4014" y="3121"/>
              <a:ext cx="392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i="1">
                  <a:solidFill>
                    <a:srgbClr val="001200"/>
                  </a:solidFill>
                  <a:ea typeface="楷体_GB2312" panose="02010609030101010101" pitchFamily="49" charset="-122"/>
                  <a:sym typeface="Symbol" panose="05050102010706020507" pitchFamily="18" charset="2"/>
                </a:rPr>
                <a:t></a:t>
              </a:r>
              <a:r>
                <a:rPr lang="en-US" altLang="zh-CN" sz="1600" i="1">
                  <a:solidFill>
                    <a:srgbClr val="001200"/>
                  </a:solidFill>
                  <a:ea typeface="楷体_GB2312" panose="02010609030101010101" pitchFamily="49" charset="-122"/>
                </a:rPr>
                <a:t>k</a:t>
              </a:r>
              <a:r>
                <a:rPr lang="en-US" altLang="zh-CN" sz="1600">
                  <a:solidFill>
                    <a:srgbClr val="001200"/>
                  </a:solidFill>
                  <a:ea typeface="楷体_GB2312" panose="02010609030101010101" pitchFamily="49" charset="-122"/>
                </a:rPr>
                <a:t>+l</a:t>
              </a:r>
            </a:p>
          </p:txBody>
        </p:sp>
        <p:sp>
          <p:nvSpPr>
            <p:cNvPr id="19472" name="Rectangle 19"/>
            <p:cNvSpPr>
              <a:spLocks noChangeArrowheads="1"/>
            </p:cNvSpPr>
            <p:nvPr/>
          </p:nvSpPr>
          <p:spPr bwMode="auto">
            <a:xfrm>
              <a:off x="1293" y="3598"/>
              <a:ext cx="386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i="1">
                  <a:solidFill>
                    <a:srgbClr val="001200"/>
                  </a:solidFill>
                  <a:ea typeface="楷体_GB2312" panose="02010609030101010101" pitchFamily="49" charset="-122"/>
                  <a:sym typeface="Symbol" panose="05050102010706020507" pitchFamily="18" charset="2"/>
                </a:rPr>
                <a:t></a:t>
              </a:r>
              <a:r>
                <a:rPr lang="en-US" altLang="zh-CN" sz="1600" i="1">
                  <a:solidFill>
                    <a:srgbClr val="001200"/>
                  </a:solidFill>
                  <a:ea typeface="楷体_GB2312" panose="02010609030101010101" pitchFamily="49" charset="-122"/>
                </a:rPr>
                <a:t>k</a:t>
              </a:r>
              <a:r>
                <a:rPr lang="en-US" altLang="zh-CN" sz="1600">
                  <a:solidFill>
                    <a:srgbClr val="001200"/>
                  </a:solidFill>
                  <a:ea typeface="楷体_GB2312" panose="02010609030101010101" pitchFamily="49" charset="-122"/>
                </a:rPr>
                <a:t>+l</a:t>
              </a:r>
            </a:p>
          </p:txBody>
        </p:sp>
        <p:sp>
          <p:nvSpPr>
            <p:cNvPr id="19473" name="Rectangle 20"/>
            <p:cNvSpPr>
              <a:spLocks noChangeArrowheads="1"/>
            </p:cNvSpPr>
            <p:nvPr/>
          </p:nvSpPr>
          <p:spPr bwMode="auto">
            <a:xfrm>
              <a:off x="1791" y="3566"/>
              <a:ext cx="392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i="1">
                  <a:solidFill>
                    <a:srgbClr val="001200"/>
                  </a:solidFill>
                  <a:ea typeface="楷体_GB2312" panose="02010609030101010101" pitchFamily="49" charset="-122"/>
                  <a:sym typeface="Symbol" panose="05050102010706020507" pitchFamily="18" charset="2"/>
                </a:rPr>
                <a:t></a:t>
              </a:r>
              <a:r>
                <a:rPr lang="en-US" altLang="zh-CN" sz="1600" i="1">
                  <a:solidFill>
                    <a:srgbClr val="001200"/>
                  </a:solidFill>
                  <a:ea typeface="楷体_GB2312" panose="02010609030101010101" pitchFamily="49" charset="-122"/>
                </a:rPr>
                <a:t>k</a:t>
              </a:r>
              <a:r>
                <a:rPr lang="en-US" altLang="zh-CN" sz="1600">
                  <a:solidFill>
                    <a:srgbClr val="001200"/>
                  </a:solidFill>
                  <a:ea typeface="楷体_GB2312" panose="02010609030101010101" pitchFamily="49" charset="-122"/>
                </a:rPr>
                <a:t>+l</a:t>
              </a:r>
            </a:p>
          </p:txBody>
        </p:sp>
        <p:sp>
          <p:nvSpPr>
            <p:cNvPr id="19474" name="Rectangle 21"/>
            <p:cNvSpPr>
              <a:spLocks noChangeArrowheads="1"/>
            </p:cNvSpPr>
            <p:nvPr/>
          </p:nvSpPr>
          <p:spPr bwMode="auto">
            <a:xfrm>
              <a:off x="3243" y="3620"/>
              <a:ext cx="377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i="1">
                  <a:solidFill>
                    <a:srgbClr val="001200"/>
                  </a:solidFill>
                  <a:ea typeface="楷体_GB2312" panose="02010609030101010101" pitchFamily="49" charset="-122"/>
                </a:rPr>
                <a:t>b</a:t>
              </a:r>
              <a:r>
                <a:rPr lang="en-US" altLang="zh-CN" sz="1600" i="1">
                  <a:solidFill>
                    <a:srgbClr val="001200"/>
                  </a:solidFill>
                  <a:ea typeface="楷体_GB2312" panose="02010609030101010101" pitchFamily="49" charset="-122"/>
                </a:rPr>
                <a:t>k</a:t>
              </a:r>
              <a:r>
                <a:rPr lang="en-US" altLang="zh-CN" sz="1600">
                  <a:solidFill>
                    <a:srgbClr val="001200"/>
                  </a:solidFill>
                  <a:ea typeface="楷体_GB2312" panose="02010609030101010101" pitchFamily="49" charset="-122"/>
                </a:rPr>
                <a:t>+l</a:t>
              </a:r>
            </a:p>
          </p:txBody>
        </p:sp>
        <p:sp>
          <p:nvSpPr>
            <p:cNvPr id="19475" name="Rectangle 22"/>
            <p:cNvSpPr>
              <a:spLocks noChangeArrowheads="1"/>
            </p:cNvSpPr>
            <p:nvPr/>
          </p:nvSpPr>
          <p:spPr bwMode="auto">
            <a:xfrm>
              <a:off x="385" y="3596"/>
              <a:ext cx="377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i="1">
                  <a:solidFill>
                    <a:srgbClr val="001200"/>
                  </a:solidFill>
                  <a:ea typeface="楷体_GB2312" panose="02010609030101010101" pitchFamily="49" charset="-122"/>
                </a:rPr>
                <a:t>a</a:t>
              </a:r>
              <a:r>
                <a:rPr lang="en-US" altLang="zh-CN" sz="1600" i="1">
                  <a:solidFill>
                    <a:srgbClr val="001200"/>
                  </a:solidFill>
                  <a:ea typeface="楷体_GB2312" panose="02010609030101010101" pitchFamily="49" charset="-122"/>
                </a:rPr>
                <a:t>k</a:t>
              </a:r>
              <a:r>
                <a:rPr lang="en-US" altLang="zh-CN" sz="1600">
                  <a:solidFill>
                    <a:srgbClr val="001200"/>
                  </a:solidFill>
                  <a:ea typeface="楷体_GB2312" panose="02010609030101010101" pitchFamily="49" charset="-122"/>
                </a:rPr>
                <a:t>+l</a:t>
              </a:r>
            </a:p>
          </p:txBody>
        </p:sp>
        <p:sp>
          <p:nvSpPr>
            <p:cNvPr id="19476" name="Oval 25"/>
            <p:cNvSpPr>
              <a:spLocks noChangeArrowheads="1"/>
            </p:cNvSpPr>
            <p:nvPr/>
          </p:nvSpPr>
          <p:spPr bwMode="auto">
            <a:xfrm>
              <a:off x="522" y="3596"/>
              <a:ext cx="91" cy="106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/>
            </a:p>
          </p:txBody>
        </p:sp>
        <p:sp>
          <p:nvSpPr>
            <p:cNvPr id="19477" name="Oval 26"/>
            <p:cNvSpPr>
              <a:spLocks noChangeArrowheads="1"/>
            </p:cNvSpPr>
            <p:nvPr/>
          </p:nvSpPr>
          <p:spPr bwMode="auto">
            <a:xfrm>
              <a:off x="3339" y="3596"/>
              <a:ext cx="91" cy="106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/>
            </a:p>
          </p:txBody>
        </p:sp>
        <p:grpSp>
          <p:nvGrpSpPr>
            <p:cNvPr id="19478" name="Group 38"/>
            <p:cNvGrpSpPr/>
            <p:nvPr/>
          </p:nvGrpSpPr>
          <p:grpSpPr bwMode="auto">
            <a:xfrm>
              <a:off x="443" y="2675"/>
              <a:ext cx="4989" cy="386"/>
              <a:chOff x="443" y="2675"/>
              <a:chExt cx="4989" cy="386"/>
            </a:xfrm>
          </p:grpSpPr>
          <p:sp>
            <p:nvSpPr>
              <p:cNvPr id="19487" name="Line 8"/>
              <p:cNvSpPr>
                <a:spLocks noChangeShapeType="1"/>
              </p:cNvSpPr>
              <p:nvPr/>
            </p:nvSpPr>
            <p:spPr bwMode="auto">
              <a:xfrm>
                <a:off x="567" y="2734"/>
                <a:ext cx="476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488" name="Rectangle 11"/>
              <p:cNvSpPr>
                <a:spLocks noChangeArrowheads="1"/>
              </p:cNvSpPr>
              <p:nvPr/>
            </p:nvSpPr>
            <p:spPr bwMode="auto">
              <a:xfrm>
                <a:off x="443" y="2695"/>
                <a:ext cx="396" cy="3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2400" i="1">
                    <a:solidFill>
                      <a:srgbClr val="001200"/>
                    </a:solidFill>
                    <a:ea typeface="楷体_GB2312" panose="02010609030101010101" pitchFamily="49" charset="-122"/>
                  </a:rPr>
                  <a:t>a</a:t>
                </a:r>
                <a:r>
                  <a:rPr lang="en-US" altLang="zh-CN" sz="1600" i="1">
                    <a:solidFill>
                      <a:srgbClr val="001200"/>
                    </a:solidFill>
                    <a:ea typeface="楷体_GB2312" panose="02010609030101010101" pitchFamily="49" charset="-122"/>
                  </a:rPr>
                  <a:t>k</a:t>
                </a:r>
              </a:p>
            </p:txBody>
          </p:sp>
          <p:sp>
            <p:nvSpPr>
              <p:cNvPr id="19489" name="Rectangle 12"/>
              <p:cNvSpPr>
                <a:spLocks noChangeArrowheads="1"/>
              </p:cNvSpPr>
              <p:nvPr/>
            </p:nvSpPr>
            <p:spPr bwMode="auto">
              <a:xfrm>
                <a:off x="5163" y="2695"/>
                <a:ext cx="269" cy="3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2400" i="1">
                    <a:solidFill>
                      <a:srgbClr val="001200"/>
                    </a:solidFill>
                    <a:ea typeface="楷体_GB2312" panose="02010609030101010101" pitchFamily="49" charset="-122"/>
                  </a:rPr>
                  <a:t>b</a:t>
                </a:r>
                <a:r>
                  <a:rPr lang="en-US" altLang="zh-CN" sz="1600" i="1">
                    <a:solidFill>
                      <a:srgbClr val="001200"/>
                    </a:solidFill>
                    <a:ea typeface="楷体_GB2312" panose="02010609030101010101" pitchFamily="49" charset="-122"/>
                  </a:rPr>
                  <a:t>k</a:t>
                </a:r>
              </a:p>
            </p:txBody>
          </p:sp>
          <p:sp>
            <p:nvSpPr>
              <p:cNvPr id="19490" name="Rectangle 13"/>
              <p:cNvSpPr>
                <a:spLocks noChangeArrowheads="1"/>
              </p:cNvSpPr>
              <p:nvPr/>
            </p:nvSpPr>
            <p:spPr bwMode="auto">
              <a:xfrm>
                <a:off x="1871" y="2695"/>
                <a:ext cx="691" cy="3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2400" i="1">
                    <a:solidFill>
                      <a:srgbClr val="001200"/>
                    </a:solidFill>
                    <a:ea typeface="楷体_GB2312" panose="02010609030101010101" pitchFamily="49" charset="-122"/>
                    <a:sym typeface="Symbol" panose="05050102010706020507" pitchFamily="18" charset="2"/>
                  </a:rPr>
                  <a:t></a:t>
                </a:r>
                <a:r>
                  <a:rPr lang="en-US" altLang="zh-CN" sz="1600" i="1">
                    <a:solidFill>
                      <a:srgbClr val="001200"/>
                    </a:solidFill>
                    <a:ea typeface="楷体_GB2312" panose="02010609030101010101" pitchFamily="49" charset="-122"/>
                    <a:sym typeface="Symbol" panose="05050102010706020507" pitchFamily="18" charset="2"/>
                  </a:rPr>
                  <a:t>k</a:t>
                </a:r>
                <a:endParaRPr lang="en-US" altLang="zh-CN" sz="1600">
                  <a:solidFill>
                    <a:srgbClr val="001200"/>
                  </a:solidFill>
                  <a:ea typeface="楷体_GB2312" panose="0201060903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9491" name="Rectangle 14"/>
              <p:cNvSpPr>
                <a:spLocks noChangeArrowheads="1"/>
              </p:cNvSpPr>
              <p:nvPr/>
            </p:nvSpPr>
            <p:spPr bwMode="auto">
              <a:xfrm>
                <a:off x="3016" y="2750"/>
                <a:ext cx="726" cy="3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2400" i="1">
                    <a:solidFill>
                      <a:srgbClr val="001200"/>
                    </a:solidFill>
                    <a:ea typeface="楷体_GB2312" panose="02010609030101010101" pitchFamily="49" charset="-122"/>
                    <a:sym typeface="Symbol" panose="05050102010706020507" pitchFamily="18" charset="2"/>
                  </a:rPr>
                  <a:t></a:t>
                </a:r>
                <a:r>
                  <a:rPr lang="en-US" altLang="zh-CN" sz="1600" i="1">
                    <a:solidFill>
                      <a:srgbClr val="001200"/>
                    </a:solidFill>
                    <a:ea typeface="楷体_GB2312" panose="02010609030101010101" pitchFamily="49" charset="-122"/>
                    <a:sym typeface="Symbol" panose="05050102010706020507" pitchFamily="18" charset="2"/>
                  </a:rPr>
                  <a:t>k</a:t>
                </a:r>
                <a:endParaRPr lang="en-US" altLang="zh-CN" sz="1600">
                  <a:solidFill>
                    <a:srgbClr val="001200"/>
                  </a:solidFill>
                  <a:ea typeface="楷体_GB2312" panose="0201060903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9492" name="Oval 23"/>
              <p:cNvSpPr>
                <a:spLocks noChangeArrowheads="1"/>
              </p:cNvSpPr>
              <p:nvPr/>
            </p:nvSpPr>
            <p:spPr bwMode="auto">
              <a:xfrm>
                <a:off x="521" y="2688"/>
                <a:ext cx="91" cy="106"/>
              </a:xfrm>
              <a:prstGeom prst="ellipse">
                <a:avLst/>
              </a:prstGeom>
              <a:solidFill>
                <a:srgbClr val="99CCFF"/>
              </a:solidFill>
              <a:ln w="9525" algn="ctr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/>
              </a:p>
            </p:txBody>
          </p:sp>
          <p:sp>
            <p:nvSpPr>
              <p:cNvPr id="19493" name="Oval 24"/>
              <p:cNvSpPr>
                <a:spLocks noChangeArrowheads="1"/>
              </p:cNvSpPr>
              <p:nvPr/>
            </p:nvSpPr>
            <p:spPr bwMode="auto">
              <a:xfrm>
                <a:off x="5284" y="2675"/>
                <a:ext cx="91" cy="106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/>
              </a:p>
            </p:txBody>
          </p:sp>
          <p:sp>
            <p:nvSpPr>
              <p:cNvPr id="19494" name="Oval 27"/>
              <p:cNvSpPr>
                <a:spLocks noChangeArrowheads="1"/>
              </p:cNvSpPr>
              <p:nvPr/>
            </p:nvSpPr>
            <p:spPr bwMode="auto">
              <a:xfrm>
                <a:off x="2018" y="2688"/>
                <a:ext cx="91" cy="107"/>
              </a:xfrm>
              <a:prstGeom prst="ellipse">
                <a:avLst/>
              </a:prstGeom>
              <a:solidFill>
                <a:srgbClr val="FF3300"/>
              </a:solidFill>
              <a:ln w="9525" algn="ctr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/>
              </a:p>
            </p:txBody>
          </p:sp>
          <p:sp>
            <p:nvSpPr>
              <p:cNvPr id="19495" name="Oval 28"/>
              <p:cNvSpPr>
                <a:spLocks noChangeArrowheads="1"/>
              </p:cNvSpPr>
              <p:nvPr/>
            </p:nvSpPr>
            <p:spPr bwMode="auto">
              <a:xfrm>
                <a:off x="3333" y="2688"/>
                <a:ext cx="91" cy="107"/>
              </a:xfrm>
              <a:prstGeom prst="ellipse">
                <a:avLst/>
              </a:prstGeom>
              <a:solidFill>
                <a:srgbClr val="FF3300"/>
              </a:solidFill>
              <a:ln w="9525" algn="ctr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/>
              </a:p>
            </p:txBody>
          </p:sp>
        </p:grpSp>
        <p:sp>
          <p:nvSpPr>
            <p:cNvPr id="19479" name="Oval 29"/>
            <p:cNvSpPr>
              <a:spLocks noChangeArrowheads="1"/>
            </p:cNvSpPr>
            <p:nvPr/>
          </p:nvSpPr>
          <p:spPr bwMode="auto">
            <a:xfrm>
              <a:off x="3333" y="3142"/>
              <a:ext cx="91" cy="107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/>
            </a:p>
          </p:txBody>
        </p:sp>
        <p:sp>
          <p:nvSpPr>
            <p:cNvPr id="19480" name="Oval 30"/>
            <p:cNvSpPr>
              <a:spLocks noChangeArrowheads="1"/>
            </p:cNvSpPr>
            <p:nvPr/>
          </p:nvSpPr>
          <p:spPr bwMode="auto">
            <a:xfrm>
              <a:off x="1997" y="3142"/>
              <a:ext cx="91" cy="107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/>
            </a:p>
          </p:txBody>
        </p:sp>
        <p:sp>
          <p:nvSpPr>
            <p:cNvPr id="19481" name="Oval 31"/>
            <p:cNvSpPr>
              <a:spLocks noChangeArrowheads="1"/>
            </p:cNvSpPr>
            <p:nvPr/>
          </p:nvSpPr>
          <p:spPr bwMode="auto">
            <a:xfrm>
              <a:off x="1983" y="3580"/>
              <a:ext cx="91" cy="107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/>
            </a:p>
          </p:txBody>
        </p:sp>
        <p:sp>
          <p:nvSpPr>
            <p:cNvPr id="19482" name="Oval 32"/>
            <p:cNvSpPr>
              <a:spLocks noChangeArrowheads="1"/>
            </p:cNvSpPr>
            <p:nvPr/>
          </p:nvSpPr>
          <p:spPr bwMode="auto">
            <a:xfrm>
              <a:off x="1407" y="3588"/>
              <a:ext cx="91" cy="107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/>
            </a:p>
          </p:txBody>
        </p:sp>
        <p:sp>
          <p:nvSpPr>
            <p:cNvPr id="19483" name="Oval 33"/>
            <p:cNvSpPr>
              <a:spLocks noChangeArrowheads="1"/>
            </p:cNvSpPr>
            <p:nvPr/>
          </p:nvSpPr>
          <p:spPr bwMode="auto">
            <a:xfrm>
              <a:off x="4105" y="3142"/>
              <a:ext cx="91" cy="107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/>
            </a:p>
          </p:txBody>
        </p:sp>
        <p:sp>
          <p:nvSpPr>
            <p:cNvPr id="19484" name="Oval 34"/>
            <p:cNvSpPr>
              <a:spLocks noChangeArrowheads="1"/>
            </p:cNvSpPr>
            <p:nvPr/>
          </p:nvSpPr>
          <p:spPr bwMode="auto">
            <a:xfrm>
              <a:off x="5284" y="3067"/>
              <a:ext cx="91" cy="106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/>
            </a:p>
          </p:txBody>
        </p:sp>
        <p:sp>
          <p:nvSpPr>
            <p:cNvPr id="19485" name="Text Box 35"/>
            <p:cNvSpPr txBox="1">
              <a:spLocks noChangeArrowheads="1"/>
            </p:cNvSpPr>
            <p:nvPr/>
          </p:nvSpPr>
          <p:spPr bwMode="auto">
            <a:xfrm>
              <a:off x="1020" y="3022"/>
              <a:ext cx="862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1200"/>
                  </a:solidFill>
                  <a:ea typeface="楷体_GB2312" panose="02010609030101010101" pitchFamily="49" charset="-122"/>
                </a:rPr>
                <a:t>Step 2</a:t>
              </a:r>
            </a:p>
          </p:txBody>
        </p:sp>
        <p:sp>
          <p:nvSpPr>
            <p:cNvPr id="19486" name="Text Box 36"/>
            <p:cNvSpPr txBox="1">
              <a:spLocks noChangeArrowheads="1"/>
            </p:cNvSpPr>
            <p:nvPr/>
          </p:nvSpPr>
          <p:spPr bwMode="auto">
            <a:xfrm>
              <a:off x="3923" y="3492"/>
              <a:ext cx="862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1200"/>
                  </a:solidFill>
                  <a:ea typeface="楷体_GB2312" panose="02010609030101010101" pitchFamily="49" charset="-122"/>
                </a:rPr>
                <a:t>Step 3</a:t>
              </a:r>
            </a:p>
          </p:txBody>
        </p:sp>
      </p:grp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71245" y="227029"/>
            <a:ext cx="8229600" cy="757238"/>
          </a:xfrm>
        </p:spPr>
        <p:txBody>
          <a:bodyPr/>
          <a:lstStyle/>
          <a:p>
            <a:r>
              <a:rPr lang="zh-CN" altLang="en-US" sz="3600" dirty="0"/>
              <a:t>黄金分割法（</a:t>
            </a:r>
            <a:r>
              <a:rPr lang="en-US" altLang="zh-CN" sz="3600" dirty="0">
                <a:solidFill>
                  <a:srgbClr val="3333CC"/>
                </a:solidFill>
              </a:rPr>
              <a:t>0.618</a:t>
            </a:r>
            <a:r>
              <a:rPr lang="zh-CN" altLang="en-US" sz="3600" dirty="0">
                <a:solidFill>
                  <a:srgbClr val="3333CC"/>
                </a:solidFill>
              </a:rPr>
              <a:t>法</a:t>
            </a:r>
            <a:r>
              <a:rPr lang="zh-CN" altLang="en-US" sz="3600" dirty="0"/>
              <a:t>）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992429" y="1017069"/>
            <a:ext cx="3870325" cy="619125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800" b="1" dirty="0">
              <a:solidFill>
                <a:srgbClr val="3333CC"/>
              </a:solidFill>
            </a:endParaRPr>
          </a:p>
        </p:txBody>
      </p:sp>
      <p:graphicFrame>
        <p:nvGraphicFramePr>
          <p:cNvPr id="20486" name="Object 8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798897" y="1569971"/>
          <a:ext cx="6769100" cy="268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8" name="Equation" r:id="rId3" imgW="2971800" imgH="1181100" progId="Equation.DSMT4">
                  <p:embed/>
                </p:oleObj>
              </mc:Choice>
              <mc:Fallback>
                <p:oleObj name="Equation" r:id="rId3" imgW="2971800" imgH="1181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897" y="1569971"/>
                        <a:ext cx="6769100" cy="2689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10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847023" y="4541069"/>
          <a:ext cx="6192838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9" name="Equation" r:id="rId5" imgW="2768600" imgH="482600" progId="Equation.DSMT4">
                  <p:embed/>
                </p:oleObj>
              </mc:Choice>
              <mc:Fallback>
                <p:oleObj name="Equation" r:id="rId5" imgW="2768600" imgH="482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023" y="4541069"/>
                        <a:ext cx="6192838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21509" name="Object 6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183908" y="994762"/>
          <a:ext cx="6696075" cy="221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9" name="Equation" r:id="rId3" imgW="2844800" imgH="939800" progId="Equation.DSMT4">
                  <p:embed/>
                </p:oleObj>
              </mc:Choice>
              <mc:Fallback>
                <p:oleObj name="Equation" r:id="rId3" imgW="2844800" imgH="939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3908" y="994762"/>
                        <a:ext cx="6696075" cy="221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8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904775" y="5559826"/>
          <a:ext cx="30241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0" name="Equation" r:id="rId5" imgW="1333500" imgH="215900" progId="Equation.DSMT4">
                  <p:embed/>
                </p:oleObj>
              </mc:Choice>
              <mc:Fallback>
                <p:oleObj name="Equation" r:id="rId5" imgW="1333500" imgH="215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775" y="5559826"/>
                        <a:ext cx="3024188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12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010653" y="3400041"/>
          <a:ext cx="6337300" cy="207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1" name="Equation" r:id="rId7" imgW="2870200" imgH="939800" progId="Equation.DSMT4">
                  <p:embed/>
                </p:oleObj>
              </mc:Choice>
              <mc:Fallback>
                <p:oleObj name="Equation" r:id="rId7" imgW="2870200" imgH="939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0653" y="3400041"/>
                        <a:ext cx="6337300" cy="207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Rectangle 4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9.2.2 Fibonacci</a:t>
            </a:r>
            <a:r>
              <a:rPr lang="zh-CN" altLang="en-US" b="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法</a:t>
            </a:r>
            <a:endParaRPr lang="zh-CN" altLang="en-US" dirty="0"/>
          </a:p>
        </p:txBody>
      </p:sp>
      <p:graphicFrame>
        <p:nvGraphicFramePr>
          <p:cNvPr id="22535" name="Object 3"/>
          <p:cNvGraphicFramePr>
            <a:graphicFrameLocks noGrp="1" noChangeAspect="1"/>
          </p:cNvGraphicFramePr>
          <p:nvPr>
            <p:ph idx="4294967295"/>
          </p:nvPr>
        </p:nvGraphicFramePr>
        <p:xfrm>
          <a:off x="1520658" y="2613025"/>
          <a:ext cx="69977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3" name="Equation" r:id="rId3" imgW="1854835" imgH="135255" progId="Equation.DSMT4">
                  <p:embed/>
                </p:oleObj>
              </mc:Choice>
              <mc:Fallback>
                <p:oleObj name="Equation" r:id="rId3" imgW="1854835" imgH="13525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0658" y="2613025"/>
                        <a:ext cx="69977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22931" y="1020763"/>
            <a:ext cx="8580437" cy="1849437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Fibonacci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法是与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0.618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法类似的一种分割方法。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它与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0.618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法的主要区别在于：搜索区间长度的缩短率不是采用黄金分割数，而是采用   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Fibonacci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数：</a:t>
            </a:r>
          </a:p>
        </p:txBody>
      </p:sp>
      <p:sp>
        <p:nvSpPr>
          <p:cNvPr id="22534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graphicFrame>
        <p:nvGraphicFramePr>
          <p:cNvPr id="22537" name="Object 7"/>
          <p:cNvGraphicFramePr>
            <a:graphicFrameLocks noChangeAspect="1"/>
          </p:cNvGraphicFramePr>
          <p:nvPr/>
        </p:nvGraphicFramePr>
        <p:xfrm>
          <a:off x="1261768" y="4064197"/>
          <a:ext cx="6395039" cy="2029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4" name="Equation" r:id="rId5" imgW="5842000" imgH="1854200" progId="Equation.DSMT4">
                  <p:embed/>
                </p:oleObj>
              </mc:Choice>
              <mc:Fallback>
                <p:oleObj name="Equation" r:id="rId5" imgW="5842000" imgH="1854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1768" y="4064197"/>
                        <a:ext cx="6395039" cy="2029933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Object 8"/>
          <p:cNvGraphicFramePr>
            <a:graphicFrameLocks noChangeAspect="1"/>
          </p:cNvGraphicFramePr>
          <p:nvPr/>
        </p:nvGraphicFramePr>
        <p:xfrm>
          <a:off x="611187" y="3343178"/>
          <a:ext cx="3848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5" name="Equation" r:id="rId7" imgW="3848100" imgH="406400" progId="Equation.DSMT4">
                  <p:embed/>
                </p:oleObj>
              </mc:Choice>
              <mc:Fallback>
                <p:oleObj name="Equation" r:id="rId7" imgW="3848100" imgH="406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7" y="3343178"/>
                        <a:ext cx="3848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17634" y="990700"/>
            <a:ext cx="8458200" cy="10668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显然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这里</a:t>
            </a:r>
            <a:r>
              <a:rPr lang="en-US" altLang="zh-CN" sz="2800" b="0" i="1" dirty="0" err="1">
                <a:solidFill>
                  <a:srgbClr val="001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0" i="1" baseline="-30000" dirty="0" err="1">
                <a:solidFill>
                  <a:srgbClr val="001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0" i="1" baseline="-30000" dirty="0">
                <a:solidFill>
                  <a:srgbClr val="001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-k </a:t>
            </a:r>
            <a:r>
              <a:rPr lang="en-US" altLang="zh-CN" sz="2800" b="0" i="1" dirty="0">
                <a:solidFill>
                  <a:srgbClr val="001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/F</a:t>
            </a:r>
            <a:r>
              <a:rPr lang="en-US" altLang="zh-CN" sz="2800" b="0" i="1" baseline="-30000" dirty="0">
                <a:solidFill>
                  <a:srgbClr val="001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n-k+1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相当于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0.618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法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(1.5)-(1.6)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</a:p>
          <a:p>
            <a:pPr eaLnBrk="1" hangingPunct="1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每次的缩短率满足</a:t>
            </a:r>
            <a:endParaRPr lang="zh-CN" alt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8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graphicFrame>
        <p:nvGraphicFramePr>
          <p:cNvPr id="23559" name="Object 6"/>
          <p:cNvGraphicFramePr>
            <a:graphicFrameLocks noChangeAspect="1"/>
          </p:cNvGraphicFramePr>
          <p:nvPr/>
        </p:nvGraphicFramePr>
        <p:xfrm>
          <a:off x="461963" y="1989138"/>
          <a:ext cx="7899400" cy="391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3" name="Equation" r:id="rId3" imgW="189585600" imgH="93878400" progId="Equation.DSMT4">
                  <p:embed/>
                </p:oleObj>
              </mc:Choice>
              <mc:Fallback>
                <p:oleObj name="Equation" r:id="rId3" imgW="189585600" imgH="93878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3" y="1989138"/>
                        <a:ext cx="7899400" cy="391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graphicFrame>
        <p:nvGraphicFramePr>
          <p:cNvPr id="24583" name="Object 6"/>
          <p:cNvGraphicFramePr>
            <a:graphicFrameLocks noChangeAspect="1"/>
          </p:cNvGraphicFramePr>
          <p:nvPr/>
        </p:nvGraphicFramePr>
        <p:xfrm>
          <a:off x="601982" y="945734"/>
          <a:ext cx="7954878" cy="4789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7" name="Equation" r:id="rId3" imgW="204520800" imgH="123139200" progId="Equation.DSMT4">
                  <p:embed/>
                </p:oleObj>
              </mc:Choice>
              <mc:Fallback>
                <p:oleObj name="Equation" r:id="rId3" imgW="204520800" imgH="123139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2" y="945734"/>
                        <a:ext cx="7954878" cy="47893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6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395288" y="908050"/>
            <a:ext cx="81375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1200"/>
                </a:solidFill>
                <a:cs typeface="Times New Roman" panose="02020603050405020304" pitchFamily="18" charset="0"/>
              </a:rPr>
              <a:t>上式表明当</a:t>
            </a:r>
            <a:r>
              <a:rPr lang="en-US" altLang="zh-CN" sz="2400" dirty="0">
                <a:solidFill>
                  <a:srgbClr val="001200"/>
                </a:solidFill>
                <a:cs typeface="Times New Roman" panose="02020603050405020304" pitchFamily="18" charset="0"/>
              </a:rPr>
              <a:t>n </a:t>
            </a:r>
            <a:r>
              <a:rPr lang="zh-CN" altLang="en-US" sz="2400" dirty="0">
                <a:solidFill>
                  <a:srgbClr val="001200"/>
                </a:solidFill>
                <a:cs typeface="Times New Roman" panose="02020603050405020304" pitchFamily="18" charset="0"/>
              </a:rPr>
              <a:t>趋于无穷时</a:t>
            </a:r>
            <a:r>
              <a:rPr lang="en-US" altLang="zh-CN" sz="2400" dirty="0">
                <a:solidFill>
                  <a:srgbClr val="001200"/>
                </a:solidFill>
                <a:cs typeface="Times New Roman" panose="02020603050405020304" pitchFamily="18" charset="0"/>
              </a:rPr>
              <a:t>,</a:t>
            </a:r>
            <a:r>
              <a:rPr lang="en-US" altLang="zh-CN" sz="2400" dirty="0" err="1">
                <a:solidFill>
                  <a:srgbClr val="001200"/>
                </a:solidFill>
                <a:cs typeface="Times New Roman" panose="02020603050405020304" pitchFamily="18" charset="0"/>
              </a:rPr>
              <a:t>Finonacci</a:t>
            </a:r>
            <a:r>
              <a:rPr lang="zh-CN" altLang="en-US" sz="2400" dirty="0">
                <a:solidFill>
                  <a:srgbClr val="001200"/>
                </a:solidFill>
                <a:cs typeface="Times New Roman" panose="02020603050405020304" pitchFamily="18" charset="0"/>
              </a:rPr>
              <a:t>法与</a:t>
            </a:r>
            <a:r>
              <a:rPr lang="en-US" altLang="zh-CN" sz="2400" dirty="0">
                <a:solidFill>
                  <a:srgbClr val="001200"/>
                </a:solidFill>
                <a:cs typeface="Times New Roman" panose="02020603050405020304" pitchFamily="18" charset="0"/>
              </a:rPr>
              <a:t>0.618</a:t>
            </a:r>
            <a:r>
              <a:rPr lang="zh-CN" altLang="en-US" sz="2400" dirty="0">
                <a:solidFill>
                  <a:srgbClr val="001200"/>
                </a:solidFill>
                <a:cs typeface="Times New Roman" panose="02020603050405020304" pitchFamily="18" charset="0"/>
              </a:rPr>
              <a:t>法的区间缩短率相同</a:t>
            </a:r>
            <a:r>
              <a:rPr lang="en-US" altLang="zh-CN" sz="2400" dirty="0">
                <a:solidFill>
                  <a:srgbClr val="001200"/>
                </a:solidFill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srgbClr val="001200"/>
                </a:solidFill>
                <a:cs typeface="Times New Roman" panose="02020603050405020304" pitchFamily="18" charset="0"/>
              </a:rPr>
              <a:t>因而也是以收敛比</a:t>
            </a:r>
            <a:r>
              <a:rPr lang="en-US" altLang="zh-CN" sz="2400" dirty="0">
                <a:solidFill>
                  <a:srgbClr val="001200"/>
                </a:solidFill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solidFill>
                  <a:srgbClr val="001200"/>
                </a:solidFill>
                <a:cs typeface="Times New Roman" panose="02020603050405020304" pitchFamily="18" charset="0"/>
              </a:rPr>
              <a:t>线性收敛。可以证明</a:t>
            </a:r>
            <a:r>
              <a:rPr lang="en-US" altLang="zh-CN" sz="2400" dirty="0">
                <a:solidFill>
                  <a:srgbClr val="001200"/>
                </a:solidFill>
                <a:cs typeface="Times New Roman" panose="02020603050405020304" pitchFamily="18" charset="0"/>
              </a:rPr>
              <a:t>Fibonacci</a:t>
            </a:r>
            <a:r>
              <a:rPr lang="zh-CN" altLang="en-US" sz="2400" dirty="0">
                <a:solidFill>
                  <a:srgbClr val="001200"/>
                </a:solidFill>
                <a:cs typeface="Times New Roman" panose="02020603050405020304" pitchFamily="18" charset="0"/>
              </a:rPr>
              <a:t>法是分割方法求一维极小化问题的最优策略，而</a:t>
            </a:r>
            <a:r>
              <a:rPr lang="en-US" altLang="zh-CN" sz="2400" dirty="0">
                <a:solidFill>
                  <a:srgbClr val="001200"/>
                </a:solidFill>
                <a:cs typeface="Times New Roman" panose="02020603050405020304" pitchFamily="18" charset="0"/>
              </a:rPr>
              <a:t>0.618</a:t>
            </a:r>
            <a:r>
              <a:rPr lang="zh-CN" altLang="en-US" sz="2400" dirty="0">
                <a:solidFill>
                  <a:srgbClr val="001200"/>
                </a:solidFill>
                <a:cs typeface="Times New Roman" panose="02020603050405020304" pitchFamily="18" charset="0"/>
              </a:rPr>
              <a:t>法是近似最优的。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1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Fibonacci</a:t>
            </a:r>
            <a:r>
              <a:rPr lang="zh-CN" altLang="en-US" dirty="0">
                <a:solidFill>
                  <a:srgbClr val="001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法</a:t>
            </a:r>
            <a:endParaRPr lang="zh-CN" altLang="en-US" dirty="0"/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03158" y="855629"/>
            <a:ext cx="4449763" cy="576262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800" dirty="0">
              <a:solidFill>
                <a:srgbClr val="0012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6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graphicFrame>
        <p:nvGraphicFramePr>
          <p:cNvPr id="25607" name="Object 7"/>
          <p:cNvGraphicFramePr>
            <a:graphicFrameLocks noChangeAspect="1"/>
          </p:cNvGraphicFramePr>
          <p:nvPr/>
        </p:nvGraphicFramePr>
        <p:xfrm>
          <a:off x="858253" y="1343226"/>
          <a:ext cx="7145338" cy="290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0" name="Equation" r:id="rId3" imgW="177088800" imgH="71932800" progId="Equation.DSMT4">
                  <p:embed/>
                </p:oleObj>
              </mc:Choice>
              <mc:Fallback>
                <p:oleObj name="Equation" r:id="rId3" imgW="177088800" imgH="71932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253" y="1343226"/>
                        <a:ext cx="7145338" cy="290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964536" y="4753289"/>
            <a:ext cx="7645399" cy="5762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rgbClr val="336600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folHlink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0" kern="0">
                <a:latin typeface="Times New Roman" panose="02020603050405020304" pitchFamily="18" charset="0"/>
                <a:cs typeface="Times New Roman" panose="02020603050405020304" pitchFamily="18" charset="0"/>
              </a:rPr>
              <a:t>计算函数值</a:t>
            </a:r>
            <a:r>
              <a:rPr lang="zh-CN" altLang="en-US" sz="2800" b="0" ker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 b="0" ker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(</a:t>
            </a:r>
            <a:r>
              <a:rPr lang="en-US" altLang="zh-CN" sz="2800" b="0" kern="0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0" ker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) , (</a:t>
            </a:r>
            <a:r>
              <a:rPr lang="en-US" altLang="zh-CN" sz="2800" b="0" kern="0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0" ker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).</a:t>
            </a:r>
            <a:r>
              <a:rPr lang="zh-CN" altLang="en-US" sz="2800" b="0" ker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置</a:t>
            </a:r>
            <a:r>
              <a:rPr lang="en-US" altLang="zh-CN" sz="2800" b="0" i="1" ker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800" b="0" ker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</a:t>
            </a:r>
            <a:endParaRPr lang="en-US" altLang="zh-CN" sz="2800" b="0" kern="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0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graphicFrame>
        <p:nvGraphicFramePr>
          <p:cNvPr id="26631" name="Object 8"/>
          <p:cNvGraphicFramePr>
            <a:graphicFrameLocks noChangeAspect="1"/>
          </p:cNvGraphicFramePr>
          <p:nvPr/>
        </p:nvGraphicFramePr>
        <p:xfrm>
          <a:off x="723900" y="1154113"/>
          <a:ext cx="7315200" cy="262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4" name="Equation" r:id="rId3" imgW="175564800" imgH="63093600" progId="Equation.DSMT4">
                  <p:embed/>
                </p:oleObj>
              </mc:Choice>
              <mc:Fallback>
                <p:oleObj name="Equation" r:id="rId3" imgW="175564800" imgH="63093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" y="1154113"/>
                        <a:ext cx="7315200" cy="262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9"/>
          <p:cNvGraphicFramePr>
            <a:graphicFrameLocks noChangeAspect="1"/>
          </p:cNvGraphicFramePr>
          <p:nvPr/>
        </p:nvGraphicFramePr>
        <p:xfrm>
          <a:off x="723900" y="3960911"/>
          <a:ext cx="73533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5" name="Equation" r:id="rId5" imgW="176479200" imgH="49377600" progId="Equation.DSMT4">
                  <p:embed/>
                </p:oleObj>
              </mc:Choice>
              <mc:Fallback>
                <p:oleObj name="Equation" r:id="rId5" imgW="176479200" imgH="49377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" y="3960911"/>
                        <a:ext cx="73533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0771" y="1161949"/>
            <a:ext cx="7127875" cy="4318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置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k:=k+1,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lang="en-US" altLang="zh-CN" sz="2800" b="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54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graphicFrame>
        <p:nvGraphicFramePr>
          <p:cNvPr id="27655" name="Object 6"/>
          <p:cNvGraphicFramePr>
            <a:graphicFrameLocks noChangeAspect="1"/>
          </p:cNvGraphicFramePr>
          <p:nvPr/>
        </p:nvGraphicFramePr>
        <p:xfrm>
          <a:off x="727075" y="1808163"/>
          <a:ext cx="6794500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0" name="Equation" r:id="rId3" imgW="163068000" imgH="51816000" progId="Equation.DSMT4">
                  <p:embed/>
                </p:oleObj>
              </mc:Choice>
              <mc:Fallback>
                <p:oleObj name="Equation" r:id="rId3" imgW="163068000" imgH="51816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5" y="1808163"/>
                        <a:ext cx="6794500" cy="215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9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00062" y="1116017"/>
            <a:ext cx="8143875" cy="157003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进退法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是确定搜索区间的一种简单方法。其基本思想是：从一点出发，按一定的步长，试图确定出函数值呈现“高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-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低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-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高”的三点。一个方向不成功，就退回来，再沿着相反的方向寻找。</a:t>
            </a:r>
            <a:endParaRPr lang="zh-CN" altLang="en-US" sz="2800" dirty="0"/>
          </a:p>
        </p:txBody>
      </p:sp>
      <p:graphicFrame>
        <p:nvGraphicFramePr>
          <p:cNvPr id="28681" name="Object 13"/>
          <p:cNvGraphicFramePr>
            <a:graphicFrameLocks noChangeAspect="1"/>
          </p:cNvGraphicFramePr>
          <p:nvPr/>
        </p:nvGraphicFramePr>
        <p:xfrm>
          <a:off x="3071813" y="3429000"/>
          <a:ext cx="233203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2" name="Equation" r:id="rId3" imgW="1130300" imgH="228600" progId="Equation.DSMT4">
                  <p:embed/>
                </p:oleObj>
              </mc:Choice>
              <mc:Fallback>
                <p:oleObj name="Equation" r:id="rId3" imgW="11303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3429000"/>
                        <a:ext cx="2332037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428625" y="4000500"/>
            <a:ext cx="7624763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则下一步从新点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400" kern="0" baseline="-25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0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+h</a:t>
            </a:r>
            <a:r>
              <a:rPr lang="en-US" altLang="zh-CN" sz="2400" kern="0" baseline="-25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0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出发，加大步长，再向前搜索。若</a:t>
            </a:r>
            <a:endParaRPr lang="zh-CN" altLang="en-US" sz="2400" dirty="0"/>
          </a:p>
        </p:txBody>
      </p:sp>
      <p:graphicFrame>
        <p:nvGraphicFramePr>
          <p:cNvPr id="28683" name="Object 14"/>
          <p:cNvGraphicFramePr>
            <a:graphicFrameLocks noChangeAspect="1"/>
          </p:cNvGraphicFramePr>
          <p:nvPr/>
        </p:nvGraphicFramePr>
        <p:xfrm>
          <a:off x="3143250" y="4572000"/>
          <a:ext cx="233203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3" name="Equation" r:id="rId5" imgW="1130300" imgH="228600" progId="Equation.DSMT4">
                  <p:embed/>
                </p:oleObj>
              </mc:Choice>
              <mc:Fallback>
                <p:oleObj name="Equation" r:id="rId5" imgW="113030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4572000"/>
                        <a:ext cx="233203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428625" y="5143500"/>
            <a:ext cx="8286750" cy="85725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则下一步还从点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400" kern="0" baseline="-25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0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出发，再沿反方向同样搜索，直到目标函数上升就停止。这样就得到一个搜索区间。</a:t>
            </a:r>
            <a:endParaRPr lang="zh-CN" altLang="en-US" sz="2400" dirty="0"/>
          </a:p>
        </p:txBody>
      </p:sp>
      <p:sp>
        <p:nvSpPr>
          <p:cNvPr id="18" name="矩形 17"/>
          <p:cNvSpPr/>
          <p:nvPr/>
        </p:nvSpPr>
        <p:spPr>
          <a:xfrm>
            <a:off x="571500" y="2928938"/>
            <a:ext cx="657225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具体言之，给定初始点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400" kern="0" baseline="-25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0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，初始步长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h</a:t>
            </a:r>
            <a:r>
              <a:rPr lang="en-US" altLang="zh-CN" sz="2400" kern="0" baseline="-25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0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&gt;0,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若</a:t>
            </a:r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9.2.3 </a:t>
            </a:r>
            <a:r>
              <a:rPr lang="zh-CN" altLang="en-US" dirty="0"/>
              <a:t>进退法</a:t>
            </a: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3" name="Rectangle 5"/>
          <p:cNvSpPr>
            <a:spLocks noChangeArrowheads="1"/>
          </p:cNvSpPr>
          <p:nvPr/>
        </p:nvSpPr>
        <p:spPr bwMode="auto">
          <a:xfrm>
            <a:off x="139700" y="4068763"/>
            <a:ext cx="184731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cs typeface="Times New Roman" panose="02020603050405020304" pitchFamily="18" charset="0"/>
              </a:rPr>
            </a:br>
            <a:endParaRPr lang="en-US" altLang="zh-CN" sz="4400">
              <a:cs typeface="Times New Roman" panose="02020603050405020304" pitchFamily="18" charset="0"/>
            </a:endParaRPr>
          </a:p>
        </p:txBody>
      </p:sp>
      <p:sp>
        <p:nvSpPr>
          <p:cNvPr id="29704" name="Rectangle 9"/>
          <p:cNvSpPr>
            <a:spLocks noChangeArrowheads="1"/>
          </p:cNvSpPr>
          <p:nvPr/>
        </p:nvSpPr>
        <p:spPr bwMode="auto">
          <a:xfrm>
            <a:off x="500063" y="5857875"/>
            <a:ext cx="19511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cs typeface="Times New Roman" panose="02020603050405020304" pitchFamily="18" charset="0"/>
              </a:rPr>
              <a:t>输出</a:t>
            </a:r>
            <a:r>
              <a:rPr lang="en-US" altLang="zh-CN" sz="2800" dirty="0"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cs typeface="Times New Roman" panose="02020603050405020304" pitchFamily="18" charset="0"/>
              </a:rPr>
              <a:t>a,b</a:t>
            </a:r>
            <a:r>
              <a:rPr lang="en-US" altLang="zh-CN" sz="2800" dirty="0">
                <a:cs typeface="Times New Roman" panose="02020603050405020304" pitchFamily="18" charset="0"/>
              </a:rPr>
              <a:t>]</a:t>
            </a:r>
            <a:r>
              <a:rPr lang="zh-CN" altLang="en-US" sz="2800" dirty="0">
                <a:cs typeface="Times New Roman" panose="02020603050405020304" pitchFamily="18" charset="0"/>
              </a:rPr>
              <a:t>。</a:t>
            </a:r>
            <a:endParaRPr lang="en-US" altLang="zh-CN" sz="28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357188" y="1075536"/>
                <a:ext cx="7929562" cy="95408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步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：选取初始数据，初始点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kern="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，初始步长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CN" sz="2800" kern="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&gt;0</a:t>
                </a:r>
                <a:r>
                  <a:rPr lang="zh-CN" altLang="en-US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，加倍系数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t&gt;1,</a:t>
                </a:r>
                <a:r>
                  <a:rPr lang="zh-CN" altLang="en-US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计算</a:t>
                </a:r>
                <a14:m>
                  <m:oMath xmlns:m="http://schemas.openxmlformats.org/officeDocument/2006/math">
                    <m:r>
                      <a:rPr lang="zh-CN" altLang="en-US" sz="280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Euclid Symbol" panose="05050102010706020507"/>
                      </a:rPr>
                      <m:t>𝜑</m:t>
                    </m:r>
                  </m:oMath>
                </a14:m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(a</a:t>
                </a:r>
                <a:r>
                  <a:rPr lang="en-US" altLang="zh-CN" sz="2800" kern="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0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)</a:t>
                </a:r>
                <a:r>
                  <a:rPr lang="zh-CN" altLang="en-US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，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k=0</a:t>
                </a:r>
                <a:r>
                  <a:rPr lang="zh-CN" altLang="en-US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。</a:t>
                </a:r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88" y="1075536"/>
                <a:ext cx="7929562" cy="954087"/>
              </a:xfrm>
              <a:prstGeom prst="rect">
                <a:avLst/>
              </a:prstGeom>
              <a:blipFill>
                <a:blip r:embed="rId2"/>
                <a:stretch>
                  <a:fillRect l="-1615" t="-8280" b="-17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428624" y="2153203"/>
                <a:ext cx="7929563" cy="95408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步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：比较目标函数值。令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kern="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k+1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zh-CN" sz="2800" kern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kern="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800" kern="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+</a:t>
                </a:r>
                <a:r>
                  <a:rPr lang="en-US" altLang="zh-CN" sz="2800" kern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CN" sz="2800" kern="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，计算</a:t>
                </a:r>
                <a:r>
                  <a:rPr lang="zh-CN" altLang="en-US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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(a</a:t>
                </a:r>
                <a:r>
                  <a:rPr lang="en-US" altLang="zh-CN" sz="2800" kern="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k+1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)</a:t>
                </a:r>
                <a:r>
                  <a:rPr lang="zh-CN" altLang="en-US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，若</a:t>
                </a:r>
                <a14:m>
                  <m:oMath xmlns:m="http://schemas.openxmlformats.org/officeDocument/2006/math">
                    <m:r>
                      <a:rPr lang="zh-CN" altLang="en-US" sz="280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Euclid Symbol" panose="05050102010706020507"/>
                      </a:rPr>
                      <m:t>𝜑</m:t>
                    </m:r>
                  </m:oMath>
                </a14:m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(a</a:t>
                </a:r>
                <a:r>
                  <a:rPr lang="en-US" altLang="zh-CN" sz="2800" kern="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k+1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)&lt;</a:t>
                </a:r>
                <a14:m>
                  <m:oMath xmlns:m="http://schemas.openxmlformats.org/officeDocument/2006/math">
                    <m:r>
                      <a:rPr lang="zh-CN" altLang="en-US" sz="2800" i="1" ker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Euclid Symbol" panose="05050102010706020507"/>
                      </a:rPr>
                      <m:t>𝜑</m:t>
                    </m:r>
                  </m:oMath>
                </a14:m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(</a:t>
                </a:r>
                <a:r>
                  <a:rPr lang="en-US" altLang="zh-CN" sz="2800" kern="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a</a:t>
                </a:r>
                <a:r>
                  <a:rPr lang="en-US" altLang="zh-CN" sz="2800" kern="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k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),</a:t>
                </a:r>
                <a:r>
                  <a:rPr lang="zh-CN" altLang="en-US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转步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3</a:t>
                </a:r>
                <a:r>
                  <a:rPr lang="zh-CN" altLang="en-US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，否则转步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4.</a:t>
                </a:r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" y="2153203"/>
                <a:ext cx="7929563" cy="954088"/>
              </a:xfrm>
              <a:prstGeom prst="rect">
                <a:avLst/>
              </a:prstGeom>
              <a:blipFill>
                <a:blip r:embed="rId3"/>
                <a:stretch>
                  <a:fillRect l="-1537" t="-11465" r="-5842" b="-17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07" name="矩形 13"/>
              <p:cNvSpPr>
                <a:spLocks noChangeArrowheads="1"/>
              </p:cNvSpPr>
              <p:nvPr/>
            </p:nvSpPr>
            <p:spPr bwMode="auto">
              <a:xfrm>
                <a:off x="1071563" y="5156201"/>
                <a:ext cx="7215187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=min{</a:t>
                </a:r>
                <a14:m>
                  <m:oMath xmlns:m="http://schemas.openxmlformats.org/officeDocument/2006/math">
                    <m:r>
                      <a:rPr lang="zh-CN" altLang="en-US" sz="320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Euclid Symbol" panose="05050102010706020507"/>
                      </a:rPr>
                      <m:t>𝛼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  <a:sym typeface="Euclid Symbol" panose="05050102010706020507" pitchFamily="18" charset="2"/>
                  </a:rPr>
                  <a:t>，</a:t>
                </a:r>
                <a:r>
                  <a:rPr lang="en-US" altLang="zh-CN" dirty="0">
                    <a:cs typeface="Times New Roman" panose="02020603050405020304" pitchFamily="18" charset="0"/>
                    <a:sym typeface="Euclid Symbol" panose="05050102010706020507" pitchFamily="18" charset="2"/>
                  </a:rPr>
                  <a:t>a</a:t>
                </a:r>
                <a:r>
                  <a:rPr lang="en-US" altLang="zh-CN" baseline="-25000" dirty="0">
                    <a:cs typeface="Times New Roman" panose="02020603050405020304" pitchFamily="18" charset="0"/>
                    <a:sym typeface="Euclid Symbol" panose="05050102010706020507" pitchFamily="18" charset="2"/>
                  </a:rPr>
                  <a:t>k+1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},b= max{</a:t>
                </a:r>
                <a14:m>
                  <m:oMath xmlns:m="http://schemas.openxmlformats.org/officeDocument/2006/math">
                    <m:r>
                      <a:rPr lang="zh-CN" altLang="en-US" i="1" ker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Euclid Symbol" panose="05050102010706020507"/>
                      </a:rPr>
                      <m:t>𝛼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  <a:sym typeface="Euclid Symbol" panose="05050102010706020507" pitchFamily="18" charset="2"/>
                  </a:rPr>
                  <a:t>，</a:t>
                </a:r>
                <a:r>
                  <a:rPr lang="en-US" altLang="zh-CN" dirty="0">
                    <a:cs typeface="Times New Roman" panose="02020603050405020304" pitchFamily="18" charset="0"/>
                    <a:sym typeface="Euclid Symbol" panose="05050102010706020507" pitchFamily="18" charset="2"/>
                  </a:rPr>
                  <a:t>a</a:t>
                </a:r>
                <a:r>
                  <a:rPr lang="en-US" altLang="zh-CN" baseline="-25000" dirty="0">
                    <a:cs typeface="Times New Roman" panose="02020603050405020304" pitchFamily="18" charset="0"/>
                    <a:sym typeface="Euclid Symbol" panose="05050102010706020507" pitchFamily="18" charset="2"/>
                  </a:rPr>
                  <a:t>k+1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}</a:t>
                </a:r>
                <a:endParaRPr lang="zh-CN" altLang="en-US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707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1563" y="5156201"/>
                <a:ext cx="7215187" cy="584200"/>
              </a:xfrm>
              <a:prstGeom prst="rect">
                <a:avLst/>
              </a:prstGeom>
              <a:blipFill>
                <a:blip r:embed="rId4"/>
                <a:stretch>
                  <a:fillRect l="-2198" t="-17708" b="-33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428624" y="3130550"/>
                <a:ext cx="7929562" cy="95410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步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en-US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：加大探索步长。令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CN" sz="2800" kern="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k+1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zh-CN" sz="2800" kern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CN" sz="2800" kern="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280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Euclid Symbol" panose="05050102010706020507"/>
                      </a:rPr>
                      <m:t>𝛼</m:t>
                    </m:r>
                  </m:oMath>
                </a14:m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=</a:t>
                </a:r>
                <a:r>
                  <a:rPr lang="en-US" altLang="zh-CN" sz="2800" kern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kern="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， </a:t>
                </a:r>
                <a:r>
                  <a:rPr lang="en-US" altLang="zh-CN" sz="2800" kern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kern="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800" kern="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=a</a:t>
                </a:r>
                <a:r>
                  <a:rPr lang="en-US" altLang="zh-CN" sz="2800" kern="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k+1</a:t>
                </a:r>
                <a:r>
                  <a:rPr lang="zh-CN" altLang="en-US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2800" i="1" ker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Euclid Symbol" panose="05050102010706020507"/>
                      </a:rPr>
                      <m:t>𝜑</m:t>
                    </m:r>
                  </m:oMath>
                </a14:m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(</a:t>
                </a:r>
                <a:r>
                  <a:rPr lang="en-US" altLang="zh-CN" sz="2800" kern="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a</a:t>
                </a:r>
                <a:r>
                  <a:rPr lang="en-US" altLang="zh-CN" sz="2800" kern="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k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)=</a:t>
                </a:r>
                <a14:m>
                  <m:oMath xmlns:m="http://schemas.openxmlformats.org/officeDocument/2006/math">
                    <m:r>
                      <a:rPr lang="zh-CN" altLang="en-US" sz="2800" i="1" ker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Euclid Symbol" panose="05050102010706020507"/>
                      </a:rPr>
                      <m:t>𝜑</m:t>
                    </m:r>
                  </m:oMath>
                </a14:m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(a</a:t>
                </a:r>
                <a:r>
                  <a:rPr lang="en-US" altLang="zh-CN" sz="2800" kern="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k+1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),k=k+1,</a:t>
                </a:r>
                <a:r>
                  <a:rPr lang="zh-CN" altLang="en-US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转步</a:t>
                </a:r>
                <a:r>
                  <a:rPr lang="en-US" altLang="zh-CN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2</a:t>
                </a:r>
                <a:r>
                  <a:rPr lang="zh-CN" altLang="en-US" sz="2800" kern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Euclid Symbol" panose="05050102010706020507"/>
                  </a:rPr>
                  <a:t>。</a:t>
                </a:r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" y="3130550"/>
                <a:ext cx="7929562" cy="954107"/>
              </a:xfrm>
              <a:prstGeom prst="rect">
                <a:avLst/>
              </a:prstGeom>
              <a:blipFill>
                <a:blip r:embed="rId5"/>
                <a:stretch>
                  <a:fillRect l="-1537" t="-8974" r="-6072" b="-179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/>
          <p:cNvSpPr/>
          <p:nvPr/>
        </p:nvSpPr>
        <p:spPr>
          <a:xfrm>
            <a:off x="428625" y="4143375"/>
            <a:ext cx="7929563" cy="95408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</a:t>
            </a:r>
            <a:r>
              <a:rPr lang="en-US" altLang="zh-CN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：反向探索。若</a:t>
            </a:r>
            <a:r>
              <a:rPr lang="en-US" altLang="zh-CN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k=0</a:t>
            </a:r>
            <a:r>
              <a:rPr lang="zh-CN" alt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，转换探索反向，令</a:t>
            </a:r>
            <a:r>
              <a:rPr lang="en-US" altLang="zh-CN" sz="28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kern="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- </a:t>
            </a:r>
            <a:r>
              <a:rPr lang="en-US" altLang="zh-CN" sz="28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kern="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kern="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/>
              </a:rPr>
              <a:t>=</a:t>
            </a:r>
            <a:r>
              <a:rPr lang="en-US" altLang="zh-CN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k+1</a:t>
            </a:r>
            <a:r>
              <a:rPr lang="en-US" altLang="zh-CN" sz="28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/>
              </a:rPr>
              <a:t>,</a:t>
            </a:r>
            <a:r>
              <a:rPr lang="zh-CN" alt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/>
              </a:rPr>
              <a:t>转步</a:t>
            </a:r>
            <a:r>
              <a:rPr lang="en-US" altLang="zh-CN" sz="28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/>
              </a:rPr>
              <a:t>2</a:t>
            </a:r>
            <a:r>
              <a:rPr lang="zh-CN" alt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/>
              </a:rPr>
              <a:t>，否则</a:t>
            </a:r>
            <a:r>
              <a:rPr lang="en-US" altLang="zh-CN" sz="28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/>
              </a:rPr>
              <a:t>,</a:t>
            </a:r>
            <a:r>
              <a:rPr lang="zh-CN" alt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/>
              </a:rPr>
              <a:t>停止迭代，令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进退法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4000" dirty="0">
                <a:solidFill>
                  <a:srgbClr val="0033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sz="4000" b="1" dirty="0">
                <a:solidFill>
                  <a:srgbClr val="0033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3</a:t>
            </a:r>
            <a:r>
              <a:rPr lang="zh-CN" altLang="en-US" sz="4000" dirty="0">
                <a:solidFill>
                  <a:srgbClr val="0033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一维搜索</a:t>
            </a:r>
            <a:r>
              <a:rPr lang="en-US" altLang="zh-CN" sz="4000" dirty="0">
                <a:solidFill>
                  <a:srgbClr val="0066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3600" b="1" dirty="0">
                <a:solidFill>
                  <a:srgbClr val="FF99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函数逼近法</a:t>
            </a:r>
            <a:r>
              <a:rPr lang="zh-CN" altLang="en-US" sz="3600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（插值法）</a:t>
            </a:r>
            <a:endParaRPr lang="en-US" altLang="zh-CN" sz="3600" dirty="0">
              <a:solidFill>
                <a:srgbClr val="FF99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54518" y="949225"/>
            <a:ext cx="5111750" cy="3683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9.3.1.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牛顿法（一点二次插值法）</a:t>
            </a:r>
          </a:p>
        </p:txBody>
      </p:sp>
      <p:sp>
        <p:nvSpPr>
          <p:cNvPr id="30727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sp>
        <p:nvSpPr>
          <p:cNvPr id="30728" name="Rectangle 6"/>
          <p:cNvSpPr>
            <a:spLocks noChangeArrowheads="1"/>
          </p:cNvSpPr>
          <p:nvPr/>
        </p:nvSpPr>
        <p:spPr bwMode="auto">
          <a:xfrm>
            <a:off x="697404" y="1508866"/>
            <a:ext cx="70104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>
                <a:cs typeface="Times New Roman" panose="02020603050405020304" pitchFamily="18" charset="0"/>
              </a:rPr>
              <a:t>考虑问题   </a:t>
            </a:r>
            <a:r>
              <a:rPr lang="en-US" altLang="zh-CN" sz="2800" i="1" dirty="0">
                <a:cs typeface="Times New Roman" panose="02020603050405020304" pitchFamily="18" charset="0"/>
              </a:rPr>
              <a:t>min  f(x), </a:t>
            </a:r>
            <a:r>
              <a:rPr lang="en-US" altLang="zh-CN" sz="2800" i="1" dirty="0" err="1"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cs typeface="Times New Roman" panose="02020603050405020304" pitchFamily="18" charset="0"/>
              </a:rPr>
              <a:t>          </a:t>
            </a:r>
            <a:r>
              <a:rPr lang="en-US" altLang="zh-CN" sz="2800" dirty="0">
                <a:cs typeface="Times New Roman" panose="02020603050405020304" pitchFamily="18" charset="0"/>
              </a:rPr>
              <a:t>(3.1)</a:t>
            </a:r>
          </a:p>
        </p:txBody>
      </p:sp>
      <p:graphicFrame>
        <p:nvGraphicFramePr>
          <p:cNvPr id="30729" name="Object 7"/>
          <p:cNvGraphicFramePr>
            <a:graphicFrameLocks noChangeAspect="1"/>
          </p:cNvGraphicFramePr>
          <p:nvPr/>
        </p:nvGraphicFramePr>
        <p:xfrm>
          <a:off x="852487" y="2285481"/>
          <a:ext cx="7823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4" name="Equation" r:id="rId3" imgW="7823200" imgH="825500" progId="Equation.DSMT4">
                  <p:embed/>
                </p:oleObj>
              </mc:Choice>
              <mc:Fallback>
                <p:oleObj name="Equation" r:id="rId3" imgW="7823200" imgH="8255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7" y="2285481"/>
                        <a:ext cx="78232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66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0" name="Rectangle 8"/>
          <p:cNvSpPr>
            <a:spLocks noChangeArrowheads="1"/>
          </p:cNvSpPr>
          <p:nvPr/>
        </p:nvSpPr>
        <p:spPr bwMode="auto">
          <a:xfrm>
            <a:off x="323850" y="2056230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令</a:t>
            </a:r>
          </a:p>
        </p:txBody>
      </p:sp>
      <p:graphicFrame>
        <p:nvGraphicFramePr>
          <p:cNvPr id="30731" name="Object 9"/>
          <p:cNvGraphicFramePr>
            <a:graphicFrameLocks noChangeAspect="1"/>
          </p:cNvGraphicFramePr>
          <p:nvPr/>
        </p:nvGraphicFramePr>
        <p:xfrm>
          <a:off x="1745154" y="3429000"/>
          <a:ext cx="4914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5" name="Equation" r:id="rId5" imgW="4914900" imgH="457200" progId="Equation.DSMT4">
                  <p:embed/>
                </p:oleObj>
              </mc:Choice>
              <mc:Fallback>
                <p:oleObj name="Equation" r:id="rId5" imgW="4914900" imgH="457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5154" y="3429000"/>
                        <a:ext cx="4914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2" name="Rectangle 10"/>
          <p:cNvSpPr>
            <a:spLocks noChangeArrowheads="1"/>
          </p:cNvSpPr>
          <p:nvPr/>
        </p:nvSpPr>
        <p:spPr bwMode="auto">
          <a:xfrm>
            <a:off x="468313" y="3227908"/>
            <a:ext cx="895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cs typeface="Times New Roman" panose="02020603050405020304" pitchFamily="18" charset="0"/>
              </a:rPr>
              <a:t>又令</a:t>
            </a:r>
          </a:p>
        </p:txBody>
      </p:sp>
      <p:sp>
        <p:nvSpPr>
          <p:cNvPr id="30733" name="Rectangle 11"/>
          <p:cNvSpPr>
            <a:spLocks noChangeArrowheads="1"/>
          </p:cNvSpPr>
          <p:nvPr/>
        </p:nvSpPr>
        <p:spPr bwMode="auto">
          <a:xfrm>
            <a:off x="468313" y="4149725"/>
            <a:ext cx="51892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cs typeface="Times New Roman" panose="02020603050405020304" pitchFamily="18" charset="0"/>
              </a:rPr>
              <a:t>得到</a:t>
            </a:r>
            <a:r>
              <a:rPr lang="zh-CN" altLang="en-US" sz="280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>
                <a:cs typeface="Times New Roman" panose="02020603050405020304" pitchFamily="18" charset="0"/>
                <a:sym typeface="Symbol" panose="05050102010706020507" pitchFamily="18" charset="2"/>
              </a:rPr>
              <a:t>的驻点，记做</a:t>
            </a:r>
            <a:r>
              <a:rPr lang="en-US" altLang="zh-CN" sz="2800" i="1">
                <a:cs typeface="Times New Roman" panose="02020603050405020304" pitchFamily="18" charset="0"/>
              </a:rPr>
              <a:t>x</a:t>
            </a:r>
            <a:r>
              <a:rPr lang="en-US" altLang="zh-CN" sz="2800" baseline="30000">
                <a:cs typeface="Times New Roman" panose="02020603050405020304" pitchFamily="18" charset="0"/>
              </a:rPr>
              <a:t>(k</a:t>
            </a:r>
            <a:r>
              <a:rPr lang="zh-CN" altLang="en-US" sz="2800" baseline="30000">
                <a:cs typeface="Times New Roman" panose="02020603050405020304" pitchFamily="18" charset="0"/>
              </a:rPr>
              <a:t>＋</a:t>
            </a:r>
            <a:r>
              <a:rPr lang="en-US" altLang="zh-CN" sz="2800" baseline="30000">
                <a:cs typeface="Times New Roman" panose="02020603050405020304" pitchFamily="18" charset="0"/>
              </a:rPr>
              <a:t>1)</a:t>
            </a:r>
            <a:r>
              <a:rPr lang="zh-CN" altLang="en-US" sz="2800">
                <a:cs typeface="Times New Roman" panose="02020603050405020304" pitchFamily="18" charset="0"/>
                <a:sym typeface="Symbol" panose="05050102010706020507" pitchFamily="18" charset="2"/>
              </a:rPr>
              <a:t>，则</a:t>
            </a:r>
          </a:p>
        </p:txBody>
      </p:sp>
      <p:graphicFrame>
        <p:nvGraphicFramePr>
          <p:cNvPr id="30734" name="Object 12"/>
          <p:cNvGraphicFramePr>
            <a:graphicFrameLocks noChangeAspect="1"/>
          </p:cNvGraphicFramePr>
          <p:nvPr/>
        </p:nvGraphicFramePr>
        <p:xfrm>
          <a:off x="1835150" y="4797425"/>
          <a:ext cx="4914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6" name="Equation" r:id="rId7" imgW="4914900" imgH="952500" progId="Equation.DSMT4">
                  <p:embed/>
                </p:oleObj>
              </mc:Choice>
              <mc:Fallback>
                <p:oleObj name="Equation" r:id="rId7" imgW="4914900" imgH="9525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797425"/>
                        <a:ext cx="4914900" cy="9525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98383" y="946551"/>
            <a:ext cx="8382000" cy="2209800"/>
          </a:xfrm>
          <a:prstGeom prst="rect">
            <a:avLst/>
          </a:prstGeo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在点</a:t>
            </a:r>
            <a:r>
              <a:rPr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b="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(k)</a:t>
            </a:r>
            <a:r>
              <a:rPr lang="zh-CN" altLang="en-US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附近，</a:t>
            </a:r>
            <a:r>
              <a:rPr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(</a:t>
            </a:r>
            <a:r>
              <a:rPr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，因此可用</a:t>
            </a:r>
            <a:r>
              <a:rPr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的极小点作为目标函数</a:t>
            </a:r>
            <a:r>
              <a:rPr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的极小点的估计。如果</a:t>
            </a:r>
            <a:r>
              <a:rPr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b="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(k)</a:t>
            </a:r>
            <a:r>
              <a:rPr lang="zh-CN" altLang="en-US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的极小点</a:t>
            </a:r>
            <a:r>
              <a:rPr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则利用</a:t>
            </a:r>
            <a:r>
              <a:rPr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(3.2)</a:t>
            </a:r>
            <a:r>
              <a:rPr lang="zh-CN" altLang="en-US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可以得到极小点的一个进一步的估计</a:t>
            </a:r>
            <a:r>
              <a:rPr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zh-CN" altLang="en-US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于是得到一个序列</a:t>
            </a:r>
            <a:r>
              <a:rPr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CN" sz="2800" b="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b="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(k)</a:t>
            </a:r>
            <a:r>
              <a:rPr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}.</a:t>
            </a:r>
            <a:endParaRPr lang="en-US" altLang="zh-CN" sz="2800" b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751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1259805" y="3311591"/>
          <a:ext cx="6248400" cy="278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2" name="Equation" r:id="rId3" imgW="6248400" imgH="2781300" progId="Equation.DSMT4">
                  <p:embed/>
                </p:oleObj>
              </mc:Choice>
              <mc:Fallback>
                <p:oleObj name="Equation" r:id="rId3" imgW="6248400" imgH="2781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805" y="3311591"/>
                        <a:ext cx="6248400" cy="278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540667" y="2775016"/>
            <a:ext cx="2350323" cy="437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算法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牛顿法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4" name="Object 6"/>
          <p:cNvGraphicFramePr>
            <a:graphicFrameLocks noChangeAspect="1"/>
          </p:cNvGraphicFramePr>
          <p:nvPr/>
        </p:nvGraphicFramePr>
        <p:xfrm>
          <a:off x="757483" y="3429000"/>
          <a:ext cx="6696075" cy="272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7" name="Equation" r:id="rId3" imgW="5486400" imgH="2235200" progId="Equation.DSMT4">
                  <p:embed/>
                </p:oleObj>
              </mc:Choice>
              <mc:Fallback>
                <p:oleObj name="Equation" r:id="rId3" imgW="5486400" imgH="2235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483" y="3429000"/>
                        <a:ext cx="6696075" cy="2728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/>
          <p:cNvGraphicFramePr>
            <a:graphicFrameLocks noChangeAspect="1"/>
          </p:cNvGraphicFramePr>
          <p:nvPr/>
        </p:nvGraphicFramePr>
        <p:xfrm>
          <a:off x="636196" y="1026400"/>
          <a:ext cx="7359650" cy="210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8" name="Equation" r:id="rId5" imgW="149047200" imgH="42672000" progId="Equation.DSMT4">
                  <p:embed/>
                </p:oleObj>
              </mc:Choice>
              <mc:Fallback>
                <p:oleObj name="Equation" r:id="rId5" imgW="149047200" imgH="42672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196" y="1026400"/>
                        <a:ext cx="7359650" cy="2106613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8" name="Object 5"/>
          <p:cNvGraphicFramePr>
            <a:graphicFrameLocks noChangeAspect="1"/>
          </p:cNvGraphicFramePr>
          <p:nvPr/>
        </p:nvGraphicFramePr>
        <p:xfrm>
          <a:off x="395288" y="908050"/>
          <a:ext cx="7705725" cy="517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9" name="Equation" r:id="rId3" imgW="171602400" imgH="115214400" progId="Equation.DSMT4">
                  <p:embed/>
                </p:oleObj>
              </mc:Choice>
              <mc:Fallback>
                <p:oleObj name="Equation" r:id="rId3" imgW="171602400" imgH="115214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908050"/>
                        <a:ext cx="7705725" cy="517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390052"/>
              </p:ext>
            </p:extLst>
          </p:nvPr>
        </p:nvGraphicFramePr>
        <p:xfrm>
          <a:off x="707255" y="1031590"/>
          <a:ext cx="8215663" cy="3867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0" name="Equation" r:id="rId3" imgW="7860960" imgH="3708360" progId="Equation.DSMT4">
                  <p:embed/>
                </p:oleObj>
              </mc:Choice>
              <mc:Fallback>
                <p:oleObj name="Equation" r:id="rId3" imgW="7860960" imgH="37083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255" y="1031590"/>
                        <a:ext cx="8215663" cy="38676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6"/>
          <p:cNvGraphicFramePr>
            <a:graphicFrameLocks noChangeAspect="1"/>
          </p:cNvGraphicFramePr>
          <p:nvPr/>
        </p:nvGraphicFramePr>
        <p:xfrm>
          <a:off x="468313" y="4797425"/>
          <a:ext cx="6562725" cy="128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1" name="Equation" r:id="rId5" imgW="5829300" imgH="1143000" progId="Equation.DSMT4">
                  <p:embed/>
                </p:oleObj>
              </mc:Choice>
              <mc:Fallback>
                <p:oleObj name="Equation" r:id="rId5" imgW="5829300" imgH="1143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797425"/>
                        <a:ext cx="6562725" cy="1287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6" name="Object 6"/>
          <p:cNvGraphicFramePr>
            <a:graphicFrameLocks noChangeAspect="1"/>
          </p:cNvGraphicFramePr>
          <p:nvPr/>
        </p:nvGraphicFramePr>
        <p:xfrm>
          <a:off x="457518" y="1081389"/>
          <a:ext cx="8559800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9" name="Equation" r:id="rId4" imgW="204216000" imgH="21336000" progId="Equation.DSMT4">
                  <p:embed/>
                </p:oleObj>
              </mc:Choice>
              <mc:Fallback>
                <p:oleObj name="Equation" r:id="rId4" imgW="204216000" imgH="21336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518" y="1081389"/>
                        <a:ext cx="8559800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7"/>
          <p:cNvGraphicFramePr>
            <a:graphicFrameLocks noChangeAspect="1"/>
          </p:cNvGraphicFramePr>
          <p:nvPr/>
        </p:nvGraphicFramePr>
        <p:xfrm>
          <a:off x="4114800" y="3346450"/>
          <a:ext cx="914400" cy="16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0" name="Equation" r:id="rId6" imgW="454660" imgH="624840" progId="Equation.DSMT4">
                  <p:embed/>
                </p:oleObj>
              </mc:Choice>
              <mc:Fallback>
                <p:oleObj name="Equation" r:id="rId6" imgW="454660" imgH="6248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46450"/>
                        <a:ext cx="914400" cy="163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894" name="Rectangle 6"/>
              <p:cNvSpPr>
                <a:spLocks noChangeArrowheads="1"/>
              </p:cNvSpPr>
              <p:nvPr/>
            </p:nvSpPr>
            <p:spPr bwMode="auto">
              <a:xfrm>
                <a:off x="428625" y="1345349"/>
                <a:ext cx="3889375" cy="1569660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b="1" dirty="0">
                    <a:solidFill>
                      <a:srgbClr val="0000FF"/>
                    </a:solidFill>
                  </a:rPr>
                  <a:t>基本思想：</a:t>
                </a:r>
                <a:r>
                  <a:rPr lang="zh-CN" altLang="en-US" sz="2400" dirty="0"/>
                  <a:t>用割线逼近目标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/>
                  <a:t>函数的导函数的曲线</a:t>
                </a:r>
                <a:r>
                  <a:rPr lang="en-US" altLang="zh-CN" sz="2400" i="1" dirty="0"/>
                  <a:t>y</a:t>
                </a:r>
                <a:r>
                  <a:rPr lang="en-US" altLang="zh-CN" sz="2400" dirty="0"/>
                  <a:t>=</a:t>
                </a:r>
                <a:r>
                  <a:rPr lang="en-US" altLang="zh-CN" sz="2400" i="1" dirty="0"/>
                  <a:t>f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zh-CN" sz="2400" dirty="0"/>
                  <a:t>(</a:t>
                </a:r>
                <a:r>
                  <a:rPr lang="en-US" altLang="zh-CN" sz="2400" i="1" dirty="0"/>
                  <a:t>x</a:t>
                </a:r>
                <a:r>
                  <a:rPr lang="en-US" altLang="zh-CN" sz="2400" dirty="0"/>
                  <a:t>)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/>
                  <a:t>把割线的零点作为目标函数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/>
                  <a:t>的驻点的估计。</a:t>
                </a:r>
              </a:p>
            </p:txBody>
          </p:sp>
        </mc:Choice>
        <mc:Fallback xmlns="">
          <p:sp>
            <p:nvSpPr>
              <p:cNvPr id="37894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625" y="1345349"/>
                <a:ext cx="3889375" cy="1569660"/>
              </a:xfrm>
              <a:prstGeom prst="rect">
                <a:avLst/>
              </a:prstGeom>
              <a:blipFill rotWithShape="1">
                <a:blip r:embed="rId3"/>
                <a:stretch>
                  <a:fillRect t="-27" b="23"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895" name="Group 21"/>
          <p:cNvGrpSpPr/>
          <p:nvPr/>
        </p:nvGrpSpPr>
        <p:grpSpPr bwMode="auto">
          <a:xfrm>
            <a:off x="4067175" y="765175"/>
            <a:ext cx="4608513" cy="2447925"/>
            <a:chOff x="2744" y="482"/>
            <a:chExt cx="2903" cy="1542"/>
          </a:xfrm>
        </p:grpSpPr>
        <p:sp>
          <p:nvSpPr>
            <p:cNvPr id="37898" name="Line 8"/>
            <p:cNvSpPr>
              <a:spLocks noChangeShapeType="1"/>
            </p:cNvSpPr>
            <p:nvPr/>
          </p:nvSpPr>
          <p:spPr bwMode="auto">
            <a:xfrm flipV="1">
              <a:off x="2744" y="845"/>
              <a:ext cx="29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9" name="Line 9"/>
            <p:cNvSpPr>
              <a:spLocks noChangeShapeType="1"/>
            </p:cNvSpPr>
            <p:nvPr/>
          </p:nvSpPr>
          <p:spPr bwMode="auto">
            <a:xfrm flipV="1">
              <a:off x="3198" y="482"/>
              <a:ext cx="22" cy="14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0" name="Arc 10"/>
            <p:cNvSpPr/>
            <p:nvPr/>
          </p:nvSpPr>
          <p:spPr bwMode="auto">
            <a:xfrm flipV="1">
              <a:off x="3334" y="482"/>
              <a:ext cx="1678" cy="13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1" name="Line 11"/>
            <p:cNvSpPr>
              <a:spLocks noChangeShapeType="1"/>
            </p:cNvSpPr>
            <p:nvPr/>
          </p:nvSpPr>
          <p:spPr bwMode="auto">
            <a:xfrm flipV="1">
              <a:off x="3243" y="754"/>
              <a:ext cx="2132" cy="127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902" name="Line 12"/>
            <p:cNvSpPr>
              <a:spLocks noChangeShapeType="1"/>
            </p:cNvSpPr>
            <p:nvPr/>
          </p:nvSpPr>
          <p:spPr bwMode="auto">
            <a:xfrm flipV="1">
              <a:off x="3560" y="890"/>
              <a:ext cx="0" cy="908"/>
            </a:xfrm>
            <a:prstGeom prst="line">
              <a:avLst/>
            </a:prstGeom>
            <a:noFill/>
            <a:ln w="9525">
              <a:solidFill>
                <a:srgbClr val="FF3399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3" name="Line 13"/>
            <p:cNvSpPr>
              <a:spLocks noChangeShapeType="1"/>
            </p:cNvSpPr>
            <p:nvPr/>
          </p:nvSpPr>
          <p:spPr bwMode="auto">
            <a:xfrm flipV="1">
              <a:off x="4876" y="845"/>
              <a:ext cx="0" cy="226"/>
            </a:xfrm>
            <a:prstGeom prst="line">
              <a:avLst/>
            </a:prstGeom>
            <a:noFill/>
            <a:ln w="9525">
              <a:solidFill>
                <a:srgbClr val="FF3399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7904" name="Object 14"/>
            <p:cNvGraphicFramePr>
              <a:graphicFrameLocks noChangeAspect="1"/>
            </p:cNvGraphicFramePr>
            <p:nvPr/>
          </p:nvGraphicFramePr>
          <p:xfrm>
            <a:off x="5057" y="890"/>
            <a:ext cx="49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6" name="Equation" r:id="rId4" imgW="786765" imgH="393700" progId="Equation.DSMT4">
                    <p:embed/>
                  </p:oleObj>
                </mc:Choice>
                <mc:Fallback>
                  <p:oleObj name="Equation" r:id="rId4" imgW="786765" imgH="3937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7" y="890"/>
                          <a:ext cx="496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5" name="Object 15"/>
            <p:cNvGraphicFramePr>
              <a:graphicFrameLocks noChangeAspect="1"/>
            </p:cNvGraphicFramePr>
            <p:nvPr/>
          </p:nvGraphicFramePr>
          <p:xfrm>
            <a:off x="4513" y="572"/>
            <a:ext cx="32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7" name="Equation" r:id="rId6" imgW="520700" imgH="393700" progId="Equation.DSMT4">
                    <p:embed/>
                  </p:oleObj>
                </mc:Choice>
                <mc:Fallback>
                  <p:oleObj name="Equation" r:id="rId6" imgW="520700" imgH="3937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572"/>
                          <a:ext cx="32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6" name="Object 16"/>
            <p:cNvGraphicFramePr>
              <a:graphicFrameLocks noChangeAspect="1"/>
            </p:cNvGraphicFramePr>
            <p:nvPr/>
          </p:nvGraphicFramePr>
          <p:xfrm>
            <a:off x="3424" y="618"/>
            <a:ext cx="45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8" name="Equation" r:id="rId8" imgW="723900" imgH="393700" progId="Equation.DSMT4">
                    <p:embed/>
                  </p:oleObj>
                </mc:Choice>
                <mc:Fallback>
                  <p:oleObj name="Equation" r:id="rId8" imgW="723900" imgH="3937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4" y="618"/>
                          <a:ext cx="456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9.3.2.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割线法（二点二次插值法）</a:t>
            </a:r>
          </a:p>
        </p:txBody>
      </p:sp>
      <p:graphicFrame>
        <p:nvGraphicFramePr>
          <p:cNvPr id="37897" name="Object 1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16017" y="3380791"/>
          <a:ext cx="7848600" cy="299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9" name="Equation" r:id="rId10" imgW="8013700" imgH="3060700" progId="Equation.DSMT4">
                  <p:embed/>
                </p:oleObj>
              </mc:Choice>
              <mc:Fallback>
                <p:oleObj name="Equation" r:id="rId10" imgW="8013700" imgH="30607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017" y="3380791"/>
                        <a:ext cx="7848600" cy="29987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4114800" y="3268663"/>
          <a:ext cx="91440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2" name="Equation" r:id="rId3" imgW="454660" imgH="779145" progId="Equation.DSMT4">
                  <p:embed/>
                </p:oleObj>
              </mc:Choice>
              <mc:Fallback>
                <p:oleObj name="Equation" r:id="rId3" imgW="454660" imgH="77914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268663"/>
                        <a:ext cx="914400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6"/>
          <p:cNvGraphicFramePr>
            <a:graphicFrameLocks noChangeAspect="1"/>
          </p:cNvGraphicFramePr>
          <p:nvPr/>
        </p:nvGraphicFramePr>
        <p:xfrm>
          <a:off x="407988" y="1543050"/>
          <a:ext cx="7947025" cy="190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3" name="Equation" r:id="rId5" imgW="178308000" imgH="42672000" progId="Equation.DSMT4">
                  <p:embed/>
                </p:oleObj>
              </mc:Choice>
              <mc:Fallback>
                <p:oleObj name="Equation" r:id="rId5" imgW="178308000" imgH="42672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8" y="1543050"/>
                        <a:ext cx="7947025" cy="190182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7"/>
          <p:cNvGraphicFramePr>
            <a:graphicFrameLocks noChangeAspect="1"/>
          </p:cNvGraphicFramePr>
          <p:nvPr/>
        </p:nvGraphicFramePr>
        <p:xfrm>
          <a:off x="342636" y="3587750"/>
          <a:ext cx="8077200" cy="255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4" name="Equation" r:id="rId7" imgW="199644000" imgH="63093600" progId="Equation.DSMT4">
                  <p:embed/>
                </p:oleObj>
              </mc:Choice>
              <mc:Fallback>
                <p:oleObj name="Equation" r:id="rId7" imgW="199644000" imgH="63093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636" y="3587750"/>
                        <a:ext cx="8077200" cy="255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88963" y="1003300"/>
            <a:ext cx="8555037" cy="674688"/>
          </a:xfrm>
          <a:prstGeom prst="rect">
            <a:avLst/>
          </a:prstGeom>
        </p:spPr>
        <p:txBody>
          <a:bodyPr/>
          <a:lstStyle/>
          <a:p>
            <a:r>
              <a:rPr lang="zh-CN" altLang="en-US" b="0" dirty="0"/>
              <a:t>在一定的条件下，这个序列收敛于解：</a:t>
            </a:r>
            <a:endParaRPr lang="zh-CN" altLang="en-US" sz="2800" b="0" dirty="0">
              <a:ea typeface="楷体_GB2312" panose="02010609030101010101" pitchFamily="49" charset="-122"/>
            </a:endParaRPr>
          </a:p>
          <a:p>
            <a:endParaRPr lang="zh-CN" altLang="en-US" b="0" dirty="0"/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42" name="Object 5"/>
          <p:cNvGraphicFramePr>
            <a:graphicFrameLocks noChangeAspect="1"/>
          </p:cNvGraphicFramePr>
          <p:nvPr/>
        </p:nvGraphicFramePr>
        <p:xfrm>
          <a:off x="395288" y="981075"/>
          <a:ext cx="7023100" cy="181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6" name="Equation" r:id="rId3" imgW="7023100" imgH="1816100" progId="Equation.DSMT4">
                  <p:embed/>
                </p:oleObj>
              </mc:Choice>
              <mc:Fallback>
                <p:oleObj name="Equation" r:id="rId3" imgW="7023100" imgH="1816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981075"/>
                        <a:ext cx="7023100" cy="181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6"/>
          <p:cNvGraphicFramePr>
            <a:graphicFrameLocks noChangeAspect="1"/>
          </p:cNvGraphicFramePr>
          <p:nvPr/>
        </p:nvGraphicFramePr>
        <p:xfrm>
          <a:off x="401638" y="3054350"/>
          <a:ext cx="7186612" cy="284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7" name="Equation" r:id="rId5" imgW="148437600" imgH="58826400" progId="Equation.DSMT4">
                  <p:embed/>
                </p:oleObj>
              </mc:Choice>
              <mc:Fallback>
                <p:oleObj name="Equation" r:id="rId5" imgW="148437600" imgH="58826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38" y="3054350"/>
                        <a:ext cx="7186612" cy="284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33137" y="4768550"/>
            <a:ext cx="4464050" cy="574675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dirty="0"/>
              <a:t>由</a:t>
            </a:r>
            <a:r>
              <a:rPr lang="en-US" altLang="zh-CN" sz="2400" dirty="0"/>
              <a:t>(3.11)</a:t>
            </a:r>
            <a:r>
              <a:rPr lang="zh-CN" altLang="en-US" sz="2400" dirty="0"/>
              <a:t>和</a:t>
            </a:r>
            <a:r>
              <a:rPr lang="en-US" altLang="zh-CN" sz="2400" dirty="0"/>
              <a:t>(3.12)</a:t>
            </a:r>
            <a:r>
              <a:rPr lang="zh-CN" altLang="en-US" sz="2400" dirty="0"/>
              <a:t>得到</a:t>
            </a:r>
          </a:p>
        </p:txBody>
      </p:sp>
      <p:graphicFrame>
        <p:nvGraphicFramePr>
          <p:cNvPr id="40967" name="Object 6"/>
          <p:cNvGraphicFramePr>
            <a:graphicFrameLocks noChangeAspect="1"/>
          </p:cNvGraphicFramePr>
          <p:nvPr/>
        </p:nvGraphicFramePr>
        <p:xfrm>
          <a:off x="611188" y="981075"/>
          <a:ext cx="7993062" cy="364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0" name="Equation" r:id="rId3" imgW="7747000" imgH="3530600" progId="Equation.DSMT4">
                  <p:embed/>
                </p:oleObj>
              </mc:Choice>
              <mc:Fallback>
                <p:oleObj name="Equation" r:id="rId3" imgW="7747000" imgH="3530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981075"/>
                        <a:ext cx="7993062" cy="364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Object 7"/>
          <p:cNvGraphicFramePr>
            <a:graphicFrameLocks noChangeAspect="1"/>
          </p:cNvGraphicFramePr>
          <p:nvPr/>
        </p:nvGraphicFramePr>
        <p:xfrm>
          <a:off x="3132138" y="5013325"/>
          <a:ext cx="467995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1" name="Equation" r:id="rId5" imgW="4241800" imgH="876300" progId="Equation.DSMT4">
                  <p:embed/>
                </p:oleObj>
              </mc:Choice>
              <mc:Fallback>
                <p:oleObj name="Equation" r:id="rId5" imgW="4241800" imgH="876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5013325"/>
                        <a:ext cx="4679950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50256" y="865489"/>
            <a:ext cx="4826000" cy="6477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dirty="0"/>
              <a:t>上式两端取绝对值，则</a:t>
            </a:r>
          </a:p>
        </p:txBody>
      </p:sp>
      <p:graphicFrame>
        <p:nvGraphicFramePr>
          <p:cNvPr id="41991" name="Object 6"/>
          <p:cNvGraphicFramePr>
            <a:graphicFrameLocks noChangeAspect="1"/>
          </p:cNvGraphicFramePr>
          <p:nvPr/>
        </p:nvGraphicFramePr>
        <p:xfrm>
          <a:off x="539750" y="1341438"/>
          <a:ext cx="5715000" cy="387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4" name="Equation" r:id="rId3" imgW="5715000" imgH="3873500" progId="Equation.DSMT4">
                  <p:embed/>
                </p:oleObj>
              </mc:Choice>
              <mc:Fallback>
                <p:oleObj name="Equation" r:id="rId3" imgW="5715000" imgH="38735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341438"/>
                        <a:ext cx="5715000" cy="387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7"/>
          <p:cNvGraphicFramePr>
            <a:graphicFrameLocks noChangeAspect="1"/>
          </p:cNvGraphicFramePr>
          <p:nvPr/>
        </p:nvGraphicFramePr>
        <p:xfrm>
          <a:off x="1116013" y="5229225"/>
          <a:ext cx="71120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5" name="Equation" r:id="rId5" imgW="7112000" imgH="1028700" progId="Equation.DSMT4">
                  <p:embed/>
                </p:oleObj>
              </mc:Choice>
              <mc:Fallback>
                <p:oleObj name="Equation" r:id="rId5" imgW="7112000" imgH="1028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229225"/>
                        <a:ext cx="71120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63629" y="1000326"/>
            <a:ext cx="8208963" cy="576263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dirty="0"/>
              <a:t>下面考虑收敛速率，考虑</a:t>
            </a:r>
            <a:r>
              <a:rPr lang="en-US" altLang="zh-CN" sz="2400" dirty="0"/>
              <a:t>k</a:t>
            </a:r>
            <a:r>
              <a:rPr lang="zh-CN" altLang="en-US" sz="2400" dirty="0"/>
              <a:t>取充分大的情形。根据（</a:t>
            </a:r>
            <a:r>
              <a:rPr lang="en-US" altLang="zh-CN" sz="2400" dirty="0"/>
              <a:t>3.14</a:t>
            </a:r>
            <a:r>
              <a:rPr lang="zh-CN" altLang="en-US" sz="2400" dirty="0"/>
              <a:t>）</a:t>
            </a:r>
          </a:p>
        </p:txBody>
      </p:sp>
      <p:graphicFrame>
        <p:nvGraphicFramePr>
          <p:cNvPr id="43015" name="Object 6"/>
          <p:cNvGraphicFramePr>
            <a:graphicFrameLocks noChangeAspect="1"/>
          </p:cNvGraphicFramePr>
          <p:nvPr/>
        </p:nvGraphicFramePr>
        <p:xfrm>
          <a:off x="611188" y="1412875"/>
          <a:ext cx="7035800" cy="466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1" name="Equation" r:id="rId3" imgW="7035800" imgH="4660900" progId="Equation.DSMT4">
                  <p:embed/>
                </p:oleObj>
              </mc:Choice>
              <mc:Fallback>
                <p:oleObj name="Equation" r:id="rId3" imgW="7035800" imgH="46609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412875"/>
                        <a:ext cx="7035800" cy="466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8" name="Object 5"/>
          <p:cNvGraphicFramePr>
            <a:graphicFrameLocks noChangeAspect="1"/>
          </p:cNvGraphicFramePr>
          <p:nvPr/>
        </p:nvGraphicFramePr>
        <p:xfrm>
          <a:off x="827088" y="981075"/>
          <a:ext cx="6718300" cy="278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5" name="Equation" r:id="rId3" imgW="6718300" imgH="2781300" progId="Equation.DSMT4">
                  <p:embed/>
                </p:oleObj>
              </mc:Choice>
              <mc:Fallback>
                <p:oleObj name="Equation" r:id="rId3" imgW="6718300" imgH="2781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981075"/>
                        <a:ext cx="6718300" cy="278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3.3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抛物线法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（三点二次插值法）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75385" y="1165944"/>
            <a:ext cx="8451850" cy="521176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基本思想：在极小点附近用二次三项式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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x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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逼近目标函数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f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x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),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令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x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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与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f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x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)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在三点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x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(1)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&lt;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x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(2)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&lt;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x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(3)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处有相同的函数值，并假设</a:t>
            </a:r>
            <a:r>
              <a:rPr lang="zh-CN" alt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f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x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(1)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)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&gt;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f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(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x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(2)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)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, f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x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(2)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) &lt;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f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(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x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(3)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)</a:t>
            </a:r>
            <a:endParaRPr lang="en-US" altLang="zh-CN" sz="2400" b="0" i="1" dirty="0">
              <a:latin typeface="Times New Roman" panose="02020603050405020304" pitchFamily="18" charset="0"/>
              <a:cs typeface="Times New Roman" panose="02020603050405020304" pitchFamily="18" charset="0"/>
              <a:sym typeface="Euclid Symbol" panose="05050102010706020507" pitchFamily="18" charset="2"/>
            </a:endParaRPr>
          </a:p>
          <a:p>
            <a:pPr eaLnBrk="1" hangingPunct="1"/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令            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x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=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a+bx+cx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2                            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(9.3.21)</a:t>
            </a:r>
          </a:p>
          <a:p>
            <a:pPr eaLnBrk="1" hangingPunct="1"/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又令      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x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(1)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 = 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+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bx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(1)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+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c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x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(1)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)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2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=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f</a:t>
            </a: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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x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(1)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     (9.3.22)</a:t>
            </a:r>
            <a:endParaRPr lang="en-US" altLang="zh-CN" sz="2400" b="0" baseline="30000" dirty="0">
              <a:latin typeface="Times New Roman" panose="02020603050405020304" pitchFamily="18" charset="0"/>
              <a:cs typeface="Times New Roman" panose="02020603050405020304" pitchFamily="18" charset="0"/>
              <a:sym typeface="Euclid 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                 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x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(2)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 = 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+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bx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(2)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+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c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x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(2)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)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2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= 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f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x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(2)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)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       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(9.3.23)</a:t>
            </a:r>
            <a:endParaRPr lang="en-US" altLang="zh-CN" sz="2400" b="0" baseline="30000" dirty="0">
              <a:latin typeface="Times New Roman" panose="02020603050405020304" pitchFamily="18" charset="0"/>
              <a:cs typeface="Times New Roman" panose="02020603050405020304" pitchFamily="18" charset="0"/>
              <a:sym typeface="Euclid 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                 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x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(3)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 = 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+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bx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(3)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+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c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x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(3)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)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2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=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 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f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 </a:t>
            </a:r>
            <a:r>
              <a:rPr lang="en-US" altLang="zh-CN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(3)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)       (9.3.24)</a:t>
            </a:r>
          </a:p>
          <a:p>
            <a:pPr eaLnBrk="1" hangingPunct="1">
              <a:buFontTx/>
              <a:buNone/>
            </a:pP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解方程组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(9.3.22-24),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求二次逼近函数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x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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的系数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a</a:t>
            </a:r>
            <a:r>
              <a:rPr lang="zh-CN" alt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，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b</a:t>
            </a:r>
            <a:r>
              <a:rPr lang="zh-CN" alt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，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c</a:t>
            </a:r>
          </a:p>
          <a:p>
            <a:pPr eaLnBrk="1" hangingPunct="1">
              <a:buFontTx/>
              <a:buNone/>
            </a:pP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为书写方便，记</a:t>
            </a:r>
            <a:endParaRPr lang="zh-CN" altLang="zh-CN" sz="2400" b="0" dirty="0">
              <a:latin typeface="Times New Roman" panose="02020603050405020304" pitchFamily="18" charset="0"/>
              <a:cs typeface="Times New Roman" panose="02020603050405020304" pitchFamily="18" charset="0"/>
              <a:sym typeface="Euclid Symbol" panose="05050102010706020507" pitchFamily="18" charset="2"/>
            </a:endParaRP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6084" name="Object 2"/>
          <p:cNvGraphicFramePr>
            <a:graphicFrameLocks noGrp="1" noChangeAspect="1"/>
          </p:cNvGraphicFramePr>
          <p:nvPr>
            <p:ph type="body" idx="4294967295"/>
          </p:nvPr>
        </p:nvGraphicFramePr>
        <p:xfrm>
          <a:off x="760396" y="1106203"/>
          <a:ext cx="7456488" cy="509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9" name="Equation" r:id="rId3" imgW="188671200" imgH="128930400" progId="Equation.DSMT4">
                  <p:embed/>
                </p:oleObj>
              </mc:Choice>
              <mc:Fallback>
                <p:oleObj name="Equation" r:id="rId3" imgW="188671200" imgH="128930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396" y="1106203"/>
                        <a:ext cx="7456488" cy="509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10" name="Object 6"/>
          <p:cNvGraphicFramePr>
            <a:graphicFrameLocks noChangeAspect="1"/>
          </p:cNvGraphicFramePr>
          <p:nvPr/>
        </p:nvGraphicFramePr>
        <p:xfrm>
          <a:off x="395288" y="1052513"/>
          <a:ext cx="7848600" cy="400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43" name="Equation" r:id="rId3" imgW="8191500" imgH="4178300" progId="Equation.DSMT4">
                  <p:embed/>
                </p:oleObj>
              </mc:Choice>
              <mc:Fallback>
                <p:oleObj name="Equation" r:id="rId3" imgW="8191500" imgH="4178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052513"/>
                        <a:ext cx="7848600" cy="4002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3.4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两点三次插值法</a:t>
            </a:r>
          </a:p>
        </p:txBody>
      </p:sp>
      <p:graphicFrame>
        <p:nvGraphicFramePr>
          <p:cNvPr id="48135" name="Object 6"/>
          <p:cNvGraphicFramePr>
            <a:graphicFrameLocks noChangeAspect="1"/>
          </p:cNvGraphicFramePr>
          <p:nvPr/>
        </p:nvGraphicFramePr>
        <p:xfrm>
          <a:off x="408691" y="1162885"/>
          <a:ext cx="8610600" cy="273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8" name="Equation" r:id="rId3" imgW="8610600" imgH="2730500" progId="Equation.DSMT4">
                  <p:embed/>
                </p:oleObj>
              </mc:Choice>
              <mc:Fallback>
                <p:oleObj name="Equation" r:id="rId3" imgW="8610600" imgH="27305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691" y="1162885"/>
                        <a:ext cx="8610600" cy="273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19764" y="1057977"/>
            <a:ext cx="1066800" cy="4572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令</a:t>
            </a:r>
          </a:p>
        </p:txBody>
      </p:sp>
      <p:graphicFrame>
        <p:nvGraphicFramePr>
          <p:cNvPr id="49159" name="Object 6"/>
          <p:cNvGraphicFramePr>
            <a:graphicFrameLocks noChangeAspect="1"/>
          </p:cNvGraphicFramePr>
          <p:nvPr/>
        </p:nvGraphicFramePr>
        <p:xfrm>
          <a:off x="625475" y="1447800"/>
          <a:ext cx="7712075" cy="151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8" name="Equation" r:id="rId3" imgW="195072000" imgH="38404800" progId="Equation.DSMT4">
                  <p:embed/>
                </p:oleObj>
              </mc:Choice>
              <mc:Fallback>
                <p:oleObj name="Equation" r:id="rId3" imgW="195072000" imgH="38404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475" y="1447800"/>
                        <a:ext cx="7712075" cy="151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0" name="Rectangle 7"/>
          <p:cNvSpPr>
            <a:spLocks noChangeArrowheads="1"/>
          </p:cNvSpPr>
          <p:nvPr/>
        </p:nvSpPr>
        <p:spPr bwMode="auto">
          <a:xfrm>
            <a:off x="533400" y="3200400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将</a:t>
            </a:r>
            <a:r>
              <a:rPr lang="en-US" altLang="zh-CN" sz="2800"/>
              <a:t>(3.30)-(33)</a:t>
            </a:r>
            <a:r>
              <a:rPr lang="zh-CN" altLang="en-US" sz="2800"/>
              <a:t>依次代入</a:t>
            </a:r>
            <a:r>
              <a:rPr lang="en-US" altLang="zh-CN" sz="2800"/>
              <a:t>(3.29)</a:t>
            </a:r>
            <a:r>
              <a:rPr lang="zh-CN" altLang="en-US" sz="2800"/>
              <a:t>得</a:t>
            </a:r>
          </a:p>
        </p:txBody>
      </p:sp>
      <p:grpSp>
        <p:nvGrpSpPr>
          <p:cNvPr id="49161" name="Group 11"/>
          <p:cNvGrpSpPr/>
          <p:nvPr/>
        </p:nvGrpSpPr>
        <p:grpSpPr bwMode="auto">
          <a:xfrm>
            <a:off x="539750" y="3810000"/>
            <a:ext cx="7896225" cy="2222500"/>
            <a:chOff x="388" y="2400"/>
            <a:chExt cx="4974" cy="1400"/>
          </a:xfrm>
        </p:grpSpPr>
        <p:graphicFrame>
          <p:nvGraphicFramePr>
            <p:cNvPr id="49162" name="Object 8"/>
            <p:cNvGraphicFramePr>
              <a:graphicFrameLocks noChangeAspect="1"/>
            </p:cNvGraphicFramePr>
            <p:nvPr/>
          </p:nvGraphicFramePr>
          <p:xfrm>
            <a:off x="388" y="2400"/>
            <a:ext cx="4944" cy="1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19" name="Equation" r:id="rId5" imgW="188366400" imgH="53340000" progId="Equation.DSMT4">
                    <p:embed/>
                  </p:oleObj>
                </mc:Choice>
                <mc:Fallback>
                  <p:oleObj name="Equation" r:id="rId5" imgW="188366400" imgH="533400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" y="2400"/>
                          <a:ext cx="4944" cy="1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3" name="Rectangle 9"/>
            <p:cNvSpPr>
              <a:spLocks noChangeArrowheads="1"/>
            </p:cNvSpPr>
            <p:nvPr/>
          </p:nvSpPr>
          <p:spPr bwMode="auto">
            <a:xfrm>
              <a:off x="4704" y="2640"/>
              <a:ext cx="65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(3.34)</a:t>
              </a:r>
            </a:p>
          </p:txBody>
        </p:sp>
      </p:grpSp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018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00477" y="1002315"/>
            <a:ext cx="8529637" cy="1431925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目的是求</a:t>
            </a:r>
            <a:r>
              <a:rPr lang="zh-CN" altLang="en-US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的极小点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期望用它来逼近极小点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或者基于此再确定新的迭代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为此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求出满足极值条件的点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即满足</a:t>
            </a:r>
            <a:r>
              <a:rPr lang="zh-CN" altLang="en-US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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)=0, 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zh-CN" altLang="en-US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 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)&gt;0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的点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50183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graphicFrame>
        <p:nvGraphicFramePr>
          <p:cNvPr id="50184" name="Object 6"/>
          <p:cNvGraphicFramePr>
            <a:graphicFrameLocks noChangeAspect="1"/>
          </p:cNvGraphicFramePr>
          <p:nvPr/>
        </p:nvGraphicFramePr>
        <p:xfrm>
          <a:off x="725831" y="2234619"/>
          <a:ext cx="6250004" cy="4014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6" name="Equation" r:id="rId3" imgW="169773600" imgH="109118400" progId="Equation.DSMT4">
                  <p:embed/>
                </p:oleObj>
              </mc:Choice>
              <mc:Fallback>
                <p:oleObj name="Equation" r:id="rId3" imgW="169773600" imgH="109118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831" y="2234619"/>
                        <a:ext cx="6250004" cy="40149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6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graphicFrame>
        <p:nvGraphicFramePr>
          <p:cNvPr id="51207" name="Object 6"/>
          <p:cNvGraphicFramePr>
            <a:graphicFrameLocks noChangeAspect="1"/>
          </p:cNvGraphicFramePr>
          <p:nvPr/>
        </p:nvGraphicFramePr>
        <p:xfrm>
          <a:off x="457200" y="1143000"/>
          <a:ext cx="7696200" cy="500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9" name="Equation" r:id="rId3" imgW="7696200" imgH="5003800" progId="Equation.DSMT4">
                  <p:embed/>
                </p:oleObj>
              </mc:Choice>
              <mc:Fallback>
                <p:oleObj name="Equation" r:id="rId3" imgW="7696200" imgH="5003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143000"/>
                        <a:ext cx="7696200" cy="500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222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90600"/>
            <a:ext cx="7924800" cy="4572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注意到当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,b&gt;0,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故当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时由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(3.40)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</a:p>
        </p:txBody>
      </p:sp>
      <p:sp>
        <p:nvSpPr>
          <p:cNvPr id="52231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graphicFrame>
        <p:nvGraphicFramePr>
          <p:cNvPr id="52232" name="Object 7"/>
          <p:cNvGraphicFramePr>
            <a:graphicFrameLocks noChangeAspect="1"/>
          </p:cNvGraphicFramePr>
          <p:nvPr/>
        </p:nvGraphicFramePr>
        <p:xfrm>
          <a:off x="2667000" y="1524000"/>
          <a:ext cx="2044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2" name="Equation" r:id="rId3" imgW="2044700" imgH="838200" progId="Equation.DSMT4">
                  <p:embed/>
                </p:oleObj>
              </mc:Choice>
              <mc:Fallback>
                <p:oleObj name="Equation" r:id="rId3" imgW="2044700" imgH="838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524000"/>
                        <a:ext cx="2044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3" name="Rectangle 8"/>
          <p:cNvSpPr>
            <a:spLocks noChangeArrowheads="1"/>
          </p:cNvSpPr>
          <p:nvPr/>
        </p:nvSpPr>
        <p:spPr bwMode="auto">
          <a:xfrm>
            <a:off x="457200" y="2438400"/>
            <a:ext cx="8001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这个结果恰好是</a:t>
            </a:r>
            <a:r>
              <a:rPr lang="en-US" altLang="zh-CN" sz="2800"/>
              <a:t>(3.38).</a:t>
            </a:r>
            <a:r>
              <a:rPr lang="zh-CN" altLang="en-US" sz="2800"/>
              <a:t>这表明</a:t>
            </a:r>
            <a:r>
              <a:rPr lang="en-US" altLang="zh-CN" sz="2800"/>
              <a:t>(3.40)</a:t>
            </a:r>
            <a:r>
              <a:rPr lang="zh-CN" altLang="en-US" sz="2800"/>
              <a:t>是在</a:t>
            </a:r>
            <a:r>
              <a:rPr lang="en-US" altLang="zh-CN" sz="2800" i="1"/>
              <a:t>a</a:t>
            </a:r>
            <a:r>
              <a:rPr lang="en-US" altLang="zh-CN" sz="2800"/>
              <a:t>=0</a:t>
            </a:r>
            <a:r>
              <a:rPr lang="zh-CN" altLang="en-US" sz="2800"/>
              <a:t>和</a:t>
            </a:r>
            <a:r>
              <a:rPr lang="en-US" altLang="zh-CN" sz="2800" i="1"/>
              <a:t>a</a:t>
            </a:r>
            <a:r>
              <a:rPr lang="en-US" altLang="zh-CN" sz="2800" i="1">
                <a:sym typeface="Symbol" panose="05050102010706020507" pitchFamily="18" charset="2"/>
              </a:rPr>
              <a:t></a:t>
            </a:r>
            <a:r>
              <a:rPr lang="en-US" altLang="zh-CN" sz="2800"/>
              <a:t>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两种情形下极小点的统一表达式</a:t>
            </a:r>
            <a:r>
              <a:rPr lang="en-US" altLang="zh-CN" sz="2800"/>
              <a:t>.</a:t>
            </a:r>
          </a:p>
        </p:txBody>
      </p:sp>
      <p:sp>
        <p:nvSpPr>
          <p:cNvPr id="52234" name="Rectangle 9"/>
          <p:cNvSpPr>
            <a:spLocks noChangeArrowheads="1"/>
          </p:cNvSpPr>
          <p:nvPr/>
        </p:nvSpPr>
        <p:spPr bwMode="auto">
          <a:xfrm>
            <a:off x="533400" y="3657600"/>
            <a:ext cx="75136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这样可以解方程组来求出系数</a:t>
            </a:r>
            <a:r>
              <a:rPr lang="en-US" altLang="zh-CN" sz="2800" i="1" dirty="0" err="1"/>
              <a:t>a,b,c</a:t>
            </a:r>
            <a:r>
              <a:rPr lang="zh-CN" altLang="en-US" sz="2800" dirty="0"/>
              <a:t>再代入</a:t>
            </a:r>
            <a:r>
              <a:rPr lang="en-US" altLang="zh-CN" sz="2800" dirty="0"/>
              <a:t>(3.40),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从而可得</a:t>
            </a:r>
            <a:r>
              <a:rPr lang="zh-CN" altLang="en-US" sz="2800" i="1" dirty="0">
                <a:sym typeface="Symbol" panose="05050102010706020507" pitchFamily="18" charset="2"/>
              </a:rPr>
              <a:t>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sym typeface="Symbol" panose="05050102010706020507" pitchFamily="18" charset="2"/>
              </a:rPr>
              <a:t>)</a:t>
            </a:r>
            <a:r>
              <a:rPr lang="zh-CN" altLang="en-US" sz="2800" dirty="0"/>
              <a:t>的极小点</a:t>
            </a:r>
            <a:r>
              <a:rPr lang="en-US" altLang="zh-CN" sz="2800" i="1" dirty="0"/>
              <a:t>x*.</a:t>
            </a:r>
          </a:p>
        </p:txBody>
      </p:sp>
      <p:graphicFrame>
        <p:nvGraphicFramePr>
          <p:cNvPr id="52235" name="Object 10"/>
          <p:cNvGraphicFramePr>
            <a:graphicFrameLocks noChangeAspect="1"/>
          </p:cNvGraphicFramePr>
          <p:nvPr/>
        </p:nvGraphicFramePr>
        <p:xfrm>
          <a:off x="533400" y="4648200"/>
          <a:ext cx="8051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3" name="Equation" r:id="rId5" imgW="8051800" imgH="965200" progId="Equation.DSMT4">
                  <p:embed/>
                </p:oleObj>
              </mc:Choice>
              <mc:Fallback>
                <p:oleObj name="Equation" r:id="rId5" imgW="8051800" imgH="965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648200"/>
                        <a:ext cx="8051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325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14400"/>
            <a:ext cx="1981200" cy="3810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/>
              <a:t>记</a:t>
            </a:r>
          </a:p>
        </p:txBody>
      </p:sp>
      <p:sp>
        <p:nvSpPr>
          <p:cNvPr id="53255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graphicFrame>
        <p:nvGraphicFramePr>
          <p:cNvPr id="53256" name="Object 6"/>
          <p:cNvGraphicFramePr>
            <a:graphicFrameLocks noChangeAspect="1"/>
          </p:cNvGraphicFramePr>
          <p:nvPr/>
        </p:nvGraphicFramePr>
        <p:xfrm>
          <a:off x="842963" y="914400"/>
          <a:ext cx="7953375" cy="290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4" name="Equation" r:id="rId3" imgW="201168000" imgH="73456800" progId="Equation.DSMT4">
                  <p:embed/>
                </p:oleObj>
              </mc:Choice>
              <mc:Fallback>
                <p:oleObj name="Equation" r:id="rId3" imgW="201168000" imgH="73456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963" y="914400"/>
                        <a:ext cx="7953375" cy="290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7" name="Object 7"/>
          <p:cNvGraphicFramePr>
            <a:graphicFrameLocks noChangeAspect="1"/>
          </p:cNvGraphicFramePr>
          <p:nvPr/>
        </p:nvGraphicFramePr>
        <p:xfrm>
          <a:off x="323850" y="3970337"/>
          <a:ext cx="8472488" cy="2413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5" name="Equation" r:id="rId5" imgW="9309100" imgH="2654300" progId="Equation.DSMT4">
                  <p:embed/>
                </p:oleObj>
              </mc:Choice>
              <mc:Fallback>
                <p:oleObj name="Equation" r:id="rId5" imgW="9309100" imgH="2654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970337"/>
                        <a:ext cx="8472488" cy="24139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9" name="Rectangle 5"/>
          <p:cNvSpPr>
            <a:spLocks noChangeArrowheads="1"/>
          </p:cNvSpPr>
          <p:nvPr/>
        </p:nvSpPr>
        <p:spPr bwMode="auto">
          <a:xfrm>
            <a:off x="139700" y="4068763"/>
            <a:ext cx="1841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US" altLang="zh-CN" sz="4400">
                <a:solidFill>
                  <a:schemeClr val="tx2"/>
                </a:solidFill>
              </a:rPr>
            </a:br>
            <a:endParaRPr lang="en-US" altLang="zh-CN" sz="4400">
              <a:solidFill>
                <a:schemeClr val="tx2"/>
              </a:solidFill>
            </a:endParaRPr>
          </a:p>
        </p:txBody>
      </p:sp>
      <p:graphicFrame>
        <p:nvGraphicFramePr>
          <p:cNvPr id="54281" name="Object 7"/>
          <p:cNvGraphicFramePr>
            <a:graphicFrameLocks noChangeAspect="1"/>
          </p:cNvGraphicFramePr>
          <p:nvPr/>
        </p:nvGraphicFramePr>
        <p:xfrm>
          <a:off x="673893" y="1322633"/>
          <a:ext cx="7796213" cy="369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4" name="Equation" r:id="rId3" imgW="197205600" imgH="93573600" progId="Equation.DSMT4">
                  <p:embed/>
                </p:oleObj>
              </mc:Choice>
              <mc:Fallback>
                <p:oleObj name="Equation" r:id="rId3" imgW="197205600" imgH="93573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893" y="1322633"/>
                        <a:ext cx="7796213" cy="3697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  <a:r>
              <a:rPr lang="en-US" altLang="zh-CN" dirty="0"/>
              <a:t>(</a:t>
            </a:r>
            <a:r>
              <a:rPr lang="zh-CN" altLang="en-US" dirty="0"/>
              <a:t>两点三次插值法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9.4. </a:t>
            </a:r>
            <a:r>
              <a:rPr lang="zh-CN" altLang="en-US" dirty="0"/>
              <a:t>非精确线搜索算法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10138" y="1108576"/>
            <a:ext cx="8229600" cy="453072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sz="2800" dirty="0"/>
              <a:t>精确线搜索算法</a:t>
            </a:r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527" y="1636361"/>
            <a:ext cx="3348134" cy="6760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917" y="2466951"/>
            <a:ext cx="2486528" cy="73580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04800" y="3624602"/>
            <a:ext cx="790217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非精确线搜索算法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不要求</a:t>
            </a:r>
            <a:r>
              <a:rPr lang="el-GR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8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的最小值点，而是仅仅要求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8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满足某些不等式性质．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线搜索准则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40632" y="954271"/>
            <a:ext cx="8280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在非精确线搜索算法中，选取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i="1" baseline="-25000" dirty="0"/>
              <a:t>k</a:t>
            </a:r>
            <a:r>
              <a:rPr lang="en-US" altLang="zh-CN" i="1" dirty="0"/>
              <a:t> </a:t>
            </a:r>
            <a:r>
              <a:rPr lang="zh-CN" altLang="en-US" dirty="0"/>
              <a:t>需要满足一定的要求，这些要求被称为</a:t>
            </a:r>
            <a:r>
              <a:rPr lang="zh-CN" altLang="en-US" b="1" dirty="0"/>
              <a:t>线搜索准则</a:t>
            </a:r>
            <a:r>
              <a:rPr lang="zh-CN" altLang="en-US" dirty="0"/>
              <a:t>．</a:t>
            </a:r>
          </a:p>
        </p:txBody>
      </p:sp>
      <p:sp>
        <p:nvSpPr>
          <p:cNvPr id="6" name="矩形 5"/>
          <p:cNvSpPr/>
          <p:nvPr/>
        </p:nvSpPr>
        <p:spPr>
          <a:xfrm>
            <a:off x="526319" y="1972803"/>
            <a:ext cx="24721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URWPalladioL-Bold"/>
              </a:rPr>
              <a:t>9.4.1. Armijo </a:t>
            </a:r>
            <a:r>
              <a:rPr lang="zh-CN" altLang="en-US" sz="2400" dirty="0">
                <a:solidFill>
                  <a:srgbClr val="0000FF"/>
                </a:solidFill>
                <a:latin typeface="FandolSong-Bold-Identity-H"/>
              </a:rPr>
              <a:t>准则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15" y="2463344"/>
            <a:ext cx="6848475" cy="18954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544" y="4323343"/>
            <a:ext cx="4219575" cy="22098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317633" y="1061720"/>
            <a:ext cx="8547233" cy="5088823"/>
          </a:xfrm>
          <a:prstGeom prst="rect">
            <a:avLst/>
          </a:prstGeom>
        </p:spPr>
        <p:txBody>
          <a:bodyPr/>
          <a:lstStyle/>
          <a:p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引入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Armijo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准则的目的是保证每一步迭代充分下降 </a:t>
            </a:r>
          </a:p>
          <a:p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Armijo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准则有直观的几何含义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它指的是点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α, φ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必须在直线 </a:t>
            </a:r>
          </a:p>
          <a:p>
            <a:pPr marL="0" indent="0" algn="ctr">
              <a:buNone/>
            </a:pP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 + 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zh-CN" altLang="en-US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∇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="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的下方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上图中区间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α</a:t>
            </a:r>
            <a:r>
              <a:rPr lang="en-US" altLang="zh-CN" sz="28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中的点均满足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Armijo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准则 </a:t>
            </a:r>
          </a:p>
          <a:p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参数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通常选为一个很小的正数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例如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</a:t>
            </a:r>
            <a:r>
              <a:rPr lang="zh-CN" altLang="en-US" sz="2800" b="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Armijo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准则非常容易得到满足 </a:t>
            </a:r>
          </a:p>
          <a:p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Armijo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准则需要配合其他准则以保证迭代的收敛性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因为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 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显然满足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Armijo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准则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此时迭代序列中的点固定不变 </a:t>
            </a:r>
          </a:p>
        </p:txBody>
      </p:sp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519764" y="1057275"/>
                <a:ext cx="7885113" cy="1955800"/>
              </a:xfrm>
              <a:prstGeom prst="rect">
                <a:avLst/>
              </a:prstGeo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寻找一个满足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Armijo 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准则的步长是比较容易的，一个最常用的算法是回退法．给定初值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zh-CN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</m:acc>
                  </m:oMath>
                </a14:m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，回退法通过不断以指数方式缩小试探步长，找到第一个满足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Armijo 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准则</a:t>
                </a:r>
                <a:r>
                  <a:rPr lang="en-US" altLang="zh-CN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(4.1)</a:t>
                </a:r>
                <a:r>
                  <a:rPr lang="zh-CN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的点．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519764" y="1057275"/>
                <a:ext cx="7885113" cy="1955800"/>
              </a:xfrm>
              <a:prstGeom prst="rect">
                <a:avLst/>
              </a:prstGeom>
              <a:blipFill rotWithShape="1">
                <a:blip r:embed="rId2"/>
                <a:stretch>
                  <a:fillRect l="-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52" y="3125561"/>
            <a:ext cx="6372225" cy="267652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98383" y="1186848"/>
            <a:ext cx="8229600" cy="4530725"/>
          </a:xfrm>
          <a:prstGeom prst="rect">
            <a:avLst/>
          </a:prstGeom>
        </p:spPr>
        <p:txBody>
          <a:bodyPr/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为了克服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Armijo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准则的缺陷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我们需要引入其他准则来保证每一 步的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不会太小 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Armijo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准则只要求点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α, 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必须处在某直线下方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我们也可使用相同的形式使得该点必须处在另一条直线的上方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这就 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Armijo-Goldstein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准则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简称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Goldstein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准则</a:t>
            </a:r>
          </a:p>
        </p:txBody>
      </p:sp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9.4.2. Goldstein </a:t>
            </a:r>
            <a:r>
              <a:rPr lang="zh-CN" altLang="en-US" b="1" dirty="0"/>
              <a:t>准则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3645161"/>
            <a:ext cx="5386056" cy="216851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75" y="1044325"/>
            <a:ext cx="7524750" cy="265747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9.4.3. Wolfe </a:t>
            </a:r>
            <a:r>
              <a:rPr lang="zh-CN" altLang="en-US" b="1" dirty="0"/>
              <a:t>准则</a:t>
            </a:r>
            <a:endParaRPr lang="zh-CN" altLang="en-US" dirty="0"/>
          </a:p>
        </p:txBody>
      </p:sp>
      <p:pic>
        <p:nvPicPr>
          <p:cNvPr id="9" name="内容占位符 8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404261" y="1157889"/>
            <a:ext cx="8115300" cy="20859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64" y="3827430"/>
            <a:ext cx="6697159" cy="2247552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9.4.4 </a:t>
            </a:r>
            <a:r>
              <a:rPr lang="zh-CN" altLang="en-US" b="1" dirty="0"/>
              <a:t>非单调线搜索准则</a:t>
            </a:r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558266" y="1247492"/>
            <a:ext cx="7839075" cy="200025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69507" y="1048135"/>
            <a:ext cx="8229600" cy="453072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 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Zoutendijk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考虑一般的迭代格式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(9.1.3)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，其中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="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是搜索方向，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800" b="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是步长，且在迭代过程中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Wolfe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准则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(4.4)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满足．假设目标函数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下有界、连续可微且梯度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L-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利普希茨连续，即</a:t>
            </a:r>
          </a:p>
          <a:p>
            <a:pPr marL="0" indent="0">
              <a:buNone/>
            </a:pP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∇f 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∇f 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⩽ 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L||x − y||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∀ 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∈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那么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其中</a:t>
            </a:r>
            <a:r>
              <a:rPr lang="en-US" altLang="zh-CN" sz="2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zh-CN" sz="2800" b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</a:t>
            </a:r>
            <a:r>
              <a:rPr lang="en-US" altLang="zh-CN" sz="2800" b="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为负梯度</a:t>
            </a:r>
            <a:r>
              <a:rPr lang="zh-CN" altLang="en-US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−∇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和下降方向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="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夹角的余弦，即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609" y="3516894"/>
            <a:ext cx="3174780" cy="79070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904" y="5599604"/>
            <a:ext cx="3036649" cy="833589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288758" y="975093"/>
                <a:ext cx="8229600" cy="3789363"/>
              </a:xfrm>
              <a:prstGeom prst="rect">
                <a:avLst/>
              </a:prstGeo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推论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4.1 </a:t>
                </a: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线搜索算法的收敛性</a:t>
                </a: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对于迭代法</a:t>
                </a: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(9.1.3)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，设</a:t>
                </a:r>
                <a:r>
                  <a:rPr lang="en-US" altLang="zh-CN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b="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CN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为每一步负梯度</a:t>
                </a:r>
                <a:r>
                  <a:rPr lang="zh-CN" altLang="en-US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−∇</a:t>
                </a:r>
                <a:r>
                  <a:rPr lang="en-US" altLang="zh-CN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b="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b="0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与下降方向</a:t>
                </a:r>
                <a:r>
                  <a:rPr lang="en-US" altLang="zh-CN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b="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CN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的夹角，并假设对任意的</a:t>
                </a:r>
                <a:r>
                  <a:rPr lang="en-US" altLang="zh-CN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，存在常数</a:t>
                </a:r>
                <a:r>
                  <a:rPr lang="en-US" altLang="zh-CN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 &gt; </a:t>
                </a: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，使得</a:t>
                </a:r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1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则在定理</a:t>
                </a: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4.1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成立的条件下，有</a:t>
                </a:r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endParaRPr lang="zh-CN" alt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288758" y="975093"/>
                <a:ext cx="8229600" cy="3789363"/>
              </a:xfrm>
              <a:prstGeom prst="rect">
                <a:avLst/>
              </a:prstGeom>
              <a:blipFill rotWithShape="1">
                <a:blip r:embed="rId2"/>
                <a:stretch>
                  <a:fillRect l="-6" t="-10" r="6" b="-52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466" y="4839831"/>
            <a:ext cx="2784772" cy="675096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/>
              <a:t>一维搜索的</a:t>
            </a:r>
            <a:r>
              <a:rPr lang="en-US" altLang="zh-CN" sz="3600"/>
              <a:t>MATLAB</a:t>
            </a:r>
            <a:r>
              <a:rPr lang="zh-CN" altLang="en-US" sz="3600"/>
              <a:t>求解 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74675" y="1052513"/>
            <a:ext cx="8569325" cy="5805487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求解函数</a:t>
            </a:r>
          </a:p>
        </p:txBody>
      </p:sp>
      <p:graphicFrame>
        <p:nvGraphicFramePr>
          <p:cNvPr id="55300" name="Object 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90713" y="1619067"/>
          <a:ext cx="8010525" cy="506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5" name="文档" r:id="rId3" imgW="8147050" imgH="5157470" progId="Word.Document.8">
                  <p:embed/>
                </p:oleObj>
              </mc:Choice>
              <mc:Fallback>
                <p:oleObj name="文档" r:id="rId3" imgW="8147050" imgH="515747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713" y="1619067"/>
                        <a:ext cx="8010525" cy="506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/>
              <a:t>一维搜索的</a:t>
            </a:r>
            <a:r>
              <a:rPr lang="en-US" altLang="zh-CN" sz="3600"/>
              <a:t>MATLAB</a:t>
            </a:r>
            <a:r>
              <a:rPr lang="zh-CN" altLang="en-US" sz="3600"/>
              <a:t>求解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08063" y="1143000"/>
            <a:ext cx="8135937" cy="5229225"/>
          </a:xfrm>
          <a:prstGeom prst="rect">
            <a:avLst/>
          </a:prstGeom>
        </p:spPr>
        <p:txBody>
          <a:bodyPr/>
          <a:lstStyle/>
          <a:p>
            <a:r>
              <a:rPr lang="zh-CN" altLang="en-US" sz="2400"/>
              <a:t>函数概要</a:t>
            </a:r>
          </a:p>
          <a:p>
            <a:pPr lvl="1"/>
            <a:r>
              <a:rPr lang="en-US" altLang="zh-CN" sz="2400"/>
              <a:t>fminbnd</a:t>
            </a:r>
            <a:r>
              <a:rPr lang="zh-CN" altLang="en-US" sz="2400"/>
              <a:t>函数可以计算一元函数最小值优化问题，它用于求解一维设计变量在固定区间内的目标函数的最小值，亦即最优化问题的约束条件只有设计变量的上下界。其求解的算法是我们在前面小结中重点讲述的基于</a:t>
            </a:r>
            <a:r>
              <a:rPr lang="zh-CN" altLang="en-US" sz="2400" b="1">
                <a:solidFill>
                  <a:srgbClr val="FF0000"/>
                </a:solidFill>
              </a:rPr>
              <a:t>黄金分割法和抛物线插值法</a:t>
            </a:r>
            <a:r>
              <a:rPr lang="zh-CN" altLang="en-US" sz="2400"/>
              <a:t>。</a:t>
            </a:r>
          </a:p>
          <a:p>
            <a:pPr lvl="1"/>
            <a:r>
              <a:rPr lang="zh-CN" altLang="en-US" sz="2400"/>
              <a:t>在使用</a:t>
            </a:r>
            <a:r>
              <a:rPr lang="en-US" altLang="zh-CN" sz="2400"/>
              <a:t>fminbnd</a:t>
            </a:r>
            <a:r>
              <a:rPr lang="zh-CN" altLang="en-US" sz="2400"/>
              <a:t>进行优化的过程中，除非</a:t>
            </a:r>
            <a:r>
              <a:rPr lang="en-US" altLang="zh-CN" sz="2400"/>
              <a:t>x1</a:t>
            </a:r>
            <a:r>
              <a:rPr lang="zh-CN" altLang="en-US" sz="2400"/>
              <a:t>和</a:t>
            </a:r>
            <a:r>
              <a:rPr lang="en-US" altLang="zh-CN" sz="2400"/>
              <a:t>x2</a:t>
            </a:r>
            <a:r>
              <a:rPr lang="zh-CN" altLang="en-US" sz="2400"/>
              <a:t>十分接近，否则算法将不会在区间的端点评价目标函数，因而设计变量的限制条件需要指定为开区间</a:t>
            </a:r>
            <a:r>
              <a:rPr lang="en-US" altLang="zh-CN" sz="2400"/>
              <a:t>(x1,x2)</a:t>
            </a:r>
            <a:r>
              <a:rPr lang="zh-CN" altLang="en-US" sz="2400"/>
              <a:t>，如果目标函数的最小值恰好在</a:t>
            </a:r>
            <a:r>
              <a:rPr lang="en-US" altLang="zh-CN" sz="2400"/>
              <a:t>x1</a:t>
            </a:r>
            <a:r>
              <a:rPr lang="zh-CN" altLang="en-US" sz="2400"/>
              <a:t>处或者</a:t>
            </a:r>
            <a:r>
              <a:rPr lang="en-US" altLang="zh-CN" sz="2400"/>
              <a:t>x2</a:t>
            </a:r>
            <a:r>
              <a:rPr lang="zh-CN" altLang="en-US" sz="2400"/>
              <a:t>处取得，</a:t>
            </a:r>
            <a:r>
              <a:rPr lang="en-US" altLang="zh-CN" sz="2400"/>
              <a:t>fminbnd</a:t>
            </a:r>
            <a:r>
              <a:rPr lang="zh-CN" altLang="en-US" sz="2400"/>
              <a:t>将返回该区间的一个内点，且其与端点</a:t>
            </a:r>
            <a:r>
              <a:rPr lang="en-US" altLang="zh-CN" sz="2400"/>
              <a:t>x1</a:t>
            </a:r>
            <a:r>
              <a:rPr lang="zh-CN" altLang="en-US" sz="2400"/>
              <a:t>或者</a:t>
            </a:r>
            <a:r>
              <a:rPr lang="en-US" altLang="zh-CN" sz="2400"/>
              <a:t>x2</a:t>
            </a:r>
            <a:r>
              <a:rPr lang="zh-CN" altLang="en-US" sz="2400"/>
              <a:t>的距离不超过</a:t>
            </a:r>
            <a:r>
              <a:rPr lang="en-US" altLang="zh-CN" sz="2400"/>
              <a:t>2TolX</a:t>
            </a:r>
            <a:r>
              <a:rPr lang="zh-CN" altLang="en-US" sz="2400"/>
              <a:t>，其中</a:t>
            </a:r>
            <a:r>
              <a:rPr lang="en-US" altLang="zh-CN" sz="2400"/>
              <a:t>TolX</a:t>
            </a:r>
            <a:r>
              <a:rPr lang="zh-CN" altLang="en-US" sz="2400"/>
              <a:t>为最优解</a:t>
            </a:r>
            <a:r>
              <a:rPr lang="en-US" altLang="zh-CN" sz="2400"/>
              <a:t>x</a:t>
            </a:r>
            <a:r>
              <a:rPr lang="zh-CN" altLang="en-US" sz="2400"/>
              <a:t>处的误差限。 </a:t>
            </a:r>
          </a:p>
        </p:txBody>
      </p:sp>
    </p:spTree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/>
              <a:t>一维搜索的</a:t>
            </a:r>
            <a:r>
              <a:rPr lang="en-US" altLang="zh-CN" sz="3600"/>
              <a:t>MATLAB</a:t>
            </a:r>
            <a:r>
              <a:rPr lang="zh-CN" altLang="en-US" sz="3600"/>
              <a:t>求解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143000"/>
            <a:ext cx="5329238" cy="792163"/>
          </a:xfrm>
          <a:prstGeom prst="rect">
            <a:avLst/>
          </a:prstGeom>
        </p:spPr>
        <p:txBody>
          <a:bodyPr/>
          <a:lstStyle/>
          <a:p>
            <a:r>
              <a:rPr lang="zh-CN" altLang="en-US" sz="1800"/>
              <a:t> 输入参数和输出参数 </a:t>
            </a:r>
          </a:p>
        </p:txBody>
      </p:sp>
      <p:graphicFrame>
        <p:nvGraphicFramePr>
          <p:cNvPr id="57348" name="Object 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074738" y="1643063"/>
          <a:ext cx="8069262" cy="443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9" name="文档" r:id="rId3" imgW="8188325" imgH="4517390" progId="Word.Document.8">
                  <p:embed/>
                </p:oleObj>
              </mc:Choice>
              <mc:Fallback>
                <p:oleObj name="文档" r:id="rId3" imgW="8188325" imgH="451739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4738" y="1643063"/>
                        <a:ext cx="8069262" cy="443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/>
              <a:t>一维搜索的</a:t>
            </a:r>
            <a:r>
              <a:rPr lang="en-US" altLang="zh-CN" sz="3600"/>
              <a:t>MATLAB</a:t>
            </a:r>
            <a:r>
              <a:rPr lang="zh-CN" altLang="en-US" sz="3600"/>
              <a:t>求解</a:t>
            </a:r>
          </a:p>
        </p:txBody>
      </p:sp>
      <p:graphicFrame>
        <p:nvGraphicFramePr>
          <p:cNvPr id="58371" name="Object 2"/>
          <p:cNvGraphicFramePr>
            <a:graphicFrameLocks noGrp="1" noChangeAspect="1"/>
          </p:cNvGraphicFramePr>
          <p:nvPr>
            <p:ph idx="4294967295"/>
          </p:nvPr>
        </p:nvGraphicFramePr>
        <p:xfrm>
          <a:off x="1075923" y="1287747"/>
          <a:ext cx="7115175" cy="492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3" name="文档" r:id="rId3" imgW="5980430" imgH="4142105" progId="Word.Document.8">
                  <p:embed/>
                </p:oleObj>
              </mc:Choice>
              <mc:Fallback>
                <p:oleObj name="文档" r:id="rId3" imgW="5980430" imgH="414210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923" y="1287747"/>
                        <a:ext cx="7115175" cy="492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/>
              <a:t>一维搜索的</a:t>
            </a:r>
            <a:r>
              <a:rPr lang="en-US" altLang="zh-CN" sz="3600"/>
              <a:t>MATLAB</a:t>
            </a:r>
            <a:r>
              <a:rPr lang="zh-CN" altLang="en-US" sz="3600"/>
              <a:t>求解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2387" y="1018674"/>
            <a:ext cx="3810000" cy="4114800"/>
          </a:xfrm>
          <a:prstGeom prst="rect">
            <a:avLst/>
          </a:prstGeom>
        </p:spPr>
        <p:txBody>
          <a:bodyPr/>
          <a:lstStyle/>
          <a:p>
            <a:r>
              <a:rPr lang="zh-CN" altLang="en-US" sz="1800"/>
              <a:t>控制参数设置 </a:t>
            </a:r>
          </a:p>
        </p:txBody>
      </p:sp>
      <p:graphicFrame>
        <p:nvGraphicFramePr>
          <p:cNvPr id="59396" name="Object 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73769" y="1487419"/>
          <a:ext cx="7451725" cy="475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7" name="文档" r:id="rId3" imgW="7585075" imgH="4841875" progId="Word.Document.8">
                  <p:embed/>
                </p:oleObj>
              </mc:Choice>
              <mc:Fallback>
                <p:oleObj name="文档" r:id="rId3" imgW="7585075" imgH="484187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769" y="1487419"/>
                        <a:ext cx="7451725" cy="475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/>
              <a:t>一维搜索的</a:t>
            </a:r>
            <a:r>
              <a:rPr lang="en-US" altLang="zh-CN" sz="3600"/>
              <a:t>MATLAB</a:t>
            </a:r>
            <a:r>
              <a:rPr lang="zh-CN" altLang="en-US" sz="3600"/>
              <a:t>求解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19138" y="836613"/>
            <a:ext cx="8424862" cy="5472112"/>
          </a:xfrm>
          <a:prstGeom prst="rect">
            <a:avLst/>
          </a:prstGeom>
        </p:spPr>
        <p:txBody>
          <a:bodyPr/>
          <a:lstStyle/>
          <a:p>
            <a:r>
              <a:rPr lang="zh-CN" altLang="en-US" sz="1800"/>
              <a:t>命令详解</a:t>
            </a:r>
          </a:p>
          <a:p>
            <a:pPr lvl="1"/>
            <a:r>
              <a:rPr lang="en-US" altLang="zh-CN" sz="1800"/>
              <a:t>x = fminbnd(fun,x1,x2)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>
                <a:ea typeface="仿宋_GB2312" panose="02010609030101010101" pitchFamily="49" charset="-122"/>
              </a:rPr>
              <a:t>          返回标量函数</a:t>
            </a:r>
            <a:r>
              <a:rPr lang="en-US" altLang="zh-CN" sz="1800">
                <a:ea typeface="仿宋_GB2312" panose="02010609030101010101" pitchFamily="49" charset="-122"/>
              </a:rPr>
              <a:t>fun</a:t>
            </a:r>
            <a:r>
              <a:rPr lang="zh-CN" altLang="en-US" sz="1800">
                <a:ea typeface="仿宋_GB2312" panose="02010609030101010101" pitchFamily="49" charset="-122"/>
              </a:rPr>
              <a:t>在满足</a:t>
            </a:r>
            <a:r>
              <a:rPr lang="en-US" altLang="zh-CN" sz="1800">
                <a:ea typeface="仿宋_GB2312" panose="02010609030101010101" pitchFamily="49" charset="-122"/>
              </a:rPr>
              <a:t>x1&lt;x&lt;x2</a:t>
            </a:r>
            <a:r>
              <a:rPr lang="zh-CN" altLang="en-US" sz="1800">
                <a:ea typeface="仿宋_GB2312" panose="02010609030101010101" pitchFamily="49" charset="-122"/>
              </a:rPr>
              <a:t>条件下取最小值时设计变量</a:t>
            </a:r>
            <a:r>
              <a:rPr lang="en-US" altLang="zh-CN" sz="1800">
                <a:ea typeface="仿宋_GB2312" panose="02010609030101010101" pitchFamily="49" charset="-122"/>
              </a:rPr>
              <a:t>x</a:t>
            </a:r>
            <a:r>
              <a:rPr lang="zh-CN" altLang="en-US" sz="1800">
                <a:ea typeface="仿宋_GB2312" panose="02010609030101010101" pitchFamily="49" charset="-122"/>
              </a:rPr>
              <a:t>的值。</a:t>
            </a:r>
          </a:p>
          <a:p>
            <a:pPr lvl="1"/>
            <a:r>
              <a:rPr lang="en-US" altLang="zh-CN" sz="1800"/>
              <a:t>x = fminbnd(fun,x1,x2,options)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>
                <a:ea typeface="仿宋_GB2312" panose="02010609030101010101" pitchFamily="49" charset="-122"/>
              </a:rPr>
              <a:t>          在求解问题的同时用</a:t>
            </a:r>
            <a:r>
              <a:rPr lang="en-US" altLang="zh-CN" sz="1800">
                <a:ea typeface="仿宋_GB2312" panose="02010609030101010101" pitchFamily="49" charset="-122"/>
              </a:rPr>
              <a:t>options</a:t>
            </a:r>
            <a:r>
              <a:rPr lang="zh-CN" altLang="en-US" sz="1800">
                <a:ea typeface="仿宋_GB2312" panose="02010609030101010101" pitchFamily="49" charset="-122"/>
              </a:rPr>
              <a:t>指定的优化参数进行目标函数的最小化</a:t>
            </a:r>
          </a:p>
          <a:p>
            <a:pPr lvl="1"/>
            <a:r>
              <a:rPr lang="en-US" altLang="zh-CN" sz="1800"/>
              <a:t>[x,fval] = fminbnd(...)</a:t>
            </a:r>
            <a:endParaRPr lang="de-DE" altLang="zh-CN" sz="1800"/>
          </a:p>
          <a:p>
            <a:pPr>
              <a:buFont typeface="Wingdings" panose="05000000000000000000" pitchFamily="2" charset="2"/>
              <a:buNone/>
            </a:pPr>
            <a:r>
              <a:rPr lang="zh-CN" altLang="de-DE" sz="1800">
                <a:ea typeface="仿宋_GB2312" panose="02010609030101010101" pitchFamily="49" charset="-122"/>
              </a:rPr>
              <a:t>          返回最优解</a:t>
            </a:r>
            <a:r>
              <a:rPr lang="en-US" altLang="zh-CN" sz="1800">
                <a:ea typeface="仿宋_GB2312" panose="02010609030101010101" pitchFamily="49" charset="-122"/>
              </a:rPr>
              <a:t>x</a:t>
            </a:r>
            <a:r>
              <a:rPr lang="zh-CN" altLang="de-DE" sz="1800">
                <a:ea typeface="仿宋_GB2312" panose="02010609030101010101" pitchFamily="49" charset="-122"/>
              </a:rPr>
              <a:t>处的目标函数值</a:t>
            </a:r>
            <a:r>
              <a:rPr lang="en-US" altLang="zh-CN" sz="1800">
                <a:ea typeface="仿宋_GB2312" panose="02010609030101010101" pitchFamily="49" charset="-122"/>
              </a:rPr>
              <a:t>fval</a:t>
            </a:r>
            <a:r>
              <a:rPr lang="zh-CN" altLang="en-US" sz="1800">
                <a:ea typeface="仿宋_GB2312" panose="02010609030101010101" pitchFamily="49" charset="-122"/>
              </a:rPr>
              <a:t>。</a:t>
            </a:r>
          </a:p>
          <a:p>
            <a:pPr lvl="1"/>
            <a:r>
              <a:rPr lang="en-US" altLang="zh-CN" sz="1800"/>
              <a:t>[x,fval,exitflag] = fminbnd(...)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>
                <a:ea typeface="仿宋_GB2312" panose="02010609030101010101" pitchFamily="49" charset="-122"/>
              </a:rPr>
              <a:t>          在优化计算结束之时返回</a:t>
            </a:r>
            <a:r>
              <a:rPr lang="en-US" altLang="zh-CN" sz="1800">
                <a:ea typeface="仿宋_GB2312" panose="02010609030101010101" pitchFamily="49" charset="-122"/>
              </a:rPr>
              <a:t>exitflag</a:t>
            </a:r>
            <a:r>
              <a:rPr lang="zh-CN" altLang="en-US" sz="1800">
                <a:ea typeface="仿宋_GB2312" panose="02010609030101010101" pitchFamily="49" charset="-122"/>
              </a:rPr>
              <a:t>值，描述函数计算的退出条件</a:t>
            </a:r>
          </a:p>
          <a:p>
            <a:pPr lvl="1"/>
            <a:r>
              <a:rPr lang="en-US" altLang="zh-CN" sz="1800"/>
              <a:t>[x,fval,exitflag,output] = fminbnd(...)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>
                <a:ea typeface="仿宋_GB2312" panose="02010609030101010101" pitchFamily="49" charset="-122"/>
              </a:rPr>
              <a:t>          在优化计算结束之时返回返回结构变量</a:t>
            </a:r>
            <a:r>
              <a:rPr lang="en-US" altLang="zh-CN" sz="1800">
                <a:ea typeface="仿宋_GB2312" panose="02010609030101010101" pitchFamily="49" charset="-122"/>
              </a:rPr>
              <a:t>output</a:t>
            </a:r>
          </a:p>
          <a:p>
            <a:r>
              <a:rPr lang="zh-CN" altLang="en-US" sz="1800"/>
              <a:t>命令分析</a:t>
            </a:r>
          </a:p>
          <a:p>
            <a:pPr lvl="1"/>
            <a:r>
              <a:rPr lang="en-US" altLang="zh-CN" sz="1800"/>
              <a:t>fminbnd</a:t>
            </a:r>
            <a:r>
              <a:rPr lang="zh-CN" altLang="en-US" sz="1800"/>
              <a:t>只能解决设计变量为实变量的最优化问题，所求解最优化问题的目标函数必须是连续的，且</a:t>
            </a:r>
            <a:r>
              <a:rPr lang="en-US" altLang="zh-CN" sz="1800"/>
              <a:t>fminbnd</a:t>
            </a:r>
            <a:r>
              <a:rPr lang="zh-CN" altLang="en-US" sz="1800"/>
              <a:t>给出的可能只是目标函数的局部最优解。</a:t>
            </a:r>
          </a:p>
          <a:p>
            <a:pPr lvl="1"/>
            <a:r>
              <a:rPr lang="zh-CN" altLang="en-US" sz="1800"/>
              <a:t>当最优化问题的解位于区间边界附近时，</a:t>
            </a:r>
            <a:r>
              <a:rPr lang="en-US" altLang="zh-CN" sz="1800"/>
              <a:t>fminbnd</a:t>
            </a:r>
            <a:r>
              <a:rPr lang="zh-CN" altLang="en-US" sz="1800"/>
              <a:t>算法可能收敛的很慢，此时使用</a:t>
            </a:r>
            <a:r>
              <a:rPr lang="en-US" altLang="zh-CN" sz="1800"/>
              <a:t>fmincon</a:t>
            </a:r>
            <a:r>
              <a:rPr lang="zh-CN" altLang="en-US" sz="1800"/>
              <a:t>函数求解问题时的计算速度更快，计算精度更高，</a:t>
            </a:r>
            <a:r>
              <a:rPr lang="en-US" altLang="zh-CN" sz="1800"/>
              <a:t>fmincon</a:t>
            </a:r>
            <a:r>
              <a:rPr lang="zh-CN" altLang="en-US" sz="1800"/>
              <a:t>的用法我们将在之后讲解。</a:t>
            </a:r>
          </a:p>
        </p:txBody>
      </p:sp>
    </p:spTree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/>
              <a:t>一维搜索的</a:t>
            </a:r>
            <a:r>
              <a:rPr lang="en-US" altLang="zh-CN" sz="3600"/>
              <a:t>MATLAB</a:t>
            </a:r>
            <a:r>
              <a:rPr lang="zh-CN" altLang="en-US" sz="3600"/>
              <a:t>求解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030288"/>
            <a:ext cx="8208963" cy="5184775"/>
          </a:xfrm>
          <a:prstGeom prst="rect">
            <a:avLst/>
          </a:prstGeom>
        </p:spPr>
        <p:txBody>
          <a:bodyPr/>
          <a:lstStyle/>
          <a:p>
            <a:r>
              <a:rPr lang="zh-CN" altLang="en-US" sz="2400" dirty="0"/>
              <a:t>例</a:t>
            </a:r>
            <a:r>
              <a:rPr lang="en-US" altLang="zh-CN" sz="2400" dirty="0"/>
              <a:t>1</a:t>
            </a:r>
            <a:r>
              <a:rPr lang="zh-CN" altLang="en-US" sz="1400" dirty="0">
                <a:ea typeface="仿宋_GB2312" panose="02010609030101010101" pitchFamily="49" charset="-122"/>
              </a:rPr>
              <a:t>    </a:t>
            </a:r>
            <a:r>
              <a:rPr lang="zh-CN" altLang="en-US" sz="1800" dirty="0">
                <a:ea typeface="仿宋_GB2312" panose="02010609030101010101" pitchFamily="49" charset="-122"/>
              </a:rPr>
              <a:t>求解一维搜索问题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1800" dirty="0">
              <a:ea typeface="仿宋_GB2312" panose="0201060903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   [</a:t>
            </a:r>
            <a:r>
              <a:rPr lang="en-US" altLang="zh-CN" sz="1400" b="1" dirty="0" err="1">
                <a:latin typeface="Courier New" panose="02070309020205020404" pitchFamily="49" charset="0"/>
                <a:ea typeface="仿宋_GB2312" panose="02010609030101010101" pitchFamily="49" charset="-122"/>
              </a:rPr>
              <a:t>x,fval,exitflag,output</a:t>
            </a:r>
            <a:r>
              <a:rPr lang="en-US" altLang="zh-CN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] = </a:t>
            </a:r>
            <a:r>
              <a:rPr lang="en-US" altLang="zh-CN" sz="1400" b="1" dirty="0" err="1">
                <a:latin typeface="Courier New" panose="02070309020205020404" pitchFamily="49" charset="0"/>
                <a:ea typeface="仿宋_GB2312" panose="02010609030101010101" pitchFamily="49" charset="-122"/>
              </a:rPr>
              <a:t>fminbnd</a:t>
            </a:r>
            <a:r>
              <a:rPr lang="en-US" altLang="zh-CN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(@sin,0,2*pi)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   %</a:t>
            </a:r>
            <a:r>
              <a:rPr lang="zh-CN" altLang="en-US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最优解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   x =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       4.7124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   %</a:t>
            </a:r>
            <a:r>
              <a:rPr lang="zh-CN" altLang="en-US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最优解</a:t>
            </a:r>
            <a:r>
              <a:rPr lang="en-US" altLang="zh-CN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x</a:t>
            </a:r>
            <a:r>
              <a:rPr lang="zh-CN" altLang="en-US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处的目标函数值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   </a:t>
            </a:r>
            <a:r>
              <a:rPr lang="en-US" altLang="zh-CN" sz="1400" b="1" dirty="0" err="1">
                <a:latin typeface="Courier New" panose="02070309020205020404" pitchFamily="49" charset="0"/>
                <a:ea typeface="仿宋_GB2312" panose="02010609030101010101" pitchFamily="49" charset="-122"/>
              </a:rPr>
              <a:t>fval</a:t>
            </a:r>
            <a:r>
              <a:rPr lang="en-US" altLang="zh-CN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 =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      -1.0000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   </a:t>
            </a:r>
            <a:r>
              <a:rPr lang="en-US" altLang="zh-CN" sz="1400" b="1" dirty="0" err="1">
                <a:latin typeface="Courier New" panose="02070309020205020404" pitchFamily="49" charset="0"/>
                <a:ea typeface="仿宋_GB2312" panose="02010609030101010101" pitchFamily="49" charset="-122"/>
              </a:rPr>
              <a:t>exitflag</a:t>
            </a:r>
            <a:r>
              <a:rPr lang="en-US" altLang="zh-CN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 =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        1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   output =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       iterations: 8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       </a:t>
            </a:r>
            <a:r>
              <a:rPr lang="en-US" altLang="zh-CN" sz="1400" b="1" dirty="0" err="1">
                <a:latin typeface="Courier New" panose="02070309020205020404" pitchFamily="49" charset="0"/>
                <a:ea typeface="仿宋_GB2312" panose="02010609030101010101" pitchFamily="49" charset="-122"/>
              </a:rPr>
              <a:t>funcCount</a:t>
            </a:r>
            <a:r>
              <a:rPr lang="en-US" altLang="zh-CN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: 9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       algorithm: 'golden section search, parabolic interpolation'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Courier New" panose="02070309020205020404" pitchFamily="49" charset="0"/>
                <a:ea typeface="仿宋_GB2312" panose="02010609030101010101" pitchFamily="49" charset="-122"/>
              </a:rPr>
              <a:t>       message: [1x112 char]To find the minimum of the function</a:t>
            </a:r>
            <a:endParaRPr lang="zh-CN" altLang="en-US" sz="1400" b="1" dirty="0">
              <a:latin typeface="Courier New" panose="02070309020205020404" pitchFamily="49" charset="0"/>
              <a:ea typeface="仿宋_GB2312" panose="02010609030101010101" pitchFamily="49" charset="-122"/>
            </a:endParaRPr>
          </a:p>
        </p:txBody>
      </p:sp>
      <p:sp>
        <p:nvSpPr>
          <p:cNvPr id="6144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aphicFrame>
        <p:nvGraphicFramePr>
          <p:cNvPr id="61445" name="Object 2"/>
          <p:cNvGraphicFramePr>
            <a:graphicFrameLocks noChangeAspect="1"/>
          </p:cNvGraphicFramePr>
          <p:nvPr/>
        </p:nvGraphicFramePr>
        <p:xfrm>
          <a:off x="3643313" y="911225"/>
          <a:ext cx="20161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1" name="Equation" r:id="rId3" imgW="1270000" imgH="508000" progId="Equation.DSMT4">
                  <p:embed/>
                </p:oleObj>
              </mc:Choice>
              <mc:Fallback>
                <p:oleObj name="Equation" r:id="rId3" imgW="1270000" imgH="508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3" y="911225"/>
                        <a:ext cx="201612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/>
              <a:t>一维搜索的</a:t>
            </a:r>
            <a:r>
              <a:rPr lang="en-US" altLang="zh-CN" sz="4000"/>
              <a:t>MATLAB</a:t>
            </a:r>
            <a:r>
              <a:rPr lang="zh-CN" altLang="en-US" sz="4000"/>
              <a:t>求解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071563"/>
            <a:ext cx="7643813" cy="5072062"/>
          </a:xfrm>
          <a:prstGeom prst="rect">
            <a:avLst/>
          </a:prstGeom>
        </p:spPr>
        <p:txBody>
          <a:bodyPr/>
          <a:lstStyle/>
          <a:p>
            <a:r>
              <a:rPr lang="zh-CN" altLang="en-US" sz="2400" dirty="0"/>
              <a:t>例</a:t>
            </a:r>
            <a:r>
              <a:rPr lang="en-US" altLang="zh-CN" sz="2400" dirty="0"/>
              <a:t>2</a:t>
            </a:r>
            <a:r>
              <a:rPr lang="zh-CN" altLang="en-US" sz="1800" dirty="0">
                <a:ea typeface="仿宋_GB2312" panose="02010609030101010101" pitchFamily="49" charset="-122"/>
              </a:rPr>
              <a:t>    求解一维搜索问题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800" dirty="0">
              <a:ea typeface="仿宋_GB2312" panose="0201060903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 dirty="0">
                <a:ea typeface="仿宋_GB2312" panose="02010609030101010101" pitchFamily="49" charset="-122"/>
              </a:rPr>
              <a:t>    首先用</a:t>
            </a:r>
            <a:r>
              <a:rPr lang="en-US" altLang="zh-CN" sz="1800" dirty="0">
                <a:ea typeface="仿宋_GB2312" panose="02010609030101010101" pitchFamily="49" charset="-122"/>
              </a:rPr>
              <a:t>M-</a:t>
            </a:r>
            <a:r>
              <a:rPr lang="zh-CN" altLang="en-US" sz="1800" dirty="0">
                <a:ea typeface="仿宋_GB2312" panose="02010609030101010101" pitchFamily="49" charset="-122"/>
              </a:rPr>
              <a:t>函数定义目标函数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CC00"/>
                </a:solidFill>
                <a:latin typeface="Courier New" panose="02070309020205020404" pitchFamily="49" charset="0"/>
              </a:rPr>
              <a:t>   </a:t>
            </a:r>
            <a:r>
              <a:rPr lang="en-US" altLang="zh-CN" sz="1600" b="1" dirty="0">
                <a:solidFill>
                  <a:srgbClr val="00CC00"/>
                </a:solidFill>
                <a:latin typeface="Courier New" panose="02070309020205020404" pitchFamily="49" charset="0"/>
              </a:rPr>
              <a:t>function f=</a:t>
            </a:r>
            <a:r>
              <a:rPr lang="en-US" altLang="zh-CN" sz="1600" b="1" dirty="0" err="1">
                <a:solidFill>
                  <a:srgbClr val="00CC00"/>
                </a:solidFill>
                <a:latin typeface="Courier New" panose="02070309020205020404" pitchFamily="49" charset="0"/>
              </a:rPr>
              <a:t>myfun</a:t>
            </a:r>
            <a:r>
              <a:rPr lang="en-US" altLang="zh-CN" sz="1600" b="1" dirty="0">
                <a:solidFill>
                  <a:srgbClr val="00CC00"/>
                </a:solidFill>
                <a:latin typeface="Courier New" panose="02070309020205020404" pitchFamily="49" charset="0"/>
              </a:rPr>
              <a:t>(x)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b="1" dirty="0">
                <a:solidFill>
                  <a:srgbClr val="00CC00"/>
                </a:solidFill>
                <a:latin typeface="Courier New" panose="02070309020205020404" pitchFamily="49" charset="0"/>
              </a:rPr>
              <a:t>   f=(x-5)^2+7;</a:t>
            </a:r>
            <a:endParaRPr lang="zh-CN" altLang="en-US" sz="2000" dirty="0">
              <a:ea typeface="仿宋_GB2312" panose="0201060903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 dirty="0">
                <a:ea typeface="仿宋_GB2312" panose="02010609030101010101" pitchFamily="49" charset="-122"/>
              </a:rPr>
              <a:t>    然后调用</a:t>
            </a:r>
            <a:r>
              <a:rPr lang="en-US" altLang="zh-CN" sz="1800" dirty="0" err="1">
                <a:ea typeface="仿宋_GB2312" panose="02010609030101010101" pitchFamily="49" charset="-122"/>
              </a:rPr>
              <a:t>fminbnd</a:t>
            </a:r>
            <a:r>
              <a:rPr lang="zh-CN" altLang="en-US" sz="1800" dirty="0">
                <a:ea typeface="仿宋_GB2312" panose="02010609030101010101" pitchFamily="49" charset="-122"/>
              </a:rPr>
              <a:t>函数求解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CC00"/>
                </a:solidFill>
                <a:latin typeface="Courier New" panose="02070309020205020404" pitchFamily="49" charset="0"/>
              </a:rPr>
              <a:t>   [</a:t>
            </a:r>
            <a:r>
              <a:rPr lang="en-US" altLang="zh-CN" sz="1400" b="1" dirty="0" err="1">
                <a:solidFill>
                  <a:srgbClr val="00CC00"/>
                </a:solidFill>
                <a:latin typeface="Courier New" panose="02070309020205020404" pitchFamily="49" charset="0"/>
              </a:rPr>
              <a:t>x,fval</a:t>
            </a:r>
            <a:r>
              <a:rPr lang="en-US" altLang="zh-CN" sz="1400" b="1" dirty="0">
                <a:solidFill>
                  <a:srgbClr val="00CC00"/>
                </a:solidFill>
                <a:latin typeface="Courier New" panose="02070309020205020404" pitchFamily="49" charset="0"/>
              </a:rPr>
              <a:t>] = </a:t>
            </a:r>
            <a:r>
              <a:rPr lang="en-US" altLang="zh-CN" sz="1400" b="1" dirty="0" err="1">
                <a:solidFill>
                  <a:srgbClr val="00CC00"/>
                </a:solidFill>
                <a:latin typeface="Courier New" panose="02070309020205020404" pitchFamily="49" charset="0"/>
              </a:rPr>
              <a:t>fminbnd</a:t>
            </a:r>
            <a:r>
              <a:rPr lang="en-US" altLang="zh-CN" sz="1400" b="1" dirty="0">
                <a:solidFill>
                  <a:srgbClr val="00CC00"/>
                </a:solidFill>
                <a:latin typeface="Courier New" panose="02070309020205020404" pitchFamily="49" charset="0"/>
              </a:rPr>
              <a:t>(@myfun,0,10)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CC00"/>
                </a:solidFill>
                <a:latin typeface="Courier New" panose="02070309020205020404" pitchFamily="49" charset="0"/>
              </a:rPr>
              <a:t>   x =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CC00"/>
                </a:solidFill>
                <a:latin typeface="Courier New" panose="02070309020205020404" pitchFamily="49" charset="0"/>
              </a:rPr>
              <a:t>        5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CC00"/>
                </a:solidFill>
                <a:latin typeface="Courier New" panose="02070309020205020404" pitchFamily="49" charset="0"/>
              </a:rPr>
              <a:t>   </a:t>
            </a:r>
            <a:r>
              <a:rPr lang="en-US" altLang="zh-CN" sz="1400" b="1" dirty="0" err="1">
                <a:solidFill>
                  <a:srgbClr val="00CC00"/>
                </a:solidFill>
                <a:latin typeface="Courier New" panose="02070309020205020404" pitchFamily="49" charset="0"/>
              </a:rPr>
              <a:t>fval</a:t>
            </a:r>
            <a:r>
              <a:rPr lang="en-US" altLang="zh-CN" sz="1400" b="1" dirty="0">
                <a:solidFill>
                  <a:srgbClr val="00CC00"/>
                </a:solidFill>
                <a:latin typeface="Courier New" panose="02070309020205020404" pitchFamily="49" charset="0"/>
              </a:rPr>
              <a:t> =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CC00"/>
                </a:solidFill>
                <a:latin typeface="Courier New" panose="02070309020205020404" pitchFamily="49" charset="0"/>
              </a:rPr>
              <a:t>        7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 dirty="0">
                <a:ea typeface="仿宋_GB2312" panose="02010609030101010101" pitchFamily="49" charset="-122"/>
              </a:rPr>
              <a:t>    如果用匿名函数的形式则可以写成如下形式 </a:t>
            </a:r>
            <a:endParaRPr lang="en-US" altLang="zh-CN" sz="1800" dirty="0">
              <a:ea typeface="仿宋_GB2312" panose="0201060903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CC00"/>
                </a:solidFill>
                <a:latin typeface="Courier New" panose="02070309020205020404" pitchFamily="49" charset="0"/>
              </a:rPr>
              <a:t>   [</a:t>
            </a:r>
            <a:r>
              <a:rPr lang="en-US" altLang="zh-CN" sz="1400" b="1" dirty="0" err="1">
                <a:solidFill>
                  <a:srgbClr val="00CC00"/>
                </a:solidFill>
                <a:latin typeface="Courier New" panose="02070309020205020404" pitchFamily="49" charset="0"/>
              </a:rPr>
              <a:t>x,fval</a:t>
            </a:r>
            <a:r>
              <a:rPr lang="en-US" altLang="zh-CN" sz="1400" b="1" dirty="0">
                <a:solidFill>
                  <a:srgbClr val="00CC00"/>
                </a:solidFill>
                <a:latin typeface="Courier New" panose="02070309020205020404" pitchFamily="49" charset="0"/>
              </a:rPr>
              <a:t>] = </a:t>
            </a:r>
            <a:r>
              <a:rPr lang="en-US" altLang="zh-CN" sz="1400" b="1" dirty="0" err="1">
                <a:solidFill>
                  <a:srgbClr val="00CC00"/>
                </a:solidFill>
                <a:latin typeface="Courier New" panose="02070309020205020404" pitchFamily="49" charset="0"/>
              </a:rPr>
              <a:t>fminbnd</a:t>
            </a:r>
            <a:r>
              <a:rPr lang="en-US" altLang="zh-CN" sz="1400" b="1" dirty="0">
                <a:solidFill>
                  <a:srgbClr val="00CC00"/>
                </a:solidFill>
                <a:latin typeface="Courier New" panose="02070309020205020404" pitchFamily="49" charset="0"/>
              </a:rPr>
              <a:t>(@(x)(x-5)^2+7,0,10)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CC00"/>
                </a:solidFill>
                <a:latin typeface="Courier New" panose="02070309020205020404" pitchFamily="49" charset="0"/>
              </a:rPr>
              <a:t>   x =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CC00"/>
                </a:solidFill>
                <a:latin typeface="Courier New" panose="02070309020205020404" pitchFamily="49" charset="0"/>
              </a:rPr>
              <a:t>        5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CC00"/>
                </a:solidFill>
                <a:latin typeface="Courier New" panose="02070309020205020404" pitchFamily="49" charset="0"/>
              </a:rPr>
              <a:t>   </a:t>
            </a:r>
            <a:r>
              <a:rPr lang="en-US" altLang="zh-CN" sz="1400" b="1" dirty="0" err="1">
                <a:solidFill>
                  <a:srgbClr val="00CC00"/>
                </a:solidFill>
                <a:latin typeface="Courier New" panose="02070309020205020404" pitchFamily="49" charset="0"/>
              </a:rPr>
              <a:t>fval</a:t>
            </a:r>
            <a:r>
              <a:rPr lang="en-US" altLang="zh-CN" sz="1400" b="1" dirty="0">
                <a:solidFill>
                  <a:srgbClr val="00CC00"/>
                </a:solidFill>
                <a:latin typeface="Courier New" panose="02070309020205020404" pitchFamily="49" charset="0"/>
              </a:rPr>
              <a:t> =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CC00"/>
                </a:solidFill>
                <a:latin typeface="Courier New" panose="02070309020205020404" pitchFamily="49" charset="0"/>
              </a:rPr>
              <a:t>        7</a:t>
            </a:r>
            <a:endParaRPr lang="en-US" altLang="zh-CN" sz="1400" b="1" dirty="0">
              <a:solidFill>
                <a:srgbClr val="00CC00"/>
              </a:solidFill>
              <a:latin typeface="Courier New" panose="02070309020205020404" pitchFamily="49" charset="0"/>
              <a:ea typeface="仿宋_GB2312" panose="02010609030101010101" pitchFamily="49" charset="-122"/>
            </a:endParaRPr>
          </a:p>
          <a:p>
            <a:endParaRPr lang="en-US" altLang="zh-CN" sz="1400" b="1" dirty="0">
              <a:solidFill>
                <a:srgbClr val="00CC00"/>
              </a:solidFill>
              <a:latin typeface="Courier New" panose="02070309020205020404" pitchFamily="49" charset="0"/>
              <a:ea typeface="仿宋_GB2312" panose="02010609030101010101" pitchFamily="49" charset="-122"/>
            </a:endParaRPr>
          </a:p>
        </p:txBody>
      </p:sp>
      <p:sp>
        <p:nvSpPr>
          <p:cNvPr id="6246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aphicFrame>
        <p:nvGraphicFramePr>
          <p:cNvPr id="62469" name="Object 2"/>
          <p:cNvGraphicFramePr>
            <a:graphicFrameLocks noChangeAspect="1"/>
          </p:cNvGraphicFramePr>
          <p:nvPr/>
        </p:nvGraphicFramePr>
        <p:xfrm>
          <a:off x="3643313" y="928688"/>
          <a:ext cx="26638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5" name="Equation" r:id="rId3" imgW="1663700" imgH="533400" progId="Equation.DSMT4">
                  <p:embed/>
                </p:oleObj>
              </mc:Choice>
              <mc:Fallback>
                <p:oleObj name="Equation" r:id="rId3" imgW="1663700" imgH="533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3" y="928688"/>
                        <a:ext cx="26638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A4NTIyNDdkYTEzYTZiOThmYTEzNjBjNDhhYTAzOTQifQ=="/>
</p:tagLst>
</file>

<file path=ppt/theme/theme1.xml><?xml version="1.0" encoding="utf-8"?>
<a:theme xmlns:a="http://schemas.openxmlformats.org/drawingml/2006/main" name="xu">
  <a:themeElements>
    <a:clrScheme name="xu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xu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xu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xu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HITACHI">
  <a:themeElements>
    <a:clrScheme name="2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2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2756</Words>
  <Application>Microsoft Office PowerPoint</Application>
  <PresentationFormat>全屏显示(4:3)</PresentationFormat>
  <Paragraphs>228</Paragraphs>
  <Slides>68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68</vt:i4>
      </vt:variant>
    </vt:vector>
  </HeadingPairs>
  <TitlesOfParts>
    <vt:vector size="93" baseType="lpstr">
      <vt:lpstr>FandolSong-Bold-Identity-H</vt:lpstr>
      <vt:lpstr>URWPalladioL-Bold</vt:lpstr>
      <vt:lpstr>黑体</vt:lpstr>
      <vt:lpstr>华文楷体</vt:lpstr>
      <vt:lpstr>隶书</vt:lpstr>
      <vt:lpstr>宋体</vt:lpstr>
      <vt:lpstr>Arial</vt:lpstr>
      <vt:lpstr>Arial Black</vt:lpstr>
      <vt:lpstr>Calibri</vt:lpstr>
      <vt:lpstr>Calibri Light</vt:lpstr>
      <vt:lpstr>Cambria Math</vt:lpstr>
      <vt:lpstr>Courier New</vt:lpstr>
      <vt:lpstr>Garamond</vt:lpstr>
      <vt:lpstr>Times New Roman</vt:lpstr>
      <vt:lpstr>Verdana</vt:lpstr>
      <vt:lpstr>Wingdings</vt:lpstr>
      <vt:lpstr>xu</vt:lpstr>
      <vt:lpstr>HITACHI</vt:lpstr>
      <vt:lpstr>1_HITACHI</vt:lpstr>
      <vt:lpstr>4_HITACHI</vt:lpstr>
      <vt:lpstr>2_HITACHI</vt:lpstr>
      <vt:lpstr>3_HITACHI</vt:lpstr>
      <vt:lpstr>2_默认设计模板</vt:lpstr>
      <vt:lpstr>Equation</vt:lpstr>
      <vt:lpstr>文档</vt:lpstr>
      <vt:lpstr>PowerPoint 演示文稿</vt:lpstr>
      <vt:lpstr>第九章 一维搜索</vt:lpstr>
      <vt:lpstr>9.1 一维搜索概念</vt:lpstr>
      <vt:lpstr>PowerPoint 演示文稿</vt:lpstr>
      <vt:lpstr>PowerPoint 演示文稿</vt:lpstr>
      <vt:lpstr>PowerPoint 演示文稿</vt:lpstr>
      <vt:lpstr>PowerPoint 演示文稿</vt:lpstr>
      <vt:lpstr>9.2.1,  黄金分割法(0.618法)</vt:lpstr>
      <vt:lpstr>PowerPoint 演示文稿</vt:lpstr>
      <vt:lpstr>PowerPoint 演示文稿</vt:lpstr>
      <vt:lpstr>黄金分割法(0.618法)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黄金分割法（0.618法）</vt:lpstr>
      <vt:lpstr>PowerPoint 演示文稿</vt:lpstr>
      <vt:lpstr>9.2.2 Fibonacci法</vt:lpstr>
      <vt:lpstr>PowerPoint 演示文稿</vt:lpstr>
      <vt:lpstr>PowerPoint 演示文稿</vt:lpstr>
      <vt:lpstr>PowerPoint 演示文稿</vt:lpstr>
      <vt:lpstr>Fibonacci法</vt:lpstr>
      <vt:lpstr>PowerPoint 演示文稿</vt:lpstr>
      <vt:lpstr>PowerPoint 演示文稿</vt:lpstr>
      <vt:lpstr>9.2.3 进退法</vt:lpstr>
      <vt:lpstr>算法(进退法)</vt:lpstr>
      <vt:lpstr>9. 3一维搜索-函数逼近法（插值法）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9.3.2. 割线法（二点二次插值法）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3.3 抛物线法（三点二次插值法）</vt:lpstr>
      <vt:lpstr>PowerPoint 演示文稿</vt:lpstr>
      <vt:lpstr>PowerPoint 演示文稿</vt:lpstr>
      <vt:lpstr>3.4 两点三次插值法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算法(两点三次插值法)</vt:lpstr>
      <vt:lpstr>9.4. 非精确线搜索算法</vt:lpstr>
      <vt:lpstr>线搜索准则</vt:lpstr>
      <vt:lpstr>PowerPoint 演示文稿</vt:lpstr>
      <vt:lpstr>PowerPoint 演示文稿</vt:lpstr>
      <vt:lpstr>PowerPoint 演示文稿</vt:lpstr>
      <vt:lpstr>9.4.2. Goldstein 准则</vt:lpstr>
      <vt:lpstr>9.4.3. Wolfe 准则</vt:lpstr>
      <vt:lpstr>9.4.4 非单调线搜索准则</vt:lpstr>
      <vt:lpstr>PowerPoint 演示文稿</vt:lpstr>
      <vt:lpstr>PowerPoint 演示文稿</vt:lpstr>
      <vt:lpstr>一维搜索的MATLAB求解 </vt:lpstr>
      <vt:lpstr>一维搜索的MATLAB求解</vt:lpstr>
      <vt:lpstr>一维搜索的MATLAB求解</vt:lpstr>
      <vt:lpstr>一维搜索的MATLAB求解</vt:lpstr>
      <vt:lpstr>一维搜索的MATLAB求解</vt:lpstr>
      <vt:lpstr>一维搜索的MATLAB求解</vt:lpstr>
      <vt:lpstr>一维搜索的MATLAB求解</vt:lpstr>
      <vt:lpstr>一维搜索的MATLAB求解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tpshuai</dc:creator>
  <cp:lastModifiedBy>tpshu</cp:lastModifiedBy>
  <cp:revision>1703</cp:revision>
  <dcterms:created xsi:type="dcterms:W3CDTF">2012-04-20T06:02:00Z</dcterms:created>
  <dcterms:modified xsi:type="dcterms:W3CDTF">2026-04-21T00:03:44Z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9CF86C79608144ADBEF3A26E5FD9A904</vt:lpwstr>
  </property>
</Properties>
</file>