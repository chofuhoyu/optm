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4" r:id="rId3"/>
    <p:sldMasterId id="2147483710" r:id="rId4"/>
    <p:sldMasterId id="2147483686" r:id="rId5"/>
    <p:sldMasterId id="2147483698" r:id="rId6"/>
    <p:sldMasterId id="2147483722" r:id="rId7"/>
  </p:sldMasterIdLst>
  <p:notesMasterIdLst>
    <p:notesMasterId r:id="rId23"/>
  </p:notesMasterIdLst>
  <p:handoutMasterIdLst>
    <p:handoutMasterId r:id="rId24"/>
  </p:handoutMasterIdLst>
  <p:sldIdLst>
    <p:sldId id="377" r:id="rId8"/>
    <p:sldId id="378" r:id="rId9"/>
    <p:sldId id="276" r:id="rId10"/>
    <p:sldId id="266" r:id="rId11"/>
    <p:sldId id="278" r:id="rId12"/>
    <p:sldId id="279" r:id="rId13"/>
    <p:sldId id="280" r:id="rId14"/>
    <p:sldId id="286" r:id="rId15"/>
    <p:sldId id="287" r:id="rId16"/>
    <p:sldId id="288" r:id="rId17"/>
    <p:sldId id="297" r:id="rId18"/>
    <p:sldId id="289" r:id="rId19"/>
    <p:sldId id="290" r:id="rId20"/>
    <p:sldId id="291" r:id="rId21"/>
    <p:sldId id="292" r:id="rId22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>
          <p15:clr>
            <a:srgbClr val="A4A3A4"/>
          </p15:clr>
        </p15:guide>
        <p15:guide id="2" pos="29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86">
          <p15:clr>
            <a:srgbClr val="A4A3A4"/>
          </p15:clr>
        </p15:guide>
        <p15:guide id="2" pos="22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6F1"/>
    <a:srgbClr val="FF9933"/>
    <a:srgbClr val="FF6600"/>
    <a:srgbClr val="CC6600"/>
    <a:srgbClr val="990000"/>
    <a:srgbClr val="336699"/>
    <a:srgbClr val="CC3300"/>
    <a:srgbClr val="008080"/>
    <a:srgbClr val="0099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27" autoAdjust="0"/>
    <p:restoredTop sz="92552" autoAdjust="0"/>
  </p:normalViewPr>
  <p:slideViewPr>
    <p:cSldViewPr snapToGrid="0">
      <p:cViewPr varScale="1">
        <p:scale>
          <a:sx n="66" d="100"/>
          <a:sy n="66" d="100"/>
        </p:scale>
        <p:origin x="1196" y="64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3006" y="-96"/>
      </p:cViewPr>
      <p:guideLst>
        <p:guide orient="horz" pos="3186"/>
        <p:guide pos="22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A960A1-D56F-4C4A-97CF-4735240BD62C}" type="datetimeFigureOut">
              <a:rPr lang="zh-CN" altLang="en-US"/>
              <a:t>2026/3/2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2026/3/2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7850188" cy="792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84313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45013" y="1484313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45013" y="3694113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8BC37-3AE6-41FB-B0A4-7A5CCF3179FC}" type="datetime1">
              <a:rPr lang="zh-CN" altLang="en-US"/>
              <a:pPr>
                <a:defRPr/>
              </a:pPr>
              <a:t>2026/3/2</a:t>
            </a:fld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A9A3B2-1872-43B4-8C58-90D5D93E41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64351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250825" y="188913"/>
            <a:ext cx="7850188" cy="792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68313" y="1484313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45013" y="1484313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313" y="3694113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45013" y="3694113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B5A76D-F7C2-436E-A0FC-F3CA1294B9ED}" type="datetime1">
              <a:rPr lang="zh-CN" altLang="en-US"/>
              <a:pPr>
                <a:defRPr/>
              </a:pPr>
              <a:t>2026/3/2</a:t>
            </a:fld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EC26B0-BA8C-4093-AC7B-6390EB0305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61279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98436364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0147829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59965225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209829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0358073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20366111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089745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05439786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75652015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03216887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597677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7447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87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81037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40255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5193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4868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526469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2768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6107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14524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672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2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6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71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79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734" r:id="rId12"/>
    <p:sldLayoutId id="2147483735" r:id="rId13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43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73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1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2277689" y="3425939"/>
            <a:ext cx="5162639" cy="2204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数学科学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tabLst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最优化理论与算法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9528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BD17C-FC2C-48DE-8705-D3DD38A0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376" y="313657"/>
            <a:ext cx="8229600" cy="757238"/>
          </a:xfrm>
        </p:spPr>
        <p:txBody>
          <a:bodyPr/>
          <a:lstStyle/>
          <a:p>
            <a:r>
              <a:rPr lang="zh-CN" altLang="en-US" sz="3600" dirty="0"/>
              <a:t>数学基础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A6D49-8BEC-4D0E-89CC-03246ADB946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56648" y="1360370"/>
            <a:ext cx="6497053" cy="2027723"/>
          </a:xfrm>
          <a:prstGeom prst="rect">
            <a:avLst/>
          </a:prstGeom>
        </p:spPr>
        <p:txBody>
          <a:bodyPr/>
          <a:lstStyle/>
          <a:p>
            <a:r>
              <a:rPr lang="en-US" altLang="zh-CN" sz="2800" b="0" dirty="0"/>
              <a:t>1. </a:t>
            </a:r>
            <a:r>
              <a:rPr lang="zh-CN" altLang="en-US" sz="2800" b="0" dirty="0"/>
              <a:t>函数的可微与展开</a:t>
            </a:r>
            <a:endParaRPr lang="en-US" altLang="zh-CN" sz="2800" b="0" dirty="0"/>
          </a:p>
          <a:p>
            <a:r>
              <a:rPr lang="en-US" altLang="zh-CN" sz="2800" b="0" dirty="0"/>
              <a:t>2. </a:t>
            </a:r>
            <a:r>
              <a:rPr lang="zh-CN" altLang="en-US" sz="2800" b="0" dirty="0"/>
              <a:t>范数</a:t>
            </a:r>
            <a:endParaRPr lang="en-US" altLang="zh-CN" sz="2800" b="0" dirty="0"/>
          </a:p>
          <a:p>
            <a:r>
              <a:rPr lang="en-US" altLang="zh-CN" sz="2800" b="0" dirty="0"/>
              <a:t>3. </a:t>
            </a:r>
            <a:r>
              <a:rPr lang="zh-CN" altLang="en-US" sz="2800" b="0" dirty="0"/>
              <a:t>集合与序列</a:t>
            </a:r>
          </a:p>
        </p:txBody>
      </p:sp>
    </p:spTree>
    <p:extLst>
      <p:ext uri="{BB962C8B-B14F-4D97-AF65-F5344CB8AC3E}">
        <p14:creationId xmlns:p14="http://schemas.microsoft.com/office/powerpoint/2010/main" val="543785791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 </a:t>
            </a:r>
            <a:r>
              <a:rPr lang="zh-CN" altLang="en-US" dirty="0"/>
              <a:t>函数的可微性与展开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731696261"/>
              </p:ext>
            </p:extLst>
          </p:nvPr>
        </p:nvGraphicFramePr>
        <p:xfrm>
          <a:off x="519764" y="1086836"/>
          <a:ext cx="7920038" cy="197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Equation" r:id="rId3" imgW="5194080" imgH="1295280" progId="Equation.DSMT4">
                  <p:embed/>
                </p:oleObj>
              </mc:Choice>
              <mc:Fallback>
                <p:oleObj name="Equation" r:id="rId3" imgW="5194080" imgH="1295280" progId="Equation.DSMT4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764" y="1086836"/>
                        <a:ext cx="7920038" cy="197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361394"/>
              </p:ext>
            </p:extLst>
          </p:nvPr>
        </p:nvGraphicFramePr>
        <p:xfrm>
          <a:off x="567891" y="3279875"/>
          <a:ext cx="7272338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Equation" r:id="rId5" imgW="5219700" imgH="1206500" progId="Equation.DSMT4">
                  <p:embed/>
                </p:oleObj>
              </mc:Choice>
              <mc:Fallback>
                <p:oleObj name="Equation" r:id="rId5" imgW="5219700" imgH="1206500" progId="Equation.DSMT4">
                  <p:embed/>
                  <p:pic>
                    <p:nvPicPr>
                      <p:cNvPr id="1843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91" y="3279875"/>
                        <a:ext cx="7272338" cy="168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815075"/>
              </p:ext>
            </p:extLst>
          </p:nvPr>
        </p:nvGraphicFramePr>
        <p:xfrm>
          <a:off x="545215" y="5013325"/>
          <a:ext cx="79375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Equation" r:id="rId7" imgW="5892800" imgH="914400" progId="Equation.DSMT4">
                  <p:embed/>
                </p:oleObj>
              </mc:Choice>
              <mc:Fallback>
                <p:oleObj name="Equation" r:id="rId7" imgW="5892800" imgH="914400" progId="Equation.DSMT4">
                  <p:embed/>
                  <p:pic>
                    <p:nvPicPr>
                      <p:cNvPr id="1843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215" y="5013325"/>
                        <a:ext cx="7937500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函数的可微性与展开</a:t>
            </a:r>
          </a:p>
        </p:txBody>
      </p:sp>
      <p:graphicFrame>
        <p:nvGraphicFramePr>
          <p:cNvPr id="2050" name="Object 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707322469"/>
              </p:ext>
            </p:extLst>
          </p:nvPr>
        </p:nvGraphicFramePr>
        <p:xfrm>
          <a:off x="481264" y="1095475"/>
          <a:ext cx="78486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Equation" r:id="rId3" imgW="5905440" imgH="609480" progId="Equation.DSMT4">
                  <p:embed/>
                </p:oleObj>
              </mc:Choice>
              <mc:Fallback>
                <p:oleObj name="Equation" r:id="rId3" imgW="5905440" imgH="609480" progId="Equation.DSMT4">
                  <p:embed/>
                  <p:pic>
                    <p:nvPicPr>
                      <p:cNvPr id="205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264" y="1095475"/>
                        <a:ext cx="78486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4"/>
          <p:cNvGraphicFramePr>
            <a:graphicFrameLocks noChangeAspect="1"/>
          </p:cNvGraphicFramePr>
          <p:nvPr/>
        </p:nvGraphicFramePr>
        <p:xfrm>
          <a:off x="611188" y="2852738"/>
          <a:ext cx="7937500" cy="315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Equation" r:id="rId5" imgW="5499100" imgH="2184400" progId="Equation.DSMT4">
                  <p:embed/>
                </p:oleObj>
              </mc:Choice>
              <mc:Fallback>
                <p:oleObj name="Equation" r:id="rId5" imgW="5499100" imgH="2184400" progId="Equation.DSMT4">
                  <p:embed/>
                  <p:pic>
                    <p:nvPicPr>
                      <p:cNvPr id="1946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852738"/>
                        <a:ext cx="7937500" cy="315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298951" y="2099544"/>
            <a:ext cx="786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当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在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</a:rPr>
              <a:t>点存在二阶偏导时</a:t>
            </a:r>
            <a:r>
              <a:rPr lang="en-US" altLang="zh-CN" sz="2400" dirty="0">
                <a:latin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</a:rPr>
              <a:t>函数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</a:rPr>
              <a:t>在点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</a:rPr>
              <a:t>Hesse</a:t>
            </a:r>
            <a:r>
              <a:rPr lang="zh-CN" altLang="en-US" sz="2400" dirty="0">
                <a:latin typeface="Times New Roman" panose="02020603050405020304" pitchFamily="18" charset="0"/>
              </a:rPr>
              <a:t>矩阵定义为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</a:t>
            </a:r>
            <a:r>
              <a:rPr lang="zh-CN" altLang="en-US" dirty="0"/>
              <a:t>函数的可微性与展开</a:t>
            </a:r>
          </a:p>
        </p:txBody>
      </p:sp>
      <p:graphicFrame>
        <p:nvGraphicFramePr>
          <p:cNvPr id="3074" name="Object 7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44622637"/>
              </p:ext>
            </p:extLst>
          </p:nvPr>
        </p:nvGraphicFramePr>
        <p:xfrm>
          <a:off x="635268" y="1117801"/>
          <a:ext cx="7981950" cy="495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3" imgW="6070320" imgH="3771720" progId="Equation.DSMT4">
                  <p:embed/>
                </p:oleObj>
              </mc:Choice>
              <mc:Fallback>
                <p:oleObj name="Equation" r:id="rId3" imgW="6070320" imgH="3771720" progId="Equation.DSMT4">
                  <p:embed/>
                  <p:pic>
                    <p:nvPicPr>
                      <p:cNvPr id="307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268" y="1117801"/>
                        <a:ext cx="7981950" cy="495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函数的可微性与展开</a:t>
            </a:r>
          </a:p>
        </p:txBody>
      </p:sp>
      <p:graphicFrame>
        <p:nvGraphicFramePr>
          <p:cNvPr id="4098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171945291"/>
              </p:ext>
            </p:extLst>
          </p:nvPr>
        </p:nvGraphicFramePr>
        <p:xfrm>
          <a:off x="731520" y="1069457"/>
          <a:ext cx="7920038" cy="297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Equation" r:id="rId3" imgW="5130800" imgH="1930400" progId="Equation.DSMT4">
                  <p:embed/>
                </p:oleObj>
              </mc:Choice>
              <mc:Fallback>
                <p:oleObj name="Equation" r:id="rId3" imgW="5130800" imgH="1930400" progId="Equation.DSMT4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" y="1069457"/>
                        <a:ext cx="7920038" cy="297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24236771"/>
              </p:ext>
            </p:extLst>
          </p:nvPr>
        </p:nvGraphicFramePr>
        <p:xfrm>
          <a:off x="991402" y="4451450"/>
          <a:ext cx="6577013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Equation" r:id="rId5" imgW="4064000" imgH="736600" progId="Equation.DSMT4">
                  <p:embed/>
                </p:oleObj>
              </mc:Choice>
              <mc:Fallback>
                <p:oleObj name="Equation" r:id="rId5" imgW="4064000" imgH="736600" progId="Equation.DSMT4">
                  <p:embed/>
                  <p:pic>
                    <p:nvPicPr>
                      <p:cNvPr id="409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1402" y="4451450"/>
                        <a:ext cx="6577013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函数的可微性与展开</a:t>
            </a:r>
          </a:p>
        </p:txBody>
      </p:sp>
      <p:graphicFrame>
        <p:nvGraphicFramePr>
          <p:cNvPr id="5122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60781038"/>
              </p:ext>
            </p:extLst>
          </p:nvPr>
        </p:nvGraphicFramePr>
        <p:xfrm>
          <a:off x="442761" y="1159176"/>
          <a:ext cx="8134350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3" imgW="6197400" imgH="1295280" progId="Equation.DSMT4">
                  <p:embed/>
                </p:oleObj>
              </mc:Choice>
              <mc:Fallback>
                <p:oleObj name="Equation" r:id="rId3" imgW="6197400" imgH="1295280" progId="Equation.DSMT4">
                  <p:embed/>
                  <p:pic>
                    <p:nvPicPr>
                      <p:cNvPr id="51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61" y="1159176"/>
                        <a:ext cx="8134350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</a:t>
            </a:r>
            <a:r>
              <a:rPr lang="zh-CN" altLang="en-US"/>
              <a:t>范数</a:t>
            </a:r>
          </a:p>
        </p:txBody>
      </p:sp>
      <p:graphicFrame>
        <p:nvGraphicFramePr>
          <p:cNvPr id="6146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744778678"/>
              </p:ext>
            </p:extLst>
          </p:nvPr>
        </p:nvGraphicFramePr>
        <p:xfrm>
          <a:off x="943276" y="1176922"/>
          <a:ext cx="5937250" cy="263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Equation" r:id="rId3" imgW="3860640" imgH="1714320" progId="Equation.DSMT4">
                  <p:embed/>
                </p:oleObj>
              </mc:Choice>
              <mc:Fallback>
                <p:oleObj name="Equation" r:id="rId3" imgW="3860640" imgH="1714320" progId="Equation.DSMT4">
                  <p:embed/>
                  <p:pic>
                    <p:nvPicPr>
                      <p:cNvPr id="61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276" y="1176922"/>
                        <a:ext cx="5937250" cy="263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84008838"/>
              </p:ext>
            </p:extLst>
          </p:nvPr>
        </p:nvGraphicFramePr>
        <p:xfrm>
          <a:off x="933650" y="4177615"/>
          <a:ext cx="7167563" cy="195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Equation" r:id="rId5" imgW="5410080" imgH="1473120" progId="Equation.DSMT4">
                  <p:embed/>
                </p:oleObj>
              </mc:Choice>
              <mc:Fallback>
                <p:oleObj name="Equation" r:id="rId5" imgW="5410080" imgH="1473120" progId="Equation.DSMT4">
                  <p:embed/>
                  <p:pic>
                    <p:nvPicPr>
                      <p:cNvPr id="819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50" y="4177615"/>
                        <a:ext cx="7167563" cy="195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</a:t>
            </a:r>
            <a:r>
              <a:rPr lang="zh-CN" altLang="en-US" dirty="0"/>
              <a:t>范数</a:t>
            </a:r>
          </a:p>
        </p:txBody>
      </p:sp>
      <p:graphicFrame>
        <p:nvGraphicFramePr>
          <p:cNvPr id="7170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662857060"/>
              </p:ext>
            </p:extLst>
          </p:nvPr>
        </p:nvGraphicFramePr>
        <p:xfrm>
          <a:off x="848460" y="1096863"/>
          <a:ext cx="7756525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name="Equation" r:id="rId3" imgW="5613120" imgH="952200" progId="Equation.DSMT4">
                  <p:embed/>
                </p:oleObj>
              </mc:Choice>
              <mc:Fallback>
                <p:oleObj name="Equation" r:id="rId3" imgW="5613120" imgH="952200" progId="Equation.DSMT4">
                  <p:embed/>
                  <p:pic>
                    <p:nvPicPr>
                      <p:cNvPr id="71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460" y="1096863"/>
                        <a:ext cx="7756525" cy="131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963472038"/>
              </p:ext>
            </p:extLst>
          </p:nvPr>
        </p:nvGraphicFramePr>
        <p:xfrm>
          <a:off x="904775" y="2962292"/>
          <a:ext cx="5565775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" name="Equation" r:id="rId5" imgW="3644640" imgH="1650960" progId="Equation.DSMT4">
                  <p:embed/>
                </p:oleObj>
              </mc:Choice>
              <mc:Fallback>
                <p:oleObj name="Equation" r:id="rId5" imgW="3644640" imgH="1650960" progId="Equation.DSMT4">
                  <p:embed/>
                  <p:pic>
                    <p:nvPicPr>
                      <p:cNvPr id="921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775" y="2962292"/>
                        <a:ext cx="5565775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</a:t>
            </a:r>
            <a:r>
              <a:rPr lang="zh-CN" altLang="en-US" dirty="0"/>
              <a:t>范数</a:t>
            </a:r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36302714"/>
              </p:ext>
            </p:extLst>
          </p:nvPr>
        </p:nvGraphicFramePr>
        <p:xfrm>
          <a:off x="933650" y="1196172"/>
          <a:ext cx="6642100" cy="466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Equation" r:id="rId3" imgW="4444920" imgH="3124080" progId="Equation.DSMT4">
                  <p:embed/>
                </p:oleObj>
              </mc:Choice>
              <mc:Fallback>
                <p:oleObj name="Equation" r:id="rId3" imgW="4444920" imgH="3124080" progId="Equation.DSMT4">
                  <p:embed/>
                  <p:pic>
                    <p:nvPicPr>
                      <p:cNvPr id="81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50" y="1196172"/>
                        <a:ext cx="6642100" cy="466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范数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415925" y="956427"/>
                <a:ext cx="8525943" cy="313431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核范数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．给定矩阵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zh-CN" alt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</a:t>
                </a:r>
                <a:r>
                  <a:rPr lang="en-US" altLang="zh-CN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m×n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，其核范数定义为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||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A||</a:t>
                </a:r>
                <a:r>
                  <a:rPr lang="en-US" altLang="zh-CN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∗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l-GR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altLang="zh-CN" sz="28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el-GR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altLang="zh-CN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US" altLang="zh-CN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:r>
                  <a:rPr lang="el-GR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altLang="zh-CN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1, …,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的所有非零奇异值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rank(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>
                  <a:buNone/>
                </a:pPr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矩阵内积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矩阵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US" altLang="zh-CN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Frobenius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内积定义为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</a:t>
                </a:r>
                <a:r>
                  <a:rPr lang="en-US" altLang="zh-CN" sz="2800" b="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zh-CN" alt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415925" y="956427"/>
                <a:ext cx="8525943" cy="3134310"/>
              </a:xfrm>
              <a:prstGeom prst="rect">
                <a:avLst/>
              </a:prstGeom>
              <a:blipFill>
                <a:blip r:embed="rId2"/>
                <a:stretch>
                  <a:fillRect l="-1430" t="-2724" r="-429" b="-105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E5BA072-FBA2-485D-B528-43DC45FFB407}"/>
              </a:ext>
            </a:extLst>
          </p:cNvPr>
          <p:cNvSpPr txBox="1">
            <a:spLocks/>
          </p:cNvSpPr>
          <p:nvPr/>
        </p:nvSpPr>
        <p:spPr bwMode="auto">
          <a:xfrm>
            <a:off x="668956" y="4488128"/>
            <a:ext cx="7839777" cy="16142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3366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folHlink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4156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kern="0" dirty="0">
                <a:solidFill>
                  <a:srgbClr val="4156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矩阵范数的柯西不等式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altLang="zh-CN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kern="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|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⟨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⟩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⩽ 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||A||</a:t>
            </a:r>
            <a:r>
              <a:rPr lang="en-US" altLang="zh-CN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||B||</a:t>
            </a:r>
            <a:r>
              <a:rPr lang="en-US" altLang="zh-CN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等号成立当且仅当 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线性相关．</a:t>
            </a:r>
          </a:p>
        </p:txBody>
      </p:sp>
    </p:spTree>
    <p:extLst>
      <p:ext uri="{BB962C8B-B14F-4D97-AF65-F5344CB8AC3E}">
        <p14:creationId xmlns:p14="http://schemas.microsoft.com/office/powerpoint/2010/main" val="595572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</a:t>
            </a:r>
            <a:r>
              <a:rPr lang="zh-CN" altLang="en-US"/>
              <a:t>集合与序列</a:t>
            </a:r>
          </a:p>
        </p:txBody>
      </p:sp>
      <p:graphicFrame>
        <p:nvGraphicFramePr>
          <p:cNvPr id="9218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170799954"/>
              </p:ext>
            </p:extLst>
          </p:nvPr>
        </p:nvGraphicFramePr>
        <p:xfrm>
          <a:off x="1020278" y="1172160"/>
          <a:ext cx="287972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3" name="Equation" r:id="rId3" imgW="2095500" imgH="685800" progId="Equation.DSMT4">
                  <p:embed/>
                </p:oleObj>
              </mc:Choice>
              <mc:Fallback>
                <p:oleObj name="Equation" r:id="rId3" imgW="2095500" imgH="685800" progId="Equation.DSMT4">
                  <p:embed/>
                  <p:pic>
                    <p:nvPicPr>
                      <p:cNvPr id="92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278" y="1172160"/>
                        <a:ext cx="2879725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6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208289382"/>
              </p:ext>
            </p:extLst>
          </p:nvPr>
        </p:nvGraphicFramePr>
        <p:xfrm>
          <a:off x="798897" y="2362300"/>
          <a:ext cx="648176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4" name="Equation" r:id="rId5" imgW="4597400" imgH="711200" progId="Equation.DSMT4">
                  <p:embed/>
                </p:oleObj>
              </mc:Choice>
              <mc:Fallback>
                <p:oleObj name="Equation" r:id="rId5" imgW="4597400" imgH="711200" progId="Equation.DSMT4">
                  <p:embed/>
                  <p:pic>
                    <p:nvPicPr>
                      <p:cNvPr id="921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97" y="2362300"/>
                        <a:ext cx="648176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8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962157457"/>
              </p:ext>
            </p:extLst>
          </p:nvPr>
        </p:nvGraphicFramePr>
        <p:xfrm>
          <a:off x="837398" y="3515628"/>
          <a:ext cx="460851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5" name="Equation" r:id="rId7" imgW="3111500" imgH="279400" progId="Equation.DSMT4">
                  <p:embed/>
                </p:oleObj>
              </mc:Choice>
              <mc:Fallback>
                <p:oleObj name="Equation" r:id="rId7" imgW="3111500" imgH="279400" progId="Equation.DSMT4">
                  <p:embed/>
                  <p:pic>
                    <p:nvPicPr>
                      <p:cNvPr id="92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398" y="3515628"/>
                        <a:ext cx="460851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0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024701888"/>
              </p:ext>
            </p:extLst>
          </p:nvPr>
        </p:nvGraphicFramePr>
        <p:xfrm>
          <a:off x="847023" y="4107164"/>
          <a:ext cx="52562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6" name="Equation" r:id="rId9" imgW="3530600" imgH="584200" progId="Equation.DSMT4">
                  <p:embed/>
                </p:oleObj>
              </mc:Choice>
              <mc:Fallback>
                <p:oleObj name="Equation" r:id="rId9" imgW="3530600" imgH="584200" progId="Equation.DSMT4">
                  <p:embed/>
                  <p:pic>
                    <p:nvPicPr>
                      <p:cNvPr id="922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23" y="4107164"/>
                        <a:ext cx="52562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56299"/>
              </p:ext>
            </p:extLst>
          </p:nvPr>
        </p:nvGraphicFramePr>
        <p:xfrm>
          <a:off x="1001713" y="5103813"/>
          <a:ext cx="605790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7" name="Equation" r:id="rId11" imgW="4178160" imgH="583920" progId="Equation.DSMT4">
                  <p:embed/>
                </p:oleObj>
              </mc:Choice>
              <mc:Fallback>
                <p:oleObj name="Equation" r:id="rId11" imgW="4178160" imgH="583920" progId="Equation.DSMT4">
                  <p:embed/>
                  <p:pic>
                    <p:nvPicPr>
                      <p:cNvPr id="92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5103813"/>
                        <a:ext cx="6057900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</a:t>
            </a:r>
            <a:r>
              <a:rPr lang="zh-CN" altLang="en-US"/>
              <a:t>，集合与序列</a:t>
            </a:r>
          </a:p>
        </p:txBody>
      </p:sp>
      <p:graphicFrame>
        <p:nvGraphicFramePr>
          <p:cNvPr id="10242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113012282"/>
              </p:ext>
            </p:extLst>
          </p:nvPr>
        </p:nvGraphicFramePr>
        <p:xfrm>
          <a:off x="914400" y="1131270"/>
          <a:ext cx="6408738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7" name="Equation" r:id="rId3" imgW="4775200" imgH="609600" progId="Equation.DSMT4">
                  <p:embed/>
                </p:oleObj>
              </mc:Choice>
              <mc:Fallback>
                <p:oleObj name="Equation" r:id="rId3" imgW="4775200" imgH="609600" progId="Equation.DSMT4">
                  <p:embed/>
                  <p:pic>
                    <p:nvPicPr>
                      <p:cNvPr id="1024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131270"/>
                        <a:ext cx="6408738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924862354"/>
              </p:ext>
            </p:extLst>
          </p:nvPr>
        </p:nvGraphicFramePr>
        <p:xfrm>
          <a:off x="933651" y="2302243"/>
          <a:ext cx="7920038" cy="156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8" name="Equation" r:id="rId5" imgW="6184800" imgH="1218960" progId="Equation.DSMT4">
                  <p:embed/>
                </p:oleObj>
              </mc:Choice>
              <mc:Fallback>
                <p:oleObj name="Equation" r:id="rId5" imgW="6184800" imgH="1218960" progId="Equation.DSMT4">
                  <p:embed/>
                  <p:pic>
                    <p:nvPicPr>
                      <p:cNvPr id="1229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51" y="2302243"/>
                        <a:ext cx="7920038" cy="156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7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78707761"/>
              </p:ext>
            </p:extLst>
          </p:nvPr>
        </p:nvGraphicFramePr>
        <p:xfrm>
          <a:off x="992188" y="4354513"/>
          <a:ext cx="774700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9" name="Equation" r:id="rId7" imgW="5435280" imgH="901440" progId="Equation.DSMT4">
                  <p:embed/>
                </p:oleObj>
              </mc:Choice>
              <mc:Fallback>
                <p:oleObj name="Equation" r:id="rId7" imgW="5435280" imgH="901440" progId="Equation.DSMT4">
                  <p:embed/>
                  <p:pic>
                    <p:nvPicPr>
                      <p:cNvPr id="1229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4354513"/>
                        <a:ext cx="7747000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</a:t>
            </a:r>
            <a:r>
              <a:rPr lang="zh-CN" altLang="en-US"/>
              <a:t>集合与序列</a:t>
            </a:r>
          </a:p>
        </p:txBody>
      </p:sp>
      <p:graphicFrame>
        <p:nvGraphicFramePr>
          <p:cNvPr id="11266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91397722"/>
              </p:ext>
            </p:extLst>
          </p:nvPr>
        </p:nvGraphicFramePr>
        <p:xfrm>
          <a:off x="490888" y="1364748"/>
          <a:ext cx="744537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1" name="Equation" r:id="rId3" imgW="4838400" imgH="901440" progId="Equation.DSMT4">
                  <p:embed/>
                </p:oleObj>
              </mc:Choice>
              <mc:Fallback>
                <p:oleObj name="Equation" r:id="rId3" imgW="4838400" imgH="901440" progId="Equation.DSMT4">
                  <p:embed/>
                  <p:pic>
                    <p:nvPicPr>
                      <p:cNvPr id="1126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88" y="1364748"/>
                        <a:ext cx="7445375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616291108"/>
              </p:ext>
            </p:extLst>
          </p:nvPr>
        </p:nvGraphicFramePr>
        <p:xfrm>
          <a:off x="539015" y="2852738"/>
          <a:ext cx="71183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2" name="Equation" r:id="rId5" imgW="4762500" imgH="584200" progId="Equation.DSMT4">
                  <p:embed/>
                </p:oleObj>
              </mc:Choice>
              <mc:Fallback>
                <p:oleObj name="Equation" r:id="rId5" imgW="4762500" imgH="584200" progId="Equation.DSMT4">
                  <p:embed/>
                  <p:pic>
                    <p:nvPicPr>
                      <p:cNvPr id="1126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015" y="2852738"/>
                        <a:ext cx="71183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7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014272827"/>
              </p:ext>
            </p:extLst>
          </p:nvPr>
        </p:nvGraphicFramePr>
        <p:xfrm>
          <a:off x="737219" y="4043764"/>
          <a:ext cx="7704137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3" name="Equation" r:id="rId7" imgW="5384800" imgH="609600" progId="Equation.DSMT4">
                  <p:embed/>
                </p:oleObj>
              </mc:Choice>
              <mc:Fallback>
                <p:oleObj name="Equation" r:id="rId7" imgW="5384800" imgH="609600" progId="Equation.DSMT4">
                  <p:embed/>
                  <p:pic>
                    <p:nvPicPr>
                      <p:cNvPr id="1126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19" y="4043764"/>
                        <a:ext cx="7704137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</a:t>
            </a:r>
            <a:r>
              <a:rPr lang="zh-CN" altLang="en-US"/>
              <a:t>集合与序列</a:t>
            </a:r>
          </a:p>
        </p:txBody>
      </p:sp>
      <p:graphicFrame>
        <p:nvGraphicFramePr>
          <p:cNvPr id="12290" name="Object 3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0946988"/>
              </p:ext>
            </p:extLst>
          </p:nvPr>
        </p:nvGraphicFramePr>
        <p:xfrm>
          <a:off x="644893" y="1293312"/>
          <a:ext cx="7153275" cy="333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name="Equation" r:id="rId3" imgW="4254500" imgH="1981200" progId="Equation.DSMT4">
                  <p:embed/>
                </p:oleObj>
              </mc:Choice>
              <mc:Fallback>
                <p:oleObj name="Equation" r:id="rId3" imgW="4254500" imgH="1981200" progId="Equation.DSMT4">
                  <p:embed/>
                  <p:pic>
                    <p:nvPicPr>
                      <p:cNvPr id="1229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893" y="1293312"/>
                        <a:ext cx="7153275" cy="333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252</Words>
  <Application>Microsoft Office PowerPoint</Application>
  <PresentationFormat>全屏显示(4:3)</PresentationFormat>
  <Paragraphs>31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6" baseType="lpstr">
      <vt:lpstr>黑体</vt:lpstr>
      <vt:lpstr>华文楷体</vt:lpstr>
      <vt:lpstr>隶书</vt:lpstr>
      <vt:lpstr>宋体</vt:lpstr>
      <vt:lpstr>Arial</vt:lpstr>
      <vt:lpstr>Arial Black</vt:lpstr>
      <vt:lpstr>Calibri</vt:lpstr>
      <vt:lpstr>Calibri Light</vt:lpstr>
      <vt:lpstr>Cambria Math</vt:lpstr>
      <vt:lpstr>Garamond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Equation</vt:lpstr>
      <vt:lpstr>PowerPoint 演示文稿</vt:lpstr>
      <vt:lpstr>数学基础</vt:lpstr>
      <vt:lpstr>1. 函数的可微性与展开</vt:lpstr>
      <vt:lpstr>1.函数的可微性与展开</vt:lpstr>
      <vt:lpstr>1.函数的可微性与展开</vt:lpstr>
      <vt:lpstr>1.函数的可微性与展开</vt:lpstr>
      <vt:lpstr>1.函数的可微性与展开</vt:lpstr>
      <vt:lpstr>2.范数</vt:lpstr>
      <vt:lpstr>2.范数</vt:lpstr>
      <vt:lpstr>2.范数</vt:lpstr>
      <vt:lpstr>2.范数</vt:lpstr>
      <vt:lpstr>3.集合与序列</vt:lpstr>
      <vt:lpstr>3，集合与序列</vt:lpstr>
      <vt:lpstr>3.集合与序列</vt:lpstr>
      <vt:lpstr>3.集合与序列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1693</cp:revision>
  <cp:lastPrinted>2025-02-28T04:15:03Z</cp:lastPrinted>
  <dcterms:created xsi:type="dcterms:W3CDTF">2012-04-20T06:02:00Z</dcterms:created>
  <dcterms:modified xsi:type="dcterms:W3CDTF">2026-03-02T07:54:01Z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9CF86C79608144ADBEF3A26E5FD9A904</vt:lpwstr>
  </property>
</Properties>
</file>